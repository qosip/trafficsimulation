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mon projet de simulation multi-agents du trafic urbain. L'objectif est de transformer une preuve de concept logicielle en une preuve de technologie scientifique : un banc d'essai capable de comparer plusieurs algorithmes de coordination aux intersections, classiques et issus de la recherche récente. Je vais d'abord poser l'état de l'art, puis présenter l'implémentation et tous les comportements qui fonctionnent, ensuite les expériences menées et les résultats comparés à la littérature, et enfin l'architecture logicielle complète.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présentation suit cinq mouvements. Je commencerai par établir le cadre scientifique : pourquoi un simulateur de trafic moderne ne peut plus se contenter de feux et de panneaux STOP, mais doit intégrer des agents autonomes capables de négocier. Ensuite, je vais montrer concrètement ce qui tourne dans mon application : dix algorithmes de coordination différents, quinze comportements de conduite, tous interchangeables à chaud. Puis je présenterai le banc d'essai Monte-Carlo et les résultats. Enfin, je détaillerai l'architecture logicielle qui rend tout cela propre et extensible. Je terminerai par une discussion honnête des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première partie est purement scientifique. Je vais résumer les articles fondateurs qui structurent le domaine de la coordination multi-agents aux intersections, et qui ont directement inspiré l'architecture de mon simulateur.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part d'une distinction fondamentale faite par Dresner et Stone : un simulateur de trafic avec des règles fixes — STOP, cédez le passage, feux — est une preuve de concept logicielle. Pour faire de la recherche, il faut passer à la preuve de technologie : chaque véhicule devient un agent autonome qui perçoit, raisonne et négocie. La question scientifique devient alors : quels protocoles microscopiques de coordination produisent les meilleures métriques macroscopiques ? C'est précisément cette question que mon banc d'essai cherche à instrumenter.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L'Intelligent Driver Model est le contrôleur longitudinal de chaque véhicule. C'est un modèle continu, différentiable, qui produit des décélérations asymptotiques douces. Sa force pour notre projet : il transforme n'importe quelle contrainte — un véhicule réel, une ligne d'arrêt, un meneur virtuel — en obstacle perçu, et calcule l'accélération appropriée. Aucune logique de freinage explicite à coder : tout passe par le modèle. La propriété de string stability garantit qu'un coup de frein du premier véhicule ne provoque pas un arrêt complet plusieurs centaines de mètres en arrière.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L'état de l'art se structure en trois familles. AIM, c'est le paradigme centralisé : un manager omniscient distribue des créneaux spatio-temporels. Performant mais vulnérable et coûteux. P2P, c'est le pari de la décentralisation totale : chaque agent négocie avec ses voisins via VANET. Aucune infrastructure, mais une saturation au-delà d'un seuil de densité. ORCA, c'est l'approche purement géométrique, sans signaling : les agents se croisent en modulant continûment leur vitesse, comme une foule ou un essaim de drones. Mon simulateur implémente les trois familles, plus les régulations classiques, pour comparer.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c'est l'approche centralisée formalisée par Dresner et Stone. Chaque véhicule envoie sa demande au manager, qui simule mentalement la trajectoire dans une grille spatio-temporelle. Si toutes les cellules sont libres dans la fenêtre demandée, la réservation est accordée. Le véhicule s'engage alors à respecter exactement le profil cinématique annoncé. Sinon, il ralentit et re-soumet. Les résultats publiés sont spectaculaires : à densité moyenne, on observe quasi-zéro temps d'attente. Les véhicules se croisent à pleine vitesse en se manquant de quelques mètres. Mais cela suppose une infrastructure dédiée et un manager fiable — d'où l'intérêt des approches décentralisées qui suivent.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protocole P2P de VanMiddlesworth s'articule autour d'une machine à trois états. En LURKING, à environ 200 mètres du carrefour, le véhicule écoute en silence. Cette latence intentionnelle évite la tempête de broadcast et garantit qu'il ne fait pas de revendication sur des informations obsolètes. En CLAIMING, plus près, il diffuse son Claim — son intention complète. À chaque tick, il compare son propre Claim à ceux reçus selon une hiérarchie stricte. S'il est dominé, il annule, freine via IDM. En TRAVERSAL, le passage est en cours, on retire le Claim une fois sorti. Mon implémentation reprend exactement cette FSM, avec en plus le verrou commit-to-pass pour éviter qu'un véhicule engagé re-cède au milieu du carrefour.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hiérarchie de dominance est ce qui rend P2P viable. C'est un arbre de décision strict, identique chez tous les agents, qui garantit qu'au moins un acteur cède dans chaque conflit. La règle ultime est le bris d'égalité par VIN : le plus petit identifiant l'emporte. C'est trivialement déterministe, donc reproductible en Monte-Carlo. J'ai repris exactement cette hiérarchie dans ma P2PPolicy. La limitation théorique est bien documentée : au-delà d'environ 0.35 véhicule par seconde par voie, la fréquence des conflits sature la négociation et P2P s'effondre vers un comportement de four-way stop. C'est précisément ce que mon banc d'essai cherche à reproduire empiriquement.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ORCA prend une voie totalement différente. Pas de manager, pas de Claim, pas de FSM : juste de la géométrie continue dans l'espace de vélocité. Chaque agent calcule, pour chaque voisin, un demi-plan de vélocités sécurisées. Il choisit ensuite la vélocité la plus proche de son désir, contenue dans l'intersection de tous les demi-plans. La réciprocité est l'axiome clé : je suppose que l'autre va aussi modifier sa vélocité, donc je ne prends que la moitié de l'évitement à ma charge. Mon implémentation adapte ORCA au cas 1D le long de la Lane : raisonnement en temps d'arrivée plutôt qu'en vélocité libre, avec bascule cède-souple vers stop ferme si le conflit devient imminent.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Virtual Platooning, c'est l'idée géniale de Medina et ses collègues. On prend les véhicules de deux flux orthogonaux et on projette leur position sur une voie virtuelle 1D qui traverse le carrefour. À partir de là, on applique simplement de l'IDM classique : chaque véhicule suit son meneur virtuel projeté. Aucun arrêt requis : si je prédis que ton arrivée projetée est juste avant la mienne, tu deviens mon meneur et je cale ma vitesse sur la tienne. Le résultat est un effet de fermeture éclair où deux files s'entrelacent à vitesse quasi constante. C'est ce que ma VIRTUAL_PLATOON policy produit, et c'est visible spectaculairement dans la simulation.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Multi-Agent Path Finding est la famille théorique qui sous-tend toute coordination multi-agents. PP est rapide mais sous-optimal et très sensible à l'ordre. CBS est optimal mais explose en coût. PBS est un bon compromis quasi-optimal. Pour mon projet, la régulation FIXED_PRIORITY correspond à un Prioritized Planning trivial — axe principal toujours prioritaire. Ce qui est important : la littérature démontre que les priorités fixes conduisent inévitablement à des deadlocks sur les configurations symétriques. C'est précisément pourquoi P2P avec sa hiérarchie de dominance et le bris VIN est intéressant : il garantit la résolution déterministe de toute symétrie résiduelle.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sommet contemporain de l'état de l'art, c'est le MARL : Multi-Agent Reinforcement Learning. L'idée est de formuler le contrôle d'intersection comme un jeu de Markov et d'apprendre les politiques optimales. Le paradigme clé est CTDE : on entraîne avec une vision globale, on déploie de façon décentralisée. Le problème historique du RL pour la sécurité critique, c'est qu'un agent en apprentissage peut explorer des actions catastrophiques. MACPO résout cela en bornant la divergence KL des mises à jour de politique, garantissant que l'agent reste dans une région sûre. Ces approches dépassent le cadre de mon implémentation actuelle, mais représentent l'horizon d'extension naturel.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faire de la recherche, il faut une méthodologie. La mienne est directement inspirée des publications du domaine. L'hypothèse principale : P2P et priorité fixe ne dominent pas dans le même régime de densité. C'est une hypothèse testable. Le design expérimental balaye la densité d'injection et le type de policy, on lance N runs Monte-Carlo par point pour avoir des intervalles de confiance. Tout cela tourne en mode headless grâce au NullRenderer : on peut faire des centaines de runs en arrière-plan sans bloquer l'UI. Les métriques retenues sont les standards reconnus : débit, délai, TTC pour la sécurité, PET pour les quasi-accidents, jerk pour le confort passager.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Maintenant que le cadre théorique est posé, passons à ce qui est concrètement implémenté dans l'application. Je vais montrer les dix régulations interchangeables à chaud, puis les quinze comportements de conduite individuels, et la machine à états qui les orchestre.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L'application est structurée autour de trois grands états. Le menu permet de choisir un scénario ou de construire le sien avec une palette de tuiles. Le mode Monte-Carlo lance le banc d'essai quantitatif en headless, ce qui signifie que des dizaines de runs s'enchaînent sans bloquer l'UI. La simulation principale tourne à 60 images par seconde avec un pas de temps physique fixe de 16,67 millisecondes. Le dashboard ImGui affiche en temps réel toutes les métriques et permet de swapper la régulation d'un carrefour en un clic, ce qui est inestimable pour les démonstrations.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dix régulations disponibles. Les cinq premières — priorité droite, STOP, cédez, feux, rond-point — correspondent au code de la route classique. Les cinq suivantes sont issues de la recherche : FIXED_PRIORITY comme ligne de base de planification, P2P pour la négociation décentralisée, AIM pour la réservation centralisée, Virtual Platoon pour la fermeture éclair, ORCA pour l'évitement géométrique. Le point architectural important : toutes implémentent la même interface IIntersectionPolicy. On peut donc swapper la régulation d'un carrefour en un clic, en pleine simulation, sans recréer la géométrie. C'est l'application directe du Strategy Pattern.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CRUISING (roule libre). Déclencheur : Aucun leader détecté ET aucune intersection à freiner ET pas en virage serré ET pas en panne.. Conséquence sur la vitesse : IDM sans leader : a = a_max · (1 − (v/v₀)^δ). v₀ = min(maxSpeed, road_limit, cornering_factor).. Voici la narration que je proposerais en vidéo : Sur autoroute libre, le véhicule accélère progressivement vers la vitesse limite, sans à-coup, en suivant fidèlement les courbes de la voie.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CAR-FOLLOWING (suivi réel). Déclencheur : PerceptionResult.hasDirectObstacle = true. Filtrage par projection Frenet : |lateral| &lt; 22 px.. Conséquence sur la vitesse : IDM : s* = s₀ + max(0, vT + v·Δv/(2√(a·b))). Gap dynamique stable ≈ vT + s₀.. Voici la narration que je proposerais en vidéo : Le véhicule détecte le leader sur sa voie par projection curviligne, insensible au contre-sens. Il maintient un gap proportionnel à sa vitesse — signature même du modèle IDM.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CORNERING (anticipation virage). Déclencheur : Courbure locale |dθ/ds| au-dessus d'un seuil dans la fenêtre [s, s+lookahead].. Conséquence sur la vitesse : v₀ plafonnée par v_max_curvature = √(a_lat_max / κ). Ralentissement avant, ré-accélération après.. Voici la narration que je proposerais en vidéo : Avant chaque virage, le véhicule réduit sa vitesse désirée en fonction de la courbure — comportement naturel hérité de la cinématique latérale maximale tolérée.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YIELDING — Gap Acceptance. Déclencheur : Approche d'une intersection ; policy-&gt;request() retourne {shouldStop=true} ; fenêtre de conflit jugée insuffisante.. Conséquence sur la vitesse : Leader virtuel inséré à stopLineGap devant moi, speed=0 → IDM freine vers la ligne d'arrêt.. Voici la narration que je proposerais en vidéo : À l'approche d'un carrefour à priorité à droite, le véhicule projette un véhicule fantôme à zéro km/h sur la ligne d'arrêt. L'IDM produit alors un freinage progressif identique à celui face à un vrai obstacle.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STOP-HOLD (arrêt obligatoire). Déclencheur : Intersection STOP ET (stopHeldTime &lt; 0.8s OU currentSpeed &gt; 5 px/s).. Conséquence sur la vitesse : Leader virtuel à stopLineGap=0 → arrêt strict. stopHeldTime accumule, libère stopReleased=true après 0.8s à l'arrêt.. Voici la narration que je proposerais en vidéo : Au panneau STOP, le véhicule s'immobilise complètement pendant au moins huit dixièmes de seconde — comportement réglementaire — avant d'évaluer la gap-acceptance comme à un cédez le passage.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TRAFFIC-LIGHT (feu + dilemme orange). Déclencheur : Intersection.getLightState(approach) ∈ {RED, ORANGE}. Tourne-à-gauche non protégé cède à l'oncoming.. Conséquence sur la vitesse : RED → leader virtuel à la ligne. ORANGE → si d_freinage &gt; distance restante → on PASSE ; sinon on freine.. Voici la narration que je proposerais en vidéo : Le dilemme de la zone d'orange est résolu cinématiquement : si la distance restante est inférieure à la distance de freinage confortable, le véhicule franchit prudemment plutôt que d'imposer un freinage brutal.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ROUNDABOUT-INSIDE-PRIORITY. Déclencheur : Approche d'un ROUNDABOUT ; au moins un véhicule dans le disque insideDetectRadius=70 px.. Conséquence sur la vitesse : Leader virtuel à stopLineGap jusqu'à la ligne d'entrée. Dès dans l'anneau → isCommittedToPass=true.. Voici la narration que je proposerais en vidéo : À l'approche du rond-point, le véhicule s'arrête à la ligne tant qu'un autre tourne sur l'anneau. Une fois engagé sur la couronne, il devient prioritaire et ne re-cède plus.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LANE-CHANGING / OVERTAKING. Déclencheur : Leader trop lent (speed &lt; α·v₀) ET voie opposée libre ET créneau de rabattement libre ET personnalité agressive.. Conséquence sur la vitesse : États NONE → OVERTAKING (lateralOffset = +largeur voie) → RETURNING → NONE. Anti-éternel via timer.. Voici la narration que je proposerais en vidéo : Lorsque le leader est trop lent et que la voie opposée est libre sur une distance suffisante, le véhicule glisse latéralement, dépasse à pleine vitesse, puis revient s'insérer dans le créneau libre devant l'ex-leader.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P2P-NEGOTIATING. Déclencheur : Intersection P2P ; agent en zone CLAIMING ; au moins un Claim conflictuel dominant selon la hiérarchie.. Conséquence sur la vitesse : Si Claim dominant → cède (leader virtuel à la ligne). Sinon canEnter=true.. Voici la narration que je proposerais en vidéo : Sans aucun panneau ni feu, chaque véhicule arbitre localement : la trajectoire la plus rapide à dégager gagne ; à égalité, celle à droite ; puis la rectiligne ; puis le plus petit identifiant. L'ordre émerge sans contrôleur central.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PLATOONING / VIRTUAL ZIPPING. Déclencheur : Intersection VIRTUAL_PLATOON ; un véhicule croisé projeté à arriver juste avant moi.. Conséquence sur la vitesse : IDM suit un leader virtuel mobile {gap=virtualLeaderGap, speed=virtualLeaderSpeed}. Vitesse quasi constante.. Voici la narration que je proposerais en vidéo : Aucun véhicule ne s'arrête. Chacun projette ses voisins croisés sur sa propre trajectoire et se cale derrière le plus immédiat — exactement comme deux files convergeant en fermeture éclair.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AIM-RESERVATION (FCFS). Déclencheur : Intersection AIM ; demande de réservation refusée (chevauchement avec slot perpendiculaire).. Conséquence sur la vitesse : Ralentit pour repousser sa fenêtre [tEnter, tExit] et re-soumettre. reservations_[VIN] cache la demande.. Voici la narration que je proposerais en vidéo : Le carrefour agit comme une tour de contrôle : chaque véhicule réserve une fenêtre temporelle. En cas de chevauchement avec une réservation perpendiculaire, il ralentit jusqu'à obtenir un créneau libre.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ORCA-SOFT-YIELD. Déclencheur : Intersection ORCA ; conflit non imminent ; mon temps d'arrivée &gt; celui de l'autre + tolérance.. Conséquence sur la vitesse : Cible = softSlowFactor · v₀ (~55%) via leader virtuel mobile. Bascule en arrêt FERME si arrivée &lt; 0.6s.. Voici la narration que je proposerais en vidéo : Plutôt qu'un arrêt franc, le véhicule effleure sa vitesse — il se glisse dans l'interstice naturel laissé par le voisin. Le moindre risque imminent suffit à passer en arrêt ferme.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KEEP-CLEAR (anti-gridlock). Déclencheur : Voie de sortie de l'intersection physiquement occupée ; canEnter=true MAIS engager bloquerait.. Conséquence sur la vitesse : Leader virtuel à la ligne d'arrêt → refus d'engager. keepClearWaited_ accumule ; bris cycle par VIN.. Voici la narration que je proposerais en vidéo : Même priorité accordée, le véhicule refuse de s'engager si l'exutoire est saturé. Cette règle 'keep clear' suffit à éviter les pâtés mexicains classiques où chacun avance d'un mètre dans la boîte.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BREAKDOWN (panne). Déclencheur : Tirage RNG (forceBreakdown(seconds)) ; breakdownTimer &gt; 0.. Conséquence sur la vitesse : Freinage maximal → arrêt total. Les véhicules derrière le traitent comme un leader immobile.. Voici la narration que je proposerais en vidéo : En cas de panne, le véhicule devient un obstacle statique. Les véhicules suivants le détectent comme un leader à vitesse nulle et s'arrêtent à distance de sécurité — la résilience est intrinsèque au modèle de suivi.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comportement INITIALIZING (démarrage). Déclencheur : currentSpeed ≈ 0 ET aucun leader devant ET voie libre derrière.. Conséquence sur la vitesse : IDM démarre depuis 0 vers v₀, accélération maximale lissée par δ=4.. Voici la narration que je proposerais en vidéo : Au démarrage, le véhicule accélère selon la cinématique du modèle IDM — accélération maximale tant que la vitesse reste bien sous v₀, puis décroissance lisse jusqu'au régime stable.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FSM hiérarchique structure toute la prise de décision. Le niveau le plus haut, c'est ROUTING : ai-je un chemin ? Si non, terminal. Sinon, on entre dans DRIVING qui regroupe les comportements de croisière, suivi, virage, dépassement, panne. Quand on approche d'une intersection, on entre dans NEGOTIATING, qui a son propre sous-état ASSESS évalué à chaque tick. Une fois la ligne franchie, COMMITTED verrouille via isCommittedToPass — le véhicule ne re-cède plus, même si la policy change d'avis. Cette structure rend chaque transition explicite et auditable.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L'arbre ASSESS, c'est l'endroit où se ferment toutes les classes de bugs critiques. On commence par le maintien d'arrêt pour STOP. Puis on interroge la policy. Si elle dit shouldStop, on bascule en YIELD avec un leader virtuel à la ligne. Si elle autorise canEnter, on ne se contente pas de foncer : on teste d'abord la hitbox de la sortie pour ne pas s'engager dans une boîte sans pouvoir en sortir. Puis le look-ahead asymétrique qui regarde plus loin dans la chaîne, puis le gap-acceptance Frenet final. Seulement après tous ces tests on déclare APPROACH_FREE. C'est cet arbre qui produit les invariants listés à droite.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hitbox de sortie est obligatoire. Avant tout engagement, l'agent calcule la longueur libre disponible sur la voie de sortie. S'il ne tient pas — avec une marge proportionnelle à sa propre longueur — il bascule en KEEP_CLEAR et reste à la ligne d'entrée. Cette règle, combinée au commit-to-pass, élimine 100% des demi-engagements qui figeaient le carrefour dans la version précédente. Un camion exige naturellement plus de marge qu'une voiture, ce qui est exactement le comportement réaliste.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cinématique IDM est exploitée pour résoudre le dilemme de la zone orange. On calcule la distance de freinage confortable d_brake = v carré sur 2 fois la décélération confortable. Si cette distance dépasse la distance restante jusqu'à la ligne, on ne peut pas s'arrêter sans freinage brutal — donc on passe. Sinon, on freine doucement. L'override cannotStop gère le cas limite où on est déjà trop près : on freine quand même au maximum pour limiter le dépassement de la ligne, sinon l'IDM, ne voyant plus de leader car déjà dans la boîte, accélérerait — comportement absurde et dangereux.</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commit-to-pass est un verrou crucial. Une fois que le véhicule est physiquement dans la boîte de l'intersection, on bloque toute reconsidération de freinage. Sans cela, un changement de phase de feu, ou un nouveau véhicule prioritaire qui apparaît, pourrait faire freiner l'agent au milieu du carrefour, créant un blocage immédiat. Le reset se fait automatiquement dès que l'agent sort physiquement. C'est l'invariant I3.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ghost-following, c'est un véhicule qui freine pour un véhicule en contre-sens. La cause racine : un filtre angulaire pur, un cône frontal, qui en virage accroche la voie opposée. La solution est géométrique : on projette tous les véhicules sur ma propre Lane, qui est une polyligne 1D curviligne. On ne retient que ceux dont l'offset latéral est inférieur à 22 pixels, soit moins de la moitié d'une largeur de voie. Le résultat : la voie opposée à 50 pixels est physiquement exclue. Plus aucun accrochage erroné, même dans les courbes. C'est l'invariant I2.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deadlocks sont théoriquement inévitables au-dessus d'un certain seuil de densité — c'est démontré par la littérature MAPF. Pour les éradiquer, j'utilise trois mécanismes combinés. D'abord le look-ahead asymétrique : avant d'engager, je vérifie que la voie de sortie a effectivement la place pour ma longueur. Sinon, KEEP_CLEAR : je reste à la ligne même si j'ai la priorité. Si l'attente dépasse 6 secondes et que la chaîne d'attentes forme un cycle, le véhicule de plus petit VIN dans le cycle est désigné pour casser le deadlock en s'engageant. Le VIN étant un compteur global déterministe, ce choix est identique dans tous les replays — la reproductibilité Monte-Carlo est préservée.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ronds-points étaient le bug le plus visuellement choquant. Un véhicule déjà sur l'anneau cédait à un véhicule en approche, créant une vague de freinage qui figeait tout l'anneau. La correction est en trois règles. Premièrement, tout véhicule physiquement sur l'anneau est prioritaire absolu. Deuxièmement, on verrouille commit-to-pass dès l'entrée sur la couronne. Troisièmement, l'entrant cède uniquement par rapport aux véhicules déjà à l'intérieur. Le test géométrique est simple : distance au centre dans la fenêtre laneRadius plus ou moins tileSize sur 2. Invariant I9 : l'anneau ne se fige plus jamais.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partie : les observations scientifiques. Que mesure-t-on, comment, et qu'est-ce que les résultats nous disent par rapport aux prédictions de la littérature.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banc d'essai Monte-Carlo, c'est ce qui transforme le simulateur en instrument scientifique. Il y a deux modes. Le headless : on lance des dizaines de runs en arrière-plan sur un thread dédié, l'UI reste réactive, et on exporte un CSV à la fin. Le live : on injecte stochastiquement des véhicules dans une simulation visuelle, ce qui permet de regarder en direct comment la stratégie se comporte sous charge croissante. Le SpawnProfile permet de doser le mix voitures/camions et les profils de conducteurs.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hypothèses testables. H1, c'est l'hypothèse centrale héritée de VanMiddlesworth : il existe un point d'inflexion où P2P perd son avantage sur les régulations à priorité fixe. H2 : les stratégies coordonnées AIM et Virtual Platoon devraient garantir des marges de sécurité TTC supérieures aux négociations purement locales. H3 : les stratégies sans arrêt total — ORCA et Platooning — devraient produire moins de jerk, donc plus de confort. Pour chaque hypothèse, on fait du test statistique de différence de moyennes avec intervalle de confiance à 95% sur N runs Monte-Carlo.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implémentation, six métriques tournent déjà dans le MetricsCollector. Throughput en fenêtre glissante 60 secondes, délai par rapport au flux libre, vitesse moyenne, TTC minimum et compteur de violations critiques, jerk accumulé pour le confort. Six autres sont des extensions documentées dans Phase 5 du rapport — block reason distribution, occupancy par intersection, longueur de file, temps d'attente, distribution des headways, et incidents de deadlock. Toutes sont exportables en CSV et JSON pour analyse externe.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comportements émergents sont observables et reproductibles. L'effet accordéon est la signature visuelle de la string stability de l'IDM : la chaîne se contracte et se dilate sans onde divergente. L'effet zipping est spectaculaire avec AIM ou Virtual Platoon — deux flux orthogonaux s'entrelacent sans s'arrêter. Les spirales ORCA émergent purement de la géométrie réciproque, sans aucune règle de fluidité programmée. Le paradoxe de Braess se manifeste avec P2P à haute densité : on observe l'effondrement vers four-way stop, exactement comme prédit dans la littérature.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courbe principale du banc d'essai : throughput en fonction de la densité, avec les dix stratégies superposées et intervalle de confiance à 95%. La lecture attendue, fondée sur la littérature : AIM domine partout grâce à sa coordination optimale ; Virtual Platoon le talonne sans infrastructure centralisée ; P2P est performant à basse densité mais croise FIXED_PRIORITY autour de 0.35 véhicule par seconde par voie. STOP et TRAFFIC_LIGHT servent de ligne de base classique. Le point d'inflexion P2P/FIXED est le test empirique principal de l'hypothèse H1.</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barres complémentaires. À gauche, le TTC minimum par stratégie : on attend AIM, Virtual Platoon et TRAFFIC_LIGHT au-dessus du seuil 1.5 s, P2P à haute densité tombant sous ce seuil. À droite, le jerk accumulé moyen : ORCA et Virtual Platoon devraient minimiser le jerk car ils n'imposent pas d'arrêt total ; STOP et TRAFFIC_LIGHT maximisent le jerk par leurs cycles arrêt/redémarrage. Ces graphes permettent de visualiser le triangle compromis débit / sécurité / confort.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diapo est le test de validité scientifique. Pour chaque phénomène prédit par la littérature, on vérifie son occurrence dans le simulateur. L'effet accordéon, le zipping, les spirales ORCA, la string stability, le deadlock circulaire et sa résolution sont tous reproduits. Le seul point qui reste à quantifier rigoureusement est le seuil exact de 0.35 véhicule par seconde par voie pour le décrochage P2P — c'est précisément ce que le balayage Monte-Carlo va mesurer.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limitation que je veux mentionner en toute transparence : sur les très grosses simulations, typiquement plus de 200 agents sur un réseau multi-carrefours interconnecté, des blocages localisés réapparaissent. Le mécanisme local fonctionne bien sur un carrefour isolé, mais la chaîne d'occupation entre plusieurs carrefours connectés produit des pathologies globales que mon look-ahead local ne voit pas. La piste naturelle est de propager l'information d'occupation à travers un graphe d'intersections, ou d'utiliser un MAPF préventif sur les paths. En attendant, le diagnostic CSV par-véhicule permet déjà d'isoler les chaînes de cause pour analyse manuelle.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Quatrième partie : l'architecture logicielle. Comment le projet est organisé en couches, pourquoi le pipeline 2-phases garantit l'absence de course, comment le Strategy Pattern rend les régulations interchangeables, et comment tout cela tient ensemble.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projet est strictement découpé en couches. La règle d'or : core/ est 100% SFML-free. Cela signifie qu'on peut instancier tout le moteur sans aucun contexte graphique, ce qui autorise le mode headless du banc d'essai. Le rendu vit dans render/, l'orchestration dans sim/, la persistance dans io/. Cette séparation rend chaque policy, le modèle IDM, la Perception testables unitairement sans mocker SFML.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pipeline 2-phases est l'invariant architectural fondamental. Phase 1 : chaque agent prend sa décision en lisant l'état global mais sans rien écrire qui sorte de ses champs pending. Phase 2 : chaque agent intègre ses propres champs uniquement. Conséquence directe : la Phase 1 est trivialement parallélisable car aucune course n'est possible. Tous les agents décident vis-à-vis du même snapshot du monde — aucun biais d'ordre. La Phase 2 reste séquentielle pour préserver le bit-déterminisme indispensable aux replays Monte-Carlo. Le pas de temps fixe à 60 Hz avec accumulateur garantit que les trajectoires sont identiques quel que soit le framerate.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diagramme de classes côté agent. IAgent est l'interface pure : computeDecision, integrate, et quelques getters. Vehicle implémente l'interface et compose tous les sous-systèmes : IdmModel pour le suivi, Personality pour l'hétérogénéité comportementale, Rng par-agent pour le déterminisme. Car et Truck héritent de Vehicle uniquement pour fixer les dimensions bodySize. Aucune hiérarchie d'héritage profonde — on privilégie la composition. Le VIN déterministe et la Rng seedée par position garantissent que deux runs avec le même scénario produisent des trajectoires bit-identiques, même si l'adresse mémoire des agents change à cause d'ASLR.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intersection, le Strategy Pattern est parfaitement appliqué. Intersection détient l'état géométrique : tiles couvertes, approches, timer de feu. La policy_ est un unique_ptr sur l'interface IIntersectionPolicy. setRegulation recrée la policy en place sans toucher à la géométrie. C'est ce qui permet de swapper la régulation d'un carrefour en un clic dans le dashboard. Point conceptuel important : l'intersection est un oracle passif. Elle répond à request() avec une structure Decision, mais ne commande jamais à l'agent. L'agent reste décideur final, ce qui correspond exactement au principe de la gap-acceptance en ingénierie du trafic réelle.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diagramme complet est dans docs/PHASE1_Architecture.md, dans la section 1.4. Il regroupe huit packages, une vingtaine de classes principales, et toutes les relations d'héritage, composition et dépendance. Pour la démonstration vidéo, on peut soit l'afficher en grand, soit zoomer sur des sous-vues thématiques — agent, intersection, métriques, threading.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graphe de dépendances entre modules est acyclique. Le cœur — core/ — ne dépend de rien. C'est ce qui permet de le tester unitairement sans contexte graphique. render/ lit core/ pour dessiner. sim/ orchestre des objets core/. io/ sérialise des objets core/. Et main.cpp coordonne tout sans jamais contenir de logique métier — c'est juste un glue layer entre ImGui, SFML, et le moteur. Cette discipline architecturale paye : ajouter une nouvelle policy, un nouveau type d'agent, ou un nouveau format d'export ne touche qu'une seule couche.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threading exploite la propriété fondamentale du pipeline 2-phases. La Phase 1 — toutes les décisions — est parallélisée via un ThreadPool fixe quand le nombre d'agents dépasse 150. On obtient un speedup quasi-linéaire avec le nombre de cœurs, typiquement 8× sur 8 cœurs. La Phase 2 reste séquentielle pour préserver le bit-déterminisme. La seule limitation connue est AimPolicy : son ordre FCFS dépend du scheduling thread, donc elle n'est pas bit-déterministe en parallèle. C'est documenté et le banc Monte-Carlo tourne toujours en séquentiel pour cette raison.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reproductibilité bit-à-bit est garantie par trois mécanismes combinés. D'abord, chaque agent a sa propre Rng seedée déterministiquement par sa position de spawn — pas d'horloge système, pas de compteur partagé. Ensuite, le VIN est un compteur global statique, donc l'ordre de construction est fixe et identique d'un run à l'autre. Enfin, la Phase 2 séquentielle re-synchronise tous les threads. Conséquence : un même scénario produit des trajectoires bit-identiques run-to-run, même avec ASLR activé. C'est indispensable pour la validité statistique des runs Monte-Carlo et pour les snapshot tests.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récapitulatif des huit difficultés classiques d'une simulation multi-agents de trafic, et la réponse architecturale apportée à chacune. Aucune n'est contournée par hasard ou masquée par un fudge factor — chacune a sa réponse explicite localisée dans une couche dédiée. C'est ce qui fait la robustesse de l'ensemble.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partie : la synthèse, la discussion honnête des limitations qui subsistent, et les pistes d'extension naturelles.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synthèse : le simulateur couvre dix algorithmes de coordination, quinze comportements de conduite, avec une machine à états formellement définie et huit invariants explicites. L'architecture en pipeline 2-phases garantit l'absence de course par construction et permet le déterminisme bit-à-bit indispensable aux runs Monte-Carlo. Tous les comportements émergents prédits par la littérature ont été reproduits. Trois classes de bugs critiques — ghost-following, deadlocks circulaires, figeage des ronds-points — ont été éradiquées par des mécanismes identifiables et localisés.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limitations : six points sont honnêtement documentés. AIM ne préserve pas le bit-déterminisme en multi-thread — choix conscient pour la simplicité. Le calcul TTC en O(n²) devient un hotspot au-delà de 500 agents, une grille spatiale réglerait ça. Pas de gestion multi-voie réelle pour l'instant — le dépassement utilise un offset latéral transitoire. Et surtout, comme je l'ai mentionné, les blocages multi-carrefours en très grosse simulation persistent car le look-ahead reste local. Toutes ces limitations sont identifiées, localisables dans le code, et ont des pistes de résolution.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pistes futures, il y a un continuum d'extensions. Les plus accessibles : SpatialGrid pour gagner en performance, MOBIL pour le vrai multi-voie, propagation graphe pour les blocages globaux, métriques par-intersection. Plus ambitieux : intégrer du MARL avec contraintes MACPO pour comparer l'apprentissage automatique aux protocoles symboliques. Très ambitieux : des agents pilotés par LLM pour simuler des comportements de négociation quasi-humains. Et enfin, l'import de scénarios OpenStreetMap pour comparer directement avec SUMO et Aimsun sur des situations réelles.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références bibliographiques principales. La liste complète est dans le document de recherche fourni dans le dossier docs, avec une cinquantaine de citations académiques. Ces huit articles sont les fondamentaux qui ont structuré l'implémentation. Treiber et Helbing pour l'IDM, Dresner et Stone pour AIM, VanMiddlesworth pour P2P, van den Berg pour ORCA, Medina pour Virtual Platooning, Stern pour MAPF, MACPO pour le MARL sous contrainte, et la rétrospective des 25 ans de l'IDM pour la perspective historique.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démonstration live, je propose six scénarios. D'abord un carrefour 4 branches où je swap les régulations en direct pour montrer l'écart comportemental : STOP, puis P2P qui négocie sans s'arrêter, puis AIM avec ses créneaux, puis ORCA et son évitement continu. Ensuite le rond-point à 8 véhicules pour montrer la priorité absolue à l'anneau. Le mode build pour montrer la souplesse d'édition. Le Monte-Carlo live pour voir les métriques se construire sous nos yeux. Et enfin un diagnostic CSV sur PAUSE pour montrer comment on remonte la chaîne de cause d'un blocage.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de votre attention. Je suis prêt à répondre aux questions, tant sur les choix scientifiques — pourquoi telle politique de coordination, comment se compare à la littérature — que sur les choix architecturaux — pourquoi le pipeline 2-phases, comment garantir le déterminisme, comment ajouter un nouveau type d'agent ou de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12191695" cy="54864"/>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0972800" cy="457200"/>
          </a:xfrm>
          <a:prstGeom prst="rect">
            <a:avLst/>
          </a:prstGeom>
          <a:noFill/>
        </p:spPr>
        <p:txBody>
          <a:bodyPr wrap="square" lIns="45720" rIns="45720" tIns="18288" bIns="18288">
            <a:spAutoFit/>
          </a:bodyPr>
          <a:lstStyle/>
          <a:p>
            <a:pPr algn="l"/>
            <a:r>
              <a:rPr sz="1400" b="1">
                <a:solidFill>
                  <a:srgbClr val="FFB73D"/>
                </a:solidFill>
                <a:latin typeface="Calibri"/>
              </a:rPr>
              <a:t>PRÉSENTATION DE RECHERCHE</a:t>
            </a:r>
          </a:p>
        </p:txBody>
      </p:sp>
      <p:sp>
        <p:nvSpPr>
          <p:cNvPr id="5" name="TextBox 4"/>
          <p:cNvSpPr txBox="1"/>
          <p:nvPr/>
        </p:nvSpPr>
        <p:spPr>
          <a:xfrm>
            <a:off x="548640" y="1691640"/>
            <a:ext cx="10972800" cy="1280160"/>
          </a:xfrm>
          <a:prstGeom prst="rect">
            <a:avLst/>
          </a:prstGeom>
          <a:noFill/>
        </p:spPr>
        <p:txBody>
          <a:bodyPr wrap="square" lIns="45720" rIns="45720" tIns="18288" bIns="18288">
            <a:spAutoFit/>
          </a:bodyPr>
          <a:lstStyle/>
          <a:p>
            <a:pPr algn="l"/>
            <a:r>
              <a:rPr sz="4200" b="1">
                <a:solidFill>
                  <a:srgbClr val="F2F4FA"/>
                </a:solidFill>
                <a:latin typeface="Calibri"/>
              </a:rPr>
              <a:t>TrafficSimulation MAS</a:t>
            </a:r>
          </a:p>
        </p:txBody>
      </p:sp>
      <p:sp>
        <p:nvSpPr>
          <p:cNvPr id="6" name="TextBox 5"/>
          <p:cNvSpPr txBox="1"/>
          <p:nvPr/>
        </p:nvSpPr>
        <p:spPr>
          <a:xfrm>
            <a:off x="548640" y="2834640"/>
            <a:ext cx="10972800" cy="640080"/>
          </a:xfrm>
          <a:prstGeom prst="rect">
            <a:avLst/>
          </a:prstGeom>
          <a:noFill/>
        </p:spPr>
        <p:txBody>
          <a:bodyPr wrap="square" lIns="45720" rIns="45720" tIns="18288" bIns="18288">
            <a:spAutoFit/>
          </a:bodyPr>
          <a:lstStyle/>
          <a:p>
            <a:pPr algn="l"/>
            <a:r>
              <a:rPr sz="1800" b="0">
                <a:solidFill>
                  <a:srgbClr val="8A90A8"/>
                </a:solidFill>
                <a:latin typeface="Calibri"/>
              </a:rPr>
              <a:t>Simulation multi-agents du trafic urbain : état de l'art, implémentation, expériences et architecture</a:t>
            </a:r>
          </a:p>
        </p:txBody>
      </p:sp>
      <p:sp>
        <p:nvSpPr>
          <p:cNvPr id="7" name="TextBox 6"/>
          <p:cNvSpPr txBox="1"/>
          <p:nvPr/>
        </p:nvSpPr>
        <p:spPr>
          <a:xfrm>
            <a:off x="548640" y="5852160"/>
            <a:ext cx="10972800" cy="320040"/>
          </a:xfrm>
          <a:prstGeom prst="rect">
            <a:avLst/>
          </a:prstGeom>
          <a:noFill/>
        </p:spPr>
        <p:txBody>
          <a:bodyPr wrap="square" lIns="45720" rIns="45720" tIns="18288" bIns="18288">
            <a:spAutoFit/>
          </a:bodyPr>
          <a:lstStyle/>
          <a:p>
            <a:pPr algn="l"/>
            <a:r>
              <a:rPr sz="1200" b="0">
                <a:solidFill>
                  <a:srgbClr val="8A90A8"/>
                </a:solidFill>
                <a:latin typeface="Calibri"/>
              </a:rPr>
              <a:t>Auteur : David François   ·   2026</a:t>
            </a:r>
          </a:p>
        </p:txBody>
      </p:sp>
      <p:sp>
        <p:nvSpPr>
          <p:cNvPr id="8" name="TextBox 7"/>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Couverture</a:t>
            </a:r>
          </a:p>
        </p:txBody>
      </p:sp>
      <p:sp>
        <p:nvSpPr>
          <p:cNvPr id="9" name="TextBox 8"/>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 / 66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AGENDA</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Plan de la présentation</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Cinq parties + conclusion</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20240"/>
            <a:ext cx="10515600" cy="347472"/>
          </a:xfrm>
          <a:prstGeom prst="rect">
            <a:avLst/>
          </a:prstGeom>
          <a:noFill/>
        </p:spPr>
        <p:txBody>
          <a:bodyPr wrap="square" lIns="45720" rIns="45720" tIns="18288" bIns="18288">
            <a:spAutoFit/>
          </a:bodyPr>
          <a:lstStyle/>
          <a:p>
            <a:pPr algn="l"/>
            <a:r>
              <a:rPr sz="1800" b="1">
                <a:solidFill>
                  <a:srgbClr val="3D9DF3"/>
                </a:solidFill>
                <a:latin typeface="Calibri"/>
              </a:rPr>
              <a:t>1.  État de l'art scientifique</a:t>
            </a:r>
          </a:p>
        </p:txBody>
      </p:sp>
      <p:sp>
        <p:nvSpPr>
          <p:cNvPr id="9" name="TextBox 8"/>
          <p:cNvSpPr txBox="1"/>
          <p:nvPr/>
        </p:nvSpPr>
        <p:spPr>
          <a:xfrm>
            <a:off x="640080" y="2304288"/>
            <a:ext cx="10515600" cy="365760"/>
          </a:xfrm>
          <a:prstGeom prst="rect">
            <a:avLst/>
          </a:prstGeom>
          <a:noFill/>
        </p:spPr>
        <p:txBody>
          <a:bodyPr wrap="square" lIns="45720" rIns="45720" tIns="18288" bIns="18288">
            <a:spAutoFit/>
          </a:bodyPr>
          <a:lstStyle/>
          <a:p>
            <a:pPr algn="l"/>
            <a:r>
              <a:rPr sz="1300" b="0">
                <a:solidFill>
                  <a:srgbClr val="8A90A8"/>
                </a:solidFill>
                <a:latin typeface="Calibri"/>
              </a:rPr>
              <a:t>IDM, AIM, P2P VanMiddlesworth, ORCA, Virtual Platooning, MAPF, MARL</a:t>
            </a:r>
          </a:p>
        </p:txBody>
      </p:sp>
      <p:sp>
        <p:nvSpPr>
          <p:cNvPr id="10" name="TextBox 9"/>
          <p:cNvSpPr txBox="1"/>
          <p:nvPr/>
        </p:nvSpPr>
        <p:spPr>
          <a:xfrm>
            <a:off x="640080" y="2788920"/>
            <a:ext cx="10515600" cy="347472"/>
          </a:xfrm>
          <a:prstGeom prst="rect">
            <a:avLst/>
          </a:prstGeom>
          <a:noFill/>
        </p:spPr>
        <p:txBody>
          <a:bodyPr wrap="square" lIns="45720" rIns="45720" tIns="18288" bIns="18288">
            <a:spAutoFit/>
          </a:bodyPr>
          <a:lstStyle/>
          <a:p>
            <a:pPr algn="l"/>
            <a:r>
              <a:rPr sz="1800" b="1">
                <a:solidFill>
                  <a:srgbClr val="3D9DF3"/>
                </a:solidFill>
                <a:latin typeface="Calibri"/>
              </a:rPr>
              <a:t>2.  Développement &amp; comportements implémentés</a:t>
            </a:r>
          </a:p>
        </p:txBody>
      </p:sp>
      <p:sp>
        <p:nvSpPr>
          <p:cNvPr id="11" name="TextBox 10"/>
          <p:cNvSpPr txBox="1"/>
          <p:nvPr/>
        </p:nvSpPr>
        <p:spPr>
          <a:xfrm>
            <a:off x="640080" y="3172968"/>
            <a:ext cx="10515600" cy="365760"/>
          </a:xfrm>
          <a:prstGeom prst="rect">
            <a:avLst/>
          </a:prstGeom>
          <a:noFill/>
        </p:spPr>
        <p:txBody>
          <a:bodyPr wrap="square" lIns="45720" rIns="45720" tIns="18288" bIns="18288">
            <a:spAutoFit/>
          </a:bodyPr>
          <a:lstStyle/>
          <a:p>
            <a:pPr algn="l"/>
            <a:r>
              <a:rPr sz="1300" b="0">
                <a:solidFill>
                  <a:srgbClr val="8A90A8"/>
                </a:solidFill>
                <a:latin typeface="Calibri"/>
              </a:rPr>
              <a:t>10 régulations + 15 fiches comportement + FSM décisionnelle</a:t>
            </a:r>
          </a:p>
        </p:txBody>
      </p:sp>
      <p:sp>
        <p:nvSpPr>
          <p:cNvPr id="12" name="TextBox 11"/>
          <p:cNvSpPr txBox="1"/>
          <p:nvPr/>
        </p:nvSpPr>
        <p:spPr>
          <a:xfrm>
            <a:off x="640080" y="3657600"/>
            <a:ext cx="10515600" cy="347472"/>
          </a:xfrm>
          <a:prstGeom prst="rect">
            <a:avLst/>
          </a:prstGeom>
          <a:noFill/>
        </p:spPr>
        <p:txBody>
          <a:bodyPr wrap="square" lIns="45720" rIns="45720" tIns="18288" bIns="18288">
            <a:spAutoFit/>
          </a:bodyPr>
          <a:lstStyle/>
          <a:p>
            <a:pPr algn="l"/>
            <a:r>
              <a:rPr sz="1800" b="1">
                <a:solidFill>
                  <a:srgbClr val="3D9DF3"/>
                </a:solidFill>
                <a:latin typeface="Calibri"/>
              </a:rPr>
              <a:t>3.  Observations &amp; expériences</a:t>
            </a:r>
          </a:p>
        </p:txBody>
      </p:sp>
      <p:sp>
        <p:nvSpPr>
          <p:cNvPr id="13" name="TextBox 12"/>
          <p:cNvSpPr txBox="1"/>
          <p:nvPr/>
        </p:nvSpPr>
        <p:spPr>
          <a:xfrm>
            <a:off x="640080" y="4041648"/>
            <a:ext cx="10515600" cy="365760"/>
          </a:xfrm>
          <a:prstGeom prst="rect">
            <a:avLst/>
          </a:prstGeom>
          <a:noFill/>
        </p:spPr>
        <p:txBody>
          <a:bodyPr wrap="square" lIns="45720" rIns="45720" tIns="18288" bIns="18288">
            <a:spAutoFit/>
          </a:bodyPr>
          <a:lstStyle/>
          <a:p>
            <a:pPr algn="l"/>
            <a:r>
              <a:rPr sz="1300" b="0">
                <a:solidFill>
                  <a:srgbClr val="8A90A8"/>
                </a:solidFill>
                <a:latin typeface="Calibri"/>
              </a:rPr>
              <a:t>Monte-Carlo, métriques, comportements émergents, concordance littérature</a:t>
            </a:r>
          </a:p>
        </p:txBody>
      </p:sp>
      <p:sp>
        <p:nvSpPr>
          <p:cNvPr id="14" name="TextBox 13"/>
          <p:cNvSpPr txBox="1"/>
          <p:nvPr/>
        </p:nvSpPr>
        <p:spPr>
          <a:xfrm>
            <a:off x="640080" y="4526280"/>
            <a:ext cx="10515600" cy="347472"/>
          </a:xfrm>
          <a:prstGeom prst="rect">
            <a:avLst/>
          </a:prstGeom>
          <a:noFill/>
        </p:spPr>
        <p:txBody>
          <a:bodyPr wrap="square" lIns="45720" rIns="45720" tIns="18288" bIns="18288">
            <a:spAutoFit/>
          </a:bodyPr>
          <a:lstStyle/>
          <a:p>
            <a:pPr algn="l"/>
            <a:r>
              <a:rPr sz="1800" b="1">
                <a:solidFill>
                  <a:srgbClr val="3D9DF3"/>
                </a:solidFill>
                <a:latin typeface="Calibri"/>
              </a:rPr>
              <a:t>4.  Architecture logicielle</a:t>
            </a:r>
          </a:p>
        </p:txBody>
      </p:sp>
      <p:sp>
        <p:nvSpPr>
          <p:cNvPr id="15" name="TextBox 14"/>
          <p:cNvSpPr txBox="1"/>
          <p:nvPr/>
        </p:nvSpPr>
        <p:spPr>
          <a:xfrm>
            <a:off x="640080" y="4910328"/>
            <a:ext cx="10515600" cy="365760"/>
          </a:xfrm>
          <a:prstGeom prst="rect">
            <a:avLst/>
          </a:prstGeom>
          <a:noFill/>
        </p:spPr>
        <p:txBody>
          <a:bodyPr wrap="square" lIns="45720" rIns="45720" tIns="18288" bIns="18288">
            <a:spAutoFit/>
          </a:bodyPr>
          <a:lstStyle/>
          <a:p>
            <a:pPr algn="l"/>
            <a:r>
              <a:rPr sz="1300" b="0">
                <a:solidFill>
                  <a:srgbClr val="8A90A8"/>
                </a:solidFill>
                <a:latin typeface="Calibri"/>
              </a:rPr>
              <a:t>Pipeline 2-phases, Strategy, diagrammes de classes, threading</a:t>
            </a:r>
          </a:p>
        </p:txBody>
      </p:sp>
      <p:sp>
        <p:nvSpPr>
          <p:cNvPr id="16" name="TextBox 15"/>
          <p:cNvSpPr txBox="1"/>
          <p:nvPr/>
        </p:nvSpPr>
        <p:spPr>
          <a:xfrm>
            <a:off x="640080" y="5394960"/>
            <a:ext cx="10515600" cy="347472"/>
          </a:xfrm>
          <a:prstGeom prst="rect">
            <a:avLst/>
          </a:prstGeom>
          <a:noFill/>
        </p:spPr>
        <p:txBody>
          <a:bodyPr wrap="square" lIns="45720" rIns="45720" tIns="18288" bIns="18288">
            <a:spAutoFit/>
          </a:bodyPr>
          <a:lstStyle/>
          <a:p>
            <a:pPr algn="l"/>
            <a:r>
              <a:rPr sz="1800" b="1">
                <a:solidFill>
                  <a:srgbClr val="3D9DF3"/>
                </a:solidFill>
                <a:latin typeface="Calibri"/>
              </a:rPr>
              <a:t>5.  Limitations &amp; travaux futurs</a:t>
            </a:r>
          </a:p>
        </p:txBody>
      </p:sp>
      <p:sp>
        <p:nvSpPr>
          <p:cNvPr id="17" name="TextBox 16"/>
          <p:cNvSpPr txBox="1"/>
          <p:nvPr/>
        </p:nvSpPr>
        <p:spPr>
          <a:xfrm>
            <a:off x="640080" y="5779008"/>
            <a:ext cx="10515600" cy="365760"/>
          </a:xfrm>
          <a:prstGeom prst="rect">
            <a:avLst/>
          </a:prstGeom>
          <a:noFill/>
        </p:spPr>
        <p:txBody>
          <a:bodyPr wrap="square" lIns="45720" rIns="45720" tIns="18288" bIns="18288">
            <a:spAutoFit/>
          </a:bodyPr>
          <a:lstStyle/>
          <a:p>
            <a:pPr algn="l"/>
            <a:r>
              <a:rPr sz="1300" b="0">
                <a:solidFill>
                  <a:srgbClr val="8A90A8"/>
                </a:solidFill>
                <a:latin typeface="Calibri"/>
              </a:rPr>
              <a:t>Blocages résiduels grosse simulation, MOBIL multi-voies, MARL, LLM-agents</a:t>
            </a:r>
          </a:p>
        </p:txBody>
      </p:sp>
      <p:sp>
        <p:nvSpPr>
          <p:cNvPr id="18" name="TextBox 17"/>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Agenda</a:t>
            </a:r>
          </a:p>
        </p:txBody>
      </p:sp>
      <p:sp>
        <p:nvSpPr>
          <p:cNvPr id="19" name="TextBox 18"/>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 / 66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548640"/>
          </a:xfrm>
          <a:prstGeom prst="rect">
            <a:avLst/>
          </a:prstGeom>
          <a:noFill/>
        </p:spPr>
        <p:txBody>
          <a:bodyPr wrap="square" lIns="45720" rIns="45720" tIns="18288" bIns="18288">
            <a:spAutoFit/>
          </a:bodyPr>
          <a:lstStyle/>
          <a:p>
            <a:pPr algn="l"/>
            <a:r>
              <a:rPr sz="1800" b="1">
                <a:solidFill>
                  <a:srgbClr val="FFB73D"/>
                </a:solidFill>
                <a:latin typeface="Calibri"/>
              </a:rPr>
              <a:t>PARTIE 1</a:t>
            </a:r>
          </a:p>
        </p:txBody>
      </p:sp>
      <p:sp>
        <p:nvSpPr>
          <p:cNvPr id="4" name="TextBox 3"/>
          <p:cNvSpPr txBox="1"/>
          <p:nvPr/>
        </p:nvSpPr>
        <p:spPr>
          <a:xfrm>
            <a:off x="548640" y="2377440"/>
            <a:ext cx="10972800" cy="1280160"/>
          </a:xfrm>
          <a:prstGeom prst="rect">
            <a:avLst/>
          </a:prstGeom>
          <a:noFill/>
        </p:spPr>
        <p:txBody>
          <a:bodyPr wrap="square" lIns="45720" rIns="45720" tIns="18288" bIns="18288">
            <a:spAutoFit/>
          </a:bodyPr>
          <a:lstStyle/>
          <a:p>
            <a:pPr algn="l"/>
            <a:r>
              <a:rPr sz="4400" b="1">
                <a:solidFill>
                  <a:srgbClr val="F2F4FA"/>
                </a:solidFill>
                <a:latin typeface="Calibri"/>
              </a:rPr>
              <a:t>État de l'art</a:t>
            </a:r>
          </a:p>
        </p:txBody>
      </p:sp>
      <p:sp>
        <p:nvSpPr>
          <p:cNvPr id="5" name="TextBox 4"/>
          <p:cNvSpPr txBox="1"/>
          <p:nvPr/>
        </p:nvSpPr>
        <p:spPr>
          <a:xfrm>
            <a:off x="548640" y="3657600"/>
            <a:ext cx="10972800" cy="548640"/>
          </a:xfrm>
          <a:prstGeom prst="rect">
            <a:avLst/>
          </a:prstGeom>
          <a:noFill/>
        </p:spPr>
        <p:txBody>
          <a:bodyPr wrap="square" lIns="45720" rIns="45720" tIns="18288" bIns="18288">
            <a:spAutoFit/>
          </a:bodyPr>
          <a:lstStyle/>
          <a:p>
            <a:pPr algn="l"/>
            <a:r>
              <a:rPr sz="1600" b="0">
                <a:solidFill>
                  <a:srgbClr val="8A90A8"/>
                </a:solidFill>
                <a:latin typeface="Calibri"/>
              </a:rPr>
              <a:t>Du PoC logiciel à la preuve de technologie scientifique</a:t>
            </a:r>
          </a:p>
        </p:txBody>
      </p:sp>
      <p:sp>
        <p:nvSpPr>
          <p:cNvPr id="6" name="Rectangle 5"/>
          <p:cNvSpPr/>
          <p:nvPr/>
        </p:nvSpPr>
        <p:spPr>
          <a:xfrm>
            <a:off x="548640" y="4434840"/>
            <a:ext cx="2286000" cy="4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Partie 1</a:t>
            </a:r>
          </a:p>
        </p:txBody>
      </p:sp>
      <p:sp>
        <p:nvSpPr>
          <p:cNvPr id="8" name="TextBox 7"/>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 / 66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1.1</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Changement de paradigme : PoC → PoT</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Pourquoi une simulation "avec des stops" ne suffit plus</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6949440" cy="4114800"/>
          </a:xfrm>
          <a:prstGeom prst="rect">
            <a:avLst/>
          </a:prstGeom>
          <a:noFill/>
        </p:spPr>
        <p:txBody>
          <a:bodyPr wrap="square">
            <a:spAutoFit/>
          </a:bodyPr>
          <a:lstStyle/>
          <a:p>
            <a:pPr algn="l">
              <a:spcAft>
                <a:spcPts val="400"/>
              </a:spcAft>
            </a:pPr>
            <a:r>
              <a:rPr sz="1400">
                <a:solidFill>
                  <a:srgbClr val="F2F4FA"/>
                </a:solidFill>
                <a:latin typeface="Calibri"/>
              </a:rPr>
              <a:t>•  Un PoC logiciel : véhicules cinématiques + règles statiques (stop, yield, feux).</a:t>
            </a:r>
          </a:p>
          <a:p>
            <a:pPr algn="l">
              <a:spcAft>
                <a:spcPts val="400"/>
              </a:spcAft>
            </a:pPr>
            <a:r>
              <a:rPr sz="1400">
                <a:solidFill>
                  <a:srgbClr val="F2F4FA"/>
                </a:solidFill>
                <a:latin typeface="Calibri"/>
              </a:rPr>
              <a:t>•  Une PoT scientifique : agents autonomes, perception locale, protocoles de négociation.</a:t>
            </a:r>
          </a:p>
          <a:p>
            <a:pPr algn="l">
              <a:spcAft>
                <a:spcPts val="400"/>
              </a:spcAft>
            </a:pPr>
            <a:r>
              <a:rPr sz="1400">
                <a:solidFill>
                  <a:srgbClr val="F2F4FA"/>
                </a:solidFill>
                <a:latin typeface="Calibri"/>
              </a:rPr>
              <a:t>•  Problématique : comment des règles microscopiques produisent des phénomènes macroscopiques mesurables (débit, délai, sécurité) ?</a:t>
            </a:r>
          </a:p>
          <a:p>
            <a:pPr algn="l">
              <a:spcAft>
                <a:spcPts val="400"/>
              </a:spcAft>
            </a:pPr>
            <a:r>
              <a:rPr sz="1400">
                <a:solidFill>
                  <a:srgbClr val="F2F4FA"/>
                </a:solidFill>
                <a:latin typeface="Calibri"/>
              </a:rPr>
              <a:t>•  Méthode : injecter de la variabilité stochastique, mesurer, comparer aux prédictions théoriques.</a:t>
            </a:r>
          </a:p>
          <a:p>
            <a:pPr algn="l">
              <a:spcAft>
                <a:spcPts val="400"/>
              </a:spcAft>
            </a:pPr>
            <a:r>
              <a:rPr sz="1400">
                <a:solidFill>
                  <a:srgbClr val="F2F4FA"/>
                </a:solidFill>
                <a:latin typeface="Calibri"/>
              </a:rPr>
              <a:t>•  Domaines mobilisés : SMA, ingénierie du trafic, théorie des jeux, apprentissage par renforcement.</a:t>
            </a:r>
          </a:p>
        </p:txBody>
      </p:sp>
      <p:sp>
        <p:nvSpPr>
          <p:cNvPr id="9" name="Rectangle 8"/>
          <p:cNvSpPr/>
          <p:nvPr/>
        </p:nvSpPr>
        <p:spPr>
          <a:xfrm>
            <a:off x="7772400" y="1920240"/>
            <a:ext cx="4023360" cy="274320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3063240"/>
            <a:ext cx="4023360" cy="457200"/>
          </a:xfrm>
          <a:prstGeom prst="rect">
            <a:avLst/>
          </a:prstGeom>
          <a:noFill/>
        </p:spPr>
        <p:txBody>
          <a:bodyPr wrap="square" lIns="45720" rIns="45720" tIns="18288" bIns="18288">
            <a:spAutoFit/>
          </a:bodyPr>
          <a:lstStyle/>
          <a:p>
            <a:pPr algn="ctr"/>
            <a:r>
              <a:rPr sz="1300" b="1">
                <a:solidFill>
                  <a:srgbClr val="3D9DF3"/>
                </a:solidFill>
                <a:latin typeface="Calibri"/>
              </a:rPr>
              <a:t>[ Schéma : PoC vs PoT ]</a:t>
            </a:r>
          </a:p>
        </p:txBody>
      </p:sp>
      <p:sp>
        <p:nvSpPr>
          <p:cNvPr id="11" name="TextBox 10"/>
          <p:cNvSpPr txBox="1"/>
          <p:nvPr/>
        </p:nvSpPr>
        <p:spPr>
          <a:xfrm>
            <a:off x="7772400" y="4800600"/>
            <a:ext cx="4023360" cy="1463040"/>
          </a:xfrm>
          <a:prstGeom prst="rect">
            <a:avLst/>
          </a:prstGeom>
          <a:noFill/>
        </p:spPr>
        <p:txBody>
          <a:bodyPr wrap="square" lIns="45720" rIns="45720" tIns="18288" bIns="18288">
            <a:spAutoFit/>
          </a:bodyPr>
          <a:lstStyle/>
          <a:p>
            <a:pPr algn="l"/>
            <a:r>
              <a:rPr sz="1100" b="0">
                <a:solidFill>
                  <a:srgbClr val="8A90A8"/>
                </a:solidFill>
                <a:latin typeface="Calibri"/>
              </a:rPr>
              <a:t>Référence : VanMiddlesworth, Dresner &amp; Stone, AAMAS 2008.</a:t>
            </a:r>
          </a:p>
          <a:p>
            <a:pPr algn="l"/>
            <a:r>
              <a:rPr sz="1100" b="0">
                <a:solidFill>
                  <a:srgbClr val="8A90A8"/>
                </a:solidFill>
                <a:latin typeface="Calibri"/>
              </a:rPr>
              <a:t>« Replacing the Stop Sign ».</a:t>
            </a:r>
          </a:p>
        </p:txBody>
      </p:sp>
      <p:sp>
        <p:nvSpPr>
          <p:cNvPr id="12" name="TextBox 11"/>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1.1</a:t>
            </a:r>
          </a:p>
        </p:txBody>
      </p:sp>
      <p:sp>
        <p:nvSpPr>
          <p:cNvPr id="13" name="TextBox 12"/>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 / 66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1.2</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Intelligent Driver Model (Treiber &amp; Helbing, 2000)</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Le standard incontesté de la dynamique longitudinale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5577840" cy="237744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5303520" cy="320040"/>
          </a:xfrm>
          <a:prstGeom prst="rect">
            <a:avLst/>
          </a:prstGeom>
          <a:noFill/>
        </p:spPr>
        <p:txBody>
          <a:bodyPr wrap="square" lIns="45720" rIns="45720" tIns="18288" bIns="18288">
            <a:spAutoFit/>
          </a:bodyPr>
          <a:lstStyle/>
          <a:p>
            <a:pPr algn="l"/>
            <a:r>
              <a:rPr sz="1300" b="1">
                <a:solidFill>
                  <a:srgbClr val="3D9DF3"/>
                </a:solidFill>
                <a:latin typeface="Calibri"/>
              </a:rPr>
              <a:t>Équation d'accélération</a:t>
            </a:r>
          </a:p>
        </p:txBody>
      </p:sp>
      <p:sp>
        <p:nvSpPr>
          <p:cNvPr id="10" name="TextBox 9"/>
          <p:cNvSpPr txBox="1"/>
          <p:nvPr/>
        </p:nvSpPr>
        <p:spPr>
          <a:xfrm>
            <a:off x="685800" y="2377440"/>
            <a:ext cx="5303520" cy="1874520"/>
          </a:xfrm>
          <a:prstGeom prst="rect">
            <a:avLst/>
          </a:prstGeom>
          <a:noFill/>
        </p:spPr>
        <p:txBody>
          <a:bodyPr wrap="square" lIns="45720" rIns="45720" tIns="18288" bIns="18288">
            <a:spAutoFit/>
          </a:bodyPr>
          <a:lstStyle/>
          <a:p>
            <a:pPr algn="l"/>
            <a:r>
              <a:rPr sz="1100" b="0">
                <a:solidFill>
                  <a:srgbClr val="F2F4FA"/>
                </a:solidFill>
                <a:latin typeface="Calibri"/>
              </a:rPr>
              <a:t>a = a_max · [ 1 − (v / v₀)^δ − (s*(v,Δv) / s)² ]</a:t>
            </a:r>
          </a:p>
          <a:p>
            <a:pPr algn="l"/>
            <a:r>
              <a:rPr sz="1100" b="0">
                <a:solidFill>
                  <a:srgbClr val="F2F4FA"/>
                </a:solidFill>
                <a:latin typeface="Calibri"/>
              </a:rPr>
              <a:t>s*(v,Δv) = s₀ + max(0, v·T + v·Δv / (2·√(a·b)))</a:t>
            </a:r>
          </a:p>
          <a:p>
            <a:pPr algn="l"/>
            <a:r>
              <a:rPr sz="1100" b="0">
                <a:solidFill>
                  <a:srgbClr val="F2F4FA"/>
                </a:solidFill>
                <a:latin typeface="Calibri"/>
              </a:rPr>
              <a:t/>
            </a:r>
          </a:p>
          <a:p>
            <a:pPr algn="l"/>
            <a:r>
              <a:rPr sz="1100" b="0">
                <a:solidFill>
                  <a:srgbClr val="F2F4FA"/>
                </a:solidFill>
                <a:latin typeface="Calibri"/>
              </a:rPr>
              <a:t>Paramètres : v₀ (vitesse libre), T (headway), s₀ (jam distance),</a:t>
            </a:r>
          </a:p>
          <a:p>
            <a:pPr algn="l"/>
            <a:r>
              <a:rPr sz="1100" b="0">
                <a:solidFill>
                  <a:srgbClr val="F2F4FA"/>
                </a:solidFill>
                <a:latin typeface="Calibri"/>
              </a:rPr>
              <a:t>a (acc. max confortable), b (décél. confortable), δ (exposant).</a:t>
            </a:r>
          </a:p>
        </p:txBody>
      </p:sp>
      <p:sp>
        <p:nvSpPr>
          <p:cNvPr id="11" name="Rounded Rectangle 10"/>
          <p:cNvSpPr/>
          <p:nvPr/>
        </p:nvSpPr>
        <p:spPr>
          <a:xfrm>
            <a:off x="6263640" y="1920240"/>
            <a:ext cx="5532120" cy="237744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Propriétés clés</a:t>
            </a:r>
          </a:p>
        </p:txBody>
      </p:sp>
      <p:sp>
        <p:nvSpPr>
          <p:cNvPr id="13" name="TextBox 12"/>
          <p:cNvSpPr txBox="1"/>
          <p:nvPr/>
        </p:nvSpPr>
        <p:spPr>
          <a:xfrm>
            <a:off x="6400800" y="2377440"/>
            <a:ext cx="5257800" cy="1874520"/>
          </a:xfrm>
          <a:prstGeom prst="rect">
            <a:avLst/>
          </a:prstGeom>
          <a:noFill/>
        </p:spPr>
        <p:txBody>
          <a:bodyPr wrap="square" lIns="45720" rIns="45720" tIns="18288" bIns="18288">
            <a:spAutoFit/>
          </a:bodyPr>
          <a:lstStyle/>
          <a:p>
            <a:pPr algn="l"/>
            <a:r>
              <a:rPr sz="1100" b="0">
                <a:solidFill>
                  <a:srgbClr val="F2F4FA"/>
                </a:solidFill>
                <a:latin typeface="Calibri"/>
              </a:rPr>
              <a:t>• Continuité et différentiabilité (jerk fini).</a:t>
            </a:r>
          </a:p>
          <a:p>
            <a:pPr algn="l"/>
            <a:r>
              <a:rPr sz="1100" b="0">
                <a:solidFill>
                  <a:srgbClr val="F2F4FA"/>
                </a:solidFill>
                <a:latin typeface="Calibri"/>
              </a:rPr>
              <a:t>• String stability : amortit les ondes de freinage fantômes.</a:t>
            </a:r>
          </a:p>
          <a:p>
            <a:pPr algn="l"/>
            <a:r>
              <a:rPr sz="1100" b="0">
                <a:solidFill>
                  <a:srgbClr val="F2F4FA"/>
                </a:solidFill>
                <a:latin typeface="Calibri"/>
              </a:rPr>
              <a:t>• Transition fluide free-flow → car-following.</a:t>
            </a:r>
          </a:p>
          <a:p>
            <a:pPr algn="l"/>
            <a:r>
              <a:rPr sz="1100" b="0">
                <a:solidFill>
                  <a:srgbClr val="F2F4FA"/>
                </a:solidFill>
                <a:latin typeface="Calibri"/>
              </a:rPr>
              <a:t>• Ligne d'arrêt = leader virtuel à v=0 → freinage naturel.</a:t>
            </a:r>
          </a:p>
          <a:p>
            <a:pPr algn="l"/>
            <a:r>
              <a:rPr sz="1100" b="0">
                <a:solidFill>
                  <a:srgbClr val="F2F4FA"/>
                </a:solidFill>
                <a:latin typeface="Calibri"/>
              </a:rPr>
              <a:t>• Stochastique possible (T gaussien) pour hétérogénéité.</a:t>
            </a:r>
          </a:p>
        </p:txBody>
      </p:sp>
      <p:sp>
        <p:nvSpPr>
          <p:cNvPr id="14" name="Rectangle 13"/>
          <p:cNvSpPr/>
          <p:nvPr/>
        </p:nvSpPr>
        <p:spPr>
          <a:xfrm>
            <a:off x="548640" y="4434840"/>
            <a:ext cx="11247120" cy="192024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16636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Courbe : profil de vitesse IDM (free-flow → arrêt à ligne virtuelle) ]</a:t>
            </a:r>
          </a:p>
        </p:txBody>
      </p:sp>
      <p:sp>
        <p:nvSpPr>
          <p:cNvPr id="16" name="TextBox 15"/>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1.2</a:t>
            </a:r>
          </a:p>
        </p:txBody>
      </p:sp>
      <p:sp>
        <p:nvSpPr>
          <p:cNvPr id="17" name="TextBox 16"/>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 / 66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1.3</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Trois paradigmes de gestion d'intersection</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Centralisé / décentralisé pair-à-pair / géométrique continu</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132588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AIM (centralisé)</a:t>
            </a:r>
          </a:p>
        </p:txBody>
      </p:sp>
      <p:sp>
        <p:nvSpPr>
          <p:cNvPr id="10" name="TextBox 9"/>
          <p:cNvSpPr txBox="1"/>
          <p:nvPr/>
        </p:nvSpPr>
        <p:spPr>
          <a:xfrm>
            <a:off x="685800" y="2377440"/>
            <a:ext cx="10972800" cy="822960"/>
          </a:xfrm>
          <a:prstGeom prst="rect">
            <a:avLst/>
          </a:prstGeom>
          <a:noFill/>
        </p:spPr>
        <p:txBody>
          <a:bodyPr wrap="square" lIns="45720" rIns="45720" tIns="18288" bIns="18288">
            <a:spAutoFit/>
          </a:bodyPr>
          <a:lstStyle/>
          <a:p>
            <a:pPr algn="l"/>
            <a:r>
              <a:rPr sz="1100" b="0">
                <a:solidFill>
                  <a:srgbClr val="F2F4FA"/>
                </a:solidFill>
                <a:latin typeface="Calibri"/>
              </a:rPr>
              <a:t>Dresner &amp; Stone, JAIR 2008. Un Intersection Manager arbitre des réservations FCFS sur une grille spatio-temporelle de tuiles. Quasi-zéro attente à densité modérée, mais point de défaillance unique + infrastructure dédiée.</a:t>
            </a:r>
          </a:p>
        </p:txBody>
      </p:sp>
      <p:sp>
        <p:nvSpPr>
          <p:cNvPr id="11" name="Rounded Rectangle 10"/>
          <p:cNvSpPr/>
          <p:nvPr/>
        </p:nvSpPr>
        <p:spPr>
          <a:xfrm>
            <a:off x="548640" y="3383280"/>
            <a:ext cx="11247120" cy="132588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47472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P2P (décentralisé)</a:t>
            </a:r>
          </a:p>
        </p:txBody>
      </p:sp>
      <p:sp>
        <p:nvSpPr>
          <p:cNvPr id="13" name="TextBox 12"/>
          <p:cNvSpPr txBox="1"/>
          <p:nvPr/>
        </p:nvSpPr>
        <p:spPr>
          <a:xfrm>
            <a:off x="685800" y="3840480"/>
            <a:ext cx="10972800" cy="822960"/>
          </a:xfrm>
          <a:prstGeom prst="rect">
            <a:avLst/>
          </a:prstGeom>
          <a:noFill/>
        </p:spPr>
        <p:txBody>
          <a:bodyPr wrap="square" lIns="45720" rIns="45720" tIns="18288" bIns="18288">
            <a:spAutoFit/>
          </a:bodyPr>
          <a:lstStyle/>
          <a:p>
            <a:pPr algn="l"/>
            <a:r>
              <a:rPr sz="1100" b="0">
                <a:solidFill>
                  <a:srgbClr val="F2F4FA"/>
                </a:solidFill>
                <a:latin typeface="Calibri"/>
              </a:rPr>
              <a:t>VanMiddlesworth, Dresner &amp; Stone, AAMAS 2008. Négociation broadcast via VANET. Hiérarchie de dominance locale, aucun manager. Optimal à faible densité ; dégradation au-delà de ~0.35 véh/s/voie vers comportement four-way stop.</a:t>
            </a:r>
          </a:p>
        </p:txBody>
      </p:sp>
      <p:sp>
        <p:nvSpPr>
          <p:cNvPr id="14" name="Rounded Rectangle 13"/>
          <p:cNvSpPr/>
          <p:nvPr/>
        </p:nvSpPr>
        <p:spPr>
          <a:xfrm>
            <a:off x="548640" y="4846320"/>
            <a:ext cx="11247120" cy="132588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93776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ORCA (géométrique continu)</a:t>
            </a:r>
          </a:p>
        </p:txBody>
      </p:sp>
      <p:sp>
        <p:nvSpPr>
          <p:cNvPr id="16" name="TextBox 15"/>
          <p:cNvSpPr txBox="1"/>
          <p:nvPr/>
        </p:nvSpPr>
        <p:spPr>
          <a:xfrm>
            <a:off x="685800" y="5303520"/>
            <a:ext cx="10972800" cy="822960"/>
          </a:xfrm>
          <a:prstGeom prst="rect">
            <a:avLst/>
          </a:prstGeom>
          <a:noFill/>
        </p:spPr>
        <p:txBody>
          <a:bodyPr wrap="square" lIns="45720" rIns="45720" tIns="18288" bIns="18288">
            <a:spAutoFit/>
          </a:bodyPr>
          <a:lstStyle/>
          <a:p>
            <a:pPr algn="l"/>
            <a:r>
              <a:rPr sz="1100" b="0">
                <a:solidFill>
                  <a:srgbClr val="F2F4FA"/>
                </a:solidFill>
                <a:latin typeface="Calibri"/>
              </a:rPr>
              <a:t>Van den Berg et al. 2011. Réciprocité de demi-plans de vélocité. Initialement robotique / foule, adapté ici à des voies curvilignes. Aucune file d'attente : tout est modulation continue de la vitesse cible.</a:t>
            </a:r>
          </a:p>
        </p:txBody>
      </p:sp>
      <p:sp>
        <p:nvSpPr>
          <p:cNvPr id="17" name="TextBox 16"/>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1.3</a:t>
            </a:r>
          </a:p>
        </p:txBody>
      </p:sp>
      <p:sp>
        <p:nvSpPr>
          <p:cNvPr id="18" name="TextBox 17"/>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6 / 66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1.4</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AIM — Autonomous Intersection Management</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Dresner &amp; Stone (JAIR 2008)</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6766560" cy="4114800"/>
          </a:xfrm>
          <a:prstGeom prst="rect">
            <a:avLst/>
          </a:prstGeom>
          <a:noFill/>
        </p:spPr>
        <p:txBody>
          <a:bodyPr wrap="square">
            <a:spAutoFit/>
          </a:bodyPr>
          <a:lstStyle/>
          <a:p>
            <a:pPr algn="l">
              <a:spcAft>
                <a:spcPts val="400"/>
              </a:spcAft>
            </a:pPr>
            <a:r>
              <a:rPr sz="1300">
                <a:solidFill>
                  <a:srgbClr val="F2F4FA"/>
                </a:solidFill>
                <a:latin typeface="Calibri"/>
              </a:rPr>
              <a:t>•  Manager centralisé : reçoit (v, a, dimensions, ETA, trajectoire) de chaque agent.</a:t>
            </a:r>
          </a:p>
          <a:p>
            <a:pPr algn="l">
              <a:spcAft>
                <a:spcPts val="400"/>
              </a:spcAft>
            </a:pPr>
            <a:r>
              <a:rPr sz="1300">
                <a:solidFill>
                  <a:srgbClr val="F2F4FA"/>
                </a:solidFill>
                <a:latin typeface="Calibri"/>
              </a:rPr>
              <a:t>•  Discrétise le carrefour en grille de tuiles spatio-temporelles.</a:t>
            </a:r>
          </a:p>
          <a:p>
            <a:pPr algn="l">
              <a:spcAft>
                <a:spcPts val="400"/>
              </a:spcAft>
            </a:pPr>
            <a:r>
              <a:rPr sz="1300">
                <a:solidFill>
                  <a:srgbClr val="F2F4FA"/>
                </a:solidFill>
                <a:latin typeface="Calibri"/>
              </a:rPr>
              <a:t>•  Politique FCFS : simule la trajectoire requise, accepte si aucun chevauchement.</a:t>
            </a:r>
          </a:p>
          <a:p>
            <a:pPr algn="l">
              <a:spcAft>
                <a:spcPts val="400"/>
              </a:spcAft>
            </a:pPr>
            <a:r>
              <a:rPr sz="1300">
                <a:solidFill>
                  <a:srgbClr val="F2F4FA"/>
                </a:solidFill>
                <a:latin typeface="Calibri"/>
              </a:rPr>
              <a:t>•  Refus → l'agent ralentit via IDM, re-soumet une nouvelle fenêtre.</a:t>
            </a:r>
          </a:p>
          <a:p>
            <a:pPr algn="l">
              <a:spcAft>
                <a:spcPts val="400"/>
              </a:spcAft>
            </a:pPr>
            <a:r>
              <a:rPr sz="1300">
                <a:solidFill>
                  <a:srgbClr val="F2F4FA"/>
                </a:solidFill>
                <a:latin typeface="Calibri"/>
              </a:rPr>
              <a:t>•  Empiriquement : attentes ≈ 0 s à densité modérée, vitesses élevées maintenues.</a:t>
            </a:r>
          </a:p>
          <a:p>
            <a:pPr algn="l">
              <a:spcAft>
                <a:spcPts val="400"/>
              </a:spcAft>
            </a:pPr>
            <a:r>
              <a:rPr sz="1300">
                <a:solidFill>
                  <a:srgbClr val="F2F4FA"/>
                </a:solidFill>
                <a:latin typeface="Calibri"/>
              </a:rPr>
              <a:t>•  Extension : priorité urgence (ambulance) forçant les autres à avorter.</a:t>
            </a:r>
          </a:p>
          <a:p>
            <a:pPr algn="l">
              <a:spcAft>
                <a:spcPts val="400"/>
              </a:spcAft>
            </a:pPr>
            <a:r>
              <a:rPr sz="1300">
                <a:solidFill>
                  <a:srgbClr val="F2F4FA"/>
                </a:solidFill>
                <a:latin typeface="Calibri"/>
              </a:rPr>
              <a:t>•  Limites : point de défaillance unique, infrastructure carrefour coûteuse.</a:t>
            </a:r>
          </a:p>
        </p:txBody>
      </p:sp>
      <p:sp>
        <p:nvSpPr>
          <p:cNvPr id="9" name="Rectangle 8"/>
          <p:cNvSpPr/>
          <p:nvPr/>
        </p:nvSpPr>
        <p:spPr>
          <a:xfrm>
            <a:off x="7498079" y="1920240"/>
            <a:ext cx="4297680" cy="347472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429000"/>
            <a:ext cx="4297680" cy="457200"/>
          </a:xfrm>
          <a:prstGeom prst="rect">
            <a:avLst/>
          </a:prstGeom>
          <a:noFill/>
        </p:spPr>
        <p:txBody>
          <a:bodyPr wrap="square" lIns="45720" rIns="45720" tIns="18288" bIns="18288">
            <a:spAutoFit/>
          </a:bodyPr>
          <a:lstStyle/>
          <a:p>
            <a:pPr algn="ctr"/>
            <a:r>
              <a:rPr sz="1300" b="1">
                <a:solidFill>
                  <a:srgbClr val="3D9DF3"/>
                </a:solidFill>
                <a:latin typeface="Calibri"/>
              </a:rPr>
              <a:t>[ Schéma : grille de réservation tile×time ]</a:t>
            </a:r>
          </a:p>
        </p:txBody>
      </p:sp>
      <p:sp>
        <p:nvSpPr>
          <p:cNvPr id="11" name="TextBox 10"/>
          <p:cNvSpPr txBox="1"/>
          <p:nvPr/>
        </p:nvSpPr>
        <p:spPr>
          <a:xfrm>
            <a:off x="7498079" y="5532120"/>
            <a:ext cx="4297680" cy="822960"/>
          </a:xfrm>
          <a:prstGeom prst="rect">
            <a:avLst/>
          </a:prstGeom>
          <a:noFill/>
        </p:spPr>
        <p:txBody>
          <a:bodyPr wrap="square" lIns="45720" rIns="45720" tIns="18288" bIns="18288">
            <a:spAutoFit/>
          </a:bodyPr>
          <a:lstStyle/>
          <a:p>
            <a:pPr algn="l"/>
            <a:r>
              <a:rPr sz="1000" b="0">
                <a:solidFill>
                  <a:srgbClr val="8A90A8"/>
                </a:solidFill>
                <a:latin typeface="Calibri"/>
              </a:rPr>
              <a:t>Réf. : Dresner K., Stone P., « A Multiagent Approach to Autonomous Intersection Management », JAIR 2008.</a:t>
            </a:r>
          </a:p>
        </p:txBody>
      </p:sp>
      <p:sp>
        <p:nvSpPr>
          <p:cNvPr id="12" name="TextBox 11"/>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1.4</a:t>
            </a:r>
          </a:p>
        </p:txBody>
      </p:sp>
      <p:sp>
        <p:nvSpPr>
          <p:cNvPr id="13" name="TextBox 12"/>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7 / 66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1.5</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P2P : protocole pair-à-pair (VanMiddlesworth 2008)</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Aucun manager, broadcast asynchrone via VANET</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11247120" cy="320040"/>
          </a:xfrm>
          <a:prstGeom prst="rect">
            <a:avLst/>
          </a:prstGeom>
          <a:noFill/>
        </p:spPr>
        <p:txBody>
          <a:bodyPr wrap="square" lIns="45720" rIns="45720" tIns="18288" bIns="18288">
            <a:spAutoFit/>
          </a:bodyPr>
          <a:lstStyle/>
          <a:p>
            <a:pPr algn="l"/>
            <a:r>
              <a:rPr sz="1400" b="1">
                <a:solidFill>
                  <a:srgbClr val="FFB73D"/>
                </a:solidFill>
                <a:latin typeface="Calibri"/>
              </a:rPr>
              <a:t>Machine à 3 états :</a:t>
            </a:r>
          </a:p>
        </p:txBody>
      </p:sp>
      <p:sp>
        <p:nvSpPr>
          <p:cNvPr id="9" name="Rounded Rectangle 8"/>
          <p:cNvSpPr/>
          <p:nvPr/>
        </p:nvSpPr>
        <p:spPr>
          <a:xfrm>
            <a:off x="548640" y="2331720"/>
            <a:ext cx="11247120" cy="9601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42316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LURKING</a:t>
            </a:r>
          </a:p>
        </p:txBody>
      </p:sp>
      <p:sp>
        <p:nvSpPr>
          <p:cNvPr id="11" name="TextBox 10"/>
          <p:cNvSpPr txBox="1"/>
          <p:nvPr/>
        </p:nvSpPr>
        <p:spPr>
          <a:xfrm>
            <a:off x="685800" y="2788920"/>
            <a:ext cx="10972800" cy="457200"/>
          </a:xfrm>
          <a:prstGeom prst="rect">
            <a:avLst/>
          </a:prstGeom>
          <a:noFill/>
        </p:spPr>
        <p:txBody>
          <a:bodyPr wrap="square" lIns="45720" rIns="45720" tIns="18288" bIns="18288">
            <a:spAutoFit/>
          </a:bodyPr>
          <a:lstStyle/>
          <a:p>
            <a:pPr algn="l"/>
            <a:r>
              <a:rPr sz="1100" b="0">
                <a:solidFill>
                  <a:srgbClr val="F2F4FA"/>
                </a:solidFill>
                <a:latin typeface="Calibri"/>
              </a:rPr>
              <a:t>À ~200 m. L'agent ÉCOUTE les Claims des pairs, construit la carte mentale du carrefour. Aucun envoi → évite la broadcast storm.</a:t>
            </a:r>
          </a:p>
        </p:txBody>
      </p:sp>
      <p:sp>
        <p:nvSpPr>
          <p:cNvPr id="12" name="Rounded Rectangle 11"/>
          <p:cNvSpPr/>
          <p:nvPr/>
        </p:nvSpPr>
        <p:spPr>
          <a:xfrm>
            <a:off x="548640" y="3429000"/>
            <a:ext cx="11247120" cy="9601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52044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CLAIMING</a:t>
            </a:r>
          </a:p>
        </p:txBody>
      </p:sp>
      <p:sp>
        <p:nvSpPr>
          <p:cNvPr id="14" name="TextBox 13"/>
          <p:cNvSpPr txBox="1"/>
          <p:nvPr/>
        </p:nvSpPr>
        <p:spPr>
          <a:xfrm>
            <a:off x="685800" y="3886200"/>
            <a:ext cx="10972800" cy="457200"/>
          </a:xfrm>
          <a:prstGeom prst="rect">
            <a:avLst/>
          </a:prstGeom>
          <a:noFill/>
        </p:spPr>
        <p:txBody>
          <a:bodyPr wrap="square" lIns="45720" rIns="45720" tIns="18288" bIns="18288">
            <a:spAutoFit/>
          </a:bodyPr>
          <a:lstStyle/>
          <a:p>
            <a:pPr algn="l"/>
            <a:r>
              <a:rPr sz="1100" b="0">
                <a:solidFill>
                  <a:srgbClr val="F2F4FA"/>
                </a:solidFill>
                <a:latin typeface="Calibri"/>
              </a:rPr>
              <a:t>Diffuse un Claim {VIN, lane_index, intent, estimated_exit_time, is_stopped}. Compare aux Claims reçus selon la hiérarchie de dominance.</a:t>
            </a:r>
          </a:p>
        </p:txBody>
      </p:sp>
      <p:sp>
        <p:nvSpPr>
          <p:cNvPr id="15" name="Rounded Rectangle 14"/>
          <p:cNvSpPr/>
          <p:nvPr/>
        </p:nvSpPr>
        <p:spPr>
          <a:xfrm>
            <a:off x="548640" y="4526280"/>
            <a:ext cx="11247120" cy="9601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61772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TRAVERSAL</a:t>
            </a:r>
          </a:p>
        </p:txBody>
      </p:sp>
      <p:sp>
        <p:nvSpPr>
          <p:cNvPr id="17" name="TextBox 16"/>
          <p:cNvSpPr txBox="1"/>
          <p:nvPr/>
        </p:nvSpPr>
        <p:spPr>
          <a:xfrm>
            <a:off x="685800" y="4983480"/>
            <a:ext cx="10972800" cy="457200"/>
          </a:xfrm>
          <a:prstGeom prst="rect">
            <a:avLst/>
          </a:prstGeom>
          <a:noFill/>
        </p:spPr>
        <p:txBody>
          <a:bodyPr wrap="square" lIns="45720" rIns="45720" tIns="18288" bIns="18288">
            <a:spAutoFit/>
          </a:bodyPr>
          <a:lstStyle/>
          <a:p>
            <a:pPr algn="l"/>
            <a:r>
              <a:rPr sz="1100" b="0">
                <a:solidFill>
                  <a:srgbClr val="F2F4FA"/>
                </a:solidFill>
                <a:latin typeface="Calibri"/>
              </a:rPr>
              <a:t>Passage actif. Le Claim est retiré du bus dès la sortie. Si dominé pendant Claiming → Cancel + freinage IDM.</a:t>
            </a:r>
          </a:p>
        </p:txBody>
      </p:sp>
      <p:sp>
        <p:nvSpPr>
          <p:cNvPr id="18" name="Rectangle 17"/>
          <p:cNvSpPr/>
          <p:nvPr/>
        </p:nvSpPr>
        <p:spPr>
          <a:xfrm>
            <a:off x="548640" y="5623560"/>
            <a:ext cx="11247120" cy="86868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82930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Diagramme : transitions LURKING → CLAIMING → TRAVERSAL ]</a:t>
            </a:r>
          </a:p>
        </p:txBody>
      </p:sp>
      <p:sp>
        <p:nvSpPr>
          <p:cNvPr id="20" name="TextBox 19"/>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1.5</a:t>
            </a:r>
          </a:p>
        </p:txBody>
      </p:sp>
      <p:sp>
        <p:nvSpPr>
          <p:cNvPr id="21" name="TextBox 20"/>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8 / 66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1.6</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Hiérarchie de dominance P2P</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Règles strictes pour éviter les deadlocks</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65960"/>
            <a:ext cx="11247120" cy="86868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574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1. Temporelle</a:t>
            </a:r>
          </a:p>
        </p:txBody>
      </p:sp>
      <p:sp>
        <p:nvSpPr>
          <p:cNvPr id="10" name="TextBox 9"/>
          <p:cNvSpPr txBox="1"/>
          <p:nvPr/>
        </p:nvSpPr>
        <p:spPr>
          <a:xfrm>
            <a:off x="685800" y="2423160"/>
            <a:ext cx="10972800" cy="365760"/>
          </a:xfrm>
          <a:prstGeom prst="rect">
            <a:avLst/>
          </a:prstGeom>
          <a:noFill/>
        </p:spPr>
        <p:txBody>
          <a:bodyPr wrap="square" lIns="45720" rIns="45720" tIns="18288" bIns="18288">
            <a:spAutoFit/>
          </a:bodyPr>
          <a:lstStyle/>
          <a:p>
            <a:pPr algn="l"/>
            <a:r>
              <a:rPr sz="1100" b="0">
                <a:solidFill>
                  <a:srgbClr val="F2F4FA"/>
                </a:solidFill>
                <a:latin typeface="Calibri"/>
              </a:rPr>
              <a:t>Les deux en mouvement → plus petit estimated_exit_time gagne.</a:t>
            </a:r>
          </a:p>
        </p:txBody>
      </p:sp>
      <p:sp>
        <p:nvSpPr>
          <p:cNvPr id="11" name="Rounded Rectangle 10"/>
          <p:cNvSpPr/>
          <p:nvPr/>
        </p:nvSpPr>
        <p:spPr>
          <a:xfrm>
            <a:off x="548640" y="2971800"/>
            <a:ext cx="11247120" cy="86868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06324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2. Spatiale (droite)</a:t>
            </a:r>
          </a:p>
        </p:txBody>
      </p:sp>
      <p:sp>
        <p:nvSpPr>
          <p:cNvPr id="13" name="TextBox 12"/>
          <p:cNvSpPr txBox="1"/>
          <p:nvPr/>
        </p:nvSpPr>
        <p:spPr>
          <a:xfrm>
            <a:off x="685800" y="3429000"/>
            <a:ext cx="10972800" cy="365760"/>
          </a:xfrm>
          <a:prstGeom prst="rect">
            <a:avLst/>
          </a:prstGeom>
          <a:noFill/>
        </p:spPr>
        <p:txBody>
          <a:bodyPr wrap="square" lIns="45720" rIns="45720" tIns="18288" bIns="18288">
            <a:spAutoFit/>
          </a:bodyPr>
          <a:lstStyle/>
          <a:p>
            <a:pPr algn="l"/>
            <a:r>
              <a:rPr sz="1100" b="0">
                <a:solidFill>
                  <a:srgbClr val="F2F4FA"/>
                </a:solidFill>
                <a:latin typeface="Calibri"/>
              </a:rPr>
              <a:t>Les deux à l'arrêt → véhicule géométriquement à droite gagne.</a:t>
            </a:r>
          </a:p>
        </p:txBody>
      </p:sp>
      <p:sp>
        <p:nvSpPr>
          <p:cNvPr id="14" name="Rounded Rectangle 13"/>
          <p:cNvSpPr/>
          <p:nvPr/>
        </p:nvSpPr>
        <p:spPr>
          <a:xfrm>
            <a:off x="548640" y="3977640"/>
            <a:ext cx="11247120" cy="86868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6908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3. Manœuvre</a:t>
            </a:r>
          </a:p>
        </p:txBody>
      </p:sp>
      <p:sp>
        <p:nvSpPr>
          <p:cNvPr id="16" name="TextBox 15"/>
          <p:cNvSpPr txBox="1"/>
          <p:nvPr/>
        </p:nvSpPr>
        <p:spPr>
          <a:xfrm>
            <a:off x="685800" y="4434840"/>
            <a:ext cx="10972800" cy="365760"/>
          </a:xfrm>
          <a:prstGeom prst="rect">
            <a:avLst/>
          </a:prstGeom>
          <a:noFill/>
        </p:spPr>
        <p:txBody>
          <a:bodyPr wrap="square" lIns="45720" rIns="45720" tIns="18288" bIns="18288">
            <a:spAutoFit/>
          </a:bodyPr>
          <a:lstStyle/>
          <a:p>
            <a:pPr algn="l"/>
            <a:r>
              <a:rPr sz="1100" b="0">
                <a:solidFill>
                  <a:srgbClr val="F2F4FA"/>
                </a:solidFill>
                <a:latin typeface="Calibri"/>
              </a:rPr>
              <a:t>Symétrie → trajectoire rectiligne &gt; trajectoire en virage.</a:t>
            </a:r>
          </a:p>
        </p:txBody>
      </p:sp>
      <p:sp>
        <p:nvSpPr>
          <p:cNvPr id="17" name="Rounded Rectangle 16"/>
          <p:cNvSpPr/>
          <p:nvPr/>
        </p:nvSpPr>
        <p:spPr>
          <a:xfrm>
            <a:off x="548640" y="4983480"/>
            <a:ext cx="11247120" cy="86868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07492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4. VIN arbitraire</a:t>
            </a:r>
          </a:p>
        </p:txBody>
      </p:sp>
      <p:sp>
        <p:nvSpPr>
          <p:cNvPr id="19" name="TextBox 18"/>
          <p:cNvSpPr txBox="1"/>
          <p:nvPr/>
        </p:nvSpPr>
        <p:spPr>
          <a:xfrm>
            <a:off x="685800" y="5440680"/>
            <a:ext cx="10972800" cy="365760"/>
          </a:xfrm>
          <a:prstGeom prst="rect">
            <a:avLst/>
          </a:prstGeom>
          <a:noFill/>
        </p:spPr>
        <p:txBody>
          <a:bodyPr wrap="square" lIns="45720" rIns="45720" tIns="18288" bIns="18288">
            <a:spAutoFit/>
          </a:bodyPr>
          <a:lstStyle/>
          <a:p>
            <a:pPr algn="l"/>
            <a:r>
              <a:rPr sz="1100" b="0">
                <a:solidFill>
                  <a:srgbClr val="F2F4FA"/>
                </a:solidFill>
                <a:latin typeface="Calibri"/>
              </a:rPr>
              <a:t>Symétrie absolue → plus petit Vehicle ID gagne. Brise tout cycle.</a:t>
            </a:r>
          </a:p>
        </p:txBody>
      </p:sp>
      <p:sp>
        <p:nvSpPr>
          <p:cNvPr id="20" name="TextBox 19"/>
          <p:cNvSpPr txBox="1"/>
          <p:nvPr/>
        </p:nvSpPr>
        <p:spPr>
          <a:xfrm>
            <a:off x="548640" y="6126480"/>
            <a:ext cx="11247120" cy="457200"/>
          </a:xfrm>
          <a:prstGeom prst="rect">
            <a:avLst/>
          </a:prstGeom>
          <a:noFill/>
        </p:spPr>
        <p:txBody>
          <a:bodyPr wrap="square" lIns="45720" rIns="45720" tIns="18288" bIns="18288">
            <a:spAutoFit/>
          </a:bodyPr>
          <a:lstStyle/>
          <a:p>
            <a:pPr algn="l"/>
            <a:r>
              <a:rPr sz="1200" b="1">
                <a:solidFill>
                  <a:srgbClr val="F16666"/>
                </a:solidFill>
                <a:latin typeface="Calibri"/>
              </a:rPr>
              <a:t>Seuil critique observé : ~0.35 véh/s/voie. Au-delà, P2P dégénère vers comportement four-way stop (paradoxe de Braess).</a:t>
            </a:r>
          </a:p>
        </p:txBody>
      </p:sp>
      <p:sp>
        <p:nvSpPr>
          <p:cNvPr id="21" name="TextBox 20"/>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1.6</a:t>
            </a:r>
          </a:p>
        </p:txBody>
      </p:sp>
      <p:sp>
        <p:nvSpPr>
          <p:cNvPr id="22" name="TextBox 21"/>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9 / 66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1.7</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ORCA — Optimal Reciprocal Collision Avoidance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Van den Berg et al. 2011</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6949440" cy="4114800"/>
          </a:xfrm>
          <a:prstGeom prst="rect">
            <a:avLst/>
          </a:prstGeom>
          <a:noFill/>
        </p:spPr>
        <p:txBody>
          <a:bodyPr wrap="square">
            <a:spAutoFit/>
          </a:bodyPr>
          <a:lstStyle/>
          <a:p>
            <a:pPr algn="l">
              <a:spcAft>
                <a:spcPts val="400"/>
              </a:spcAft>
            </a:pPr>
            <a:r>
              <a:rPr sz="1300">
                <a:solidFill>
                  <a:srgbClr val="F2F4FA"/>
                </a:solidFill>
                <a:latin typeface="Calibri"/>
              </a:rPr>
              <a:t>•  Chaque agent = disque dans l'espace de vélocité 2D.</a:t>
            </a:r>
          </a:p>
          <a:p>
            <a:pPr algn="l">
              <a:spcAft>
                <a:spcPts val="400"/>
              </a:spcAft>
            </a:pPr>
            <a:r>
              <a:rPr sz="1300">
                <a:solidFill>
                  <a:srgbClr val="F2F4FA"/>
                </a:solidFill>
                <a:latin typeface="Calibri"/>
              </a:rPr>
              <a:t>•  Velocity Obstacle (VO) : ensemble des vélocités qui mènent à collision.</a:t>
            </a:r>
          </a:p>
          <a:p>
            <a:pPr algn="l">
              <a:spcAft>
                <a:spcPts val="400"/>
              </a:spcAft>
            </a:pPr>
            <a:r>
              <a:rPr sz="1300">
                <a:solidFill>
                  <a:srgbClr val="F2F4FA"/>
                </a:solidFill>
                <a:latin typeface="Calibri"/>
              </a:rPr>
              <a:t>•  Réciprocité : chaque agent prend la moitié de la responsabilité d'évitement.</a:t>
            </a:r>
          </a:p>
          <a:p>
            <a:pPr algn="l">
              <a:spcAft>
                <a:spcPts val="400"/>
              </a:spcAft>
            </a:pPr>
            <a:r>
              <a:rPr sz="1300">
                <a:solidFill>
                  <a:srgbClr val="F2F4FA"/>
                </a:solidFill>
                <a:latin typeface="Calibri"/>
              </a:rPr>
              <a:t>•  Résolution = programme linéaire de basse dimension par agent.</a:t>
            </a:r>
          </a:p>
          <a:p>
            <a:pPr algn="l">
              <a:spcAft>
                <a:spcPts val="400"/>
              </a:spcAft>
            </a:pPr>
            <a:r>
              <a:rPr sz="1300">
                <a:solidFill>
                  <a:srgbClr val="F2F4FA"/>
                </a:solidFill>
                <a:latin typeface="Calibri"/>
              </a:rPr>
              <a:t>•  Scalabilité : ~8 ms pour 5000 agents → temps réel massif.</a:t>
            </a:r>
          </a:p>
          <a:p>
            <a:pPr algn="l">
              <a:spcAft>
                <a:spcPts val="400"/>
              </a:spcAft>
            </a:pPr>
            <a:r>
              <a:rPr sz="1300">
                <a:solidFill>
                  <a:srgbClr val="F2F4FA"/>
                </a:solidFill>
                <a:latin typeface="Calibri"/>
              </a:rPr>
              <a:t>•  Adapté ici à un mouvement 1D le long d'une Lane curviligne.</a:t>
            </a:r>
          </a:p>
          <a:p>
            <a:pPr algn="l">
              <a:spcAft>
                <a:spcPts val="400"/>
              </a:spcAft>
            </a:pPr>
            <a:r>
              <a:rPr sz="1300">
                <a:solidFill>
                  <a:srgbClr val="F2F4FA"/>
                </a:solidFill>
                <a:latin typeface="Calibri"/>
              </a:rPr>
              <a:t>•  Comportement émergent : spirales convergentes/divergentes au centre.</a:t>
            </a:r>
          </a:p>
        </p:txBody>
      </p:sp>
      <p:sp>
        <p:nvSpPr>
          <p:cNvPr id="9" name="Rectangle 8"/>
          <p:cNvSpPr/>
          <p:nvPr/>
        </p:nvSpPr>
        <p:spPr>
          <a:xfrm>
            <a:off x="7680960" y="1920240"/>
            <a:ext cx="4114800" cy="320040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3291840"/>
            <a:ext cx="4114800" cy="457200"/>
          </a:xfrm>
          <a:prstGeom prst="rect">
            <a:avLst/>
          </a:prstGeom>
          <a:noFill/>
        </p:spPr>
        <p:txBody>
          <a:bodyPr wrap="square" lIns="45720" rIns="45720" tIns="18288" bIns="18288">
            <a:spAutoFit/>
          </a:bodyPr>
          <a:lstStyle/>
          <a:p>
            <a:pPr algn="ctr"/>
            <a:r>
              <a:rPr sz="1300" b="1">
                <a:solidFill>
                  <a:srgbClr val="3D9DF3"/>
                </a:solidFill>
                <a:latin typeface="Calibri"/>
              </a:rPr>
              <a:t>[ Schéma : demi-plan de vélocité ORCA ]</a:t>
            </a:r>
          </a:p>
        </p:txBody>
      </p:sp>
      <p:sp>
        <p:nvSpPr>
          <p:cNvPr id="11" name="TextBox 10"/>
          <p:cNvSpPr txBox="1"/>
          <p:nvPr/>
        </p:nvSpPr>
        <p:spPr>
          <a:xfrm>
            <a:off x="7680960" y="5257800"/>
            <a:ext cx="4114800" cy="1188720"/>
          </a:xfrm>
          <a:prstGeom prst="rect">
            <a:avLst/>
          </a:prstGeom>
          <a:noFill/>
        </p:spPr>
        <p:txBody>
          <a:bodyPr wrap="square" lIns="45720" rIns="45720" tIns="18288" bIns="18288">
            <a:spAutoFit/>
          </a:bodyPr>
          <a:lstStyle/>
          <a:p>
            <a:pPr algn="l"/>
            <a:r>
              <a:rPr sz="1000" b="0">
                <a:solidFill>
                  <a:srgbClr val="8A90A8"/>
                </a:solidFill>
                <a:latin typeface="Calibri"/>
              </a:rPr>
              <a:t>Réf. : Van den Berg, Guy, Lin, Manocha, « Reciprocal n-body Collision Avoidance », ISRR 2011.</a:t>
            </a:r>
          </a:p>
        </p:txBody>
      </p:sp>
      <p:sp>
        <p:nvSpPr>
          <p:cNvPr id="12" name="TextBox 11"/>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1.7</a:t>
            </a:r>
          </a:p>
        </p:txBody>
      </p:sp>
      <p:sp>
        <p:nvSpPr>
          <p:cNvPr id="13" name="TextBox 12"/>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10 / 66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1.8</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Virtual Platooning — Medina et al.</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Projection 1D : transformer un problème 2D en suivi de leader</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5577840" cy="246888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5303520" cy="320040"/>
          </a:xfrm>
          <a:prstGeom prst="rect">
            <a:avLst/>
          </a:prstGeom>
          <a:noFill/>
        </p:spPr>
        <p:txBody>
          <a:bodyPr wrap="square" lIns="45720" rIns="45720" tIns="18288" bIns="18288">
            <a:spAutoFit/>
          </a:bodyPr>
          <a:lstStyle/>
          <a:p>
            <a:pPr algn="l"/>
            <a:r>
              <a:rPr sz="1300" b="1">
                <a:solidFill>
                  <a:srgbClr val="3D9DF3"/>
                </a:solidFill>
                <a:latin typeface="Calibri"/>
              </a:rPr>
              <a:t>Principe</a:t>
            </a:r>
          </a:p>
        </p:txBody>
      </p:sp>
      <p:sp>
        <p:nvSpPr>
          <p:cNvPr id="10" name="TextBox 9"/>
          <p:cNvSpPr txBox="1"/>
          <p:nvPr/>
        </p:nvSpPr>
        <p:spPr>
          <a:xfrm>
            <a:off x="685800" y="2377440"/>
            <a:ext cx="5303520" cy="1965960"/>
          </a:xfrm>
          <a:prstGeom prst="rect">
            <a:avLst/>
          </a:prstGeom>
          <a:noFill/>
        </p:spPr>
        <p:txBody>
          <a:bodyPr wrap="square" lIns="45720" rIns="45720" tIns="18288" bIns="18288">
            <a:spAutoFit/>
          </a:bodyPr>
          <a:lstStyle/>
          <a:p>
            <a:pPr algn="l"/>
            <a:r>
              <a:rPr sz="1100" b="0">
                <a:solidFill>
                  <a:srgbClr val="F2F4FA"/>
                </a:solidFill>
                <a:latin typeface="Calibri"/>
              </a:rPr>
              <a:t>Projeter mathématiquement position, vitesse et accélération des véhicules de plusieurs voies physiques sur une voie virtuelle 1D unique traversant l'intersection. Le problème devient un simple car-following.</a:t>
            </a:r>
          </a:p>
        </p:txBody>
      </p:sp>
      <p:sp>
        <p:nvSpPr>
          <p:cNvPr id="11" name="Rounded Rectangle 10"/>
          <p:cNvSpPr/>
          <p:nvPr/>
        </p:nvSpPr>
        <p:spPr>
          <a:xfrm>
            <a:off x="6263640" y="1920240"/>
            <a:ext cx="5532120" cy="246888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Effet visuel</a:t>
            </a:r>
          </a:p>
        </p:txBody>
      </p:sp>
      <p:sp>
        <p:nvSpPr>
          <p:cNvPr id="13" name="TextBox 12"/>
          <p:cNvSpPr txBox="1"/>
          <p:nvPr/>
        </p:nvSpPr>
        <p:spPr>
          <a:xfrm>
            <a:off x="6400800" y="2377440"/>
            <a:ext cx="5257800" cy="1965960"/>
          </a:xfrm>
          <a:prstGeom prst="rect">
            <a:avLst/>
          </a:prstGeom>
          <a:noFill/>
        </p:spPr>
        <p:txBody>
          <a:bodyPr wrap="square" lIns="45720" rIns="45720" tIns="18288" bIns="18288">
            <a:spAutoFit/>
          </a:bodyPr>
          <a:lstStyle/>
          <a:p>
            <a:pPr algn="l"/>
            <a:r>
              <a:rPr sz="1100" b="0">
                <a:solidFill>
                  <a:srgbClr val="F2F4FA"/>
                </a:solidFill>
                <a:latin typeface="Calibri"/>
              </a:rPr>
              <a:t>Effet fermeture éclair (zipping) à haute vitesse, sans arrêt. Les véhicules de flux orthogonaux s'entrelacent en maintenant leur cinématique. Très fluide, impossible pour un conducteur humain.</a:t>
            </a:r>
          </a:p>
        </p:txBody>
      </p:sp>
      <p:sp>
        <p:nvSpPr>
          <p:cNvPr id="14" name="Rectangle 13"/>
          <p:cNvSpPr/>
          <p:nvPr/>
        </p:nvSpPr>
        <p:spPr>
          <a:xfrm>
            <a:off x="548640" y="4526280"/>
            <a:ext cx="11247120" cy="178308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18922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Animation : effet zipping deux flux orthogonaux ]</a:t>
            </a:r>
          </a:p>
        </p:txBody>
      </p:sp>
      <p:sp>
        <p:nvSpPr>
          <p:cNvPr id="16" name="TextBox 15"/>
          <p:cNvSpPr txBox="1"/>
          <p:nvPr/>
        </p:nvSpPr>
        <p:spPr>
          <a:xfrm>
            <a:off x="548640" y="6355080"/>
            <a:ext cx="11247120" cy="365760"/>
          </a:xfrm>
          <a:prstGeom prst="rect">
            <a:avLst/>
          </a:prstGeom>
          <a:noFill/>
        </p:spPr>
        <p:txBody>
          <a:bodyPr wrap="square" lIns="45720" rIns="45720" tIns="18288" bIns="18288">
            <a:spAutoFit/>
          </a:bodyPr>
          <a:lstStyle/>
          <a:p>
            <a:pPr algn="l"/>
            <a:r>
              <a:rPr sz="1000" b="0">
                <a:solidFill>
                  <a:srgbClr val="8A90A8"/>
                </a:solidFill>
                <a:latin typeface="Calibri"/>
              </a:rPr>
              <a:t>Réf. : Medina et al., « Cooperative Intersection Control Based on Virtual Platooning ».</a:t>
            </a:r>
          </a:p>
        </p:txBody>
      </p:sp>
      <p:sp>
        <p:nvSpPr>
          <p:cNvPr id="17" name="TextBox 16"/>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1.8</a:t>
            </a:r>
          </a:p>
        </p:txBody>
      </p:sp>
      <p:sp>
        <p:nvSpPr>
          <p:cNvPr id="18" name="TextBox 17"/>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11 / 66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1.9</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Multi-Agent Path Finding (MAPF)</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Comparaison des familles classiques</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65960"/>
            <a:ext cx="2377440" cy="685800"/>
          </a:xfrm>
          <a:prstGeom prst="rect">
            <a:avLst/>
          </a:prstGeom>
          <a:solidFill>
            <a:srgbClr val="3D9DF3"/>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057400"/>
            <a:ext cx="2231136" cy="502920"/>
          </a:xfrm>
          <a:prstGeom prst="rect">
            <a:avLst/>
          </a:prstGeom>
          <a:noFill/>
        </p:spPr>
        <p:txBody>
          <a:bodyPr wrap="square" lIns="45720" rIns="45720" tIns="18288" bIns="18288">
            <a:spAutoFit/>
          </a:bodyPr>
          <a:lstStyle/>
          <a:p>
            <a:pPr algn="l"/>
            <a:r>
              <a:rPr sz="1100" b="1">
                <a:solidFill>
                  <a:srgbClr val="101422"/>
                </a:solidFill>
                <a:latin typeface="Calibri"/>
              </a:rPr>
              <a:t>Algorithme</a:t>
            </a:r>
          </a:p>
        </p:txBody>
      </p:sp>
      <p:sp>
        <p:nvSpPr>
          <p:cNvPr id="10" name="Rectangle 9"/>
          <p:cNvSpPr/>
          <p:nvPr/>
        </p:nvSpPr>
        <p:spPr>
          <a:xfrm>
            <a:off x="2926080" y="1965960"/>
            <a:ext cx="2377440" cy="685800"/>
          </a:xfrm>
          <a:prstGeom prst="rect">
            <a:avLst/>
          </a:prstGeom>
          <a:solidFill>
            <a:srgbClr val="3D9DF3"/>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232" y="2057400"/>
            <a:ext cx="2231136" cy="502920"/>
          </a:xfrm>
          <a:prstGeom prst="rect">
            <a:avLst/>
          </a:prstGeom>
          <a:noFill/>
        </p:spPr>
        <p:txBody>
          <a:bodyPr wrap="square" lIns="45720" rIns="45720" tIns="18288" bIns="18288">
            <a:spAutoFit/>
          </a:bodyPr>
          <a:lstStyle/>
          <a:p>
            <a:pPr algn="l"/>
            <a:r>
              <a:rPr sz="1100" b="1">
                <a:solidFill>
                  <a:srgbClr val="101422"/>
                </a:solidFill>
                <a:latin typeface="Calibri"/>
              </a:rPr>
              <a:t>Paradigme</a:t>
            </a:r>
          </a:p>
        </p:txBody>
      </p:sp>
      <p:sp>
        <p:nvSpPr>
          <p:cNvPr id="12" name="Rectangle 11"/>
          <p:cNvSpPr/>
          <p:nvPr/>
        </p:nvSpPr>
        <p:spPr>
          <a:xfrm>
            <a:off x="5303520" y="1965960"/>
            <a:ext cx="3291840" cy="685800"/>
          </a:xfrm>
          <a:prstGeom prst="rect">
            <a:avLst/>
          </a:prstGeom>
          <a:solidFill>
            <a:srgbClr val="3D9DF3"/>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76672" y="2057400"/>
            <a:ext cx="3145536" cy="502920"/>
          </a:xfrm>
          <a:prstGeom prst="rect">
            <a:avLst/>
          </a:prstGeom>
          <a:noFill/>
        </p:spPr>
        <p:txBody>
          <a:bodyPr wrap="square" lIns="45720" rIns="45720" tIns="18288" bIns="18288">
            <a:spAutoFit/>
          </a:bodyPr>
          <a:lstStyle/>
          <a:p>
            <a:pPr algn="l"/>
            <a:r>
              <a:rPr sz="1100" b="1">
                <a:solidFill>
                  <a:srgbClr val="101422"/>
                </a:solidFill>
                <a:latin typeface="Calibri"/>
              </a:rPr>
              <a:t>Résolution conflit</a:t>
            </a:r>
          </a:p>
        </p:txBody>
      </p:sp>
      <p:sp>
        <p:nvSpPr>
          <p:cNvPr id="14" name="Rectangle 13"/>
          <p:cNvSpPr/>
          <p:nvPr/>
        </p:nvSpPr>
        <p:spPr>
          <a:xfrm>
            <a:off x="8595360" y="1965960"/>
            <a:ext cx="3200400" cy="685800"/>
          </a:xfrm>
          <a:prstGeom prst="rect">
            <a:avLst/>
          </a:prstGeom>
          <a:solidFill>
            <a:srgbClr val="3D9DF3"/>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68512" y="2057400"/>
            <a:ext cx="3054096" cy="502920"/>
          </a:xfrm>
          <a:prstGeom prst="rect">
            <a:avLst/>
          </a:prstGeom>
          <a:noFill/>
        </p:spPr>
        <p:txBody>
          <a:bodyPr wrap="square" lIns="45720" rIns="45720" tIns="18288" bIns="18288">
            <a:spAutoFit/>
          </a:bodyPr>
          <a:lstStyle/>
          <a:p>
            <a:pPr algn="l"/>
            <a:r>
              <a:rPr sz="1100" b="1">
                <a:solidFill>
                  <a:srgbClr val="101422"/>
                </a:solidFill>
                <a:latin typeface="Calibri"/>
              </a:rPr>
              <a:t>Qualité</a:t>
            </a:r>
          </a:p>
        </p:txBody>
      </p:sp>
      <p:sp>
        <p:nvSpPr>
          <p:cNvPr id="16" name="Rectangle 15"/>
          <p:cNvSpPr/>
          <p:nvPr/>
        </p:nvSpPr>
        <p:spPr>
          <a:xfrm>
            <a:off x="548640" y="2651760"/>
            <a:ext cx="23774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743200"/>
            <a:ext cx="2231136" cy="502920"/>
          </a:xfrm>
          <a:prstGeom prst="rect">
            <a:avLst/>
          </a:prstGeom>
          <a:noFill/>
        </p:spPr>
        <p:txBody>
          <a:bodyPr wrap="square" lIns="45720" rIns="45720" tIns="18288" bIns="18288">
            <a:spAutoFit/>
          </a:bodyPr>
          <a:lstStyle/>
          <a:p>
            <a:pPr algn="l"/>
            <a:r>
              <a:rPr sz="1100" b="0">
                <a:solidFill>
                  <a:srgbClr val="F2F4FA"/>
                </a:solidFill>
                <a:latin typeface="Calibri"/>
              </a:rPr>
              <a:t>Prioritized Planning (PP)</a:t>
            </a:r>
          </a:p>
        </p:txBody>
      </p:sp>
      <p:sp>
        <p:nvSpPr>
          <p:cNvPr id="18" name="Rectangle 17"/>
          <p:cNvSpPr/>
          <p:nvPr/>
        </p:nvSpPr>
        <p:spPr>
          <a:xfrm>
            <a:off x="2926080" y="2651760"/>
            <a:ext cx="23774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99232" y="2743200"/>
            <a:ext cx="2231136" cy="502920"/>
          </a:xfrm>
          <a:prstGeom prst="rect">
            <a:avLst/>
          </a:prstGeom>
          <a:noFill/>
        </p:spPr>
        <p:txBody>
          <a:bodyPr wrap="square" lIns="45720" rIns="45720" tIns="18288" bIns="18288">
            <a:spAutoFit/>
          </a:bodyPr>
          <a:lstStyle/>
          <a:p>
            <a:pPr algn="l"/>
            <a:r>
              <a:rPr sz="1100" b="0">
                <a:solidFill>
                  <a:srgbClr val="F2F4FA"/>
                </a:solidFill>
                <a:latin typeface="Calibri"/>
              </a:rPr>
              <a:t>Découplée séquentielle</a:t>
            </a:r>
          </a:p>
        </p:txBody>
      </p:sp>
      <p:sp>
        <p:nvSpPr>
          <p:cNvPr id="20" name="Rectangle 19"/>
          <p:cNvSpPr/>
          <p:nvPr/>
        </p:nvSpPr>
        <p:spPr>
          <a:xfrm>
            <a:off x="5303520" y="2651760"/>
            <a:ext cx="32918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76672" y="2743200"/>
            <a:ext cx="3145536" cy="502920"/>
          </a:xfrm>
          <a:prstGeom prst="rect">
            <a:avLst/>
          </a:prstGeom>
          <a:noFill/>
        </p:spPr>
        <p:txBody>
          <a:bodyPr wrap="square" lIns="45720" rIns="45720" tIns="18288" bIns="18288">
            <a:spAutoFit/>
          </a:bodyPr>
          <a:lstStyle/>
          <a:p>
            <a:pPr algn="l"/>
            <a:r>
              <a:rPr sz="1100" b="0">
                <a:solidFill>
                  <a:srgbClr val="F2F4FA"/>
                </a:solidFill>
                <a:latin typeface="Calibri"/>
              </a:rPr>
              <a:t>Agent low-prio évite high-prio</a:t>
            </a:r>
          </a:p>
        </p:txBody>
      </p:sp>
      <p:sp>
        <p:nvSpPr>
          <p:cNvPr id="22" name="Rectangle 21"/>
          <p:cNvSpPr/>
          <p:nvPr/>
        </p:nvSpPr>
        <p:spPr>
          <a:xfrm>
            <a:off x="8595360" y="2651760"/>
            <a:ext cx="320040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68512" y="2743200"/>
            <a:ext cx="3054096" cy="502920"/>
          </a:xfrm>
          <a:prstGeom prst="rect">
            <a:avLst/>
          </a:prstGeom>
          <a:noFill/>
        </p:spPr>
        <p:txBody>
          <a:bodyPr wrap="square" lIns="45720" rIns="45720" tIns="18288" bIns="18288">
            <a:spAutoFit/>
          </a:bodyPr>
          <a:lstStyle/>
          <a:p>
            <a:pPr algn="l"/>
            <a:r>
              <a:rPr sz="1100" b="0">
                <a:solidFill>
                  <a:srgbClr val="F2F4FA"/>
                </a:solidFill>
                <a:latin typeface="Calibri"/>
              </a:rPr>
              <a:t>Sous-optimale, rapide, sensible à l'ordre</a:t>
            </a:r>
          </a:p>
        </p:txBody>
      </p:sp>
      <p:sp>
        <p:nvSpPr>
          <p:cNvPr id="24" name="Rectangle 23"/>
          <p:cNvSpPr/>
          <p:nvPr/>
        </p:nvSpPr>
        <p:spPr>
          <a:xfrm>
            <a:off x="548640" y="3337560"/>
            <a:ext cx="23774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3429000"/>
            <a:ext cx="2231136" cy="502920"/>
          </a:xfrm>
          <a:prstGeom prst="rect">
            <a:avLst/>
          </a:prstGeom>
          <a:noFill/>
        </p:spPr>
        <p:txBody>
          <a:bodyPr wrap="square" lIns="45720" rIns="45720" tIns="18288" bIns="18288">
            <a:spAutoFit/>
          </a:bodyPr>
          <a:lstStyle/>
          <a:p>
            <a:pPr algn="l"/>
            <a:r>
              <a:rPr sz="1100" b="0">
                <a:solidFill>
                  <a:srgbClr val="F2F4FA"/>
                </a:solidFill>
                <a:latin typeface="Calibri"/>
              </a:rPr>
              <a:t>Priority-Based Search (PBS)</a:t>
            </a:r>
          </a:p>
        </p:txBody>
      </p:sp>
      <p:sp>
        <p:nvSpPr>
          <p:cNvPr id="26" name="Rectangle 25"/>
          <p:cNvSpPr/>
          <p:nvPr/>
        </p:nvSpPr>
        <p:spPr>
          <a:xfrm>
            <a:off x="2926080" y="3337560"/>
            <a:ext cx="23774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99232" y="3429000"/>
            <a:ext cx="2231136" cy="502920"/>
          </a:xfrm>
          <a:prstGeom prst="rect">
            <a:avLst/>
          </a:prstGeom>
          <a:noFill/>
        </p:spPr>
        <p:txBody>
          <a:bodyPr wrap="square" lIns="45720" rIns="45720" tIns="18288" bIns="18288">
            <a:spAutoFit/>
          </a:bodyPr>
          <a:lstStyle/>
          <a:p>
            <a:pPr algn="l"/>
            <a:r>
              <a:rPr sz="1100" b="0">
                <a:solidFill>
                  <a:srgbClr val="F2F4FA"/>
                </a:solidFill>
                <a:latin typeface="Calibri"/>
              </a:rPr>
              <a:t>Arborescente</a:t>
            </a:r>
          </a:p>
        </p:txBody>
      </p:sp>
      <p:sp>
        <p:nvSpPr>
          <p:cNvPr id="28" name="Rectangle 27"/>
          <p:cNvSpPr/>
          <p:nvPr/>
        </p:nvSpPr>
        <p:spPr>
          <a:xfrm>
            <a:off x="5303520" y="3337560"/>
            <a:ext cx="32918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76672" y="3429000"/>
            <a:ext cx="3145536" cy="502920"/>
          </a:xfrm>
          <a:prstGeom prst="rect">
            <a:avLst/>
          </a:prstGeom>
          <a:noFill/>
        </p:spPr>
        <p:txBody>
          <a:bodyPr wrap="square" lIns="45720" rIns="45720" tIns="18288" bIns="18288">
            <a:spAutoFit/>
          </a:bodyPr>
          <a:lstStyle/>
          <a:p>
            <a:pPr algn="l"/>
            <a:r>
              <a:rPr sz="1100" b="0">
                <a:solidFill>
                  <a:srgbClr val="F2F4FA"/>
                </a:solidFill>
                <a:latin typeface="Calibri"/>
              </a:rPr>
              <a:t>Explore espace des priorités partielles</a:t>
            </a:r>
          </a:p>
        </p:txBody>
      </p:sp>
      <p:sp>
        <p:nvSpPr>
          <p:cNvPr id="30" name="Rectangle 29"/>
          <p:cNvSpPr/>
          <p:nvPr/>
        </p:nvSpPr>
        <p:spPr>
          <a:xfrm>
            <a:off x="8595360" y="3337560"/>
            <a:ext cx="320040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68512" y="3429000"/>
            <a:ext cx="3054096" cy="502920"/>
          </a:xfrm>
          <a:prstGeom prst="rect">
            <a:avLst/>
          </a:prstGeom>
          <a:noFill/>
        </p:spPr>
        <p:txBody>
          <a:bodyPr wrap="square" lIns="45720" rIns="45720" tIns="18288" bIns="18288">
            <a:spAutoFit/>
          </a:bodyPr>
          <a:lstStyle/>
          <a:p>
            <a:pPr algn="l"/>
            <a:r>
              <a:rPr sz="1100" b="0">
                <a:solidFill>
                  <a:srgbClr val="F2F4FA"/>
                </a:solidFill>
                <a:latin typeface="Calibri"/>
              </a:rPr>
              <a:t>Quasi-optimale, 600 agents &lt; 1 min</a:t>
            </a:r>
          </a:p>
        </p:txBody>
      </p:sp>
      <p:sp>
        <p:nvSpPr>
          <p:cNvPr id="32" name="Rectangle 31"/>
          <p:cNvSpPr/>
          <p:nvPr/>
        </p:nvSpPr>
        <p:spPr>
          <a:xfrm>
            <a:off x="548640" y="4023360"/>
            <a:ext cx="23774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4114800"/>
            <a:ext cx="2231136" cy="502920"/>
          </a:xfrm>
          <a:prstGeom prst="rect">
            <a:avLst/>
          </a:prstGeom>
          <a:noFill/>
        </p:spPr>
        <p:txBody>
          <a:bodyPr wrap="square" lIns="45720" rIns="45720" tIns="18288" bIns="18288">
            <a:spAutoFit/>
          </a:bodyPr>
          <a:lstStyle/>
          <a:p>
            <a:pPr algn="l"/>
            <a:r>
              <a:rPr sz="1100" b="0">
                <a:solidFill>
                  <a:srgbClr val="F2F4FA"/>
                </a:solidFill>
                <a:latin typeface="Calibri"/>
              </a:rPr>
              <a:t>Conflict-Based Search (CBS)</a:t>
            </a:r>
          </a:p>
        </p:txBody>
      </p:sp>
      <p:sp>
        <p:nvSpPr>
          <p:cNvPr id="34" name="Rectangle 33"/>
          <p:cNvSpPr/>
          <p:nvPr/>
        </p:nvSpPr>
        <p:spPr>
          <a:xfrm>
            <a:off x="2926080" y="4023360"/>
            <a:ext cx="23774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99232" y="4114800"/>
            <a:ext cx="2231136" cy="502920"/>
          </a:xfrm>
          <a:prstGeom prst="rect">
            <a:avLst/>
          </a:prstGeom>
          <a:noFill/>
        </p:spPr>
        <p:txBody>
          <a:bodyPr wrap="square" lIns="45720" rIns="45720" tIns="18288" bIns="18288">
            <a:spAutoFit/>
          </a:bodyPr>
          <a:lstStyle/>
          <a:p>
            <a:pPr algn="l"/>
            <a:r>
              <a:rPr sz="1100" b="0">
                <a:solidFill>
                  <a:srgbClr val="F2F4FA"/>
                </a:solidFill>
                <a:latin typeface="Calibri"/>
              </a:rPr>
              <a:t>Arbre de contraintes</a:t>
            </a:r>
          </a:p>
        </p:txBody>
      </p:sp>
      <p:sp>
        <p:nvSpPr>
          <p:cNvPr id="36" name="Rectangle 35"/>
          <p:cNvSpPr/>
          <p:nvPr/>
        </p:nvSpPr>
        <p:spPr>
          <a:xfrm>
            <a:off x="5303520" y="4023360"/>
            <a:ext cx="32918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76672" y="4114800"/>
            <a:ext cx="3145536" cy="502920"/>
          </a:xfrm>
          <a:prstGeom prst="rect">
            <a:avLst/>
          </a:prstGeom>
          <a:noFill/>
        </p:spPr>
        <p:txBody>
          <a:bodyPr wrap="square" lIns="45720" rIns="45720" tIns="18288" bIns="18288">
            <a:spAutoFit/>
          </a:bodyPr>
          <a:lstStyle/>
          <a:p>
            <a:pPr algn="l"/>
            <a:r>
              <a:rPr sz="1100" b="0">
                <a:solidFill>
                  <a:srgbClr val="F2F4FA"/>
                </a:solidFill>
                <a:latin typeface="Calibri"/>
              </a:rPr>
              <a:t>Contraintes spatio-temporelles</a:t>
            </a:r>
          </a:p>
        </p:txBody>
      </p:sp>
      <p:sp>
        <p:nvSpPr>
          <p:cNvPr id="38" name="Rectangle 37"/>
          <p:cNvSpPr/>
          <p:nvPr/>
        </p:nvSpPr>
        <p:spPr>
          <a:xfrm>
            <a:off x="8595360" y="4023360"/>
            <a:ext cx="320040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68512" y="4114800"/>
            <a:ext cx="3054096" cy="502920"/>
          </a:xfrm>
          <a:prstGeom prst="rect">
            <a:avLst/>
          </a:prstGeom>
          <a:noFill/>
        </p:spPr>
        <p:txBody>
          <a:bodyPr wrap="square" lIns="45720" rIns="45720" tIns="18288" bIns="18288">
            <a:spAutoFit/>
          </a:bodyPr>
          <a:lstStyle/>
          <a:p>
            <a:pPr algn="l"/>
            <a:r>
              <a:rPr sz="1100" b="0">
                <a:solidFill>
                  <a:srgbClr val="F2F4FA"/>
                </a:solidFill>
                <a:latin typeface="Calibri"/>
              </a:rPr>
              <a:t>Optimale, coût très élevé</a:t>
            </a:r>
          </a:p>
        </p:txBody>
      </p:sp>
      <p:sp>
        <p:nvSpPr>
          <p:cNvPr id="40" name="Rectangle 39"/>
          <p:cNvSpPr/>
          <p:nvPr/>
        </p:nvSpPr>
        <p:spPr>
          <a:xfrm>
            <a:off x="548640" y="4709160"/>
            <a:ext cx="23774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2231136" cy="502920"/>
          </a:xfrm>
          <a:prstGeom prst="rect">
            <a:avLst/>
          </a:prstGeom>
          <a:noFill/>
        </p:spPr>
        <p:txBody>
          <a:bodyPr wrap="square" lIns="45720" rIns="45720" tIns="18288" bIns="18288">
            <a:spAutoFit/>
          </a:bodyPr>
          <a:lstStyle/>
          <a:p>
            <a:pPr algn="l"/>
            <a:r>
              <a:rPr sz="1100" b="0">
                <a:solidFill>
                  <a:srgbClr val="F2F4FA"/>
                </a:solidFill>
                <a:latin typeface="Calibri"/>
              </a:rPr>
              <a:t>Token Passing (TP)</a:t>
            </a:r>
          </a:p>
        </p:txBody>
      </p:sp>
      <p:sp>
        <p:nvSpPr>
          <p:cNvPr id="42" name="Rectangle 41"/>
          <p:cNvSpPr/>
          <p:nvPr/>
        </p:nvSpPr>
        <p:spPr>
          <a:xfrm>
            <a:off x="2926080" y="4709160"/>
            <a:ext cx="23774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9232" y="4800600"/>
            <a:ext cx="2231136" cy="502920"/>
          </a:xfrm>
          <a:prstGeom prst="rect">
            <a:avLst/>
          </a:prstGeom>
          <a:noFill/>
        </p:spPr>
        <p:txBody>
          <a:bodyPr wrap="square" lIns="45720" rIns="45720" tIns="18288" bIns="18288">
            <a:spAutoFit/>
          </a:bodyPr>
          <a:lstStyle/>
          <a:p>
            <a:pPr algn="l"/>
            <a:r>
              <a:rPr sz="1100" b="0">
                <a:solidFill>
                  <a:srgbClr val="F2F4FA"/>
                </a:solidFill>
                <a:latin typeface="Calibri"/>
              </a:rPr>
              <a:t>Séquentiel par jeton</a:t>
            </a:r>
          </a:p>
        </p:txBody>
      </p:sp>
      <p:sp>
        <p:nvSpPr>
          <p:cNvPr id="44" name="Rectangle 43"/>
          <p:cNvSpPr/>
          <p:nvPr/>
        </p:nvSpPr>
        <p:spPr>
          <a:xfrm>
            <a:off x="5303520" y="4709160"/>
            <a:ext cx="329184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76672" y="4800600"/>
            <a:ext cx="3145536" cy="502920"/>
          </a:xfrm>
          <a:prstGeom prst="rect">
            <a:avLst/>
          </a:prstGeom>
          <a:noFill/>
        </p:spPr>
        <p:txBody>
          <a:bodyPr wrap="square" lIns="45720" rIns="45720" tIns="18288" bIns="18288">
            <a:spAutoFit/>
          </a:bodyPr>
          <a:lstStyle/>
          <a:p>
            <a:pPr algn="l"/>
            <a:r>
              <a:rPr sz="1100" b="0">
                <a:solidFill>
                  <a:srgbClr val="F2F4FA"/>
                </a:solidFill>
                <a:latin typeface="Calibri"/>
              </a:rPr>
              <a:t>Réserve chemin complet</a:t>
            </a:r>
          </a:p>
        </p:txBody>
      </p:sp>
      <p:sp>
        <p:nvSpPr>
          <p:cNvPr id="46" name="Rectangle 45"/>
          <p:cNvSpPr/>
          <p:nvPr/>
        </p:nvSpPr>
        <p:spPr>
          <a:xfrm>
            <a:off x="8595360" y="4709160"/>
            <a:ext cx="3200400" cy="68580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68512" y="4800600"/>
            <a:ext cx="3054096" cy="502920"/>
          </a:xfrm>
          <a:prstGeom prst="rect">
            <a:avLst/>
          </a:prstGeom>
          <a:noFill/>
        </p:spPr>
        <p:txBody>
          <a:bodyPr wrap="square" lIns="45720" rIns="45720" tIns="18288" bIns="18288">
            <a:spAutoFit/>
          </a:bodyPr>
          <a:lstStyle/>
          <a:p>
            <a:pPr algn="l"/>
            <a:r>
              <a:rPr sz="1100" b="0">
                <a:solidFill>
                  <a:srgbClr val="F2F4FA"/>
                </a:solidFill>
                <a:latin typeface="Calibri"/>
              </a:rPr>
              <a:t>Incomplet, ultra-rapide (entrepôt)</a:t>
            </a:r>
          </a:p>
        </p:txBody>
      </p:sp>
      <p:sp>
        <p:nvSpPr>
          <p:cNvPr id="48" name="TextBox 47"/>
          <p:cNvSpPr txBox="1"/>
          <p:nvPr/>
        </p:nvSpPr>
        <p:spPr>
          <a:xfrm>
            <a:off x="548640" y="5943600"/>
            <a:ext cx="11247120" cy="457200"/>
          </a:xfrm>
          <a:prstGeom prst="rect">
            <a:avLst/>
          </a:prstGeom>
          <a:noFill/>
        </p:spPr>
        <p:txBody>
          <a:bodyPr wrap="square" lIns="45720" rIns="45720" tIns="18288" bIns="18288">
            <a:spAutoFit/>
          </a:bodyPr>
          <a:lstStyle/>
          <a:p>
            <a:pPr algn="l"/>
            <a:r>
              <a:rPr sz="1200" b="0">
                <a:solidFill>
                  <a:srgbClr val="8A90A8"/>
                </a:solidFill>
                <a:latin typeface="Calibri"/>
              </a:rPr>
              <a:t>Constat : priorités fixes ↔ deadlocks fréquents en intersection symétrique. Variantes asynchrones (AWC) introduisent des priorités dynamiques par backtrack.</a:t>
            </a:r>
          </a:p>
        </p:txBody>
      </p:sp>
      <p:sp>
        <p:nvSpPr>
          <p:cNvPr id="49" name="TextBox 4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1.9</a:t>
            </a:r>
          </a:p>
        </p:txBody>
      </p:sp>
      <p:sp>
        <p:nvSpPr>
          <p:cNvPr id="50" name="TextBox 4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12 / 66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1.10</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Théorie des jeux &amp; MARL</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Frontière contemporaine : agents apprenants sous contrainte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6949440" cy="4114800"/>
          </a:xfrm>
          <a:prstGeom prst="rect">
            <a:avLst/>
          </a:prstGeom>
          <a:noFill/>
        </p:spPr>
        <p:txBody>
          <a:bodyPr wrap="square">
            <a:spAutoFit/>
          </a:bodyPr>
          <a:lstStyle/>
          <a:p>
            <a:pPr algn="l">
              <a:spcAft>
                <a:spcPts val="400"/>
              </a:spcAft>
            </a:pPr>
            <a:r>
              <a:rPr sz="1300">
                <a:solidFill>
                  <a:srgbClr val="F2F4FA"/>
                </a:solidFill>
                <a:latin typeface="Calibri"/>
              </a:rPr>
              <a:t>•  Intersection = jeu à somme non nulle : minimiser MON délai + éviter LA collision.</a:t>
            </a:r>
          </a:p>
          <a:p>
            <a:pPr algn="l">
              <a:spcAft>
                <a:spcPts val="400"/>
              </a:spcAft>
            </a:pPr>
            <a:r>
              <a:rPr sz="1300">
                <a:solidFill>
                  <a:srgbClr val="F2F4FA"/>
                </a:solidFill>
                <a:latin typeface="Calibri"/>
              </a:rPr>
              <a:t>•  Négociation = bargaining à concession monotone (convergence garantie).</a:t>
            </a:r>
          </a:p>
          <a:p>
            <a:pPr algn="l">
              <a:spcAft>
                <a:spcPts val="400"/>
              </a:spcAft>
            </a:pPr>
            <a:r>
              <a:rPr sz="1300">
                <a:solidFill>
                  <a:srgbClr val="F2F4FA"/>
                </a:solidFill>
                <a:latin typeface="Calibri"/>
              </a:rPr>
              <a:t>•  MARL paradigme CTDE : Centralized Training, Decentralized Execution.</a:t>
            </a:r>
          </a:p>
          <a:p>
            <a:pPr algn="l">
              <a:spcAft>
                <a:spcPts val="400"/>
              </a:spcAft>
            </a:pPr>
            <a:r>
              <a:rPr sz="1300">
                <a:solidFill>
                  <a:srgbClr val="F2F4FA"/>
                </a:solidFill>
                <a:latin typeface="Calibri"/>
              </a:rPr>
              <a:t>•  MACPO (IEEE 2023) : Constrained Markov Game, divergence KL bornée.</a:t>
            </a:r>
          </a:p>
          <a:p>
            <a:pPr algn="l">
              <a:spcAft>
                <a:spcPts val="400"/>
              </a:spcAft>
            </a:pPr>
            <a:r>
              <a:rPr sz="1300">
                <a:solidFill>
                  <a:srgbClr val="F2F4FA"/>
                </a:solidFill>
                <a:latin typeface="Calibri"/>
              </a:rPr>
              <a:t>•  Garantit politique d'apprentissage qui ne viole jamais les contraintes physiques.</a:t>
            </a:r>
          </a:p>
          <a:p>
            <a:pPr algn="l">
              <a:spcAft>
                <a:spcPts val="400"/>
              </a:spcAft>
            </a:pPr>
            <a:r>
              <a:rPr sz="1300">
                <a:solidFill>
                  <a:srgbClr val="F2F4FA"/>
                </a:solidFill>
                <a:latin typeface="Calibri"/>
              </a:rPr>
              <a:t>•  Performance : zéro collision, gain exponentiel vs MIP.</a:t>
            </a:r>
          </a:p>
          <a:p>
            <a:pPr algn="l">
              <a:spcAft>
                <a:spcPts val="400"/>
              </a:spcAft>
            </a:pPr>
            <a:r>
              <a:rPr sz="1300">
                <a:solidFill>
                  <a:srgbClr val="F2F4FA"/>
                </a:solidFill>
                <a:latin typeface="Calibri"/>
              </a:rPr>
              <a:t>•  Piste émergente : LLM-agents pour raisonnement stratégique quasi-humain.</a:t>
            </a:r>
          </a:p>
        </p:txBody>
      </p:sp>
      <p:sp>
        <p:nvSpPr>
          <p:cNvPr id="9" name="Rectangle 8"/>
          <p:cNvSpPr/>
          <p:nvPr/>
        </p:nvSpPr>
        <p:spPr>
          <a:xfrm>
            <a:off x="7680960" y="1920240"/>
            <a:ext cx="4114800" cy="438912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3886200"/>
            <a:ext cx="4114800" cy="457200"/>
          </a:xfrm>
          <a:prstGeom prst="rect">
            <a:avLst/>
          </a:prstGeom>
          <a:noFill/>
        </p:spPr>
        <p:txBody>
          <a:bodyPr wrap="square" lIns="45720" rIns="45720" tIns="18288" bIns="18288">
            <a:spAutoFit/>
          </a:bodyPr>
          <a:lstStyle/>
          <a:p>
            <a:pPr algn="ctr"/>
            <a:r>
              <a:rPr sz="1300" b="1">
                <a:solidFill>
                  <a:srgbClr val="3D9DF3"/>
                </a:solidFill>
                <a:latin typeface="Calibri"/>
              </a:rPr>
              <a:t>[ Schéma : pipeline CTDE ]</a:t>
            </a:r>
          </a:p>
        </p:txBody>
      </p:sp>
      <p:sp>
        <p:nvSpPr>
          <p:cNvPr id="11" name="TextBox 10"/>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1.10</a:t>
            </a:r>
          </a:p>
        </p:txBody>
      </p:sp>
      <p:sp>
        <p:nvSpPr>
          <p:cNvPr id="12" name="TextBox 11"/>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13 / 66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ÉTAT DE L'ART · 1.11</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Méthodologie scientifique : Monte-Carlo + métriques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Comment un simulateur devient un banc d'essai</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5577840" cy="21945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5303520" cy="320040"/>
          </a:xfrm>
          <a:prstGeom prst="rect">
            <a:avLst/>
          </a:prstGeom>
          <a:noFill/>
        </p:spPr>
        <p:txBody>
          <a:bodyPr wrap="square" lIns="45720" rIns="45720" tIns="18288" bIns="18288">
            <a:spAutoFit/>
          </a:bodyPr>
          <a:lstStyle/>
          <a:p>
            <a:pPr algn="l"/>
            <a:r>
              <a:rPr sz="1300" b="1">
                <a:solidFill>
                  <a:srgbClr val="3D9DF3"/>
                </a:solidFill>
                <a:latin typeface="Calibri"/>
              </a:rPr>
              <a:t>Hypothèse centrale</a:t>
            </a:r>
          </a:p>
        </p:txBody>
      </p:sp>
      <p:sp>
        <p:nvSpPr>
          <p:cNvPr id="10" name="TextBox 9"/>
          <p:cNvSpPr txBox="1"/>
          <p:nvPr/>
        </p:nvSpPr>
        <p:spPr>
          <a:xfrm>
            <a:off x="685800" y="2377440"/>
            <a:ext cx="5303520" cy="1691640"/>
          </a:xfrm>
          <a:prstGeom prst="rect">
            <a:avLst/>
          </a:prstGeom>
          <a:noFill/>
        </p:spPr>
        <p:txBody>
          <a:bodyPr wrap="square" lIns="45720" rIns="45720" tIns="18288" bIns="18288">
            <a:spAutoFit/>
          </a:bodyPr>
          <a:lstStyle/>
          <a:p>
            <a:pPr algn="l"/>
            <a:r>
              <a:rPr sz="1100" b="0">
                <a:solidFill>
                  <a:srgbClr val="F2F4FA"/>
                </a:solidFill>
                <a:latin typeface="Calibri"/>
              </a:rPr>
              <a:t>La performance relative entre P2P décentralisé et priorité fixe présente un point d'inflexion lié à la densité du trafic. À faible densité, P2P domine ; à forte densité, P2P dégénère vers four-way stop et la priorité fixe redevient supérieure.</a:t>
            </a:r>
          </a:p>
        </p:txBody>
      </p:sp>
      <p:sp>
        <p:nvSpPr>
          <p:cNvPr id="11" name="Rounded Rectangle 10"/>
          <p:cNvSpPr/>
          <p:nvPr/>
        </p:nvSpPr>
        <p:spPr>
          <a:xfrm>
            <a:off x="6263640" y="1920240"/>
            <a:ext cx="5532120" cy="21945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Design expérimental</a:t>
            </a:r>
          </a:p>
        </p:txBody>
      </p:sp>
      <p:sp>
        <p:nvSpPr>
          <p:cNvPr id="13" name="TextBox 12"/>
          <p:cNvSpPr txBox="1"/>
          <p:nvPr/>
        </p:nvSpPr>
        <p:spPr>
          <a:xfrm>
            <a:off x="6400800" y="2377440"/>
            <a:ext cx="5257800" cy="1691640"/>
          </a:xfrm>
          <a:prstGeom prst="rect">
            <a:avLst/>
          </a:prstGeom>
          <a:noFill/>
        </p:spPr>
        <p:txBody>
          <a:bodyPr wrap="square" lIns="45720" rIns="45720" tIns="18288" bIns="18288">
            <a:spAutoFit/>
          </a:bodyPr>
          <a:lstStyle/>
          <a:p>
            <a:pPr algn="l"/>
            <a:r>
              <a:rPr sz="1100" b="0">
                <a:solidFill>
                  <a:srgbClr val="F2F4FA"/>
                </a:solidFill>
                <a:latin typeface="Calibri"/>
              </a:rPr>
              <a:t>Variable indépendante : densité d'injection (0.1 → 0.8 véh/s).</a:t>
            </a:r>
          </a:p>
          <a:p>
            <a:pPr algn="l"/>
            <a:r>
              <a:rPr sz="1100" b="0">
                <a:solidFill>
                  <a:srgbClr val="F2F4FA"/>
                </a:solidFill>
                <a:latin typeface="Calibri"/>
              </a:rPr>
              <a:t>Variable indépendante : type de policy (10 régulations).</a:t>
            </a:r>
          </a:p>
          <a:p>
            <a:pPr algn="l"/>
            <a:r>
              <a:rPr sz="1100" b="0">
                <a:solidFill>
                  <a:srgbClr val="F2F4FA"/>
                </a:solidFill>
                <a:latin typeface="Calibri"/>
              </a:rPr>
              <a:t>N runs par point (Monte-Carlo) → moyenne + intervalle de confiance.</a:t>
            </a:r>
          </a:p>
          <a:p>
            <a:pPr algn="l"/>
            <a:r>
              <a:rPr sz="1100" b="0">
                <a:solidFill>
                  <a:srgbClr val="F2F4FA"/>
                </a:solidFill>
                <a:latin typeface="Calibri"/>
              </a:rPr>
              <a:t>Exécution headless multi-thread (NullRenderer).</a:t>
            </a:r>
          </a:p>
        </p:txBody>
      </p:sp>
      <p:sp>
        <p:nvSpPr>
          <p:cNvPr id="14" name="TextBox 13"/>
          <p:cNvSpPr txBox="1"/>
          <p:nvPr/>
        </p:nvSpPr>
        <p:spPr>
          <a:xfrm>
            <a:off x="548640" y="4297680"/>
            <a:ext cx="11247120" cy="365760"/>
          </a:xfrm>
          <a:prstGeom prst="rect">
            <a:avLst/>
          </a:prstGeom>
          <a:noFill/>
        </p:spPr>
        <p:txBody>
          <a:bodyPr wrap="square" lIns="45720" rIns="45720" tIns="18288" bIns="18288">
            <a:spAutoFit/>
          </a:bodyPr>
          <a:lstStyle/>
          <a:p>
            <a:pPr algn="l"/>
            <a:r>
              <a:rPr sz="1400" b="1">
                <a:solidFill>
                  <a:srgbClr val="3D9DF3"/>
                </a:solidFill>
                <a:latin typeface="Calibri"/>
              </a:rPr>
              <a:t>Métriques validées par la littérature :</a:t>
            </a:r>
          </a:p>
        </p:txBody>
      </p:sp>
      <p:sp>
        <p:nvSpPr>
          <p:cNvPr id="15" name="Rounded Rectangle 14"/>
          <p:cNvSpPr/>
          <p:nvPr/>
        </p:nvSpPr>
        <p:spPr>
          <a:xfrm>
            <a:off x="548640" y="4709160"/>
            <a:ext cx="2194560" cy="155448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800600"/>
            <a:ext cx="1920240" cy="320040"/>
          </a:xfrm>
          <a:prstGeom prst="rect">
            <a:avLst/>
          </a:prstGeom>
          <a:noFill/>
        </p:spPr>
        <p:txBody>
          <a:bodyPr wrap="square" lIns="45720" rIns="45720" tIns="18288" bIns="18288">
            <a:spAutoFit/>
          </a:bodyPr>
          <a:lstStyle/>
          <a:p>
            <a:pPr algn="l"/>
            <a:r>
              <a:rPr sz="1300" b="1">
                <a:solidFill>
                  <a:srgbClr val="4CD97F"/>
                </a:solidFill>
                <a:latin typeface="Calibri"/>
              </a:rPr>
              <a:t>Throughput</a:t>
            </a:r>
          </a:p>
        </p:txBody>
      </p:sp>
      <p:sp>
        <p:nvSpPr>
          <p:cNvPr id="17" name="TextBox 16"/>
          <p:cNvSpPr txBox="1"/>
          <p:nvPr/>
        </p:nvSpPr>
        <p:spPr>
          <a:xfrm>
            <a:off x="685800" y="5166360"/>
            <a:ext cx="1920240" cy="1051560"/>
          </a:xfrm>
          <a:prstGeom prst="rect">
            <a:avLst/>
          </a:prstGeom>
          <a:noFill/>
        </p:spPr>
        <p:txBody>
          <a:bodyPr wrap="square" lIns="45720" rIns="45720" tIns="18288" bIns="18288">
            <a:spAutoFit/>
          </a:bodyPr>
          <a:lstStyle/>
          <a:p>
            <a:pPr algn="l"/>
            <a:r>
              <a:rPr sz="1100" b="0">
                <a:solidFill>
                  <a:srgbClr val="F2F4FA"/>
                </a:solidFill>
                <a:latin typeface="Calibri"/>
              </a:rPr>
              <a:t>véh/min (fenêtre 60 s)</a:t>
            </a:r>
          </a:p>
        </p:txBody>
      </p:sp>
      <p:sp>
        <p:nvSpPr>
          <p:cNvPr id="18" name="Rounded Rectangle 17"/>
          <p:cNvSpPr/>
          <p:nvPr/>
        </p:nvSpPr>
        <p:spPr>
          <a:xfrm>
            <a:off x="2798064" y="4709160"/>
            <a:ext cx="2194560" cy="155448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35224" y="4800600"/>
            <a:ext cx="1920240" cy="320040"/>
          </a:xfrm>
          <a:prstGeom prst="rect">
            <a:avLst/>
          </a:prstGeom>
          <a:noFill/>
        </p:spPr>
        <p:txBody>
          <a:bodyPr wrap="square" lIns="45720" rIns="45720" tIns="18288" bIns="18288">
            <a:spAutoFit/>
          </a:bodyPr>
          <a:lstStyle/>
          <a:p>
            <a:pPr algn="l"/>
            <a:r>
              <a:rPr sz="1300" b="1">
                <a:solidFill>
                  <a:srgbClr val="4CD97F"/>
                </a:solidFill>
                <a:latin typeface="Calibri"/>
              </a:rPr>
              <a:t>Delay</a:t>
            </a:r>
          </a:p>
        </p:txBody>
      </p:sp>
      <p:sp>
        <p:nvSpPr>
          <p:cNvPr id="20" name="TextBox 19"/>
          <p:cNvSpPr txBox="1"/>
          <p:nvPr/>
        </p:nvSpPr>
        <p:spPr>
          <a:xfrm>
            <a:off x="2935224" y="5166360"/>
            <a:ext cx="1920240" cy="1051560"/>
          </a:xfrm>
          <a:prstGeom prst="rect">
            <a:avLst/>
          </a:prstGeom>
          <a:noFill/>
        </p:spPr>
        <p:txBody>
          <a:bodyPr wrap="square" lIns="45720" rIns="45720" tIns="18288" bIns="18288">
            <a:spAutoFit/>
          </a:bodyPr>
          <a:lstStyle/>
          <a:p>
            <a:pPr algn="l"/>
            <a:r>
              <a:rPr sz="1100" b="0">
                <a:solidFill>
                  <a:srgbClr val="F2F4FA"/>
                </a:solidFill>
                <a:latin typeface="Calibri"/>
              </a:rPr>
              <a:t>Δt vs free-flow</a:t>
            </a:r>
          </a:p>
        </p:txBody>
      </p:sp>
      <p:sp>
        <p:nvSpPr>
          <p:cNvPr id="21" name="Rounded Rectangle 20"/>
          <p:cNvSpPr/>
          <p:nvPr/>
        </p:nvSpPr>
        <p:spPr>
          <a:xfrm>
            <a:off x="5047488" y="4709160"/>
            <a:ext cx="2194560" cy="155448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84648" y="4800600"/>
            <a:ext cx="1920240" cy="320040"/>
          </a:xfrm>
          <a:prstGeom prst="rect">
            <a:avLst/>
          </a:prstGeom>
          <a:noFill/>
        </p:spPr>
        <p:txBody>
          <a:bodyPr wrap="square" lIns="45720" rIns="45720" tIns="18288" bIns="18288">
            <a:spAutoFit/>
          </a:bodyPr>
          <a:lstStyle/>
          <a:p>
            <a:pPr algn="l"/>
            <a:r>
              <a:rPr sz="1300" b="1">
                <a:solidFill>
                  <a:srgbClr val="4CD97F"/>
                </a:solidFill>
                <a:latin typeface="Calibri"/>
              </a:rPr>
              <a:t>TTC</a:t>
            </a:r>
          </a:p>
        </p:txBody>
      </p:sp>
      <p:sp>
        <p:nvSpPr>
          <p:cNvPr id="23" name="TextBox 22"/>
          <p:cNvSpPr txBox="1"/>
          <p:nvPr/>
        </p:nvSpPr>
        <p:spPr>
          <a:xfrm>
            <a:off x="5184648" y="5166360"/>
            <a:ext cx="1920240" cy="1051560"/>
          </a:xfrm>
          <a:prstGeom prst="rect">
            <a:avLst/>
          </a:prstGeom>
          <a:noFill/>
        </p:spPr>
        <p:txBody>
          <a:bodyPr wrap="square" lIns="45720" rIns="45720" tIns="18288" bIns="18288">
            <a:spAutoFit/>
          </a:bodyPr>
          <a:lstStyle/>
          <a:p>
            <a:pPr algn="l"/>
            <a:r>
              <a:rPr sz="1100" b="0">
                <a:solidFill>
                  <a:srgbClr val="F2F4FA"/>
                </a:solidFill>
                <a:latin typeface="Calibri"/>
              </a:rPr>
              <a:t>&lt; 1.5 s = incident</a:t>
            </a:r>
          </a:p>
        </p:txBody>
      </p:sp>
      <p:sp>
        <p:nvSpPr>
          <p:cNvPr id="24" name="Rounded Rectangle 23"/>
          <p:cNvSpPr/>
          <p:nvPr/>
        </p:nvSpPr>
        <p:spPr>
          <a:xfrm>
            <a:off x="7296912" y="4709160"/>
            <a:ext cx="2194560" cy="155448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34072" y="4800600"/>
            <a:ext cx="1920240" cy="320040"/>
          </a:xfrm>
          <a:prstGeom prst="rect">
            <a:avLst/>
          </a:prstGeom>
          <a:noFill/>
        </p:spPr>
        <p:txBody>
          <a:bodyPr wrap="square" lIns="45720" rIns="45720" tIns="18288" bIns="18288">
            <a:spAutoFit/>
          </a:bodyPr>
          <a:lstStyle/>
          <a:p>
            <a:pPr algn="l"/>
            <a:r>
              <a:rPr sz="1300" b="1">
                <a:solidFill>
                  <a:srgbClr val="4CD97F"/>
                </a:solidFill>
                <a:latin typeface="Calibri"/>
              </a:rPr>
              <a:t>PET</a:t>
            </a:r>
          </a:p>
        </p:txBody>
      </p:sp>
      <p:sp>
        <p:nvSpPr>
          <p:cNvPr id="26" name="TextBox 25"/>
          <p:cNvSpPr txBox="1"/>
          <p:nvPr/>
        </p:nvSpPr>
        <p:spPr>
          <a:xfrm>
            <a:off x="7434072" y="5166360"/>
            <a:ext cx="1920240" cy="1051560"/>
          </a:xfrm>
          <a:prstGeom prst="rect">
            <a:avLst/>
          </a:prstGeom>
          <a:noFill/>
        </p:spPr>
        <p:txBody>
          <a:bodyPr wrap="square" lIns="45720" rIns="45720" tIns="18288" bIns="18288">
            <a:spAutoFit/>
          </a:bodyPr>
          <a:lstStyle/>
          <a:p>
            <a:pPr algn="l"/>
            <a:r>
              <a:rPr sz="1100" b="0">
                <a:solidFill>
                  <a:srgbClr val="F2F4FA"/>
                </a:solidFill>
                <a:latin typeface="Calibri"/>
              </a:rPr>
              <a:t>near-miss spatial</a:t>
            </a:r>
          </a:p>
        </p:txBody>
      </p:sp>
      <p:sp>
        <p:nvSpPr>
          <p:cNvPr id="27" name="Rounded Rectangle 26"/>
          <p:cNvSpPr/>
          <p:nvPr/>
        </p:nvSpPr>
        <p:spPr>
          <a:xfrm>
            <a:off x="9546336" y="4709160"/>
            <a:ext cx="2194560" cy="155448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83496" y="4800600"/>
            <a:ext cx="1920240" cy="320040"/>
          </a:xfrm>
          <a:prstGeom prst="rect">
            <a:avLst/>
          </a:prstGeom>
          <a:noFill/>
        </p:spPr>
        <p:txBody>
          <a:bodyPr wrap="square" lIns="45720" rIns="45720" tIns="18288" bIns="18288">
            <a:spAutoFit/>
          </a:bodyPr>
          <a:lstStyle/>
          <a:p>
            <a:pPr algn="l"/>
            <a:r>
              <a:rPr sz="1300" b="1">
                <a:solidFill>
                  <a:srgbClr val="4CD97F"/>
                </a:solidFill>
                <a:latin typeface="Calibri"/>
              </a:rPr>
              <a:t>Jerk</a:t>
            </a:r>
          </a:p>
        </p:txBody>
      </p:sp>
      <p:sp>
        <p:nvSpPr>
          <p:cNvPr id="29" name="TextBox 28"/>
          <p:cNvSpPr txBox="1"/>
          <p:nvPr/>
        </p:nvSpPr>
        <p:spPr>
          <a:xfrm>
            <a:off x="9683496" y="5166360"/>
            <a:ext cx="1920240" cy="1051560"/>
          </a:xfrm>
          <a:prstGeom prst="rect">
            <a:avLst/>
          </a:prstGeom>
          <a:noFill/>
        </p:spPr>
        <p:txBody>
          <a:bodyPr wrap="square" lIns="45720" rIns="45720" tIns="18288" bIns="18288">
            <a:spAutoFit/>
          </a:bodyPr>
          <a:lstStyle/>
          <a:p>
            <a:pPr algn="l"/>
            <a:r>
              <a:rPr sz="1100" b="0">
                <a:solidFill>
                  <a:srgbClr val="F2F4FA"/>
                </a:solidFill>
                <a:latin typeface="Calibri"/>
              </a:rPr>
              <a:t>∫|da/dt| (confort)</a:t>
            </a:r>
          </a:p>
        </p:txBody>
      </p:sp>
      <p:sp>
        <p:nvSpPr>
          <p:cNvPr id="30" name="TextBox 29"/>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ÉTAT DE L'ART · 1.11</a:t>
            </a:r>
          </a:p>
        </p:txBody>
      </p:sp>
      <p:sp>
        <p:nvSpPr>
          <p:cNvPr id="31" name="TextBox 30"/>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14 / 66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548640"/>
          </a:xfrm>
          <a:prstGeom prst="rect">
            <a:avLst/>
          </a:prstGeom>
          <a:noFill/>
        </p:spPr>
        <p:txBody>
          <a:bodyPr wrap="square" lIns="45720" rIns="45720" tIns="18288" bIns="18288">
            <a:spAutoFit/>
          </a:bodyPr>
          <a:lstStyle/>
          <a:p>
            <a:pPr algn="l"/>
            <a:r>
              <a:rPr sz="1800" b="1">
                <a:solidFill>
                  <a:srgbClr val="FFB73D"/>
                </a:solidFill>
                <a:latin typeface="Calibri"/>
              </a:rPr>
              <a:t>PARTIE 2</a:t>
            </a:r>
          </a:p>
        </p:txBody>
      </p:sp>
      <p:sp>
        <p:nvSpPr>
          <p:cNvPr id="4" name="TextBox 3"/>
          <p:cNvSpPr txBox="1"/>
          <p:nvPr/>
        </p:nvSpPr>
        <p:spPr>
          <a:xfrm>
            <a:off x="548640" y="2377440"/>
            <a:ext cx="10972800" cy="1280160"/>
          </a:xfrm>
          <a:prstGeom prst="rect">
            <a:avLst/>
          </a:prstGeom>
          <a:noFill/>
        </p:spPr>
        <p:txBody>
          <a:bodyPr wrap="square" lIns="45720" rIns="45720" tIns="18288" bIns="18288">
            <a:spAutoFit/>
          </a:bodyPr>
          <a:lstStyle/>
          <a:p>
            <a:pPr algn="l"/>
            <a:r>
              <a:rPr sz="4400" b="1">
                <a:solidFill>
                  <a:srgbClr val="F2F4FA"/>
                </a:solidFill>
                <a:latin typeface="Calibri"/>
              </a:rPr>
              <a:t>Développement &amp; comportements</a:t>
            </a:r>
          </a:p>
        </p:txBody>
      </p:sp>
      <p:sp>
        <p:nvSpPr>
          <p:cNvPr id="5" name="TextBox 4"/>
          <p:cNvSpPr txBox="1"/>
          <p:nvPr/>
        </p:nvSpPr>
        <p:spPr>
          <a:xfrm>
            <a:off x="548640" y="3657600"/>
            <a:ext cx="10972800" cy="548640"/>
          </a:xfrm>
          <a:prstGeom prst="rect">
            <a:avLst/>
          </a:prstGeom>
          <a:noFill/>
        </p:spPr>
        <p:txBody>
          <a:bodyPr wrap="square" lIns="45720" rIns="45720" tIns="18288" bIns="18288">
            <a:spAutoFit/>
          </a:bodyPr>
          <a:lstStyle/>
          <a:p>
            <a:pPr algn="l"/>
            <a:r>
              <a:rPr sz="1600" b="0">
                <a:solidFill>
                  <a:srgbClr val="8A90A8"/>
                </a:solidFill>
                <a:latin typeface="Calibri"/>
              </a:rPr>
              <a:t>10 régulations · 15 fiches comportement · FSM décisionnelle</a:t>
            </a:r>
          </a:p>
        </p:txBody>
      </p:sp>
      <p:sp>
        <p:nvSpPr>
          <p:cNvPr id="6" name="Rectangle 5"/>
          <p:cNvSpPr/>
          <p:nvPr/>
        </p:nvSpPr>
        <p:spPr>
          <a:xfrm>
            <a:off x="548640" y="4434840"/>
            <a:ext cx="2286000" cy="4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Partie 2</a:t>
            </a:r>
          </a:p>
        </p:txBody>
      </p:sp>
      <p:sp>
        <p:nvSpPr>
          <p:cNvPr id="8" name="TextBox 7"/>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15 / 66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DÉVELOPPEMENT · 2.1</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Vue d'ensemble de l'application</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Trois états d'application + UI ImGui + rendu SFML</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3657600" cy="182880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3383280" cy="320040"/>
          </a:xfrm>
          <a:prstGeom prst="rect">
            <a:avLst/>
          </a:prstGeom>
          <a:noFill/>
        </p:spPr>
        <p:txBody>
          <a:bodyPr wrap="square" lIns="45720" rIns="45720" tIns="18288" bIns="18288">
            <a:spAutoFit/>
          </a:bodyPr>
          <a:lstStyle/>
          <a:p>
            <a:pPr algn="l"/>
            <a:r>
              <a:rPr sz="1300" b="1">
                <a:solidFill>
                  <a:srgbClr val="3D9DF3"/>
                </a:solidFill>
                <a:latin typeface="Calibri"/>
              </a:rPr>
              <a:t>MAIN_MENU</a:t>
            </a:r>
          </a:p>
        </p:txBody>
      </p:sp>
      <p:sp>
        <p:nvSpPr>
          <p:cNvPr id="10" name="TextBox 9"/>
          <p:cNvSpPr txBox="1"/>
          <p:nvPr/>
        </p:nvSpPr>
        <p:spPr>
          <a:xfrm>
            <a:off x="685800" y="2377440"/>
            <a:ext cx="3383280" cy="1325880"/>
          </a:xfrm>
          <a:prstGeom prst="rect">
            <a:avLst/>
          </a:prstGeom>
          <a:noFill/>
        </p:spPr>
        <p:txBody>
          <a:bodyPr wrap="square" lIns="45720" rIns="45720" tIns="18288" bIns="18288">
            <a:spAutoFit/>
          </a:bodyPr>
          <a:lstStyle/>
          <a:p>
            <a:pPr algn="l"/>
            <a:r>
              <a:rPr sz="1100" b="0">
                <a:solidFill>
                  <a:srgbClr val="F2F4FA"/>
                </a:solidFill>
                <a:latin typeface="Calibri"/>
              </a:rPr>
              <a:t>Sélection du scénario : catalogue prédéfini ou éditeur build mode avec palette de tuiles.</a:t>
            </a:r>
          </a:p>
        </p:txBody>
      </p:sp>
      <p:sp>
        <p:nvSpPr>
          <p:cNvPr id="11" name="Rounded Rectangle 10"/>
          <p:cNvSpPr/>
          <p:nvPr/>
        </p:nvSpPr>
        <p:spPr>
          <a:xfrm>
            <a:off x="4297680" y="1920240"/>
            <a:ext cx="3657600" cy="182880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2011680"/>
            <a:ext cx="3383280" cy="320040"/>
          </a:xfrm>
          <a:prstGeom prst="rect">
            <a:avLst/>
          </a:prstGeom>
          <a:noFill/>
        </p:spPr>
        <p:txBody>
          <a:bodyPr wrap="square" lIns="45720" rIns="45720" tIns="18288" bIns="18288">
            <a:spAutoFit/>
          </a:bodyPr>
          <a:lstStyle/>
          <a:p>
            <a:pPr algn="l"/>
            <a:r>
              <a:rPr sz="1300" b="1">
                <a:solidFill>
                  <a:srgbClr val="FFB73D"/>
                </a:solidFill>
                <a:latin typeface="Calibri"/>
              </a:rPr>
              <a:t>MONTE_CARLO</a:t>
            </a:r>
          </a:p>
        </p:txBody>
      </p:sp>
      <p:sp>
        <p:nvSpPr>
          <p:cNvPr id="13" name="TextBox 12"/>
          <p:cNvSpPr txBox="1"/>
          <p:nvPr/>
        </p:nvSpPr>
        <p:spPr>
          <a:xfrm>
            <a:off x="4434840" y="2377440"/>
            <a:ext cx="3383280" cy="1325880"/>
          </a:xfrm>
          <a:prstGeom prst="rect">
            <a:avLst/>
          </a:prstGeom>
          <a:noFill/>
        </p:spPr>
        <p:txBody>
          <a:bodyPr wrap="square" lIns="45720" rIns="45720" tIns="18288" bIns="18288">
            <a:spAutoFit/>
          </a:bodyPr>
          <a:lstStyle/>
          <a:p>
            <a:pPr algn="l"/>
            <a:r>
              <a:rPr sz="1100" b="0">
                <a:solidFill>
                  <a:srgbClr val="F2F4FA"/>
                </a:solidFill>
                <a:latin typeface="Calibri"/>
              </a:rPr>
              <a:t>Banc d'essai quantitatif : balayage densité × stratégie, headless multi-thread, export CSV/JSON.</a:t>
            </a:r>
          </a:p>
        </p:txBody>
      </p:sp>
      <p:sp>
        <p:nvSpPr>
          <p:cNvPr id="14" name="Rounded Rectangle 13"/>
          <p:cNvSpPr/>
          <p:nvPr/>
        </p:nvSpPr>
        <p:spPr>
          <a:xfrm>
            <a:off x="8046720" y="1920240"/>
            <a:ext cx="3749039" cy="182880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2011680"/>
            <a:ext cx="3474719" cy="320040"/>
          </a:xfrm>
          <a:prstGeom prst="rect">
            <a:avLst/>
          </a:prstGeom>
          <a:noFill/>
        </p:spPr>
        <p:txBody>
          <a:bodyPr wrap="square" lIns="45720" rIns="45720" tIns="18288" bIns="18288">
            <a:spAutoFit/>
          </a:bodyPr>
          <a:lstStyle/>
          <a:p>
            <a:pPr algn="l"/>
            <a:r>
              <a:rPr sz="1300" b="1">
                <a:solidFill>
                  <a:srgbClr val="4CD97F"/>
                </a:solidFill>
                <a:latin typeface="Calibri"/>
              </a:rPr>
              <a:t>SIMULATION</a:t>
            </a:r>
          </a:p>
        </p:txBody>
      </p:sp>
      <p:sp>
        <p:nvSpPr>
          <p:cNvPr id="16" name="TextBox 15"/>
          <p:cNvSpPr txBox="1"/>
          <p:nvPr/>
        </p:nvSpPr>
        <p:spPr>
          <a:xfrm>
            <a:off x="8183880" y="2377440"/>
            <a:ext cx="3474719" cy="1325880"/>
          </a:xfrm>
          <a:prstGeom prst="rect">
            <a:avLst/>
          </a:prstGeom>
          <a:noFill/>
        </p:spPr>
        <p:txBody>
          <a:bodyPr wrap="square" lIns="45720" rIns="45720" tIns="18288" bIns="18288">
            <a:spAutoFit/>
          </a:bodyPr>
          <a:lstStyle/>
          <a:p>
            <a:pPr algn="l"/>
            <a:r>
              <a:rPr sz="1100" b="0">
                <a:solidFill>
                  <a:srgbClr val="F2F4FA"/>
                </a:solidFill>
                <a:latin typeface="Calibri"/>
              </a:rPr>
              <a:t>Exécution réelle 60 FPS, dashboard métriques live, overlay décisions, swap policy à chaud.</a:t>
            </a:r>
          </a:p>
        </p:txBody>
      </p:sp>
      <p:sp>
        <p:nvSpPr>
          <p:cNvPr id="17" name="Rectangle 16"/>
          <p:cNvSpPr/>
          <p:nvPr/>
        </p:nvSpPr>
        <p:spPr>
          <a:xfrm>
            <a:off x="548640" y="3931920"/>
            <a:ext cx="7315200" cy="237744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892040"/>
            <a:ext cx="7315200" cy="457200"/>
          </a:xfrm>
          <a:prstGeom prst="rect">
            <a:avLst/>
          </a:prstGeom>
          <a:noFill/>
        </p:spPr>
        <p:txBody>
          <a:bodyPr wrap="square" lIns="45720" rIns="45720" tIns="18288" bIns="18288">
            <a:spAutoFit/>
          </a:bodyPr>
          <a:lstStyle/>
          <a:p>
            <a:pPr algn="ctr"/>
            <a:r>
              <a:rPr sz="1300" b="1">
                <a:solidFill>
                  <a:srgbClr val="3D9DF3"/>
                </a:solidFill>
                <a:latin typeface="Calibri"/>
              </a:rPr>
              <a:t>[ Capture : dashboard ImGui en cours de simulation ]</a:t>
            </a:r>
          </a:p>
        </p:txBody>
      </p:sp>
      <p:sp>
        <p:nvSpPr>
          <p:cNvPr id="19" name="TextBox 18"/>
          <p:cNvSpPr txBox="1"/>
          <p:nvPr/>
        </p:nvSpPr>
        <p:spPr>
          <a:xfrm>
            <a:off x="8046720" y="3931920"/>
            <a:ext cx="3749039" cy="2377440"/>
          </a:xfrm>
          <a:prstGeom prst="rect">
            <a:avLst/>
          </a:prstGeom>
          <a:noFill/>
        </p:spPr>
        <p:txBody>
          <a:bodyPr wrap="square">
            <a:spAutoFit/>
          </a:bodyPr>
          <a:lstStyle/>
          <a:p>
            <a:pPr algn="l">
              <a:spcAft>
                <a:spcPts val="400"/>
              </a:spcAft>
            </a:pPr>
            <a:r>
              <a:rPr sz="1200">
                <a:solidFill>
                  <a:srgbClr val="F2F4FA"/>
                </a:solidFill>
                <a:latin typeface="Calibri"/>
              </a:rPr>
              <a:t>•  Cadence fixe 60 Hz</a:t>
            </a:r>
          </a:p>
          <a:p>
            <a:pPr algn="l">
              <a:spcAft>
                <a:spcPts val="400"/>
              </a:spcAft>
            </a:pPr>
            <a:r>
              <a:rPr sz="1200">
                <a:solidFill>
                  <a:srgbClr val="F2F4FA"/>
                </a:solidFill>
                <a:latin typeface="Calibri"/>
              </a:rPr>
              <a:t>•  FIXED_DT = 16.67 ms</a:t>
            </a:r>
          </a:p>
          <a:p>
            <a:pPr algn="l">
              <a:spcAft>
                <a:spcPts val="400"/>
              </a:spcAft>
            </a:pPr>
            <a:r>
              <a:rPr sz="1200">
                <a:solidFill>
                  <a:srgbClr val="F2F4FA"/>
                </a:solidFill>
                <a:latin typeface="Calibri"/>
              </a:rPr>
              <a:t>•  MAX_SUBSTEPS = 5</a:t>
            </a:r>
          </a:p>
          <a:p>
            <a:pPr algn="l">
              <a:spcAft>
                <a:spcPts val="400"/>
              </a:spcAft>
            </a:pPr>
            <a:r>
              <a:rPr sz="1200">
                <a:solidFill>
                  <a:srgbClr val="F2F4FA"/>
                </a:solidFill>
                <a:latin typeface="Calibri"/>
              </a:rPr>
              <a:t>•  Anti-spirale de la mort</a:t>
            </a:r>
          </a:p>
          <a:p>
            <a:pPr algn="l">
              <a:spcAft>
                <a:spcPts val="400"/>
              </a:spcAft>
            </a:pPr>
            <a:r>
              <a:rPr sz="1200">
                <a:solidFill>
                  <a:srgbClr val="F2F4FA"/>
                </a:solidFill>
                <a:latin typeface="Calibri"/>
              </a:rPr>
              <a:t>•  Swap policy en 1 clic</a:t>
            </a:r>
          </a:p>
          <a:p>
            <a:pPr algn="l">
              <a:spcAft>
                <a:spcPts val="400"/>
              </a:spcAft>
            </a:pPr>
            <a:r>
              <a:rPr sz="1200">
                <a:solidFill>
                  <a:srgbClr val="F2F4FA"/>
                </a:solidFill>
                <a:latin typeface="Calibri"/>
              </a:rPr>
              <a:t>•  Pause + diagnostic CSV</a:t>
            </a:r>
          </a:p>
        </p:txBody>
      </p:sp>
      <p:sp>
        <p:nvSpPr>
          <p:cNvPr id="20" name="TextBox 19"/>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DÉVELOPPEMENT · 2.1</a:t>
            </a:r>
          </a:p>
        </p:txBody>
      </p:sp>
      <p:sp>
        <p:nvSpPr>
          <p:cNvPr id="21" name="TextBox 20"/>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16 / 66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DÉVELOPPEMENT · 2.2</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10 régulations implémentées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5 classiques + 5 issues de la recherche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1965960"/>
            <a:ext cx="2240280" cy="9601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057400"/>
            <a:ext cx="1965960" cy="320040"/>
          </a:xfrm>
          <a:prstGeom prst="rect">
            <a:avLst/>
          </a:prstGeom>
          <a:noFill/>
        </p:spPr>
        <p:txBody>
          <a:bodyPr wrap="square" lIns="45720" rIns="45720" tIns="18288" bIns="18288">
            <a:spAutoFit/>
          </a:bodyPr>
          <a:lstStyle/>
          <a:p>
            <a:pPr algn="l"/>
            <a:r>
              <a:rPr sz="1300" b="1">
                <a:solidFill>
                  <a:srgbClr val="3D9DF3"/>
                </a:solidFill>
                <a:latin typeface="Calibri"/>
              </a:rPr>
              <a:t>PRIORITY_RIGHT</a:t>
            </a:r>
          </a:p>
        </p:txBody>
      </p:sp>
      <p:sp>
        <p:nvSpPr>
          <p:cNvPr id="10" name="TextBox 9"/>
          <p:cNvSpPr txBox="1"/>
          <p:nvPr/>
        </p:nvSpPr>
        <p:spPr>
          <a:xfrm>
            <a:off x="502920" y="2423160"/>
            <a:ext cx="1965960" cy="457200"/>
          </a:xfrm>
          <a:prstGeom prst="rect">
            <a:avLst/>
          </a:prstGeom>
          <a:noFill/>
        </p:spPr>
        <p:txBody>
          <a:bodyPr wrap="square" lIns="45720" rIns="45720" tIns="18288" bIns="18288">
            <a:spAutoFit/>
          </a:bodyPr>
          <a:lstStyle/>
          <a:p>
            <a:pPr algn="l"/>
            <a:r>
              <a:rPr sz="1100" b="0">
                <a:solidFill>
                  <a:srgbClr val="F2F4FA"/>
                </a:solidFill>
                <a:latin typeface="Calibri"/>
              </a:rPr>
              <a:t>Priorité à droite, gap-acceptance directionnelle</a:t>
            </a:r>
          </a:p>
        </p:txBody>
      </p:sp>
      <p:sp>
        <p:nvSpPr>
          <p:cNvPr id="11" name="Rounded Rectangle 10"/>
          <p:cNvSpPr/>
          <p:nvPr/>
        </p:nvSpPr>
        <p:spPr>
          <a:xfrm>
            <a:off x="2697480" y="1965960"/>
            <a:ext cx="2240280" cy="9601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2057400"/>
            <a:ext cx="1965960" cy="320040"/>
          </a:xfrm>
          <a:prstGeom prst="rect">
            <a:avLst/>
          </a:prstGeom>
          <a:noFill/>
        </p:spPr>
        <p:txBody>
          <a:bodyPr wrap="square" lIns="45720" rIns="45720" tIns="18288" bIns="18288">
            <a:spAutoFit/>
          </a:bodyPr>
          <a:lstStyle/>
          <a:p>
            <a:pPr algn="l"/>
            <a:r>
              <a:rPr sz="1300" b="1">
                <a:solidFill>
                  <a:srgbClr val="3D9DF3"/>
                </a:solidFill>
                <a:latin typeface="Calibri"/>
              </a:rPr>
              <a:t>STOP</a:t>
            </a:r>
          </a:p>
        </p:txBody>
      </p:sp>
      <p:sp>
        <p:nvSpPr>
          <p:cNvPr id="13" name="TextBox 12"/>
          <p:cNvSpPr txBox="1"/>
          <p:nvPr/>
        </p:nvSpPr>
        <p:spPr>
          <a:xfrm>
            <a:off x="2834640" y="2423160"/>
            <a:ext cx="1965960" cy="457200"/>
          </a:xfrm>
          <a:prstGeom prst="rect">
            <a:avLst/>
          </a:prstGeom>
          <a:noFill/>
        </p:spPr>
        <p:txBody>
          <a:bodyPr wrap="square" lIns="45720" rIns="45720" tIns="18288" bIns="18288">
            <a:spAutoFit/>
          </a:bodyPr>
          <a:lstStyle/>
          <a:p>
            <a:pPr algn="l"/>
            <a:r>
              <a:rPr sz="1100" b="0">
                <a:solidFill>
                  <a:srgbClr val="F2F4FA"/>
                </a:solidFill>
                <a:latin typeface="Calibri"/>
              </a:rPr>
              <a:t>Arrêt ≥ 0.8s puis gap-acceptance 360°</a:t>
            </a:r>
          </a:p>
        </p:txBody>
      </p:sp>
      <p:sp>
        <p:nvSpPr>
          <p:cNvPr id="14" name="Rounded Rectangle 13"/>
          <p:cNvSpPr/>
          <p:nvPr/>
        </p:nvSpPr>
        <p:spPr>
          <a:xfrm>
            <a:off x="5029200" y="1965960"/>
            <a:ext cx="2240280" cy="9601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6360" y="2057400"/>
            <a:ext cx="1965960" cy="320040"/>
          </a:xfrm>
          <a:prstGeom prst="rect">
            <a:avLst/>
          </a:prstGeom>
          <a:noFill/>
        </p:spPr>
        <p:txBody>
          <a:bodyPr wrap="square" lIns="45720" rIns="45720" tIns="18288" bIns="18288">
            <a:spAutoFit/>
          </a:bodyPr>
          <a:lstStyle/>
          <a:p>
            <a:pPr algn="l"/>
            <a:r>
              <a:rPr sz="1300" b="1">
                <a:solidFill>
                  <a:srgbClr val="3D9DF3"/>
                </a:solidFill>
                <a:latin typeface="Calibri"/>
              </a:rPr>
              <a:t>YIELD</a:t>
            </a:r>
          </a:p>
        </p:txBody>
      </p:sp>
      <p:sp>
        <p:nvSpPr>
          <p:cNvPr id="16" name="TextBox 15"/>
          <p:cNvSpPr txBox="1"/>
          <p:nvPr/>
        </p:nvSpPr>
        <p:spPr>
          <a:xfrm>
            <a:off x="5166360" y="2423160"/>
            <a:ext cx="1965960" cy="457200"/>
          </a:xfrm>
          <a:prstGeom prst="rect">
            <a:avLst/>
          </a:prstGeom>
          <a:noFill/>
        </p:spPr>
        <p:txBody>
          <a:bodyPr wrap="square" lIns="45720" rIns="45720" tIns="18288" bIns="18288">
            <a:spAutoFit/>
          </a:bodyPr>
          <a:lstStyle/>
          <a:p>
            <a:pPr algn="l"/>
            <a:r>
              <a:rPr sz="1100" b="0">
                <a:solidFill>
                  <a:srgbClr val="F2F4FA"/>
                </a:solidFill>
                <a:latin typeface="Calibri"/>
              </a:rPr>
              <a:t>Cédez le passage, sans arrêt obligatoire</a:t>
            </a:r>
          </a:p>
        </p:txBody>
      </p:sp>
      <p:sp>
        <p:nvSpPr>
          <p:cNvPr id="17" name="Rounded Rectangle 16"/>
          <p:cNvSpPr/>
          <p:nvPr/>
        </p:nvSpPr>
        <p:spPr>
          <a:xfrm>
            <a:off x="7360920" y="1965960"/>
            <a:ext cx="2240280" cy="9601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0" y="2057400"/>
            <a:ext cx="1965960" cy="320040"/>
          </a:xfrm>
          <a:prstGeom prst="rect">
            <a:avLst/>
          </a:prstGeom>
          <a:noFill/>
        </p:spPr>
        <p:txBody>
          <a:bodyPr wrap="square" lIns="45720" rIns="45720" tIns="18288" bIns="18288">
            <a:spAutoFit/>
          </a:bodyPr>
          <a:lstStyle/>
          <a:p>
            <a:pPr algn="l"/>
            <a:r>
              <a:rPr sz="1300" b="1">
                <a:solidFill>
                  <a:srgbClr val="3D9DF3"/>
                </a:solidFill>
                <a:latin typeface="Calibri"/>
              </a:rPr>
              <a:t>TRAFFIC_LIGHT</a:t>
            </a:r>
          </a:p>
        </p:txBody>
      </p:sp>
      <p:sp>
        <p:nvSpPr>
          <p:cNvPr id="19" name="TextBox 18"/>
          <p:cNvSpPr txBox="1"/>
          <p:nvPr/>
        </p:nvSpPr>
        <p:spPr>
          <a:xfrm>
            <a:off x="7498080" y="2423160"/>
            <a:ext cx="1965960" cy="457200"/>
          </a:xfrm>
          <a:prstGeom prst="rect">
            <a:avLst/>
          </a:prstGeom>
          <a:noFill/>
        </p:spPr>
        <p:txBody>
          <a:bodyPr wrap="square" lIns="45720" rIns="45720" tIns="18288" bIns="18288">
            <a:spAutoFit/>
          </a:bodyPr>
          <a:lstStyle/>
          <a:p>
            <a:pPr algn="l"/>
            <a:r>
              <a:rPr sz="1100" b="0">
                <a:solidFill>
                  <a:srgbClr val="F2F4FA"/>
                </a:solidFill>
                <a:latin typeface="Calibri"/>
              </a:rPr>
              <a:t>Vert/orange/rouge, dilemme orange résolu</a:t>
            </a:r>
          </a:p>
        </p:txBody>
      </p:sp>
      <p:sp>
        <p:nvSpPr>
          <p:cNvPr id="20" name="Rounded Rectangle 19"/>
          <p:cNvSpPr/>
          <p:nvPr/>
        </p:nvSpPr>
        <p:spPr>
          <a:xfrm>
            <a:off x="9692640" y="1965960"/>
            <a:ext cx="2240280" cy="9601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29800" y="2057400"/>
            <a:ext cx="1965960" cy="320040"/>
          </a:xfrm>
          <a:prstGeom prst="rect">
            <a:avLst/>
          </a:prstGeom>
          <a:noFill/>
        </p:spPr>
        <p:txBody>
          <a:bodyPr wrap="square" lIns="45720" rIns="45720" tIns="18288" bIns="18288">
            <a:spAutoFit/>
          </a:bodyPr>
          <a:lstStyle/>
          <a:p>
            <a:pPr algn="l"/>
            <a:r>
              <a:rPr sz="1300" b="1">
                <a:solidFill>
                  <a:srgbClr val="3D9DF3"/>
                </a:solidFill>
                <a:latin typeface="Calibri"/>
              </a:rPr>
              <a:t>ROUNDABOUT</a:t>
            </a:r>
          </a:p>
        </p:txBody>
      </p:sp>
      <p:sp>
        <p:nvSpPr>
          <p:cNvPr id="22" name="TextBox 21"/>
          <p:cNvSpPr txBox="1"/>
          <p:nvPr/>
        </p:nvSpPr>
        <p:spPr>
          <a:xfrm>
            <a:off x="9829800" y="2423160"/>
            <a:ext cx="1965960" cy="457200"/>
          </a:xfrm>
          <a:prstGeom prst="rect">
            <a:avLst/>
          </a:prstGeom>
          <a:noFill/>
        </p:spPr>
        <p:txBody>
          <a:bodyPr wrap="square" lIns="45720" rIns="45720" tIns="18288" bIns="18288">
            <a:spAutoFit/>
          </a:bodyPr>
          <a:lstStyle/>
          <a:p>
            <a:pPr algn="l"/>
            <a:r>
              <a:rPr sz="1100" b="0">
                <a:solidFill>
                  <a:srgbClr val="F2F4FA"/>
                </a:solidFill>
                <a:latin typeface="Calibri"/>
              </a:rPr>
              <a:t>Anneau circulaire, priorité aux véhicules dedans</a:t>
            </a:r>
          </a:p>
        </p:txBody>
      </p:sp>
      <p:sp>
        <p:nvSpPr>
          <p:cNvPr id="23" name="Rounded Rectangle 22"/>
          <p:cNvSpPr/>
          <p:nvPr/>
        </p:nvSpPr>
        <p:spPr>
          <a:xfrm>
            <a:off x="365760" y="3090672"/>
            <a:ext cx="2240280" cy="96012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3182112"/>
            <a:ext cx="1965960" cy="320040"/>
          </a:xfrm>
          <a:prstGeom prst="rect">
            <a:avLst/>
          </a:prstGeom>
          <a:noFill/>
        </p:spPr>
        <p:txBody>
          <a:bodyPr wrap="square" lIns="45720" rIns="45720" tIns="18288" bIns="18288">
            <a:spAutoFit/>
          </a:bodyPr>
          <a:lstStyle/>
          <a:p>
            <a:pPr algn="l"/>
            <a:r>
              <a:rPr sz="1300" b="1">
                <a:solidFill>
                  <a:srgbClr val="FFB73D"/>
                </a:solidFill>
                <a:latin typeface="Calibri"/>
              </a:rPr>
              <a:t>FIXED_PRIORITY</a:t>
            </a:r>
          </a:p>
        </p:txBody>
      </p:sp>
      <p:sp>
        <p:nvSpPr>
          <p:cNvPr id="25" name="TextBox 24"/>
          <p:cNvSpPr txBox="1"/>
          <p:nvPr/>
        </p:nvSpPr>
        <p:spPr>
          <a:xfrm>
            <a:off x="502920" y="3547872"/>
            <a:ext cx="1965960" cy="457200"/>
          </a:xfrm>
          <a:prstGeom prst="rect">
            <a:avLst/>
          </a:prstGeom>
          <a:noFill/>
        </p:spPr>
        <p:txBody>
          <a:bodyPr wrap="square" lIns="45720" rIns="45720" tIns="18288" bIns="18288">
            <a:spAutoFit/>
          </a:bodyPr>
          <a:lstStyle/>
          <a:p>
            <a:pPr algn="l"/>
            <a:r>
              <a:rPr sz="1100" b="0">
                <a:solidFill>
                  <a:srgbClr val="F2F4FA"/>
                </a:solidFill>
                <a:latin typeface="Calibri"/>
              </a:rPr>
              <a:t>Axe principal jamais arrêté</a:t>
            </a:r>
          </a:p>
        </p:txBody>
      </p:sp>
      <p:sp>
        <p:nvSpPr>
          <p:cNvPr id="26" name="Rounded Rectangle 25"/>
          <p:cNvSpPr/>
          <p:nvPr/>
        </p:nvSpPr>
        <p:spPr>
          <a:xfrm>
            <a:off x="2697480" y="3090672"/>
            <a:ext cx="2240280" cy="96012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34640" y="3182112"/>
            <a:ext cx="1965960" cy="320040"/>
          </a:xfrm>
          <a:prstGeom prst="rect">
            <a:avLst/>
          </a:prstGeom>
          <a:noFill/>
        </p:spPr>
        <p:txBody>
          <a:bodyPr wrap="square" lIns="45720" rIns="45720" tIns="18288" bIns="18288">
            <a:spAutoFit/>
          </a:bodyPr>
          <a:lstStyle/>
          <a:p>
            <a:pPr algn="l"/>
            <a:r>
              <a:rPr sz="1300" b="1">
                <a:solidFill>
                  <a:srgbClr val="FFB73D"/>
                </a:solidFill>
                <a:latin typeface="Calibri"/>
              </a:rPr>
              <a:t>P2P</a:t>
            </a:r>
          </a:p>
        </p:txBody>
      </p:sp>
      <p:sp>
        <p:nvSpPr>
          <p:cNvPr id="28" name="TextBox 27"/>
          <p:cNvSpPr txBox="1"/>
          <p:nvPr/>
        </p:nvSpPr>
        <p:spPr>
          <a:xfrm>
            <a:off x="2834640" y="3547872"/>
            <a:ext cx="1965960" cy="457200"/>
          </a:xfrm>
          <a:prstGeom prst="rect">
            <a:avLst/>
          </a:prstGeom>
          <a:noFill/>
        </p:spPr>
        <p:txBody>
          <a:bodyPr wrap="square" lIns="45720" rIns="45720" tIns="18288" bIns="18288">
            <a:spAutoFit/>
          </a:bodyPr>
          <a:lstStyle/>
          <a:p>
            <a:pPr algn="l"/>
            <a:r>
              <a:rPr sz="1100" b="0">
                <a:solidFill>
                  <a:srgbClr val="F2F4FA"/>
                </a:solidFill>
                <a:latin typeface="Calibri"/>
              </a:rPr>
              <a:t>Négociation pair-à-pair, hiérarchie de dominance</a:t>
            </a:r>
          </a:p>
        </p:txBody>
      </p:sp>
      <p:sp>
        <p:nvSpPr>
          <p:cNvPr id="29" name="Rounded Rectangle 28"/>
          <p:cNvSpPr/>
          <p:nvPr/>
        </p:nvSpPr>
        <p:spPr>
          <a:xfrm>
            <a:off x="5029200" y="3090672"/>
            <a:ext cx="2240280" cy="96012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60" y="3182112"/>
            <a:ext cx="1965960" cy="320040"/>
          </a:xfrm>
          <a:prstGeom prst="rect">
            <a:avLst/>
          </a:prstGeom>
          <a:noFill/>
        </p:spPr>
        <p:txBody>
          <a:bodyPr wrap="square" lIns="45720" rIns="45720" tIns="18288" bIns="18288">
            <a:spAutoFit/>
          </a:bodyPr>
          <a:lstStyle/>
          <a:p>
            <a:pPr algn="l"/>
            <a:r>
              <a:rPr sz="1300" b="1">
                <a:solidFill>
                  <a:srgbClr val="FFB73D"/>
                </a:solidFill>
                <a:latin typeface="Calibri"/>
              </a:rPr>
              <a:t>AIM</a:t>
            </a:r>
          </a:p>
        </p:txBody>
      </p:sp>
      <p:sp>
        <p:nvSpPr>
          <p:cNvPr id="31" name="TextBox 30"/>
          <p:cNvSpPr txBox="1"/>
          <p:nvPr/>
        </p:nvSpPr>
        <p:spPr>
          <a:xfrm>
            <a:off x="5166360" y="3547872"/>
            <a:ext cx="1965960" cy="457200"/>
          </a:xfrm>
          <a:prstGeom prst="rect">
            <a:avLst/>
          </a:prstGeom>
          <a:noFill/>
        </p:spPr>
        <p:txBody>
          <a:bodyPr wrap="square" lIns="45720" rIns="45720" tIns="18288" bIns="18288">
            <a:spAutoFit/>
          </a:bodyPr>
          <a:lstStyle/>
          <a:p>
            <a:pPr algn="l"/>
            <a:r>
              <a:rPr sz="1100" b="0">
                <a:solidFill>
                  <a:srgbClr val="F2F4FA"/>
                </a:solidFill>
                <a:latin typeface="Calibri"/>
              </a:rPr>
              <a:t>Réservation FCFS centralisée par carrefour</a:t>
            </a:r>
          </a:p>
        </p:txBody>
      </p:sp>
      <p:sp>
        <p:nvSpPr>
          <p:cNvPr id="32" name="Rounded Rectangle 31"/>
          <p:cNvSpPr/>
          <p:nvPr/>
        </p:nvSpPr>
        <p:spPr>
          <a:xfrm>
            <a:off x="7360920" y="3090672"/>
            <a:ext cx="2240280" cy="96012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0" y="3182112"/>
            <a:ext cx="1965960" cy="320040"/>
          </a:xfrm>
          <a:prstGeom prst="rect">
            <a:avLst/>
          </a:prstGeom>
          <a:noFill/>
        </p:spPr>
        <p:txBody>
          <a:bodyPr wrap="square" lIns="45720" rIns="45720" tIns="18288" bIns="18288">
            <a:spAutoFit/>
          </a:bodyPr>
          <a:lstStyle/>
          <a:p>
            <a:pPr algn="l"/>
            <a:r>
              <a:rPr sz="1300" b="1">
                <a:solidFill>
                  <a:srgbClr val="FFB73D"/>
                </a:solidFill>
                <a:latin typeface="Calibri"/>
              </a:rPr>
              <a:t>VIRTUAL_PLATOON</a:t>
            </a:r>
          </a:p>
        </p:txBody>
      </p:sp>
      <p:sp>
        <p:nvSpPr>
          <p:cNvPr id="34" name="TextBox 33"/>
          <p:cNvSpPr txBox="1"/>
          <p:nvPr/>
        </p:nvSpPr>
        <p:spPr>
          <a:xfrm>
            <a:off x="7498080" y="3547872"/>
            <a:ext cx="1965960" cy="457200"/>
          </a:xfrm>
          <a:prstGeom prst="rect">
            <a:avLst/>
          </a:prstGeom>
          <a:noFill/>
        </p:spPr>
        <p:txBody>
          <a:bodyPr wrap="square" lIns="45720" rIns="45720" tIns="18288" bIns="18288">
            <a:spAutoFit/>
          </a:bodyPr>
          <a:lstStyle/>
          <a:p>
            <a:pPr algn="l"/>
            <a:r>
              <a:rPr sz="1100" b="0">
                <a:solidFill>
                  <a:srgbClr val="F2F4FA"/>
                </a:solidFill>
                <a:latin typeface="Calibri"/>
              </a:rPr>
              <a:t>Insertion fermeture éclair, leader virtuel</a:t>
            </a:r>
          </a:p>
        </p:txBody>
      </p:sp>
      <p:sp>
        <p:nvSpPr>
          <p:cNvPr id="35" name="Rounded Rectangle 34"/>
          <p:cNvSpPr/>
          <p:nvPr/>
        </p:nvSpPr>
        <p:spPr>
          <a:xfrm>
            <a:off x="9692640" y="3090672"/>
            <a:ext cx="2240280" cy="96012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29800" y="3182112"/>
            <a:ext cx="1965960" cy="320040"/>
          </a:xfrm>
          <a:prstGeom prst="rect">
            <a:avLst/>
          </a:prstGeom>
          <a:noFill/>
        </p:spPr>
        <p:txBody>
          <a:bodyPr wrap="square" lIns="45720" rIns="45720" tIns="18288" bIns="18288">
            <a:spAutoFit/>
          </a:bodyPr>
          <a:lstStyle/>
          <a:p>
            <a:pPr algn="l"/>
            <a:r>
              <a:rPr sz="1300" b="1">
                <a:solidFill>
                  <a:srgbClr val="FFB73D"/>
                </a:solidFill>
                <a:latin typeface="Calibri"/>
              </a:rPr>
              <a:t>ORCA</a:t>
            </a:r>
          </a:p>
        </p:txBody>
      </p:sp>
      <p:sp>
        <p:nvSpPr>
          <p:cNvPr id="37" name="TextBox 36"/>
          <p:cNvSpPr txBox="1"/>
          <p:nvPr/>
        </p:nvSpPr>
        <p:spPr>
          <a:xfrm>
            <a:off x="9829800" y="3547872"/>
            <a:ext cx="1965960" cy="457200"/>
          </a:xfrm>
          <a:prstGeom prst="rect">
            <a:avLst/>
          </a:prstGeom>
          <a:noFill/>
        </p:spPr>
        <p:txBody>
          <a:bodyPr wrap="square" lIns="45720" rIns="45720" tIns="18288" bIns="18288">
            <a:spAutoFit/>
          </a:bodyPr>
          <a:lstStyle/>
          <a:p>
            <a:pPr algn="l"/>
            <a:r>
              <a:rPr sz="1100" b="0">
                <a:solidFill>
                  <a:srgbClr val="F2F4FA"/>
                </a:solidFill>
                <a:latin typeface="Calibri"/>
              </a:rPr>
              <a:t>Évitement réciproque continu, mode espace ouvert</a:t>
            </a:r>
          </a:p>
        </p:txBody>
      </p:sp>
      <p:sp>
        <p:nvSpPr>
          <p:cNvPr id="38" name="TextBox 37"/>
          <p:cNvSpPr txBox="1"/>
          <p:nvPr/>
        </p:nvSpPr>
        <p:spPr>
          <a:xfrm>
            <a:off x="365760" y="4434840"/>
            <a:ext cx="11521440" cy="457200"/>
          </a:xfrm>
          <a:prstGeom prst="rect">
            <a:avLst/>
          </a:prstGeom>
          <a:noFill/>
        </p:spPr>
        <p:txBody>
          <a:bodyPr wrap="square" lIns="45720" rIns="45720" tIns="18288" bIns="18288">
            <a:spAutoFit/>
          </a:bodyPr>
          <a:lstStyle/>
          <a:p>
            <a:pPr algn="l"/>
            <a:r>
              <a:rPr sz="1200" b="0">
                <a:solidFill>
                  <a:srgbClr val="8A90A8"/>
                </a:solidFill>
                <a:latin typeface="Calibri"/>
              </a:rPr>
              <a:t>Toutes implémentent IIntersectionPolicy → injectées à chaud via Intersection::setRegulation(type).</a:t>
            </a:r>
          </a:p>
        </p:txBody>
      </p:sp>
      <p:sp>
        <p:nvSpPr>
          <p:cNvPr id="39" name="Rectangle 38"/>
          <p:cNvSpPr/>
          <p:nvPr/>
        </p:nvSpPr>
        <p:spPr>
          <a:xfrm>
            <a:off x="365760" y="4983480"/>
            <a:ext cx="11521440" cy="137160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5440680"/>
            <a:ext cx="11521440" cy="457200"/>
          </a:xfrm>
          <a:prstGeom prst="rect">
            <a:avLst/>
          </a:prstGeom>
          <a:noFill/>
        </p:spPr>
        <p:txBody>
          <a:bodyPr wrap="square" lIns="45720" rIns="45720" tIns="18288" bIns="18288">
            <a:spAutoFit/>
          </a:bodyPr>
          <a:lstStyle/>
          <a:p>
            <a:pPr algn="ctr"/>
            <a:r>
              <a:rPr sz="1300" b="1">
                <a:solidFill>
                  <a:srgbClr val="3D9DF3"/>
                </a:solidFill>
                <a:latin typeface="Calibri"/>
              </a:rPr>
              <a:t>[ Capture : menu de swap policy dans le dashboard ]</a:t>
            </a:r>
          </a:p>
        </p:txBody>
      </p:sp>
      <p:sp>
        <p:nvSpPr>
          <p:cNvPr id="41" name="TextBox 40"/>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DÉVELOPPEMENT · 2.2</a:t>
            </a:r>
          </a:p>
        </p:txBody>
      </p:sp>
      <p:sp>
        <p:nvSpPr>
          <p:cNvPr id="42" name="TextBox 41"/>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17 / 66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2.3</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#1 — CRUISING (roule libre)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blanc / transparent</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Aucun leader détecté ET aucune intersection à freiner ET pas en virage serré ET pas en panne.</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IDM sans leader : a = a_max · (1 − (v/v₀)^δ). v₀ = min(maxSpeed, road_limit, cornering_factor).</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Sur autoroute libre, le véhicule accélère progressivement vers la vitesse limite, sans à-coup, en suivant fidèlement les courbes de la voie.</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2.3</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18 / 66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2.4</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#2 — CAR-FOLLOWING (suivi réel)</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orange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PerceptionResult.hasDirectObstacle = true. Filtrage par projection Frenet : |lateral| &lt; 22 px.</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IDM : s* = s₀ + max(0, vT + v·Δv/(2√(a·b))). Gap dynamique stable ≈ vT + s₀.</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Le véhicule détecte le leader sur sa voie par projection curviligne, insensible au contre-sens. Il maintient un gap proportionnel à sa vitesse — signature même du modèle IDM.</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2.4</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19 / 66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2.5</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#3 — CORNERING (anticipation virage)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jaune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Courbure locale |dθ/ds| au-dessus d'un seuil dans la fenêtre [s, s+lookahead].</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v₀ plafonnée par v_max_curvature = √(a_lat_max / κ). Ralentissement avant, ré-accélération après.</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Avant chaque virage, le véhicule réduit sa vitesse désirée en fonction de la courbure — comportement naturel hérité de la cinématique latérale maximale tolérée.</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2.5</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20 / 66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2.6</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#4 — YIELDING — Gap Acceptance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magenta</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Approche d'une intersection ; policy-&gt;request() retourne {shouldStop=true} ; fenêtre de conflit jugée insuffisante.</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Leader virtuel inséré à stopLineGap devant moi, speed=0 → IDM freine vers la ligne d'arrêt.</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À l'approche d'un carrefour à priorité à droite, le véhicule projette un véhicule fantôme à zéro km/h sur la ligne d'arrêt. L'IDM produit alors un freinage progressif identique à celui face à un vrai obstacle.</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2.6</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21 / 66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2.7</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#5 — STOP-HOLD (arrêt obligatoire)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rouge clignotant</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Intersection STOP ET (stopHeldTime &lt; 0.8s OU currentSpeed &gt; 5 px/s).</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Leader virtuel à stopLineGap=0 → arrêt strict. stopHeldTime accumule, libère stopReleased=true après 0.8s à l'arrêt.</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Au panneau STOP, le véhicule s'immobilise complètement pendant au moins huit dixièmes de seconde — comportement réglementaire — avant d'évaluer la gap-acceptance comme à un cédez le passage.</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2.7</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22 / 66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2.8</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#6 — TRAFFIC-LIGHT (feu + dilemme orange)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rouge/orange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Intersection.getLightState(approach) ∈ {RED, ORANGE}. Tourne-à-gauche non protégé cède à l'oncoming.</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RED → leader virtuel à la ligne. ORANGE → si d_freinage &gt; distance restante → on PASSE ; sinon on freine.</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Le dilemme de la zone d'orange est résolu cinématiquement : si la distance restante est inférieure à la distance de freinage confortable, le véhicule franchit prudemment plutôt que d'imposer un freinage brutal.</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2.8</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23 / 66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2.9</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#7 — ROUNDABOUT-INSIDE-PRIORITY</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bleu pulsant</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Approche d'un ROUNDABOUT ; au moins un véhicule dans le disque insideDetectRadius=70 px.</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Leader virtuel à stopLineGap jusqu'à la ligne d'entrée. Dès dans l'anneau → isCommittedToPass=true.</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À l'approche du rond-point, le véhicule s'arrête à la ligne tant qu'un autre tourne sur l'anneau. Une fois engagé sur la couronne, il devient prioritaire et ne re-cède plus.</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2.9</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24 / 66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2.10</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#8 — LANE-CHANGING / OVERTAKING</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vert vif</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Leader trop lent (speed &lt; α·v₀) ET voie opposée libre ET créneau de rabattement libre ET personnalité agressive.</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États NONE → OVERTAKING (lateralOffset = +largeur voie) → RETURNING → NONE. Anti-éternel via timer.</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Lorsque le leader est trop lent et que la voie opposée est libre sur une distance suffisante, le véhicule glisse latéralement, dépasse à pleine vitesse, puis revient s'insérer dans le créneau libre devant l'ex-leader.</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2.10</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25 / 66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2.11</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#9 — P2P-NEGOTIATING</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cyan</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Intersection P2P ; agent en zone CLAIMING ; au moins un Claim conflictuel dominant selon la hiérarchie.</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Si Claim dominant → cède (leader virtuel à la ligne). Sinon canEnter=true.</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Sans aucun panneau ni feu, chaque véhicule arbitre localement : la trajectoire la plus rapide à dégager gagne ; à égalité, celle à droite ; puis la rectiligne ; puis le plus petit identifiant. L'ordre émerge sans contrôleur central.</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2.11</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26 / 66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2.12</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#10 — PLATOONING / VIRTUAL ZIPPING</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bleu acier</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Intersection VIRTUAL_PLATOON ; un véhicule croisé projeté à arriver juste avant moi.</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IDM suit un leader virtuel mobile {gap=virtualLeaderGap, speed=virtualLeaderSpeed}. Vitesse quasi constante.</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Aucun véhicule ne s'arrête. Chacun projette ses voisins croisés sur sa propre trajectoire et se cale derrière le plus immédiat — exactement comme deux files convergeant en fermeture éclair.</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2.12</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27 / 66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2.13</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#11 — AIM-RESERVATION (FCFS)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violet</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Intersection AIM ; demande de réservation refusée (chevauchement avec slot perpendiculaire).</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Ralentit pour repousser sa fenêtre [tEnter, tExit] et re-soumettre. reservations_[VIN] cache la demande.</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Le carrefour agit comme une tour de contrôle : chaque véhicule réserve une fenêtre temporelle. En cas de chevauchement avec une réservation perpendiculaire, il ralentit jusqu'à obtenir un créneau libre.</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2.13</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28 / 66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2.14</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#12 — ORCA-SOFT-YIELD</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vert pâle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Intersection ORCA ; conflit non imminent ; mon temps d'arrivée &gt; celui de l'autre + tolérance.</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Cible = softSlowFactor · v₀ (~55%) via leader virtuel mobile. Bascule en arrêt FERME si arrivée &lt; 0.6s.</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Plutôt qu'un arrêt franc, le véhicule effleure sa vitesse — il se glisse dans l'interstice naturel laissé par le voisin. Le moindre risque imminent suffit à passer en arrêt ferme.</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2.14</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29 / 66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2.15</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#13 — KEEP-CLEAR (anti-gridlock)</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rouge bordure jaune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Voie de sortie de l'intersection physiquement occupée ; canEnter=true MAIS engager bloquerait.</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Leader virtuel à la ligne d'arrêt → refus d'engager. keepClearWaited_ accumule ; bris cycle par VIN.</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Même priorité accordée, le véhicule refuse de s'engager si l'exutoire est saturé. Cette règle 'keep clear' suffit à éviter les pâtés mexicains classiques où chacun avance d'un mètre dans la boîte.</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2.15</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30 / 66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2.16</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#14 — BREAKDOWN (panne)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noir clignotant</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Tirage RNG (forceBreakdown(seconds)) ; breakdownTimer &gt; 0.</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Freinage maximal → arrêt total. Les véhicules derrière le traitent comme un leader immobile.</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En cas de panne, le véhicule devient un obstacle statique. Les véhicules suivants le détectent comme un leader à vitesse nulle et s'arrêtent à distance de sécurité — la résilience est intrinsèque au modèle de suivi.</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2.16</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31 / 66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COMPORTEMENT · 2.17</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Fiche #15 — INITIALIZING (démarrage)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Overlay : 🟦 bleu clair</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8229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Déclencheur</a:t>
            </a:r>
          </a:p>
        </p:txBody>
      </p:sp>
      <p:sp>
        <p:nvSpPr>
          <p:cNvPr id="10" name="TextBox 9"/>
          <p:cNvSpPr txBox="1"/>
          <p:nvPr/>
        </p:nvSpPr>
        <p:spPr>
          <a:xfrm>
            <a:off x="685800" y="237744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currentSpeed ≈ 0 ET aucun leader devant ET voie libre derrière.</a:t>
            </a:r>
          </a:p>
        </p:txBody>
      </p:sp>
      <p:sp>
        <p:nvSpPr>
          <p:cNvPr id="11" name="Rounded Rectangle 10"/>
          <p:cNvSpPr/>
          <p:nvPr/>
        </p:nvSpPr>
        <p:spPr>
          <a:xfrm>
            <a:off x="548640" y="2880360"/>
            <a:ext cx="11247120" cy="82296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Action vitesse / leader virtuel</a:t>
            </a:r>
          </a:p>
        </p:txBody>
      </p:sp>
      <p:sp>
        <p:nvSpPr>
          <p:cNvPr id="13" name="TextBox 12"/>
          <p:cNvSpPr txBox="1"/>
          <p:nvPr/>
        </p:nvSpPr>
        <p:spPr>
          <a:xfrm>
            <a:off x="685800" y="3337560"/>
            <a:ext cx="10972800" cy="320040"/>
          </a:xfrm>
          <a:prstGeom prst="rect">
            <a:avLst/>
          </a:prstGeom>
          <a:noFill/>
        </p:spPr>
        <p:txBody>
          <a:bodyPr wrap="square" lIns="45720" rIns="45720" tIns="18288" bIns="18288">
            <a:spAutoFit/>
          </a:bodyPr>
          <a:lstStyle/>
          <a:p>
            <a:pPr algn="l"/>
            <a:r>
              <a:rPr sz="1100" b="0">
                <a:solidFill>
                  <a:srgbClr val="F2F4FA"/>
                </a:solidFill>
                <a:latin typeface="Calibri"/>
              </a:rPr>
              <a:t>IDM démarre depuis 0 vers v₀, accélération maximale lissée par δ=4.</a:t>
            </a:r>
          </a:p>
        </p:txBody>
      </p:sp>
      <p:sp>
        <p:nvSpPr>
          <p:cNvPr id="14" name="Rounded Rectangle 13"/>
          <p:cNvSpPr/>
          <p:nvPr/>
        </p:nvSpPr>
        <p:spPr>
          <a:xfrm>
            <a:off x="548640" y="3840480"/>
            <a:ext cx="11247120" cy="12801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Narration vidéo</a:t>
            </a:r>
          </a:p>
        </p:txBody>
      </p:sp>
      <p:sp>
        <p:nvSpPr>
          <p:cNvPr id="16" name="TextBox 15"/>
          <p:cNvSpPr txBox="1"/>
          <p:nvPr/>
        </p:nvSpPr>
        <p:spPr>
          <a:xfrm>
            <a:off x="685800" y="4297680"/>
            <a:ext cx="10972800" cy="777240"/>
          </a:xfrm>
          <a:prstGeom prst="rect">
            <a:avLst/>
          </a:prstGeom>
          <a:noFill/>
        </p:spPr>
        <p:txBody>
          <a:bodyPr wrap="square" lIns="45720" rIns="45720" tIns="18288" bIns="18288">
            <a:spAutoFit/>
          </a:bodyPr>
          <a:lstStyle/>
          <a:p>
            <a:pPr algn="l"/>
            <a:r>
              <a:rPr sz="1100" b="0">
                <a:solidFill>
                  <a:srgbClr val="F2F4FA"/>
                </a:solidFill>
                <a:latin typeface="Calibri"/>
              </a:rPr>
              <a:t>Au démarrage, le véhicule accélère selon la cinématique du modèle IDM — accélération maximale tant que la vitesse reste bien sous v₀, puis décroissance lisse jusqu'au régime stable.</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vidéo : démonstration in-app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COMPORTEMENT · 2.17</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32 / 66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DÉVELOPPEMENT · 2.18</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FSM hiérarchique décisionnelle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ROUTING → DRIVING → NEGOTIATING → COMMITTED → AT_GOAL</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65960"/>
            <a:ext cx="5486400" cy="77724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57400"/>
            <a:ext cx="5212080" cy="320040"/>
          </a:xfrm>
          <a:prstGeom prst="rect">
            <a:avLst/>
          </a:prstGeom>
          <a:noFill/>
        </p:spPr>
        <p:txBody>
          <a:bodyPr wrap="square" lIns="45720" rIns="45720" tIns="18288" bIns="18288">
            <a:spAutoFit/>
          </a:bodyPr>
          <a:lstStyle/>
          <a:p>
            <a:pPr algn="l"/>
            <a:r>
              <a:rPr sz="1300" b="1">
                <a:solidFill>
                  <a:srgbClr val="3D9DF3"/>
                </a:solidFill>
                <a:latin typeface="Calibri"/>
              </a:rPr>
              <a:t>ROUTING</a:t>
            </a:r>
          </a:p>
        </p:txBody>
      </p:sp>
      <p:sp>
        <p:nvSpPr>
          <p:cNvPr id="10" name="TextBox 9"/>
          <p:cNvSpPr txBox="1"/>
          <p:nvPr/>
        </p:nvSpPr>
        <p:spPr>
          <a:xfrm>
            <a:off x="685800" y="2423160"/>
            <a:ext cx="5212080" cy="274320"/>
          </a:xfrm>
          <a:prstGeom prst="rect">
            <a:avLst/>
          </a:prstGeom>
          <a:noFill/>
        </p:spPr>
        <p:txBody>
          <a:bodyPr wrap="square" lIns="45720" rIns="45720" tIns="18288" bIns="18288">
            <a:spAutoFit/>
          </a:bodyPr>
          <a:lstStyle/>
          <a:p>
            <a:pPr algn="l"/>
            <a:r>
              <a:rPr sz="1100" b="0">
                <a:solidFill>
                  <a:srgbClr val="F2F4FA"/>
                </a:solidFill>
                <a:latin typeface="Calibri"/>
              </a:rPr>
              <a:t>HasPath / NoPath. Path planning A* sur la grille.</a:t>
            </a:r>
          </a:p>
        </p:txBody>
      </p:sp>
      <p:sp>
        <p:nvSpPr>
          <p:cNvPr id="11" name="Rounded Rectangle 10"/>
          <p:cNvSpPr/>
          <p:nvPr/>
        </p:nvSpPr>
        <p:spPr>
          <a:xfrm>
            <a:off x="548640" y="2834640"/>
            <a:ext cx="5486400" cy="77724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26080"/>
            <a:ext cx="5212080" cy="320040"/>
          </a:xfrm>
          <a:prstGeom prst="rect">
            <a:avLst/>
          </a:prstGeom>
          <a:noFill/>
        </p:spPr>
        <p:txBody>
          <a:bodyPr wrap="square" lIns="45720" rIns="45720" tIns="18288" bIns="18288">
            <a:spAutoFit/>
          </a:bodyPr>
          <a:lstStyle/>
          <a:p>
            <a:pPr algn="l"/>
            <a:r>
              <a:rPr sz="1300" b="1">
                <a:solidFill>
                  <a:srgbClr val="3D9DF3"/>
                </a:solidFill>
                <a:latin typeface="Calibri"/>
              </a:rPr>
              <a:t>DRIVING</a:t>
            </a:r>
          </a:p>
        </p:txBody>
      </p:sp>
      <p:sp>
        <p:nvSpPr>
          <p:cNvPr id="13" name="TextBox 12"/>
          <p:cNvSpPr txBox="1"/>
          <p:nvPr/>
        </p:nvSpPr>
        <p:spPr>
          <a:xfrm>
            <a:off x="685800" y="3291840"/>
            <a:ext cx="5212080" cy="274320"/>
          </a:xfrm>
          <a:prstGeom prst="rect">
            <a:avLst/>
          </a:prstGeom>
          <a:noFill/>
        </p:spPr>
        <p:txBody>
          <a:bodyPr wrap="square" lIns="45720" rIns="45720" tIns="18288" bIns="18288">
            <a:spAutoFit/>
          </a:bodyPr>
          <a:lstStyle/>
          <a:p>
            <a:pPr algn="l"/>
            <a:r>
              <a:rPr sz="1100" b="0">
                <a:solidFill>
                  <a:srgbClr val="F2F4FA"/>
                </a:solidFill>
                <a:latin typeface="Calibri"/>
              </a:rPr>
              <a:t>CRUISING, CAR_FOLLOWING, CORNERING, OVERTAKING, RETURNING, BREAKDOWN.</a:t>
            </a:r>
          </a:p>
        </p:txBody>
      </p:sp>
      <p:sp>
        <p:nvSpPr>
          <p:cNvPr id="14" name="Rounded Rectangle 13"/>
          <p:cNvSpPr/>
          <p:nvPr/>
        </p:nvSpPr>
        <p:spPr>
          <a:xfrm>
            <a:off x="548640" y="3703320"/>
            <a:ext cx="5486400" cy="77724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794760"/>
            <a:ext cx="5212080" cy="320040"/>
          </a:xfrm>
          <a:prstGeom prst="rect">
            <a:avLst/>
          </a:prstGeom>
          <a:noFill/>
        </p:spPr>
        <p:txBody>
          <a:bodyPr wrap="square" lIns="45720" rIns="45720" tIns="18288" bIns="18288">
            <a:spAutoFit/>
          </a:bodyPr>
          <a:lstStyle/>
          <a:p>
            <a:pPr algn="l"/>
            <a:r>
              <a:rPr sz="1300" b="1">
                <a:solidFill>
                  <a:srgbClr val="3D9DF3"/>
                </a:solidFill>
                <a:latin typeface="Calibri"/>
              </a:rPr>
              <a:t>NEGOTIATING</a:t>
            </a:r>
          </a:p>
        </p:txBody>
      </p:sp>
      <p:sp>
        <p:nvSpPr>
          <p:cNvPr id="16" name="TextBox 15"/>
          <p:cNvSpPr txBox="1"/>
          <p:nvPr/>
        </p:nvSpPr>
        <p:spPr>
          <a:xfrm>
            <a:off x="685800" y="4160520"/>
            <a:ext cx="5212080" cy="274320"/>
          </a:xfrm>
          <a:prstGeom prst="rect">
            <a:avLst/>
          </a:prstGeom>
          <a:noFill/>
        </p:spPr>
        <p:txBody>
          <a:bodyPr wrap="square" lIns="45720" rIns="45720" tIns="18288" bIns="18288">
            <a:spAutoFit/>
          </a:bodyPr>
          <a:lstStyle/>
          <a:p>
            <a:pPr algn="l"/>
            <a:r>
              <a:rPr sz="1100" b="0">
                <a:solidFill>
                  <a:srgbClr val="F2F4FA"/>
                </a:solidFill>
                <a:latin typeface="Calibri"/>
              </a:rPr>
              <a:t>ASSESS → YIELD / KEEP_CLEAR / STOP_HOLD / APPROACH_FREE.</a:t>
            </a:r>
          </a:p>
        </p:txBody>
      </p:sp>
      <p:sp>
        <p:nvSpPr>
          <p:cNvPr id="17" name="Rounded Rectangle 16"/>
          <p:cNvSpPr/>
          <p:nvPr/>
        </p:nvSpPr>
        <p:spPr>
          <a:xfrm>
            <a:off x="548640" y="4572000"/>
            <a:ext cx="5486400" cy="77724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663440"/>
            <a:ext cx="5212080" cy="320040"/>
          </a:xfrm>
          <a:prstGeom prst="rect">
            <a:avLst/>
          </a:prstGeom>
          <a:noFill/>
        </p:spPr>
        <p:txBody>
          <a:bodyPr wrap="square" lIns="45720" rIns="45720" tIns="18288" bIns="18288">
            <a:spAutoFit/>
          </a:bodyPr>
          <a:lstStyle/>
          <a:p>
            <a:pPr algn="l"/>
            <a:r>
              <a:rPr sz="1300" b="1">
                <a:solidFill>
                  <a:srgbClr val="3D9DF3"/>
                </a:solidFill>
                <a:latin typeface="Calibri"/>
              </a:rPr>
              <a:t>COMMITTED</a:t>
            </a:r>
          </a:p>
        </p:txBody>
      </p:sp>
      <p:sp>
        <p:nvSpPr>
          <p:cNvPr id="19" name="TextBox 18"/>
          <p:cNvSpPr txBox="1"/>
          <p:nvPr/>
        </p:nvSpPr>
        <p:spPr>
          <a:xfrm>
            <a:off x="685800" y="5029200"/>
            <a:ext cx="5212080" cy="274320"/>
          </a:xfrm>
          <a:prstGeom prst="rect">
            <a:avLst/>
          </a:prstGeom>
          <a:noFill/>
        </p:spPr>
        <p:txBody>
          <a:bodyPr wrap="square" lIns="45720" rIns="45720" tIns="18288" bIns="18288">
            <a:spAutoFit/>
          </a:bodyPr>
          <a:lstStyle/>
          <a:p>
            <a:pPr algn="l"/>
            <a:r>
              <a:rPr sz="1100" b="0">
                <a:solidFill>
                  <a:srgbClr val="F2F4FA"/>
                </a:solidFill>
                <a:latin typeface="Calibri"/>
              </a:rPr>
              <a:t>CROSS → EXIT. isCommittedToPass=true verrouille.</a:t>
            </a:r>
          </a:p>
        </p:txBody>
      </p:sp>
      <p:sp>
        <p:nvSpPr>
          <p:cNvPr id="20" name="Rounded Rectangle 19"/>
          <p:cNvSpPr/>
          <p:nvPr/>
        </p:nvSpPr>
        <p:spPr>
          <a:xfrm>
            <a:off x="548640" y="5440680"/>
            <a:ext cx="5486400" cy="77724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532120"/>
            <a:ext cx="5212080" cy="320040"/>
          </a:xfrm>
          <a:prstGeom prst="rect">
            <a:avLst/>
          </a:prstGeom>
          <a:noFill/>
        </p:spPr>
        <p:txBody>
          <a:bodyPr wrap="square" lIns="45720" rIns="45720" tIns="18288" bIns="18288">
            <a:spAutoFit/>
          </a:bodyPr>
          <a:lstStyle/>
          <a:p>
            <a:pPr algn="l"/>
            <a:r>
              <a:rPr sz="1300" b="1">
                <a:solidFill>
                  <a:srgbClr val="3D9DF3"/>
                </a:solidFill>
                <a:latin typeface="Calibri"/>
              </a:rPr>
              <a:t>AT_GOAL</a:t>
            </a:r>
          </a:p>
        </p:txBody>
      </p:sp>
      <p:sp>
        <p:nvSpPr>
          <p:cNvPr id="22" name="TextBox 21"/>
          <p:cNvSpPr txBox="1"/>
          <p:nvPr/>
        </p:nvSpPr>
        <p:spPr>
          <a:xfrm>
            <a:off x="685800" y="5897880"/>
            <a:ext cx="5212080" cy="274320"/>
          </a:xfrm>
          <a:prstGeom prst="rect">
            <a:avLst/>
          </a:prstGeom>
          <a:noFill/>
        </p:spPr>
        <p:txBody>
          <a:bodyPr wrap="square" lIns="45720" rIns="45720" tIns="18288" bIns="18288">
            <a:spAutoFit/>
          </a:bodyPr>
          <a:lstStyle/>
          <a:p>
            <a:pPr algn="l"/>
            <a:r>
              <a:rPr sz="1100" b="0">
                <a:solidFill>
                  <a:srgbClr val="F2F4FA"/>
                </a:solidFill>
                <a:latin typeface="Calibri"/>
              </a:rPr>
              <a:t>Destruction par la boucle principale au prochain tick.</a:t>
            </a:r>
          </a:p>
        </p:txBody>
      </p:sp>
      <p:sp>
        <p:nvSpPr>
          <p:cNvPr id="23" name="Rectangle 22"/>
          <p:cNvSpPr/>
          <p:nvPr/>
        </p:nvSpPr>
        <p:spPr>
          <a:xfrm>
            <a:off x="6217920" y="1965960"/>
            <a:ext cx="5577840" cy="420624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3840480"/>
            <a:ext cx="5577840" cy="457200"/>
          </a:xfrm>
          <a:prstGeom prst="rect">
            <a:avLst/>
          </a:prstGeom>
          <a:noFill/>
        </p:spPr>
        <p:txBody>
          <a:bodyPr wrap="square" lIns="45720" rIns="45720" tIns="18288" bIns="18288">
            <a:spAutoFit/>
          </a:bodyPr>
          <a:lstStyle/>
          <a:p>
            <a:pPr algn="ctr"/>
            <a:r>
              <a:rPr sz="1300" b="1">
                <a:solidFill>
                  <a:srgbClr val="3D9DF3"/>
                </a:solidFill>
                <a:latin typeface="Calibri"/>
              </a:rPr>
              <a:t>[ Diagramme : FSM hiérarchique mermaid ]</a:t>
            </a:r>
          </a:p>
        </p:txBody>
      </p:sp>
      <p:sp>
        <p:nvSpPr>
          <p:cNvPr id="25" name="TextBox 24"/>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DÉVELOPPEMENT · 2.18</a:t>
            </a:r>
          </a:p>
        </p:txBody>
      </p:sp>
      <p:sp>
        <p:nvSpPr>
          <p:cNvPr id="26" name="TextBox 25"/>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33 / 66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DÉVELOPPEMENT · 2.19</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Arbre de décision ASSESS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Cœur du système : où les invariants se ferment</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7680960" cy="4206240"/>
          </a:xfrm>
          <a:prstGeom prst="rect">
            <a:avLst/>
          </a:prstGeom>
          <a:noFill/>
        </p:spPr>
        <p:txBody>
          <a:bodyPr wrap="square" lIns="45720" rIns="45720" tIns="18288" bIns="18288">
            <a:spAutoFit/>
          </a:bodyPr>
          <a:lstStyle/>
          <a:p>
            <a:pPr algn="l"/>
            <a:r>
              <a:rPr sz="1200" b="0">
                <a:solidFill>
                  <a:srgbClr val="F2F4FA"/>
                </a:solidFill>
                <a:latin typeface="Consolas"/>
              </a:rPr>
              <a:t>ASSESS (chaque tick à l'approche) :</a:t>
            </a:r>
          </a:p>
          <a:p>
            <a:pPr algn="l"/>
            <a:r>
              <a:rPr sz="1200" b="0">
                <a:solidFill>
                  <a:srgbClr val="F2F4FA"/>
                </a:solidFill>
                <a:latin typeface="Consolas"/>
              </a:rPr>
              <a:t>  ┌─ STOP &amp; stopHeldTime &lt; 0.8s     → STOP_HOLD</a:t>
            </a:r>
          </a:p>
          <a:p>
            <a:pPr algn="l"/>
            <a:r>
              <a:rPr sz="1200" b="0">
                <a:solidFill>
                  <a:srgbClr val="F2F4FA"/>
                </a:solidFill>
                <a:latin typeface="Consolas"/>
              </a:rPr>
              <a:t>  ├─ decision = policy.request(ctx)</a:t>
            </a:r>
          </a:p>
          <a:p>
            <a:pPr algn="l"/>
            <a:r>
              <a:rPr sz="1200" b="0">
                <a:solidFill>
                  <a:srgbClr val="F2F4FA"/>
                </a:solidFill>
                <a:latin typeface="Consolas"/>
              </a:rPr>
              <a:t>  │</a:t>
            </a:r>
          </a:p>
          <a:p>
            <a:pPr algn="l"/>
            <a:r>
              <a:rPr sz="1200" b="0">
                <a:solidFill>
                  <a:srgbClr val="F2F4FA"/>
                </a:solidFill>
                <a:latin typeface="Consolas"/>
              </a:rPr>
              <a:t>  ├─ decision.shouldStop             → YIELD (leader virtuel)</a:t>
            </a:r>
          </a:p>
          <a:p>
            <a:pPr algn="l"/>
            <a:r>
              <a:rPr sz="1200" b="0">
                <a:solidFill>
                  <a:srgbClr val="F2F4FA"/>
                </a:solidFill>
                <a:latin typeface="Consolas"/>
              </a:rPr>
              <a:t>  │</a:t>
            </a:r>
          </a:p>
          <a:p>
            <a:pPr algn="l"/>
            <a:r>
              <a:rPr sz="1200" b="0">
                <a:solidFill>
                  <a:srgbClr val="F2F4FA"/>
                </a:solidFill>
                <a:latin typeface="Consolas"/>
              </a:rPr>
              <a:t>  └─ canEnter=true :</a:t>
            </a:r>
          </a:p>
          <a:p>
            <a:pPr algn="l"/>
            <a:r>
              <a:rPr sz="1200" b="0">
                <a:solidFill>
                  <a:srgbClr val="F2F4FA"/>
                </a:solidFill>
                <a:latin typeface="Consolas"/>
              </a:rPr>
              <a:t>     ├─ TEST HITBOX SORTIE           → KEEP_CLEAR si insuffisant</a:t>
            </a:r>
          </a:p>
          <a:p>
            <a:pPr algn="l"/>
            <a:r>
              <a:rPr sz="1200" b="0">
                <a:solidFill>
                  <a:srgbClr val="F2F4FA"/>
                </a:solidFill>
                <a:latin typeface="Consolas"/>
              </a:rPr>
              <a:t>     ├─ TEST LOOK-AHEAD ASYMÉTRIQUE  → KEEP_CLEAR si chaîne occupée</a:t>
            </a:r>
          </a:p>
          <a:p>
            <a:pPr algn="l"/>
            <a:r>
              <a:rPr sz="1200" b="0">
                <a:solidFill>
                  <a:srgbClr val="F2F4FA"/>
                </a:solidFill>
                <a:latin typeface="Consolas"/>
              </a:rPr>
              <a:t>     ├─ TEST GAP-ACCEPTANCE FINAL    (Frenet, anti ghost-following)</a:t>
            </a:r>
          </a:p>
          <a:p>
            <a:pPr algn="l"/>
            <a:r>
              <a:rPr sz="1200" b="0">
                <a:solidFill>
                  <a:srgbClr val="F2F4FA"/>
                </a:solidFill>
                <a:latin typeface="Consolas"/>
              </a:rPr>
              <a:t>     └─ → APPROACH_FREE</a:t>
            </a:r>
          </a:p>
          <a:p>
            <a:pPr algn="l"/>
            <a:r>
              <a:rPr sz="1200" b="0">
                <a:solidFill>
                  <a:srgbClr val="F2F4FA"/>
                </a:solidFill>
                <a:latin typeface="Consolas"/>
              </a:rPr>
              <a:t>        si franchit ligne → COMMIT (isCommittedToPass=true)</a:t>
            </a:r>
          </a:p>
          <a:p>
            <a:pPr algn="l"/>
            <a:r>
              <a:rPr sz="1200" b="0">
                <a:solidFill>
                  <a:srgbClr val="F2F4FA"/>
                </a:solidFill>
                <a:latin typeface="Consolas"/>
              </a:rPr>
              <a:t/>
            </a:r>
          </a:p>
        </p:txBody>
      </p:sp>
      <p:sp>
        <p:nvSpPr>
          <p:cNvPr id="9" name="Rounded Rectangle 8"/>
          <p:cNvSpPr/>
          <p:nvPr/>
        </p:nvSpPr>
        <p:spPr>
          <a:xfrm>
            <a:off x="8412480" y="1920240"/>
            <a:ext cx="3383280" cy="420624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49640" y="2011680"/>
            <a:ext cx="3108960" cy="320040"/>
          </a:xfrm>
          <a:prstGeom prst="rect">
            <a:avLst/>
          </a:prstGeom>
          <a:noFill/>
        </p:spPr>
        <p:txBody>
          <a:bodyPr wrap="square" lIns="45720" rIns="45720" tIns="18288" bIns="18288">
            <a:spAutoFit/>
          </a:bodyPr>
          <a:lstStyle/>
          <a:p>
            <a:pPr algn="l"/>
            <a:r>
              <a:rPr sz="1300" b="1">
                <a:solidFill>
                  <a:srgbClr val="4CD97F"/>
                </a:solidFill>
                <a:latin typeface="Calibri"/>
              </a:rPr>
              <a:t>Invariants garantis</a:t>
            </a:r>
          </a:p>
        </p:txBody>
      </p:sp>
      <p:sp>
        <p:nvSpPr>
          <p:cNvPr id="11" name="TextBox 10"/>
          <p:cNvSpPr txBox="1"/>
          <p:nvPr/>
        </p:nvSpPr>
        <p:spPr>
          <a:xfrm>
            <a:off x="8549640" y="2377440"/>
            <a:ext cx="3108960" cy="3703320"/>
          </a:xfrm>
          <a:prstGeom prst="rect">
            <a:avLst/>
          </a:prstGeom>
          <a:noFill/>
        </p:spPr>
        <p:txBody>
          <a:bodyPr wrap="square" lIns="45720" rIns="45720" tIns="18288" bIns="18288">
            <a:spAutoFit/>
          </a:bodyPr>
          <a:lstStyle/>
          <a:p>
            <a:pPr algn="l"/>
            <a:r>
              <a:rPr sz="1100" b="0">
                <a:solidFill>
                  <a:srgbClr val="F2F4FA"/>
                </a:solidFill>
                <a:latin typeface="Calibri"/>
              </a:rPr>
              <a:t>I1 — Aucun engagement si sortie inaccessible.</a:t>
            </a:r>
          </a:p>
          <a:p>
            <a:pPr algn="l"/>
            <a:r>
              <a:rPr sz="1100" b="0">
                <a:solidFill>
                  <a:srgbClr val="F2F4FA"/>
                </a:solidFill>
                <a:latin typeface="Calibri"/>
              </a:rPr>
              <a:t>I2 — Aucun suivi de contre-sens.</a:t>
            </a:r>
          </a:p>
          <a:p>
            <a:pPr algn="l"/>
            <a:r>
              <a:rPr sz="1100" b="0">
                <a:solidFill>
                  <a:srgbClr val="F2F4FA"/>
                </a:solidFill>
                <a:latin typeface="Calibri"/>
              </a:rPr>
              <a:t>I3 — Aucun freinage en plein carrefour.</a:t>
            </a:r>
          </a:p>
          <a:p>
            <a:pPr algn="l"/>
            <a:r>
              <a:rPr sz="1100" b="0">
                <a:solidFill>
                  <a:srgbClr val="F2F4FA"/>
                </a:solidFill>
                <a:latin typeface="Calibri"/>
              </a:rPr>
              <a:t>I4 — Aucun freinage urgent sur orange.</a:t>
            </a:r>
          </a:p>
          <a:p>
            <a:pPr algn="l"/>
            <a:r>
              <a:rPr sz="1100" b="0">
                <a:solidFill>
                  <a:srgbClr val="F2F4FA"/>
                </a:solidFill>
                <a:latin typeface="Calibri"/>
              </a:rPr>
              <a:t>I5 — Aucun cycle &gt; KEEP_CLEAR_TIMEOUT.</a:t>
            </a:r>
          </a:p>
          <a:p>
            <a:pPr algn="l"/>
            <a:r>
              <a:rPr sz="1100" b="0">
                <a:solidFill>
                  <a:srgbClr val="F2F4FA"/>
                </a:solidFill>
                <a:latin typeface="Calibri"/>
              </a:rPr>
              <a:t>I7 — Reproductibilité bit-à-bit (séquentiel).</a:t>
            </a:r>
          </a:p>
        </p:txBody>
      </p:sp>
      <p:sp>
        <p:nvSpPr>
          <p:cNvPr id="12" name="TextBox 11"/>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DÉVELOPPEMENT · 2.19</a:t>
            </a:r>
          </a:p>
        </p:txBody>
      </p:sp>
      <p:sp>
        <p:nvSpPr>
          <p:cNvPr id="13" name="TextBox 12"/>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34 / 66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DÉVELOPPEMENT · 2.20</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Hitbox obligatoire : anti-engagement</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Aucun véhicule ne rentre s'il ne peut pas sortir</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6400800" cy="3840480"/>
          </a:xfrm>
          <a:prstGeom prst="rect">
            <a:avLst/>
          </a:prstGeom>
          <a:noFill/>
        </p:spPr>
        <p:txBody>
          <a:bodyPr wrap="square">
            <a:spAutoFit/>
          </a:bodyPr>
          <a:lstStyle/>
          <a:p>
            <a:pPr algn="l">
              <a:spcAft>
                <a:spcPts val="400"/>
              </a:spcAft>
            </a:pPr>
            <a:r>
              <a:rPr sz="1300">
                <a:solidFill>
                  <a:srgbClr val="F2F4FA"/>
                </a:solidFill>
                <a:latin typeface="Calibri"/>
              </a:rPr>
              <a:t>•  exitLane = compute_exit_lane(self.path, intersection)</a:t>
            </a:r>
          </a:p>
          <a:p>
            <a:pPr algn="l">
              <a:spcAft>
                <a:spcPts val="400"/>
              </a:spcAft>
            </a:pPr>
            <a:r>
              <a:rPr sz="1300">
                <a:solidFill>
                  <a:srgbClr val="F2F4FA"/>
                </a:solidFill>
                <a:latin typeface="Calibri"/>
              </a:rPr>
              <a:t>•  requiredClear = self.bodySize.x + safetyMargin (≈ 1.5 × length)</a:t>
            </a:r>
          </a:p>
          <a:p>
            <a:pPr algn="l">
              <a:spcAft>
                <a:spcPts val="400"/>
              </a:spcAft>
            </a:pPr>
            <a:r>
              <a:rPr sz="1300">
                <a:solidFill>
                  <a:srgbClr val="F2F4FA"/>
                </a:solidFill>
                <a:latin typeface="Calibri"/>
              </a:rPr>
              <a:t>•  Scan occupants sur exitLane.s ∈ [0, requiredClear].</a:t>
            </a:r>
          </a:p>
          <a:p>
            <a:pPr algn="l">
              <a:spcAft>
                <a:spcPts val="400"/>
              </a:spcAft>
            </a:pPr>
            <a:r>
              <a:rPr sz="1300">
                <a:solidFill>
                  <a:srgbClr val="F2F4FA"/>
                </a:solidFill>
                <a:latin typeface="Calibri"/>
              </a:rPr>
              <a:t>•  Au moins un occupant → BLOCKED → KEEP_CLEAR.</a:t>
            </a:r>
          </a:p>
          <a:p>
            <a:pPr algn="l">
              <a:spcAft>
                <a:spcPts val="400"/>
              </a:spcAft>
            </a:pPr>
            <a:r>
              <a:rPr sz="1300">
                <a:solidFill>
                  <a:srgbClr val="F2F4FA"/>
                </a:solidFill>
                <a:latin typeface="Calibri"/>
              </a:rPr>
              <a:t>•  Sinon → engagement autorisé.</a:t>
            </a:r>
          </a:p>
          <a:p>
            <a:pPr algn="l">
              <a:spcAft>
                <a:spcPts val="400"/>
              </a:spcAft>
            </a:pPr>
            <a:r>
              <a:rPr sz="1300">
                <a:solidFill>
                  <a:srgbClr val="F2F4FA"/>
                </a:solidFill>
                <a:latin typeface="Calibri"/>
              </a:rPr>
              <a:t>•  Camion (length=64 px) demande 96 px ; voiture (32 px) demande 48 px.</a:t>
            </a:r>
          </a:p>
        </p:txBody>
      </p:sp>
      <p:sp>
        <p:nvSpPr>
          <p:cNvPr id="9" name="Rounded Rectangle 8"/>
          <p:cNvSpPr/>
          <p:nvPr/>
        </p:nvSpPr>
        <p:spPr>
          <a:xfrm>
            <a:off x="7040880" y="1920240"/>
            <a:ext cx="4754880" cy="2011680"/>
          </a:xfrm>
          <a:prstGeom prst="roundRect">
            <a:avLst/>
          </a:prstGeom>
          <a:solidFill>
            <a:srgbClr val="181E30"/>
          </a:solidFill>
          <a:ln w="12700">
            <a:solidFill>
              <a:srgbClr val="F1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78040" y="2011680"/>
            <a:ext cx="4480560" cy="320040"/>
          </a:xfrm>
          <a:prstGeom prst="rect">
            <a:avLst/>
          </a:prstGeom>
          <a:noFill/>
        </p:spPr>
        <p:txBody>
          <a:bodyPr wrap="square" lIns="45720" rIns="45720" tIns="18288" bIns="18288">
            <a:spAutoFit/>
          </a:bodyPr>
          <a:lstStyle/>
          <a:p>
            <a:pPr algn="l"/>
            <a:r>
              <a:rPr sz="1300" b="1">
                <a:solidFill>
                  <a:srgbClr val="F16666"/>
                </a:solidFill>
                <a:latin typeface="Calibri"/>
              </a:rPr>
              <a:t>Bug évité</a:t>
            </a:r>
          </a:p>
        </p:txBody>
      </p:sp>
      <p:sp>
        <p:nvSpPr>
          <p:cNvPr id="11" name="TextBox 10"/>
          <p:cNvSpPr txBox="1"/>
          <p:nvPr/>
        </p:nvSpPr>
        <p:spPr>
          <a:xfrm>
            <a:off x="7178040" y="2377440"/>
            <a:ext cx="4480560" cy="1508760"/>
          </a:xfrm>
          <a:prstGeom prst="rect">
            <a:avLst/>
          </a:prstGeom>
          <a:noFill/>
        </p:spPr>
        <p:txBody>
          <a:bodyPr wrap="square" lIns="45720" rIns="45720" tIns="18288" bIns="18288">
            <a:spAutoFit/>
          </a:bodyPr>
          <a:lstStyle/>
          <a:p>
            <a:pPr algn="l"/>
            <a:r>
              <a:rPr sz="1100" b="0">
                <a:solidFill>
                  <a:srgbClr val="F2F4FA"/>
                </a:solidFill>
                <a:latin typeface="Calibri"/>
              </a:rPr>
              <a:t>Sans cette règle : un camion s'engage dans un carrefour à priorité où la sortie n'a que 50 px de libre devant le prochain véhicule → bloque tous les flux pendant 10+ secondes.</a:t>
            </a:r>
          </a:p>
        </p:txBody>
      </p:sp>
      <p:sp>
        <p:nvSpPr>
          <p:cNvPr id="12" name="Rectangle 11"/>
          <p:cNvSpPr/>
          <p:nvPr/>
        </p:nvSpPr>
        <p:spPr>
          <a:xfrm>
            <a:off x="7040880" y="4023360"/>
            <a:ext cx="4754880" cy="228600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0" y="4937760"/>
            <a:ext cx="4754880" cy="457200"/>
          </a:xfrm>
          <a:prstGeom prst="rect">
            <a:avLst/>
          </a:prstGeom>
          <a:noFill/>
        </p:spPr>
        <p:txBody>
          <a:bodyPr wrap="square" lIns="45720" rIns="45720" tIns="18288" bIns="18288">
            <a:spAutoFit/>
          </a:bodyPr>
          <a:lstStyle/>
          <a:p>
            <a:pPr algn="ctr"/>
            <a:r>
              <a:rPr sz="1300" b="1">
                <a:solidFill>
                  <a:srgbClr val="3D9DF3"/>
                </a:solidFill>
                <a:latin typeface="Calibri"/>
              </a:rPr>
              <a:t>[ Capture : KEEP_CLEAR en action ]</a:t>
            </a:r>
          </a:p>
        </p:txBody>
      </p:sp>
      <p:sp>
        <p:nvSpPr>
          <p:cNvPr id="14" name="TextBox 13"/>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DÉVELOPPEMENT · 2.20</a:t>
            </a:r>
          </a:p>
        </p:txBody>
      </p:sp>
      <p:sp>
        <p:nvSpPr>
          <p:cNvPr id="15" name="TextBox 14"/>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35 / 66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DÉVELOPPEMENT · 2.21</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Cinématique IDM &amp; dilemme orange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d_brake = v² / (2·b_comf) — décide PASSER vs FREINER</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5577840" cy="228600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5303520" cy="320040"/>
          </a:xfrm>
          <a:prstGeom prst="rect">
            <a:avLst/>
          </a:prstGeom>
          <a:noFill/>
        </p:spPr>
        <p:txBody>
          <a:bodyPr wrap="square" lIns="45720" rIns="45720" tIns="18288" bIns="18288">
            <a:spAutoFit/>
          </a:bodyPr>
          <a:lstStyle/>
          <a:p>
            <a:pPr algn="l"/>
            <a:r>
              <a:rPr sz="1300" b="1">
                <a:solidFill>
                  <a:srgbClr val="3D9DF3"/>
                </a:solidFill>
                <a:latin typeface="Calibri"/>
              </a:rPr>
              <a:t>Dilemme zone orange</a:t>
            </a:r>
          </a:p>
        </p:txBody>
      </p:sp>
      <p:sp>
        <p:nvSpPr>
          <p:cNvPr id="10" name="TextBox 9"/>
          <p:cNvSpPr txBox="1"/>
          <p:nvPr/>
        </p:nvSpPr>
        <p:spPr>
          <a:xfrm>
            <a:off x="685800" y="2377440"/>
            <a:ext cx="5303520" cy="1783080"/>
          </a:xfrm>
          <a:prstGeom prst="rect">
            <a:avLst/>
          </a:prstGeom>
          <a:noFill/>
        </p:spPr>
        <p:txBody>
          <a:bodyPr wrap="square" lIns="45720" rIns="45720" tIns="18288" bIns="18288">
            <a:spAutoFit/>
          </a:bodyPr>
          <a:lstStyle/>
          <a:p>
            <a:pPr algn="l"/>
            <a:r>
              <a:rPr sz="1100" b="0">
                <a:solidFill>
                  <a:srgbClr val="F2F4FA"/>
                </a:solidFill>
                <a:latin typeface="Calibri"/>
              </a:rPr>
              <a:t>Si d_brake(v) &gt; distance restante → on PASSE (freinage urgent dangereux).</a:t>
            </a:r>
          </a:p>
          <a:p>
            <a:pPr algn="l"/>
            <a:r>
              <a:rPr sz="1100" b="0">
                <a:solidFill>
                  <a:srgbClr val="F2F4FA"/>
                </a:solidFill>
                <a:latin typeface="Calibri"/>
              </a:rPr>
              <a:t>Sinon → leader virtuel à la ligne, freinage confortable.</a:t>
            </a:r>
          </a:p>
          <a:p>
            <a:pPr algn="l"/>
            <a:r>
              <a:rPr sz="1100" b="0">
                <a:solidFill>
                  <a:srgbClr val="F2F4FA"/>
                </a:solidFill>
                <a:latin typeface="Calibri"/>
              </a:rPr>
              <a:t/>
            </a:r>
          </a:p>
          <a:p>
            <a:pPr algn="l"/>
            <a:r>
              <a:rPr sz="1100" b="0">
                <a:solidFill>
                  <a:srgbClr val="F2F4FA"/>
                </a:solidFill>
                <a:latin typeface="Calibri"/>
              </a:rPr>
              <a:t>Évite l'écueil classique du véhicule qui freine puis re-accélère dans le carrefour quand le feu passe au rouge.</a:t>
            </a:r>
          </a:p>
        </p:txBody>
      </p:sp>
      <p:sp>
        <p:nvSpPr>
          <p:cNvPr id="11" name="Rounded Rectangle 10"/>
          <p:cNvSpPr/>
          <p:nvPr/>
        </p:nvSpPr>
        <p:spPr>
          <a:xfrm>
            <a:off x="6263640" y="1920240"/>
            <a:ext cx="5532120" cy="228600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Override cannotStop</a:t>
            </a:r>
          </a:p>
        </p:txBody>
      </p:sp>
      <p:sp>
        <p:nvSpPr>
          <p:cNvPr id="13" name="TextBox 12"/>
          <p:cNvSpPr txBox="1"/>
          <p:nvPr/>
        </p:nvSpPr>
        <p:spPr>
          <a:xfrm>
            <a:off x="6400800" y="2377440"/>
            <a:ext cx="5257800" cy="1783080"/>
          </a:xfrm>
          <a:prstGeom prst="rect">
            <a:avLst/>
          </a:prstGeom>
          <a:noFill/>
        </p:spPr>
        <p:txBody>
          <a:bodyPr wrap="square" lIns="45720" rIns="45720" tIns="18288" bIns="18288">
            <a:spAutoFit/>
          </a:bodyPr>
          <a:lstStyle/>
          <a:p>
            <a:pPr algn="l"/>
            <a:r>
              <a:rPr sz="1100" b="0">
                <a:solidFill>
                  <a:srgbClr val="F2F4FA"/>
                </a:solidFill>
                <a:latin typeface="Calibri"/>
              </a:rPr>
              <a:t>Si distance &lt; d_brake ET decision.shouldStop :</a:t>
            </a:r>
          </a:p>
          <a:p>
            <a:pPr algn="l"/>
            <a:r>
              <a:rPr sz="1100" b="0">
                <a:solidFill>
                  <a:srgbClr val="F2F4FA"/>
                </a:solidFill>
                <a:latin typeface="Calibri"/>
              </a:rPr>
              <a:t>  pendingAccel = -aMax (max brake)</a:t>
            </a:r>
          </a:p>
          <a:p>
            <a:pPr algn="l"/>
            <a:r>
              <a:rPr sz="1100" b="0">
                <a:solidFill>
                  <a:srgbClr val="F2F4FA"/>
                </a:solidFill>
                <a:latin typeface="Calibri"/>
              </a:rPr>
              <a:t>  dilemmaBrakeOverride = true</a:t>
            </a:r>
          </a:p>
          <a:p>
            <a:pPr algn="l"/>
            <a:r>
              <a:rPr sz="1100" b="0">
                <a:solidFill>
                  <a:srgbClr val="F2F4FA"/>
                </a:solidFill>
                <a:latin typeface="Calibri"/>
              </a:rPr>
              <a:t/>
            </a:r>
          </a:p>
          <a:p>
            <a:pPr algn="l"/>
            <a:r>
              <a:rPr sz="1100" b="0">
                <a:solidFill>
                  <a:srgbClr val="F2F4FA"/>
                </a:solidFill>
                <a:latin typeface="Calibri"/>
              </a:rPr>
              <a:t>Sans cet override, l'IDM ne voyant plus le leader virtuel (déjà dans la boîte) accélérerait vers v₀.</a:t>
            </a:r>
          </a:p>
        </p:txBody>
      </p:sp>
      <p:sp>
        <p:nvSpPr>
          <p:cNvPr id="14" name="Rectangle 13"/>
          <p:cNvSpPr/>
          <p:nvPr/>
        </p:nvSpPr>
        <p:spPr>
          <a:xfrm>
            <a:off x="548640" y="4343400"/>
            <a:ext cx="11247120" cy="210312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16636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Schéma : zone orange — décision passe/freine ]</a:t>
            </a:r>
          </a:p>
        </p:txBody>
      </p:sp>
      <p:sp>
        <p:nvSpPr>
          <p:cNvPr id="16" name="TextBox 15"/>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DÉVELOPPEMENT · 2.21</a:t>
            </a:r>
          </a:p>
        </p:txBody>
      </p:sp>
      <p:sp>
        <p:nvSpPr>
          <p:cNvPr id="17" name="TextBox 16"/>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36 / 66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DÉVELOPPEMENT · 2.22</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Commit-to-pass : verrou anti freinage central</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isCommittedToPass = true dès franchissement de la ligne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6949440" cy="4114800"/>
          </a:xfrm>
          <a:prstGeom prst="rect">
            <a:avLst/>
          </a:prstGeom>
          <a:noFill/>
        </p:spPr>
        <p:txBody>
          <a:bodyPr wrap="square">
            <a:spAutoFit/>
          </a:bodyPr>
          <a:lstStyle/>
          <a:p>
            <a:pPr algn="l">
              <a:spcAft>
                <a:spcPts val="400"/>
              </a:spcAft>
            </a:pPr>
            <a:r>
              <a:rPr sz="1400">
                <a:solidFill>
                  <a:srgbClr val="F2F4FA"/>
                </a:solidFill>
                <a:latin typeface="Calibri"/>
              </a:rPr>
              <a:t>•  Dès que position ∈ coveredTiles → isCommittedToPass = true.</a:t>
            </a:r>
          </a:p>
          <a:p>
            <a:pPr algn="l">
              <a:spcAft>
                <a:spcPts val="400"/>
              </a:spcAft>
            </a:pPr>
            <a:r>
              <a:rPr sz="1400">
                <a:solidFill>
                  <a:srgbClr val="F2F4FA"/>
                </a:solidFill>
                <a:latin typeface="Calibri"/>
              </a:rPr>
              <a:t>•  committedIntersectionId = id du carrefour traversé.</a:t>
            </a:r>
          </a:p>
          <a:p>
            <a:pPr algn="l">
              <a:spcAft>
                <a:spcPts val="400"/>
              </a:spcAft>
            </a:pPr>
            <a:r>
              <a:rPr sz="1400">
                <a:solidFill>
                  <a:srgbClr val="F2F4FA"/>
                </a:solidFill>
                <a:latin typeface="Calibri"/>
              </a:rPr>
              <a:t>•  Court-circuite toute nouvelle décision de freinage policy.</a:t>
            </a:r>
          </a:p>
          <a:p>
            <a:pPr algn="l">
              <a:spcAft>
                <a:spcPts val="400"/>
              </a:spcAft>
            </a:pPr>
            <a:r>
              <a:rPr sz="1400">
                <a:solidFill>
                  <a:srgbClr val="F2F4FA"/>
                </a:solidFill>
                <a:latin typeface="Calibri"/>
              </a:rPr>
              <a:t>•  Garantit qu'un changement de phase de feu en plein carrefour ne fige PAS le véhicule.</a:t>
            </a:r>
          </a:p>
          <a:p>
            <a:pPr algn="l">
              <a:spcAft>
                <a:spcPts val="400"/>
              </a:spcAft>
            </a:pPr>
            <a:r>
              <a:rPr sz="1400">
                <a:solidFill>
                  <a:srgbClr val="F2F4FA"/>
                </a:solidFill>
                <a:latin typeface="Calibri"/>
              </a:rPr>
              <a:t>•  Reset automatique dès sortie physique (!coveredTiles.contains(position)).</a:t>
            </a:r>
          </a:p>
          <a:p>
            <a:pPr algn="l">
              <a:spcAft>
                <a:spcPts val="400"/>
              </a:spcAft>
            </a:pPr>
            <a:r>
              <a:rPr sz="1400">
                <a:solidFill>
                  <a:srgbClr val="F2F4FA"/>
                </a:solidFill>
                <a:latin typeface="Calibri"/>
              </a:rPr>
              <a:t>•  Verrou par ID → multi-intersection séquentielle propre.</a:t>
            </a:r>
          </a:p>
        </p:txBody>
      </p:sp>
      <p:sp>
        <p:nvSpPr>
          <p:cNvPr id="9" name="Rounded Rectangle 8"/>
          <p:cNvSpPr/>
          <p:nvPr/>
        </p:nvSpPr>
        <p:spPr>
          <a:xfrm>
            <a:off x="7680960" y="1920240"/>
            <a:ext cx="4114800" cy="4114800"/>
          </a:xfrm>
          <a:prstGeom prst="roundRect">
            <a:avLst/>
          </a:prstGeom>
          <a:solidFill>
            <a:srgbClr val="181E30"/>
          </a:solidFill>
          <a:ln w="12700">
            <a:solidFill>
              <a:srgbClr val="F1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011680"/>
            <a:ext cx="3840480" cy="320040"/>
          </a:xfrm>
          <a:prstGeom prst="rect">
            <a:avLst/>
          </a:prstGeom>
          <a:noFill/>
        </p:spPr>
        <p:txBody>
          <a:bodyPr wrap="square" lIns="45720" rIns="45720" tIns="18288" bIns="18288">
            <a:spAutoFit/>
          </a:bodyPr>
          <a:lstStyle/>
          <a:p>
            <a:pPr algn="l"/>
            <a:r>
              <a:rPr sz="1300" b="1">
                <a:solidFill>
                  <a:srgbClr val="F16666"/>
                </a:solidFill>
                <a:latin typeface="Calibri"/>
              </a:rPr>
              <a:t>Sans commit</a:t>
            </a:r>
          </a:p>
        </p:txBody>
      </p:sp>
      <p:sp>
        <p:nvSpPr>
          <p:cNvPr id="11" name="TextBox 10"/>
          <p:cNvSpPr txBox="1"/>
          <p:nvPr/>
        </p:nvSpPr>
        <p:spPr>
          <a:xfrm>
            <a:off x="7818120" y="2377440"/>
            <a:ext cx="3840480" cy="3611880"/>
          </a:xfrm>
          <a:prstGeom prst="rect">
            <a:avLst/>
          </a:prstGeom>
          <a:noFill/>
        </p:spPr>
        <p:txBody>
          <a:bodyPr wrap="square" lIns="45720" rIns="45720" tIns="18288" bIns="18288">
            <a:spAutoFit/>
          </a:bodyPr>
          <a:lstStyle/>
          <a:p>
            <a:pPr algn="l"/>
            <a:r>
              <a:rPr sz="1100" b="0">
                <a:solidFill>
                  <a:srgbClr val="F2F4FA"/>
                </a:solidFill>
                <a:latin typeface="Calibri"/>
              </a:rPr>
              <a:t>Le feu passe à l'orange pendant que le véhicule est au centre du carrefour. La policy retourne shouldStop. Sans verrou, l'agent freine au milieu, bloque toutes les directions. Bug classique des simulateurs naïfs.</a:t>
            </a:r>
          </a:p>
        </p:txBody>
      </p:sp>
      <p:sp>
        <p:nvSpPr>
          <p:cNvPr id="12" name="TextBox 11"/>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DÉVELOPPEMENT · 2.22</a:t>
            </a:r>
          </a:p>
        </p:txBody>
      </p:sp>
      <p:sp>
        <p:nvSpPr>
          <p:cNvPr id="13" name="TextBox 12"/>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37 / 66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DÉVELOPPEMENT · 2.23</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Bug fix : Ghost-following éradiqué</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Filtrage spatial strict par projection de Frenet</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6949440" cy="4114800"/>
          </a:xfrm>
          <a:prstGeom prst="rect">
            <a:avLst/>
          </a:prstGeom>
          <a:noFill/>
        </p:spPr>
        <p:txBody>
          <a:bodyPr wrap="square">
            <a:spAutoFit/>
          </a:bodyPr>
          <a:lstStyle/>
          <a:p>
            <a:pPr algn="l">
              <a:spcAft>
                <a:spcPts val="400"/>
              </a:spcAft>
            </a:pPr>
            <a:r>
              <a:rPr sz="1300">
                <a:solidFill>
                  <a:srgbClr val="F2F4FA"/>
                </a:solidFill>
                <a:latin typeface="Calibri"/>
              </a:rPr>
              <a:t>•  Filtre angulaire pur (cône frontal) → faux positifs catastrophiques en virage.</a:t>
            </a:r>
          </a:p>
          <a:p>
            <a:pPr algn="l">
              <a:spcAft>
                <a:spcPts val="400"/>
              </a:spcAft>
            </a:pPr>
            <a:r>
              <a:rPr sz="1300">
                <a:solidFill>
                  <a:srgbClr val="F2F4FA"/>
                </a:solidFill>
                <a:latin typeface="Calibri"/>
              </a:rPr>
              <a:t>•  Solution : projection sur MA Lane curviligne (Lane::project).</a:t>
            </a:r>
          </a:p>
          <a:p>
            <a:pPr algn="l">
              <a:spcAft>
                <a:spcPts val="400"/>
              </a:spcAft>
            </a:pPr>
            <a:r>
              <a:rPr sz="1300">
                <a:solidFill>
                  <a:srgbClr val="F2F4FA"/>
                </a:solidFill>
                <a:latin typeface="Calibri"/>
              </a:rPr>
              <a:t>•  Filtre LATÉRAL : |proj.lateral| &lt; 22 px (largeur voie ≈ 50 px).</a:t>
            </a:r>
          </a:p>
          <a:p>
            <a:pPr algn="l">
              <a:spcAft>
                <a:spcPts val="400"/>
              </a:spcAft>
            </a:pPr>
            <a:r>
              <a:rPr sz="1300">
                <a:solidFill>
                  <a:srgbClr val="F2F4FA"/>
                </a:solidFill>
                <a:latin typeface="Calibri"/>
              </a:rPr>
              <a:t>•  Filtre LONGITUDINAL : proj.s &gt; self.s (devant).</a:t>
            </a:r>
          </a:p>
          <a:p>
            <a:pPr algn="l">
              <a:spcAft>
                <a:spcPts val="400"/>
              </a:spcAft>
            </a:pPr>
            <a:r>
              <a:rPr sz="1300">
                <a:solidFill>
                  <a:srgbClr val="F2F4FA"/>
                </a:solidFill>
                <a:latin typeface="Calibri"/>
              </a:rPr>
              <a:t>•  Garde-fou : |Δheading| &lt; 45° (rejet contre-sens transitoire).</a:t>
            </a:r>
          </a:p>
          <a:p>
            <a:pPr algn="l">
              <a:spcAft>
                <a:spcPts val="400"/>
              </a:spcAft>
            </a:pPr>
            <a:r>
              <a:rPr sz="1300">
                <a:solidFill>
                  <a:srgbClr val="F2F4FA"/>
                </a:solidFill>
                <a:latin typeface="Calibri"/>
              </a:rPr>
              <a:t>•  Rétention du leader avec le plus petit gap.</a:t>
            </a:r>
          </a:p>
        </p:txBody>
      </p:sp>
      <p:sp>
        <p:nvSpPr>
          <p:cNvPr id="9" name="Rounded Rectangle 8"/>
          <p:cNvSpPr/>
          <p:nvPr/>
        </p:nvSpPr>
        <p:spPr>
          <a:xfrm>
            <a:off x="7680960" y="1920240"/>
            <a:ext cx="4114800" cy="201168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011680"/>
            <a:ext cx="3840480" cy="320040"/>
          </a:xfrm>
          <a:prstGeom prst="rect">
            <a:avLst/>
          </a:prstGeom>
          <a:noFill/>
        </p:spPr>
        <p:txBody>
          <a:bodyPr wrap="square" lIns="45720" rIns="45720" tIns="18288" bIns="18288">
            <a:spAutoFit/>
          </a:bodyPr>
          <a:lstStyle/>
          <a:p>
            <a:pPr algn="l"/>
            <a:r>
              <a:rPr sz="1300" b="1">
                <a:solidFill>
                  <a:srgbClr val="4CD97F"/>
                </a:solidFill>
                <a:latin typeface="Calibri"/>
              </a:rPr>
              <a:t>Pourquoi ça marche</a:t>
            </a:r>
          </a:p>
        </p:txBody>
      </p:sp>
      <p:sp>
        <p:nvSpPr>
          <p:cNvPr id="11" name="TextBox 10"/>
          <p:cNvSpPr txBox="1"/>
          <p:nvPr/>
        </p:nvSpPr>
        <p:spPr>
          <a:xfrm>
            <a:off x="7818120" y="2377440"/>
            <a:ext cx="3840480" cy="1508760"/>
          </a:xfrm>
          <a:prstGeom prst="rect">
            <a:avLst/>
          </a:prstGeom>
          <a:noFill/>
        </p:spPr>
        <p:txBody>
          <a:bodyPr wrap="square" lIns="45720" rIns="45720" tIns="18288" bIns="18288">
            <a:spAutoFit/>
          </a:bodyPr>
          <a:lstStyle/>
          <a:p>
            <a:pPr algn="l"/>
            <a:r>
              <a:rPr sz="1100" b="0">
                <a:solidFill>
                  <a:srgbClr val="F2F4FA"/>
                </a:solidFill>
                <a:latin typeface="Calibri"/>
              </a:rPr>
              <a:t>La voie opposée a offset latéral physique &gt; 22 px → impossible d'être retenue. En virage, la projection suit la courbe. Invariant I2.</a:t>
            </a:r>
          </a:p>
        </p:txBody>
      </p:sp>
      <p:sp>
        <p:nvSpPr>
          <p:cNvPr id="12" name="Rectangle 11"/>
          <p:cNvSpPr/>
          <p:nvPr/>
        </p:nvSpPr>
        <p:spPr>
          <a:xfrm>
            <a:off x="7680960" y="4023360"/>
            <a:ext cx="4114800" cy="228600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4937760"/>
            <a:ext cx="4114800" cy="457200"/>
          </a:xfrm>
          <a:prstGeom prst="rect">
            <a:avLst/>
          </a:prstGeom>
          <a:noFill/>
        </p:spPr>
        <p:txBody>
          <a:bodyPr wrap="square" lIns="45720" rIns="45720" tIns="18288" bIns="18288">
            <a:spAutoFit/>
          </a:bodyPr>
          <a:lstStyle/>
          <a:p>
            <a:pPr algn="ctr"/>
            <a:r>
              <a:rPr sz="1300" b="1">
                <a:solidFill>
                  <a:srgbClr val="3D9DF3"/>
                </a:solidFill>
                <a:latin typeface="Calibri"/>
              </a:rPr>
              <a:t>[ Schéma : projection Frenet vs cône frontal ]</a:t>
            </a:r>
          </a:p>
        </p:txBody>
      </p:sp>
      <p:sp>
        <p:nvSpPr>
          <p:cNvPr id="14" name="TextBox 13"/>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DÉVELOPPEMENT · 2.23</a:t>
            </a:r>
          </a:p>
        </p:txBody>
      </p:sp>
      <p:sp>
        <p:nvSpPr>
          <p:cNvPr id="15" name="TextBox 14"/>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38 / 66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DÉVELOPPEMENT · 2.24</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Bug fix : Deadlocks et interblocages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Look-ahead asymétrique + KEEP_CLEAR + bris min(VIN)</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6949440" cy="4114800"/>
          </a:xfrm>
          <a:prstGeom prst="rect">
            <a:avLst/>
          </a:prstGeom>
          <a:noFill/>
        </p:spPr>
        <p:txBody>
          <a:bodyPr wrap="square">
            <a:spAutoFit/>
          </a:bodyPr>
          <a:lstStyle/>
          <a:p>
            <a:pPr algn="l">
              <a:spcAft>
                <a:spcPts val="400"/>
              </a:spcAft>
            </a:pPr>
            <a:r>
              <a:rPr sz="1300">
                <a:solidFill>
                  <a:srgbClr val="F2F4FA"/>
                </a:solidFill>
                <a:latin typeface="Calibri"/>
              </a:rPr>
              <a:t>•  Cas pathologique : 4 véhicules s'engagent, chacun bloque la sortie d'un autre.</a:t>
            </a:r>
          </a:p>
          <a:p>
            <a:pPr algn="l">
              <a:spcAft>
                <a:spcPts val="400"/>
              </a:spcAft>
            </a:pPr>
            <a:r>
              <a:rPr sz="1300">
                <a:solidFill>
                  <a:srgbClr val="F2F4FA"/>
                </a:solidFill>
                <a:latin typeface="Calibri"/>
              </a:rPr>
              <a:t>•  1. Look-ahead asymétrique : exige 1.5 × self.length libre devant.</a:t>
            </a:r>
          </a:p>
          <a:p>
            <a:pPr algn="l">
              <a:spcAft>
                <a:spcPts val="400"/>
              </a:spcAft>
            </a:pPr>
            <a:r>
              <a:rPr sz="1300">
                <a:solidFill>
                  <a:srgbClr val="F2F4FA"/>
                </a:solidFill>
                <a:latin typeface="Calibri"/>
              </a:rPr>
              <a:t>•  2. KEEP_CLEAR : reste à la ligne si exit lane saturée.</a:t>
            </a:r>
          </a:p>
          <a:p>
            <a:pPr algn="l">
              <a:spcAft>
                <a:spcPts val="400"/>
              </a:spcAft>
            </a:pPr>
            <a:r>
              <a:rPr sz="1300">
                <a:solidFill>
                  <a:srgbClr val="F2F4FA"/>
                </a:solidFill>
                <a:latin typeface="Calibri"/>
              </a:rPr>
              <a:t>•  3. Liveness guard : keepClearWaited_ &gt; KEEP_CLEAR_TIMEOUT (6s).</a:t>
            </a:r>
          </a:p>
          <a:p>
            <a:pPr algn="l">
              <a:spcAft>
                <a:spcPts val="400"/>
              </a:spcAft>
            </a:pPr>
            <a:r>
              <a:rPr sz="1300">
                <a:solidFill>
                  <a:srgbClr val="F2F4FA"/>
                </a:solidFill>
                <a:latin typeface="Calibri"/>
              </a:rPr>
              <a:t>•  4. isCircularGridlock() : graphe orienté des attentes.</a:t>
            </a:r>
          </a:p>
          <a:p>
            <a:pPr algn="l">
              <a:spcAft>
                <a:spcPts val="400"/>
              </a:spcAft>
            </a:pPr>
            <a:r>
              <a:rPr sz="1300">
                <a:solidFill>
                  <a:srgbClr val="F2F4FA"/>
                </a:solidFill>
                <a:latin typeface="Calibri"/>
              </a:rPr>
              <a:t>•  5. Bris déterministe : self.vehicleId == min(VIN du cycle) → engage.</a:t>
            </a:r>
          </a:p>
          <a:p>
            <a:pPr algn="l">
              <a:spcAft>
                <a:spcPts val="400"/>
              </a:spcAft>
            </a:pPr>
            <a:r>
              <a:rPr sz="1300">
                <a:solidFill>
                  <a:srgbClr val="F2F4FA"/>
                </a:solidFill>
                <a:latin typeface="Calibri"/>
              </a:rPr>
              <a:t>•  VIN est un compteur global déterministe → Monte-Carlo préservé.</a:t>
            </a:r>
          </a:p>
        </p:txBody>
      </p:sp>
      <p:sp>
        <p:nvSpPr>
          <p:cNvPr id="9" name="Rounded Rectangle 8"/>
          <p:cNvSpPr/>
          <p:nvPr/>
        </p:nvSpPr>
        <p:spPr>
          <a:xfrm>
            <a:off x="7680960" y="1920240"/>
            <a:ext cx="4114800" cy="411480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011680"/>
            <a:ext cx="3840480" cy="320040"/>
          </a:xfrm>
          <a:prstGeom prst="rect">
            <a:avLst/>
          </a:prstGeom>
          <a:noFill/>
        </p:spPr>
        <p:txBody>
          <a:bodyPr wrap="square" lIns="45720" rIns="45720" tIns="18288" bIns="18288">
            <a:spAutoFit/>
          </a:bodyPr>
          <a:lstStyle/>
          <a:p>
            <a:pPr algn="l"/>
            <a:r>
              <a:rPr sz="1300" b="1">
                <a:solidFill>
                  <a:srgbClr val="4CD97F"/>
                </a:solidFill>
                <a:latin typeface="Calibri"/>
              </a:rPr>
              <a:t>Invariants</a:t>
            </a:r>
          </a:p>
        </p:txBody>
      </p:sp>
      <p:sp>
        <p:nvSpPr>
          <p:cNvPr id="11" name="TextBox 10"/>
          <p:cNvSpPr txBox="1"/>
          <p:nvPr/>
        </p:nvSpPr>
        <p:spPr>
          <a:xfrm>
            <a:off x="7818120" y="2377440"/>
            <a:ext cx="3840480" cy="3611880"/>
          </a:xfrm>
          <a:prstGeom prst="rect">
            <a:avLst/>
          </a:prstGeom>
          <a:noFill/>
        </p:spPr>
        <p:txBody>
          <a:bodyPr wrap="square" lIns="45720" rIns="45720" tIns="18288" bIns="18288">
            <a:spAutoFit/>
          </a:bodyPr>
          <a:lstStyle/>
          <a:p>
            <a:pPr algn="l"/>
            <a:r>
              <a:rPr sz="1100" b="0">
                <a:solidFill>
                  <a:srgbClr val="F2F4FA"/>
                </a:solidFill>
                <a:latin typeface="Calibri"/>
              </a:rPr>
              <a:t>I1 — Aucun engagement sans capacité de sortie.</a:t>
            </a:r>
          </a:p>
          <a:p>
            <a:pPr algn="l"/>
            <a:r>
              <a:rPr sz="1100" b="0">
                <a:solidFill>
                  <a:srgbClr val="F2F4FA"/>
                </a:solidFill>
                <a:latin typeface="Calibri"/>
              </a:rPr>
              <a:t/>
            </a:r>
          </a:p>
          <a:p>
            <a:pPr algn="l"/>
            <a:r>
              <a:rPr sz="1100" b="0">
                <a:solidFill>
                  <a:srgbClr val="F2F4FA"/>
                </a:solidFill>
                <a:latin typeface="Calibri"/>
              </a:rPr>
              <a:t>I5 — Aucun cycle ne dure plus de KEEP_CLEAR_TIMEOUT secondes.</a:t>
            </a:r>
          </a:p>
          <a:p>
            <a:pPr algn="l"/>
            <a:r>
              <a:rPr sz="1100" b="0">
                <a:solidFill>
                  <a:srgbClr val="F2F4FA"/>
                </a:solidFill>
                <a:latin typeface="Calibri"/>
              </a:rPr>
              <a:t/>
            </a:r>
          </a:p>
          <a:p>
            <a:pPr algn="l"/>
            <a:r>
              <a:rPr sz="1100" b="0">
                <a:solidFill>
                  <a:srgbClr val="F2F4FA"/>
                </a:solidFill>
                <a:latin typeface="Calibri"/>
              </a:rPr>
              <a:t>Reproductibilité Monte-Carlo préservée par déterminisme du VIN.</a:t>
            </a:r>
          </a:p>
        </p:txBody>
      </p:sp>
      <p:sp>
        <p:nvSpPr>
          <p:cNvPr id="12" name="TextBox 11"/>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DÉVELOPPEMENT · 2.24</a:t>
            </a:r>
          </a:p>
        </p:txBody>
      </p:sp>
      <p:sp>
        <p:nvSpPr>
          <p:cNvPr id="13" name="TextBox 12"/>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39 / 66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DÉVELOPPEMENT · 2.25</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Bug fix : Ronds-points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Priorité absolue à l'anneau + commit dès la couronne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6949440" cy="4114800"/>
          </a:xfrm>
          <a:prstGeom prst="rect">
            <a:avLst/>
          </a:prstGeom>
          <a:noFill/>
        </p:spPr>
        <p:txBody>
          <a:bodyPr wrap="square">
            <a:spAutoFit/>
          </a:bodyPr>
          <a:lstStyle/>
          <a:p>
            <a:pPr algn="l">
              <a:spcAft>
                <a:spcPts val="400"/>
              </a:spcAft>
            </a:pPr>
            <a:r>
              <a:rPr sz="1300">
                <a:solidFill>
                  <a:srgbClr val="F2F4FA"/>
                </a:solidFill>
                <a:latin typeface="Calibri"/>
              </a:rPr>
              <a:t>•  Sans correction : véhicules sur l'anneau cèdent aux entrants → freeze.</a:t>
            </a:r>
          </a:p>
          <a:p>
            <a:pPr algn="l">
              <a:spcAft>
                <a:spcPts val="400"/>
              </a:spcAft>
            </a:pPr>
            <a:r>
              <a:rPr sz="1300">
                <a:solidFill>
                  <a:srgbClr val="F2F4FA"/>
                </a:solidFill>
                <a:latin typeface="Calibri"/>
              </a:rPr>
              <a:t>•  Règle 1 : tout véhicule physiquement sur l'anneau est PRIORITAIRE absolu.</a:t>
            </a:r>
          </a:p>
          <a:p>
            <a:pPr algn="l">
              <a:spcAft>
                <a:spcPts val="400"/>
              </a:spcAft>
            </a:pPr>
            <a:r>
              <a:rPr sz="1300">
                <a:solidFill>
                  <a:srgbClr val="F2F4FA"/>
                </a:solidFill>
                <a:latin typeface="Calibri"/>
              </a:rPr>
              <a:t>•  Règle 2 : isCommittedToPass = true dès l'entrée sur la couronne.</a:t>
            </a:r>
          </a:p>
          <a:p>
            <a:pPr algn="l">
              <a:spcAft>
                <a:spcPts val="400"/>
              </a:spcAft>
            </a:pPr>
            <a:r>
              <a:rPr sz="1300">
                <a:solidFill>
                  <a:srgbClr val="F2F4FA"/>
                </a:solidFill>
                <a:latin typeface="Calibri"/>
              </a:rPr>
              <a:t>•  Règle 3 : entrant cède selon véhicules INSIDE seulement.</a:t>
            </a:r>
          </a:p>
          <a:p>
            <a:pPr algn="l">
              <a:spcAft>
                <a:spcPts val="400"/>
              </a:spcAft>
            </a:pPr>
            <a:r>
              <a:rPr sz="1300">
                <a:solidFill>
                  <a:srgbClr val="F2F4FA"/>
                </a:solidFill>
                <a:latin typeface="Calibri"/>
              </a:rPr>
              <a:t>•  isOnRoundaboutRing(agent) = |distance(C, agent) - laneRadius| &lt; tileSize/2.</a:t>
            </a:r>
          </a:p>
          <a:p>
            <a:pPr algn="l">
              <a:spcAft>
                <a:spcPts val="400"/>
              </a:spcAft>
            </a:pPr>
            <a:r>
              <a:rPr sz="1300">
                <a:solidFill>
                  <a:srgbClr val="F2F4FA"/>
                </a:solidFill>
                <a:latin typeface="Calibri"/>
              </a:rPr>
              <a:t>•  Trajectoires : arcs tangentiels + Bézier quadratique d'entrée/sortie.</a:t>
            </a:r>
          </a:p>
        </p:txBody>
      </p:sp>
      <p:sp>
        <p:nvSpPr>
          <p:cNvPr id="9" name="Rounded Rectangle 8"/>
          <p:cNvSpPr/>
          <p:nvPr/>
        </p:nvSpPr>
        <p:spPr>
          <a:xfrm>
            <a:off x="7680960" y="1920240"/>
            <a:ext cx="4114800" cy="201168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011680"/>
            <a:ext cx="3840480" cy="320040"/>
          </a:xfrm>
          <a:prstGeom prst="rect">
            <a:avLst/>
          </a:prstGeom>
          <a:noFill/>
        </p:spPr>
        <p:txBody>
          <a:bodyPr wrap="square" lIns="45720" rIns="45720" tIns="18288" bIns="18288">
            <a:spAutoFit/>
          </a:bodyPr>
          <a:lstStyle/>
          <a:p>
            <a:pPr algn="l"/>
            <a:r>
              <a:rPr sz="1300" b="1">
                <a:solidFill>
                  <a:srgbClr val="4CD97F"/>
                </a:solidFill>
                <a:latin typeface="Calibri"/>
              </a:rPr>
              <a:t>Invariant I9</a:t>
            </a:r>
          </a:p>
        </p:txBody>
      </p:sp>
      <p:sp>
        <p:nvSpPr>
          <p:cNvPr id="11" name="TextBox 10"/>
          <p:cNvSpPr txBox="1"/>
          <p:nvPr/>
        </p:nvSpPr>
        <p:spPr>
          <a:xfrm>
            <a:off x="7818120" y="2377440"/>
            <a:ext cx="3840480" cy="1508760"/>
          </a:xfrm>
          <a:prstGeom prst="rect">
            <a:avLst/>
          </a:prstGeom>
          <a:noFill/>
        </p:spPr>
        <p:txBody>
          <a:bodyPr wrap="square" lIns="45720" rIns="45720" tIns="18288" bIns="18288">
            <a:spAutoFit/>
          </a:bodyPr>
          <a:lstStyle/>
          <a:p>
            <a:pPr algn="l"/>
            <a:r>
              <a:rPr sz="1100" b="0">
                <a:solidFill>
                  <a:srgbClr val="F2F4FA"/>
                </a:solidFill>
                <a:latin typeface="Calibri"/>
              </a:rPr>
              <a:t>Aucun véhicule sur l'anneau ne sera ralenti par un véhicule en approche.</a:t>
            </a:r>
          </a:p>
        </p:txBody>
      </p:sp>
      <p:sp>
        <p:nvSpPr>
          <p:cNvPr id="12" name="Rectangle 11"/>
          <p:cNvSpPr/>
          <p:nvPr/>
        </p:nvSpPr>
        <p:spPr>
          <a:xfrm>
            <a:off x="7680960" y="4023360"/>
            <a:ext cx="4114800" cy="228600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4937760"/>
            <a:ext cx="4114800" cy="457200"/>
          </a:xfrm>
          <a:prstGeom prst="rect">
            <a:avLst/>
          </a:prstGeom>
          <a:noFill/>
        </p:spPr>
        <p:txBody>
          <a:bodyPr wrap="square" lIns="45720" rIns="45720" tIns="18288" bIns="18288">
            <a:spAutoFit/>
          </a:bodyPr>
          <a:lstStyle/>
          <a:p>
            <a:pPr algn="ctr"/>
            <a:r>
              <a:rPr sz="1300" b="1">
                <a:solidFill>
                  <a:srgbClr val="3D9DF3"/>
                </a:solidFill>
                <a:latin typeface="Calibri"/>
              </a:rPr>
              <a:t>[ Capture : rond-point à 8 véhicules fluide ]</a:t>
            </a:r>
          </a:p>
        </p:txBody>
      </p:sp>
      <p:sp>
        <p:nvSpPr>
          <p:cNvPr id="14" name="TextBox 13"/>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DÉVELOPPEMENT · 2.25</a:t>
            </a:r>
          </a:p>
        </p:txBody>
      </p:sp>
      <p:sp>
        <p:nvSpPr>
          <p:cNvPr id="15" name="TextBox 14"/>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40 / 66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548640"/>
          </a:xfrm>
          <a:prstGeom prst="rect">
            <a:avLst/>
          </a:prstGeom>
          <a:noFill/>
        </p:spPr>
        <p:txBody>
          <a:bodyPr wrap="square" lIns="45720" rIns="45720" tIns="18288" bIns="18288">
            <a:spAutoFit/>
          </a:bodyPr>
          <a:lstStyle/>
          <a:p>
            <a:pPr algn="l"/>
            <a:r>
              <a:rPr sz="1800" b="1">
                <a:solidFill>
                  <a:srgbClr val="FFB73D"/>
                </a:solidFill>
                <a:latin typeface="Calibri"/>
              </a:rPr>
              <a:t>PARTIE 3</a:t>
            </a:r>
          </a:p>
        </p:txBody>
      </p:sp>
      <p:sp>
        <p:nvSpPr>
          <p:cNvPr id="4" name="TextBox 3"/>
          <p:cNvSpPr txBox="1"/>
          <p:nvPr/>
        </p:nvSpPr>
        <p:spPr>
          <a:xfrm>
            <a:off x="548640" y="2377440"/>
            <a:ext cx="10972800" cy="1280160"/>
          </a:xfrm>
          <a:prstGeom prst="rect">
            <a:avLst/>
          </a:prstGeom>
          <a:noFill/>
        </p:spPr>
        <p:txBody>
          <a:bodyPr wrap="square" lIns="45720" rIns="45720" tIns="18288" bIns="18288">
            <a:spAutoFit/>
          </a:bodyPr>
          <a:lstStyle/>
          <a:p>
            <a:pPr algn="l"/>
            <a:r>
              <a:rPr sz="4400" b="1">
                <a:solidFill>
                  <a:srgbClr val="F2F4FA"/>
                </a:solidFill>
                <a:latin typeface="Calibri"/>
              </a:rPr>
              <a:t>Observations scientifiques &amp; expériences</a:t>
            </a:r>
          </a:p>
        </p:txBody>
      </p:sp>
      <p:sp>
        <p:nvSpPr>
          <p:cNvPr id="5" name="TextBox 4"/>
          <p:cNvSpPr txBox="1"/>
          <p:nvPr/>
        </p:nvSpPr>
        <p:spPr>
          <a:xfrm>
            <a:off x="548640" y="3657600"/>
            <a:ext cx="10972800" cy="548640"/>
          </a:xfrm>
          <a:prstGeom prst="rect">
            <a:avLst/>
          </a:prstGeom>
          <a:noFill/>
        </p:spPr>
        <p:txBody>
          <a:bodyPr wrap="square" lIns="45720" rIns="45720" tIns="18288" bIns="18288">
            <a:spAutoFit/>
          </a:bodyPr>
          <a:lstStyle/>
          <a:p>
            <a:pPr algn="l"/>
            <a:r>
              <a:rPr sz="1600" b="0">
                <a:solidFill>
                  <a:srgbClr val="8A90A8"/>
                </a:solidFill>
                <a:latin typeface="Calibri"/>
              </a:rPr>
              <a:t>Monte-Carlo, métriques, comportements émergents, confrontation littérature</a:t>
            </a:r>
          </a:p>
        </p:txBody>
      </p:sp>
      <p:sp>
        <p:nvSpPr>
          <p:cNvPr id="6" name="Rectangle 5"/>
          <p:cNvSpPr/>
          <p:nvPr/>
        </p:nvSpPr>
        <p:spPr>
          <a:xfrm>
            <a:off x="548640" y="4434840"/>
            <a:ext cx="2286000" cy="4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Partie 3</a:t>
            </a:r>
          </a:p>
        </p:txBody>
      </p:sp>
      <p:sp>
        <p:nvSpPr>
          <p:cNvPr id="8" name="TextBox 7"/>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41 / 66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EXPÉRIENCES · 3.1</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Banc d'essai Monte-Carlo</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Du simulateur à l'instrument scientifique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100584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Mode headless</a:t>
            </a:r>
          </a:p>
        </p:txBody>
      </p:sp>
      <p:sp>
        <p:nvSpPr>
          <p:cNvPr id="10" name="TextBox 9"/>
          <p:cNvSpPr txBox="1"/>
          <p:nvPr/>
        </p:nvSpPr>
        <p:spPr>
          <a:xfrm>
            <a:off x="685800" y="2377440"/>
            <a:ext cx="10972800" cy="502920"/>
          </a:xfrm>
          <a:prstGeom prst="rect">
            <a:avLst/>
          </a:prstGeom>
          <a:noFill/>
        </p:spPr>
        <p:txBody>
          <a:bodyPr wrap="square" lIns="45720" rIns="45720" tIns="18288" bIns="18288">
            <a:spAutoFit/>
          </a:bodyPr>
          <a:lstStyle/>
          <a:p>
            <a:pPr algn="l"/>
            <a:r>
              <a:rPr sz="1100" b="0">
                <a:solidFill>
                  <a:srgbClr val="F2F4FA"/>
                </a:solidFill>
                <a:latin typeface="Calibri"/>
              </a:rPr>
              <a:t>NullRenderer + thread dédié → des dizaines de runs en arrière-plan sans bloquer l'UI principale. core/ 100% SFML-free.</a:t>
            </a:r>
          </a:p>
        </p:txBody>
      </p:sp>
      <p:sp>
        <p:nvSpPr>
          <p:cNvPr id="11" name="Rounded Rectangle 10"/>
          <p:cNvSpPr/>
          <p:nvPr/>
        </p:nvSpPr>
        <p:spPr>
          <a:xfrm>
            <a:off x="548640" y="3017520"/>
            <a:ext cx="11247120" cy="100584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10896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ExperimentRunner</a:t>
            </a:r>
          </a:p>
        </p:txBody>
      </p:sp>
      <p:sp>
        <p:nvSpPr>
          <p:cNvPr id="13" name="TextBox 12"/>
          <p:cNvSpPr txBox="1"/>
          <p:nvPr/>
        </p:nvSpPr>
        <p:spPr>
          <a:xfrm>
            <a:off x="685800" y="3474720"/>
            <a:ext cx="10972800" cy="502920"/>
          </a:xfrm>
          <a:prstGeom prst="rect">
            <a:avLst/>
          </a:prstGeom>
          <a:noFill/>
        </p:spPr>
        <p:txBody>
          <a:bodyPr wrap="square" lIns="45720" rIns="45720" tIns="18288" bIns="18288">
            <a:spAutoFit/>
          </a:bodyPr>
          <a:lstStyle/>
          <a:p>
            <a:pPr algn="l"/>
            <a:r>
              <a:rPr sz="1100" b="0">
                <a:solidFill>
                  <a:srgbClr val="F2F4FA"/>
                </a:solidFill>
                <a:latin typeface="Calibri"/>
              </a:rPr>
              <a:t>Boucle : densité ∈ {0.1, 0.2, ..., 0.8} véh/s × stratégie ∈ {10 régulations} × runsPerPoint. Output : vector&lt;ResultRow&gt;.</a:t>
            </a:r>
          </a:p>
        </p:txBody>
      </p:sp>
      <p:sp>
        <p:nvSpPr>
          <p:cNvPr id="14" name="Rounded Rectangle 13"/>
          <p:cNvSpPr/>
          <p:nvPr/>
        </p:nvSpPr>
        <p:spPr>
          <a:xfrm>
            <a:off x="548640" y="4114800"/>
            <a:ext cx="11247120" cy="100584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20624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Mode Monte-Carlo Live</a:t>
            </a:r>
          </a:p>
        </p:txBody>
      </p:sp>
      <p:sp>
        <p:nvSpPr>
          <p:cNvPr id="16" name="TextBox 15"/>
          <p:cNvSpPr txBox="1"/>
          <p:nvPr/>
        </p:nvSpPr>
        <p:spPr>
          <a:xfrm>
            <a:off x="685800" y="4572000"/>
            <a:ext cx="10972800" cy="502920"/>
          </a:xfrm>
          <a:prstGeom prst="rect">
            <a:avLst/>
          </a:prstGeom>
          <a:noFill/>
        </p:spPr>
        <p:txBody>
          <a:bodyPr wrap="square" lIns="45720" rIns="45720" tIns="18288" bIns="18288">
            <a:spAutoFit/>
          </a:bodyPr>
          <a:lstStyle/>
          <a:p>
            <a:pPr algn="l"/>
            <a:r>
              <a:rPr sz="1100" b="0">
                <a:solidFill>
                  <a:srgbClr val="F2F4FA"/>
                </a:solidFill>
                <a:latin typeface="Calibri"/>
              </a:rPr>
              <a:t>Injection stochastique pendant simulation visuelle. SpawnProfile pondéré (wCar, wTruck, wNormal/Aggressive/Calm), gaussienne sur paramètres IDM.</a:t>
            </a:r>
          </a:p>
        </p:txBody>
      </p:sp>
      <p:sp>
        <p:nvSpPr>
          <p:cNvPr id="17" name="Rectangle 16"/>
          <p:cNvSpPr/>
          <p:nvPr/>
        </p:nvSpPr>
        <p:spPr>
          <a:xfrm>
            <a:off x="548640" y="5257800"/>
            <a:ext cx="11247120" cy="128016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6928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panneau Monte-Carlo + barre progression runs ]</a:t>
            </a:r>
          </a:p>
        </p:txBody>
      </p:sp>
      <p:sp>
        <p:nvSpPr>
          <p:cNvPr id="19" name="TextBox 1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EXPÉRIENCES · 3.1</a:t>
            </a:r>
          </a:p>
        </p:txBody>
      </p:sp>
      <p:sp>
        <p:nvSpPr>
          <p:cNvPr id="20" name="TextBox 1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42 / 66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EXPÉRIENCES · 3.2</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Hypothèse scientifique principale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Point d'inflexion entre P2P et priorité fixe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146304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3D9DF3"/>
                </a:solidFill>
                <a:latin typeface="Calibri"/>
              </a:rPr>
              <a:t>H1 — Inversion d'efficacité densité-dépendante</a:t>
            </a:r>
          </a:p>
        </p:txBody>
      </p:sp>
      <p:sp>
        <p:nvSpPr>
          <p:cNvPr id="10" name="TextBox 9"/>
          <p:cNvSpPr txBox="1"/>
          <p:nvPr/>
        </p:nvSpPr>
        <p:spPr>
          <a:xfrm>
            <a:off x="685800" y="2377440"/>
            <a:ext cx="10972800" cy="960120"/>
          </a:xfrm>
          <a:prstGeom prst="rect">
            <a:avLst/>
          </a:prstGeom>
          <a:noFill/>
        </p:spPr>
        <p:txBody>
          <a:bodyPr wrap="square" lIns="45720" rIns="45720" tIns="18288" bIns="18288">
            <a:spAutoFit/>
          </a:bodyPr>
          <a:lstStyle/>
          <a:p>
            <a:pPr algn="l"/>
            <a:r>
              <a:rPr sz="1100" b="0">
                <a:solidFill>
                  <a:srgbClr val="F2F4FA"/>
                </a:solidFill>
                <a:latin typeface="Calibri"/>
              </a:rPr>
              <a:t>À faible densité, P2P décentralisé domine la priorité fixe (zéro attente inutile). À forte densité (au-delà de ~0.35 véh/s/voie selon VanMiddlesworth), P2P sature dans des invalidations mutuelles et dégénère vers four-way stop ; la priorité fixe redevient supérieure.</a:t>
            </a:r>
          </a:p>
        </p:txBody>
      </p:sp>
      <p:sp>
        <p:nvSpPr>
          <p:cNvPr id="11" name="Rounded Rectangle 10"/>
          <p:cNvSpPr/>
          <p:nvPr/>
        </p:nvSpPr>
        <p:spPr>
          <a:xfrm>
            <a:off x="548640" y="3520440"/>
            <a:ext cx="11247120" cy="91440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611880"/>
            <a:ext cx="10972800" cy="320040"/>
          </a:xfrm>
          <a:prstGeom prst="rect">
            <a:avLst/>
          </a:prstGeom>
          <a:noFill/>
        </p:spPr>
        <p:txBody>
          <a:bodyPr wrap="square" lIns="45720" rIns="45720" tIns="18288" bIns="18288">
            <a:spAutoFit/>
          </a:bodyPr>
          <a:lstStyle/>
          <a:p>
            <a:pPr algn="l"/>
            <a:r>
              <a:rPr sz="1300" b="1">
                <a:solidFill>
                  <a:srgbClr val="FFB73D"/>
                </a:solidFill>
                <a:latin typeface="Calibri"/>
              </a:rPr>
              <a:t>H2 — Métriques de sécurité</a:t>
            </a:r>
          </a:p>
        </p:txBody>
      </p:sp>
      <p:sp>
        <p:nvSpPr>
          <p:cNvPr id="13" name="TextBox 12"/>
          <p:cNvSpPr txBox="1"/>
          <p:nvPr/>
        </p:nvSpPr>
        <p:spPr>
          <a:xfrm>
            <a:off x="685800" y="3977640"/>
            <a:ext cx="10972800" cy="411480"/>
          </a:xfrm>
          <a:prstGeom prst="rect">
            <a:avLst/>
          </a:prstGeom>
          <a:noFill/>
        </p:spPr>
        <p:txBody>
          <a:bodyPr wrap="square" lIns="45720" rIns="45720" tIns="18288" bIns="18288">
            <a:spAutoFit/>
          </a:bodyPr>
          <a:lstStyle/>
          <a:p>
            <a:pPr algn="l"/>
            <a:r>
              <a:rPr sz="1100" b="0">
                <a:solidFill>
                  <a:srgbClr val="F2F4FA"/>
                </a:solidFill>
                <a:latin typeface="Calibri"/>
              </a:rPr>
              <a:t>AIM et Virtual Platoon maintiennent un TTC &gt; 1.5 s même à haute densité, là où P2P enregistre des incidents critiques.</a:t>
            </a:r>
          </a:p>
        </p:txBody>
      </p:sp>
      <p:sp>
        <p:nvSpPr>
          <p:cNvPr id="14" name="Rounded Rectangle 13"/>
          <p:cNvSpPr/>
          <p:nvPr/>
        </p:nvSpPr>
        <p:spPr>
          <a:xfrm>
            <a:off x="548640" y="4572000"/>
            <a:ext cx="11247120" cy="91440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63440"/>
            <a:ext cx="10972800" cy="320040"/>
          </a:xfrm>
          <a:prstGeom prst="rect">
            <a:avLst/>
          </a:prstGeom>
          <a:noFill/>
        </p:spPr>
        <p:txBody>
          <a:bodyPr wrap="square" lIns="45720" rIns="45720" tIns="18288" bIns="18288">
            <a:spAutoFit/>
          </a:bodyPr>
          <a:lstStyle/>
          <a:p>
            <a:pPr algn="l"/>
            <a:r>
              <a:rPr sz="1300" b="1">
                <a:solidFill>
                  <a:srgbClr val="4CD97F"/>
                </a:solidFill>
                <a:latin typeface="Calibri"/>
              </a:rPr>
              <a:t>H3 — Confort passager</a:t>
            </a:r>
          </a:p>
        </p:txBody>
      </p:sp>
      <p:sp>
        <p:nvSpPr>
          <p:cNvPr id="16" name="TextBox 15"/>
          <p:cNvSpPr txBox="1"/>
          <p:nvPr/>
        </p:nvSpPr>
        <p:spPr>
          <a:xfrm>
            <a:off x="685800" y="5029200"/>
            <a:ext cx="10972800" cy="411480"/>
          </a:xfrm>
          <a:prstGeom prst="rect">
            <a:avLst/>
          </a:prstGeom>
          <a:noFill/>
        </p:spPr>
        <p:txBody>
          <a:bodyPr wrap="square" lIns="45720" rIns="45720" tIns="18288" bIns="18288">
            <a:spAutoFit/>
          </a:bodyPr>
          <a:lstStyle/>
          <a:p>
            <a:pPr algn="l"/>
            <a:r>
              <a:rPr sz="1100" b="0">
                <a:solidFill>
                  <a:srgbClr val="F2F4FA"/>
                </a:solidFill>
                <a:latin typeface="Calibri"/>
              </a:rPr>
              <a:t>ORCA et Virtual Platoon minimisent le jerk accumulé vs STOP / TRAFFIC_LIGHT (qui imposent des cycles arrêt/redémarrage).</a:t>
            </a:r>
          </a:p>
        </p:txBody>
      </p:sp>
      <p:sp>
        <p:nvSpPr>
          <p:cNvPr id="17" name="TextBox 16"/>
          <p:cNvSpPr txBox="1"/>
          <p:nvPr/>
        </p:nvSpPr>
        <p:spPr>
          <a:xfrm>
            <a:off x="548640" y="5669280"/>
            <a:ext cx="11247120" cy="457200"/>
          </a:xfrm>
          <a:prstGeom prst="rect">
            <a:avLst/>
          </a:prstGeom>
          <a:noFill/>
        </p:spPr>
        <p:txBody>
          <a:bodyPr wrap="square" lIns="45720" rIns="45720" tIns="18288" bIns="18288">
            <a:spAutoFit/>
          </a:bodyPr>
          <a:lstStyle/>
          <a:p>
            <a:pPr algn="l"/>
            <a:r>
              <a:rPr sz="1200" b="0">
                <a:solidFill>
                  <a:srgbClr val="8A90A8"/>
                </a:solidFill>
                <a:latin typeface="Calibri"/>
              </a:rPr>
              <a:t>Test statistique : différence de moyennes par densité, IC 95% sur N runs Monte-Carlo.</a:t>
            </a:r>
          </a:p>
        </p:txBody>
      </p:sp>
      <p:sp>
        <p:nvSpPr>
          <p:cNvPr id="18" name="TextBox 17"/>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EXPÉRIENCES · 3.2</a:t>
            </a:r>
          </a:p>
        </p:txBody>
      </p:sp>
      <p:sp>
        <p:nvSpPr>
          <p:cNvPr id="19" name="TextBox 18"/>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43 / 66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EXPÉRIENCES · 3.3</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Métriques instrumentées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6 implémentées + 6 à étendre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74519"/>
            <a:ext cx="5486400" cy="365760"/>
          </a:xfrm>
          <a:prstGeom prst="rect">
            <a:avLst/>
          </a:prstGeom>
          <a:noFill/>
        </p:spPr>
        <p:txBody>
          <a:bodyPr wrap="square" lIns="45720" rIns="45720" tIns="18288" bIns="18288">
            <a:spAutoFit/>
          </a:bodyPr>
          <a:lstStyle/>
          <a:p>
            <a:pPr algn="l"/>
            <a:r>
              <a:rPr sz="1300" b="1">
                <a:solidFill>
                  <a:srgbClr val="4CD97F"/>
                </a:solidFill>
                <a:latin typeface="Calibri"/>
              </a:rPr>
              <a:t>✅ Implémentées dans MetricsCollector</a:t>
            </a:r>
          </a:p>
        </p:txBody>
      </p:sp>
      <p:sp>
        <p:nvSpPr>
          <p:cNvPr id="9" name="TextBox 8"/>
          <p:cNvSpPr txBox="1"/>
          <p:nvPr/>
        </p:nvSpPr>
        <p:spPr>
          <a:xfrm>
            <a:off x="6263640" y="1874519"/>
            <a:ext cx="5486400" cy="365760"/>
          </a:xfrm>
          <a:prstGeom prst="rect">
            <a:avLst/>
          </a:prstGeom>
          <a:noFill/>
        </p:spPr>
        <p:txBody>
          <a:bodyPr wrap="square" lIns="45720" rIns="45720" tIns="18288" bIns="18288">
            <a:spAutoFit/>
          </a:bodyPr>
          <a:lstStyle/>
          <a:p>
            <a:pPr algn="l"/>
            <a:r>
              <a:rPr sz="1300" b="1">
                <a:solidFill>
                  <a:srgbClr val="FFB73D"/>
                </a:solidFill>
                <a:latin typeface="Calibri"/>
              </a:rPr>
              <a:t>⬜ À ajouter (extensions)</a:t>
            </a:r>
          </a:p>
        </p:txBody>
      </p:sp>
      <p:sp>
        <p:nvSpPr>
          <p:cNvPr id="10" name="Rounded Rectangle 9"/>
          <p:cNvSpPr/>
          <p:nvPr/>
        </p:nvSpPr>
        <p:spPr>
          <a:xfrm>
            <a:off x="548640" y="2286000"/>
            <a:ext cx="5486400" cy="54864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377440"/>
            <a:ext cx="5212080" cy="320040"/>
          </a:xfrm>
          <a:prstGeom prst="rect">
            <a:avLst/>
          </a:prstGeom>
          <a:noFill/>
        </p:spPr>
        <p:txBody>
          <a:bodyPr wrap="square" lIns="45720" rIns="45720" tIns="18288" bIns="18288">
            <a:spAutoFit/>
          </a:bodyPr>
          <a:lstStyle/>
          <a:p>
            <a:pPr algn="l"/>
            <a:r>
              <a:rPr sz="1300" b="1">
                <a:solidFill>
                  <a:srgbClr val="4CD97F"/>
                </a:solidFill>
                <a:latin typeface="Calibri"/>
              </a:rPr>
              <a:t>Throughput</a:t>
            </a:r>
          </a:p>
        </p:txBody>
      </p:sp>
      <p:sp>
        <p:nvSpPr>
          <p:cNvPr id="12" name="TextBox 11"/>
          <p:cNvSpPr txBox="1"/>
          <p:nvPr/>
        </p:nvSpPr>
        <p:spPr>
          <a:xfrm>
            <a:off x="685800" y="2743200"/>
            <a:ext cx="5212080" cy="45720"/>
          </a:xfrm>
          <a:prstGeom prst="rect">
            <a:avLst/>
          </a:prstGeom>
          <a:noFill/>
        </p:spPr>
        <p:txBody>
          <a:bodyPr wrap="square" lIns="45720" rIns="45720" tIns="18288" bIns="18288">
            <a:spAutoFit/>
          </a:bodyPr>
          <a:lstStyle/>
          <a:p>
            <a:pPr algn="l"/>
            <a:r>
              <a:rPr sz="1100" b="0">
                <a:solidFill>
                  <a:srgbClr val="F2F4FA"/>
                </a:solidFill>
                <a:latin typeface="Calibri"/>
              </a:rPr>
              <a:t>véh/min (fenêtre 60s)</a:t>
            </a:r>
          </a:p>
        </p:txBody>
      </p:sp>
      <p:sp>
        <p:nvSpPr>
          <p:cNvPr id="13" name="Rounded Rectangle 12"/>
          <p:cNvSpPr/>
          <p:nvPr/>
        </p:nvSpPr>
        <p:spPr>
          <a:xfrm>
            <a:off x="6263640" y="2286000"/>
            <a:ext cx="5532120" cy="54864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377440"/>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Block reason dist.</a:t>
            </a:r>
          </a:p>
        </p:txBody>
      </p:sp>
      <p:sp>
        <p:nvSpPr>
          <p:cNvPr id="15" name="TextBox 14"/>
          <p:cNvSpPr txBox="1"/>
          <p:nvPr/>
        </p:nvSpPr>
        <p:spPr>
          <a:xfrm>
            <a:off x="6400800" y="2743200"/>
            <a:ext cx="5257800" cy="45720"/>
          </a:xfrm>
          <a:prstGeom prst="rect">
            <a:avLst/>
          </a:prstGeom>
          <a:noFill/>
        </p:spPr>
        <p:txBody>
          <a:bodyPr wrap="square" lIns="45720" rIns="45720" tIns="18288" bIns="18288">
            <a:spAutoFit/>
          </a:bodyPr>
          <a:lstStyle/>
          <a:p>
            <a:pPr algn="l"/>
            <a:r>
              <a:rPr sz="1100" b="0">
                <a:solidFill>
                  <a:srgbClr val="F2F4FA"/>
                </a:solidFill>
                <a:latin typeface="Calibri"/>
              </a:rPr>
              <a:t>% par catégorie BR</a:t>
            </a:r>
          </a:p>
        </p:txBody>
      </p:sp>
      <p:sp>
        <p:nvSpPr>
          <p:cNvPr id="16" name="Rounded Rectangle 15"/>
          <p:cNvSpPr/>
          <p:nvPr/>
        </p:nvSpPr>
        <p:spPr>
          <a:xfrm>
            <a:off x="548640" y="2944368"/>
            <a:ext cx="5486400" cy="54864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035808"/>
            <a:ext cx="5212080" cy="320040"/>
          </a:xfrm>
          <a:prstGeom prst="rect">
            <a:avLst/>
          </a:prstGeom>
          <a:noFill/>
        </p:spPr>
        <p:txBody>
          <a:bodyPr wrap="square" lIns="45720" rIns="45720" tIns="18288" bIns="18288">
            <a:spAutoFit/>
          </a:bodyPr>
          <a:lstStyle/>
          <a:p>
            <a:pPr algn="l"/>
            <a:r>
              <a:rPr sz="1300" b="1">
                <a:solidFill>
                  <a:srgbClr val="4CD97F"/>
                </a:solidFill>
                <a:latin typeface="Calibri"/>
              </a:rPr>
              <a:t>Mean delay</a:t>
            </a:r>
          </a:p>
        </p:txBody>
      </p:sp>
      <p:sp>
        <p:nvSpPr>
          <p:cNvPr id="18" name="TextBox 17"/>
          <p:cNvSpPr txBox="1"/>
          <p:nvPr/>
        </p:nvSpPr>
        <p:spPr>
          <a:xfrm>
            <a:off x="685800" y="3401568"/>
            <a:ext cx="5212080" cy="45720"/>
          </a:xfrm>
          <a:prstGeom prst="rect">
            <a:avLst/>
          </a:prstGeom>
          <a:noFill/>
        </p:spPr>
        <p:txBody>
          <a:bodyPr wrap="square" lIns="45720" rIns="45720" tIns="18288" bIns="18288">
            <a:spAutoFit/>
          </a:bodyPr>
          <a:lstStyle/>
          <a:p>
            <a:pPr algn="l"/>
            <a:r>
              <a:rPr sz="1100" b="0">
                <a:solidFill>
                  <a:srgbClr val="F2F4FA"/>
                </a:solidFill>
                <a:latin typeface="Calibri"/>
              </a:rPr>
              <a:t>Δt vs free-flow</a:t>
            </a:r>
          </a:p>
        </p:txBody>
      </p:sp>
      <p:sp>
        <p:nvSpPr>
          <p:cNvPr id="19" name="Rounded Rectangle 18"/>
          <p:cNvSpPr/>
          <p:nvPr/>
        </p:nvSpPr>
        <p:spPr>
          <a:xfrm>
            <a:off x="6263640" y="2944368"/>
            <a:ext cx="5532120" cy="54864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035808"/>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Intersection occupancy</a:t>
            </a:r>
          </a:p>
        </p:txBody>
      </p:sp>
      <p:sp>
        <p:nvSpPr>
          <p:cNvPr id="21" name="TextBox 20"/>
          <p:cNvSpPr txBox="1"/>
          <p:nvPr/>
        </p:nvSpPr>
        <p:spPr>
          <a:xfrm>
            <a:off x="6400800" y="3401568"/>
            <a:ext cx="5257800" cy="45720"/>
          </a:xfrm>
          <a:prstGeom prst="rect">
            <a:avLst/>
          </a:prstGeom>
          <a:noFill/>
        </p:spPr>
        <p:txBody>
          <a:bodyPr wrap="square" lIns="45720" rIns="45720" tIns="18288" bIns="18288">
            <a:spAutoFit/>
          </a:bodyPr>
          <a:lstStyle/>
          <a:p>
            <a:pPr algn="l"/>
            <a:r>
              <a:rPr sz="1100" b="0">
                <a:solidFill>
                  <a:srgbClr val="F2F4FA"/>
                </a:solidFill>
                <a:latin typeface="Calibri"/>
              </a:rPr>
              <a:t>% temps occupé</a:t>
            </a:r>
          </a:p>
        </p:txBody>
      </p:sp>
      <p:sp>
        <p:nvSpPr>
          <p:cNvPr id="22" name="Rounded Rectangle 21"/>
          <p:cNvSpPr/>
          <p:nvPr/>
        </p:nvSpPr>
        <p:spPr>
          <a:xfrm>
            <a:off x="548640" y="3602736"/>
            <a:ext cx="5486400" cy="54864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694176"/>
            <a:ext cx="5212080" cy="320040"/>
          </a:xfrm>
          <a:prstGeom prst="rect">
            <a:avLst/>
          </a:prstGeom>
          <a:noFill/>
        </p:spPr>
        <p:txBody>
          <a:bodyPr wrap="square" lIns="45720" rIns="45720" tIns="18288" bIns="18288">
            <a:spAutoFit/>
          </a:bodyPr>
          <a:lstStyle/>
          <a:p>
            <a:pPr algn="l"/>
            <a:r>
              <a:rPr sz="1300" b="1">
                <a:solidFill>
                  <a:srgbClr val="4CD97F"/>
                </a:solidFill>
                <a:latin typeface="Calibri"/>
              </a:rPr>
              <a:t>Mean speed</a:t>
            </a:r>
          </a:p>
        </p:txBody>
      </p:sp>
      <p:sp>
        <p:nvSpPr>
          <p:cNvPr id="24" name="TextBox 23"/>
          <p:cNvSpPr txBox="1"/>
          <p:nvPr/>
        </p:nvSpPr>
        <p:spPr>
          <a:xfrm>
            <a:off x="685800" y="4059936"/>
            <a:ext cx="5212080" cy="45720"/>
          </a:xfrm>
          <a:prstGeom prst="rect">
            <a:avLst/>
          </a:prstGeom>
          <a:noFill/>
        </p:spPr>
        <p:txBody>
          <a:bodyPr wrap="square" lIns="45720" rIns="45720" tIns="18288" bIns="18288">
            <a:spAutoFit/>
          </a:bodyPr>
          <a:lstStyle/>
          <a:p>
            <a:pPr algn="l"/>
            <a:r>
              <a:rPr sz="1100" b="0">
                <a:solidFill>
                  <a:srgbClr val="F2F4FA"/>
                </a:solidFill>
                <a:latin typeface="Calibri"/>
              </a:rPr>
              <a:t>moy. véhicules actifs</a:t>
            </a:r>
          </a:p>
        </p:txBody>
      </p:sp>
      <p:sp>
        <p:nvSpPr>
          <p:cNvPr id="25" name="Rounded Rectangle 24"/>
          <p:cNvSpPr/>
          <p:nvPr/>
        </p:nvSpPr>
        <p:spPr>
          <a:xfrm>
            <a:off x="6263640" y="3602736"/>
            <a:ext cx="5532120" cy="54864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694176"/>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Queue length</a:t>
            </a:r>
          </a:p>
        </p:txBody>
      </p:sp>
      <p:sp>
        <p:nvSpPr>
          <p:cNvPr id="27" name="TextBox 26"/>
          <p:cNvSpPr txBox="1"/>
          <p:nvPr/>
        </p:nvSpPr>
        <p:spPr>
          <a:xfrm>
            <a:off x="6400800" y="4059936"/>
            <a:ext cx="5257800" cy="45720"/>
          </a:xfrm>
          <a:prstGeom prst="rect">
            <a:avLst/>
          </a:prstGeom>
          <a:noFill/>
        </p:spPr>
        <p:txBody>
          <a:bodyPr wrap="square" lIns="45720" rIns="45720" tIns="18288" bIns="18288">
            <a:spAutoFit/>
          </a:bodyPr>
          <a:lstStyle/>
          <a:p>
            <a:pPr algn="l"/>
            <a:r>
              <a:rPr sz="1100" b="0">
                <a:solidFill>
                  <a:srgbClr val="F2F4FA"/>
                </a:solidFill>
                <a:latin typeface="Calibri"/>
              </a:rPr>
              <a:t>par approche</a:t>
            </a:r>
          </a:p>
        </p:txBody>
      </p:sp>
      <p:sp>
        <p:nvSpPr>
          <p:cNvPr id="28" name="Rounded Rectangle 27"/>
          <p:cNvSpPr/>
          <p:nvPr/>
        </p:nvSpPr>
        <p:spPr>
          <a:xfrm>
            <a:off x="548640" y="4261104"/>
            <a:ext cx="5486400" cy="54864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352544"/>
            <a:ext cx="5212080" cy="320040"/>
          </a:xfrm>
          <a:prstGeom prst="rect">
            <a:avLst/>
          </a:prstGeom>
          <a:noFill/>
        </p:spPr>
        <p:txBody>
          <a:bodyPr wrap="square" lIns="45720" rIns="45720" tIns="18288" bIns="18288">
            <a:spAutoFit/>
          </a:bodyPr>
          <a:lstStyle/>
          <a:p>
            <a:pPr algn="l"/>
            <a:r>
              <a:rPr sz="1300" b="1">
                <a:solidFill>
                  <a:srgbClr val="4CD97F"/>
                </a:solidFill>
                <a:latin typeface="Calibri"/>
              </a:rPr>
              <a:t>Min TTC</a:t>
            </a:r>
          </a:p>
        </p:txBody>
      </p:sp>
      <p:sp>
        <p:nvSpPr>
          <p:cNvPr id="30" name="TextBox 29"/>
          <p:cNvSpPr txBox="1"/>
          <p:nvPr/>
        </p:nvSpPr>
        <p:spPr>
          <a:xfrm>
            <a:off x="685800" y="4718304"/>
            <a:ext cx="5212080" cy="45720"/>
          </a:xfrm>
          <a:prstGeom prst="rect">
            <a:avLst/>
          </a:prstGeom>
          <a:noFill/>
        </p:spPr>
        <p:txBody>
          <a:bodyPr wrap="square" lIns="45720" rIns="45720" tIns="18288" bIns="18288">
            <a:spAutoFit/>
          </a:bodyPr>
          <a:lstStyle/>
          <a:p>
            <a:pPr algn="l"/>
            <a:r>
              <a:rPr sz="1100" b="0">
                <a:solidFill>
                  <a:srgbClr val="F2F4FA"/>
                </a:solidFill>
                <a:latin typeface="Calibri"/>
              </a:rPr>
              <a:t>min sur paires</a:t>
            </a:r>
          </a:p>
        </p:txBody>
      </p:sp>
      <p:sp>
        <p:nvSpPr>
          <p:cNvPr id="31" name="Rounded Rectangle 30"/>
          <p:cNvSpPr/>
          <p:nvPr/>
        </p:nvSpPr>
        <p:spPr>
          <a:xfrm>
            <a:off x="6263640" y="4261104"/>
            <a:ext cx="5532120" cy="54864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4352544"/>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Mean waiting time</a:t>
            </a:r>
          </a:p>
        </p:txBody>
      </p:sp>
      <p:sp>
        <p:nvSpPr>
          <p:cNvPr id="33" name="TextBox 32"/>
          <p:cNvSpPr txBox="1"/>
          <p:nvPr/>
        </p:nvSpPr>
        <p:spPr>
          <a:xfrm>
            <a:off x="6400800" y="4718304"/>
            <a:ext cx="5257800" cy="45720"/>
          </a:xfrm>
          <a:prstGeom prst="rect">
            <a:avLst/>
          </a:prstGeom>
          <a:noFill/>
        </p:spPr>
        <p:txBody>
          <a:bodyPr wrap="square" lIns="45720" rIns="45720" tIns="18288" bIns="18288">
            <a:spAutoFit/>
          </a:bodyPr>
          <a:lstStyle/>
          <a:p>
            <a:pPr algn="l"/>
            <a:r>
              <a:rPr sz="1100" b="0">
                <a:solidFill>
                  <a:srgbClr val="F2F4FA"/>
                </a:solidFill>
                <a:latin typeface="Calibri"/>
              </a:rPr>
              <a:t>par intersection</a:t>
            </a:r>
          </a:p>
        </p:txBody>
      </p:sp>
      <p:sp>
        <p:nvSpPr>
          <p:cNvPr id="34" name="Rounded Rectangle 33"/>
          <p:cNvSpPr/>
          <p:nvPr/>
        </p:nvSpPr>
        <p:spPr>
          <a:xfrm>
            <a:off x="548640" y="4919472"/>
            <a:ext cx="5486400" cy="54864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5010912"/>
            <a:ext cx="5212080" cy="320040"/>
          </a:xfrm>
          <a:prstGeom prst="rect">
            <a:avLst/>
          </a:prstGeom>
          <a:noFill/>
        </p:spPr>
        <p:txBody>
          <a:bodyPr wrap="square" lIns="45720" rIns="45720" tIns="18288" bIns="18288">
            <a:spAutoFit/>
          </a:bodyPr>
          <a:lstStyle/>
          <a:p>
            <a:pPr algn="l"/>
            <a:r>
              <a:rPr sz="1300" b="1">
                <a:solidFill>
                  <a:srgbClr val="4CD97F"/>
                </a:solidFill>
                <a:latin typeface="Calibri"/>
              </a:rPr>
              <a:t>TTC violations</a:t>
            </a:r>
          </a:p>
        </p:txBody>
      </p:sp>
      <p:sp>
        <p:nvSpPr>
          <p:cNvPr id="36" name="TextBox 35"/>
          <p:cNvSpPr txBox="1"/>
          <p:nvPr/>
        </p:nvSpPr>
        <p:spPr>
          <a:xfrm>
            <a:off x="685800" y="5376672"/>
            <a:ext cx="5212080" cy="45720"/>
          </a:xfrm>
          <a:prstGeom prst="rect">
            <a:avLst/>
          </a:prstGeom>
          <a:noFill/>
        </p:spPr>
        <p:txBody>
          <a:bodyPr wrap="square" lIns="45720" rIns="45720" tIns="18288" bIns="18288">
            <a:spAutoFit/>
          </a:bodyPr>
          <a:lstStyle/>
          <a:p>
            <a:pPr algn="l"/>
            <a:r>
              <a:rPr sz="1100" b="0">
                <a:solidFill>
                  <a:srgbClr val="F2F4FA"/>
                </a:solidFill>
                <a:latin typeface="Calibri"/>
              </a:rPr>
              <a:t>ttc &lt; 1.5s</a:t>
            </a:r>
          </a:p>
        </p:txBody>
      </p:sp>
      <p:sp>
        <p:nvSpPr>
          <p:cNvPr id="37" name="Rounded Rectangle 36"/>
          <p:cNvSpPr/>
          <p:nvPr/>
        </p:nvSpPr>
        <p:spPr>
          <a:xfrm>
            <a:off x="6263640" y="4919472"/>
            <a:ext cx="5532120" cy="54864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5010912"/>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Headway distribution</a:t>
            </a:r>
          </a:p>
        </p:txBody>
      </p:sp>
      <p:sp>
        <p:nvSpPr>
          <p:cNvPr id="39" name="TextBox 38"/>
          <p:cNvSpPr txBox="1"/>
          <p:nvPr/>
        </p:nvSpPr>
        <p:spPr>
          <a:xfrm>
            <a:off x="6400800" y="5376672"/>
            <a:ext cx="5257800" cy="45720"/>
          </a:xfrm>
          <a:prstGeom prst="rect">
            <a:avLst/>
          </a:prstGeom>
          <a:noFill/>
        </p:spPr>
        <p:txBody>
          <a:bodyPr wrap="square" lIns="45720" rIns="45720" tIns="18288" bIns="18288">
            <a:spAutoFit/>
          </a:bodyPr>
          <a:lstStyle/>
          <a:p>
            <a:pPr algn="l"/>
            <a:r>
              <a:rPr sz="1100" b="0">
                <a:solidFill>
                  <a:srgbClr val="F2F4FA"/>
                </a:solidFill>
                <a:latin typeface="Calibri"/>
              </a:rPr>
              <a:t>par approche</a:t>
            </a:r>
          </a:p>
        </p:txBody>
      </p:sp>
      <p:sp>
        <p:nvSpPr>
          <p:cNvPr id="40" name="Rounded Rectangle 39"/>
          <p:cNvSpPr/>
          <p:nvPr/>
        </p:nvSpPr>
        <p:spPr>
          <a:xfrm>
            <a:off x="548640" y="5577840"/>
            <a:ext cx="5486400" cy="54864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5669280"/>
            <a:ext cx="5212080" cy="320040"/>
          </a:xfrm>
          <a:prstGeom prst="rect">
            <a:avLst/>
          </a:prstGeom>
          <a:noFill/>
        </p:spPr>
        <p:txBody>
          <a:bodyPr wrap="square" lIns="45720" rIns="45720" tIns="18288" bIns="18288">
            <a:spAutoFit/>
          </a:bodyPr>
          <a:lstStyle/>
          <a:p>
            <a:pPr algn="l"/>
            <a:r>
              <a:rPr sz="1300" b="1">
                <a:solidFill>
                  <a:srgbClr val="4CD97F"/>
                </a:solidFill>
                <a:latin typeface="Calibri"/>
              </a:rPr>
              <a:t>Jerk accumulé</a:t>
            </a:r>
          </a:p>
        </p:txBody>
      </p:sp>
      <p:sp>
        <p:nvSpPr>
          <p:cNvPr id="42" name="TextBox 41"/>
          <p:cNvSpPr txBox="1"/>
          <p:nvPr/>
        </p:nvSpPr>
        <p:spPr>
          <a:xfrm>
            <a:off x="685800" y="6035040"/>
            <a:ext cx="5212080" cy="45720"/>
          </a:xfrm>
          <a:prstGeom prst="rect">
            <a:avLst/>
          </a:prstGeom>
          <a:noFill/>
        </p:spPr>
        <p:txBody>
          <a:bodyPr wrap="square" lIns="45720" rIns="45720" tIns="18288" bIns="18288">
            <a:spAutoFit/>
          </a:bodyPr>
          <a:lstStyle/>
          <a:p>
            <a:pPr algn="l"/>
            <a:r>
              <a:rPr sz="1100" b="0">
                <a:solidFill>
                  <a:srgbClr val="F2F4FA"/>
                </a:solidFill>
                <a:latin typeface="Calibri"/>
              </a:rPr>
              <a:t>∫|da/dt| dt</a:t>
            </a:r>
          </a:p>
        </p:txBody>
      </p:sp>
      <p:sp>
        <p:nvSpPr>
          <p:cNvPr id="43" name="Rounded Rectangle 42"/>
          <p:cNvSpPr/>
          <p:nvPr/>
        </p:nvSpPr>
        <p:spPr>
          <a:xfrm>
            <a:off x="6263640" y="5577840"/>
            <a:ext cx="5532120" cy="54864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5669280"/>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Deadlock incidents</a:t>
            </a:r>
          </a:p>
        </p:txBody>
      </p:sp>
      <p:sp>
        <p:nvSpPr>
          <p:cNvPr id="45" name="TextBox 44"/>
          <p:cNvSpPr txBox="1"/>
          <p:nvPr/>
        </p:nvSpPr>
        <p:spPr>
          <a:xfrm>
            <a:off x="6400800" y="6035040"/>
            <a:ext cx="5257800" cy="45720"/>
          </a:xfrm>
          <a:prstGeom prst="rect">
            <a:avLst/>
          </a:prstGeom>
          <a:noFill/>
        </p:spPr>
        <p:txBody>
          <a:bodyPr wrap="square" lIns="45720" rIns="45720" tIns="18288" bIns="18288">
            <a:spAutoFit/>
          </a:bodyPr>
          <a:lstStyle/>
          <a:p>
            <a:pPr algn="l"/>
            <a:r>
              <a:rPr sz="1100" b="0">
                <a:solidFill>
                  <a:srgbClr val="F2F4FA"/>
                </a:solidFill>
                <a:latin typeface="Calibri"/>
              </a:rPr>
              <a:t>compteur bris VIN</a:t>
            </a:r>
          </a:p>
        </p:txBody>
      </p:sp>
      <p:sp>
        <p:nvSpPr>
          <p:cNvPr id="46" name="TextBox 45"/>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EXPÉRIENCES · 3.3</a:t>
            </a:r>
          </a:p>
        </p:txBody>
      </p:sp>
      <p:sp>
        <p:nvSpPr>
          <p:cNvPr id="47" name="TextBox 46"/>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44 / 66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EXPÉRIENCES · 3.4</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Comportements émergents observés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Motifs spatio-temporels non scriptés</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9144000" cy="10515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8869680" cy="320040"/>
          </a:xfrm>
          <a:prstGeom prst="rect">
            <a:avLst/>
          </a:prstGeom>
          <a:noFill/>
        </p:spPr>
        <p:txBody>
          <a:bodyPr wrap="square" lIns="45720" rIns="45720" tIns="18288" bIns="18288">
            <a:spAutoFit/>
          </a:bodyPr>
          <a:lstStyle/>
          <a:p>
            <a:pPr algn="l"/>
            <a:r>
              <a:rPr sz="1300" b="1">
                <a:solidFill>
                  <a:srgbClr val="3D9DF3"/>
                </a:solidFill>
                <a:latin typeface="Calibri"/>
              </a:rPr>
              <a:t>Effet accordéon dynamique</a:t>
            </a:r>
          </a:p>
        </p:txBody>
      </p:sp>
      <p:sp>
        <p:nvSpPr>
          <p:cNvPr id="10" name="TextBox 9"/>
          <p:cNvSpPr txBox="1"/>
          <p:nvPr/>
        </p:nvSpPr>
        <p:spPr>
          <a:xfrm>
            <a:off x="685800" y="2377440"/>
            <a:ext cx="8869680" cy="548640"/>
          </a:xfrm>
          <a:prstGeom prst="rect">
            <a:avLst/>
          </a:prstGeom>
          <a:noFill/>
        </p:spPr>
        <p:txBody>
          <a:bodyPr wrap="square" lIns="45720" rIns="45720" tIns="18288" bIns="18288">
            <a:spAutoFit/>
          </a:bodyPr>
          <a:lstStyle/>
          <a:p>
            <a:pPr algn="l"/>
            <a:r>
              <a:rPr sz="1100" b="0">
                <a:solidFill>
                  <a:srgbClr val="F2F4FA"/>
                </a:solidFill>
                <a:latin typeface="Calibri"/>
              </a:rPr>
              <a:t>Chaîne de véhicules à l'approche d'une intersection : freinage du leader → onde de freinage fluide. Si la voie se libère, ré-accélération avant arrêt complet. Démontre la string stability de l'IDM.</a:t>
            </a:r>
          </a:p>
        </p:txBody>
      </p:sp>
      <p:sp>
        <p:nvSpPr>
          <p:cNvPr id="11" name="Rounded Rectangle 10"/>
          <p:cNvSpPr/>
          <p:nvPr/>
        </p:nvSpPr>
        <p:spPr>
          <a:xfrm>
            <a:off x="9784080" y="1920240"/>
            <a:ext cx="2011680" cy="10515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21240" y="2011680"/>
            <a:ext cx="1737360" cy="320040"/>
          </a:xfrm>
          <a:prstGeom prst="rect">
            <a:avLst/>
          </a:prstGeom>
          <a:noFill/>
        </p:spPr>
        <p:txBody>
          <a:bodyPr wrap="square" lIns="45720" rIns="45720" tIns="18288" bIns="18288">
            <a:spAutoFit/>
          </a:bodyPr>
          <a:lstStyle/>
          <a:p>
            <a:pPr algn="l"/>
            <a:r>
              <a:rPr sz="1300" b="1">
                <a:solidFill>
                  <a:srgbClr val="4CD97F"/>
                </a:solidFill>
                <a:latin typeface="Calibri"/>
              </a:rPr>
              <a:t>Trigger</a:t>
            </a:r>
          </a:p>
        </p:txBody>
      </p:sp>
      <p:sp>
        <p:nvSpPr>
          <p:cNvPr id="13" name="TextBox 12"/>
          <p:cNvSpPr txBox="1"/>
          <p:nvPr/>
        </p:nvSpPr>
        <p:spPr>
          <a:xfrm>
            <a:off x="9921240" y="2377440"/>
            <a:ext cx="1737360" cy="548640"/>
          </a:xfrm>
          <a:prstGeom prst="rect">
            <a:avLst/>
          </a:prstGeom>
          <a:noFill/>
        </p:spPr>
        <p:txBody>
          <a:bodyPr wrap="square" lIns="45720" rIns="45720" tIns="18288" bIns="18288">
            <a:spAutoFit/>
          </a:bodyPr>
          <a:lstStyle/>
          <a:p>
            <a:pPr algn="l"/>
            <a:r>
              <a:rPr sz="1100" b="0">
                <a:solidFill>
                  <a:srgbClr val="F2F4FA"/>
                </a:solidFill>
                <a:latin typeface="Calibri"/>
              </a:rPr>
              <a:t>IDM + chaîne car-following</a:t>
            </a:r>
          </a:p>
        </p:txBody>
      </p:sp>
      <p:sp>
        <p:nvSpPr>
          <p:cNvPr id="14" name="Rounded Rectangle 13"/>
          <p:cNvSpPr/>
          <p:nvPr/>
        </p:nvSpPr>
        <p:spPr>
          <a:xfrm>
            <a:off x="548640" y="3063240"/>
            <a:ext cx="9144000" cy="10515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154680"/>
            <a:ext cx="8869680" cy="320040"/>
          </a:xfrm>
          <a:prstGeom prst="rect">
            <a:avLst/>
          </a:prstGeom>
          <a:noFill/>
        </p:spPr>
        <p:txBody>
          <a:bodyPr wrap="square" lIns="45720" rIns="45720" tIns="18288" bIns="18288">
            <a:spAutoFit/>
          </a:bodyPr>
          <a:lstStyle/>
          <a:p>
            <a:pPr algn="l"/>
            <a:r>
              <a:rPr sz="1300" b="1">
                <a:solidFill>
                  <a:srgbClr val="3D9DF3"/>
                </a:solidFill>
                <a:latin typeface="Calibri"/>
              </a:rPr>
              <a:t>Effet fermeture éclair (zipping)</a:t>
            </a:r>
          </a:p>
        </p:txBody>
      </p:sp>
      <p:sp>
        <p:nvSpPr>
          <p:cNvPr id="16" name="TextBox 15"/>
          <p:cNvSpPr txBox="1"/>
          <p:nvPr/>
        </p:nvSpPr>
        <p:spPr>
          <a:xfrm>
            <a:off x="685800" y="3520440"/>
            <a:ext cx="8869680" cy="548640"/>
          </a:xfrm>
          <a:prstGeom prst="rect">
            <a:avLst/>
          </a:prstGeom>
          <a:noFill/>
        </p:spPr>
        <p:txBody>
          <a:bodyPr wrap="square" lIns="45720" rIns="45720" tIns="18288" bIns="18288">
            <a:spAutoFit/>
          </a:bodyPr>
          <a:lstStyle/>
          <a:p>
            <a:pPr algn="l"/>
            <a:r>
              <a:rPr sz="1100" b="0">
                <a:solidFill>
                  <a:srgbClr val="F2F4FA"/>
                </a:solidFill>
                <a:latin typeface="Calibri"/>
              </a:rPr>
              <a:t>AIM ou Virtual Platoon à haute densité : véhicules orthogonaux s'entrelacent à vitesse quasi constante. Marges d'erreur infimes — chorégraphie impossible pour conducteur humain.</a:t>
            </a:r>
          </a:p>
        </p:txBody>
      </p:sp>
      <p:sp>
        <p:nvSpPr>
          <p:cNvPr id="17" name="Rounded Rectangle 16"/>
          <p:cNvSpPr/>
          <p:nvPr/>
        </p:nvSpPr>
        <p:spPr>
          <a:xfrm>
            <a:off x="9784080" y="3063240"/>
            <a:ext cx="2011680" cy="10515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21240" y="3154680"/>
            <a:ext cx="1737360" cy="320040"/>
          </a:xfrm>
          <a:prstGeom prst="rect">
            <a:avLst/>
          </a:prstGeom>
          <a:noFill/>
        </p:spPr>
        <p:txBody>
          <a:bodyPr wrap="square" lIns="45720" rIns="45720" tIns="18288" bIns="18288">
            <a:spAutoFit/>
          </a:bodyPr>
          <a:lstStyle/>
          <a:p>
            <a:pPr algn="l"/>
            <a:r>
              <a:rPr sz="1300" b="1">
                <a:solidFill>
                  <a:srgbClr val="4CD97F"/>
                </a:solidFill>
                <a:latin typeface="Calibri"/>
              </a:rPr>
              <a:t>Trigger</a:t>
            </a:r>
          </a:p>
        </p:txBody>
      </p:sp>
      <p:sp>
        <p:nvSpPr>
          <p:cNvPr id="19" name="TextBox 18"/>
          <p:cNvSpPr txBox="1"/>
          <p:nvPr/>
        </p:nvSpPr>
        <p:spPr>
          <a:xfrm>
            <a:off x="9921240" y="3520440"/>
            <a:ext cx="1737360" cy="548640"/>
          </a:xfrm>
          <a:prstGeom prst="rect">
            <a:avLst/>
          </a:prstGeom>
          <a:noFill/>
        </p:spPr>
        <p:txBody>
          <a:bodyPr wrap="square" lIns="45720" rIns="45720" tIns="18288" bIns="18288">
            <a:spAutoFit/>
          </a:bodyPr>
          <a:lstStyle/>
          <a:p>
            <a:pPr algn="l"/>
            <a:r>
              <a:rPr sz="1100" b="0">
                <a:solidFill>
                  <a:srgbClr val="F2F4FA"/>
                </a:solidFill>
                <a:latin typeface="Calibri"/>
              </a:rPr>
              <a:t>VIRTUAL_PLATOON / AIM</a:t>
            </a:r>
          </a:p>
        </p:txBody>
      </p:sp>
      <p:sp>
        <p:nvSpPr>
          <p:cNvPr id="20" name="Rounded Rectangle 19"/>
          <p:cNvSpPr/>
          <p:nvPr/>
        </p:nvSpPr>
        <p:spPr>
          <a:xfrm>
            <a:off x="548640" y="4206240"/>
            <a:ext cx="9144000" cy="10515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297680"/>
            <a:ext cx="8869680" cy="320040"/>
          </a:xfrm>
          <a:prstGeom prst="rect">
            <a:avLst/>
          </a:prstGeom>
          <a:noFill/>
        </p:spPr>
        <p:txBody>
          <a:bodyPr wrap="square" lIns="45720" rIns="45720" tIns="18288" bIns="18288">
            <a:spAutoFit/>
          </a:bodyPr>
          <a:lstStyle/>
          <a:p>
            <a:pPr algn="l"/>
            <a:r>
              <a:rPr sz="1300" b="1">
                <a:solidFill>
                  <a:srgbClr val="3D9DF3"/>
                </a:solidFill>
                <a:latin typeface="Calibri"/>
              </a:rPr>
              <a:t>Spirales ORCA</a:t>
            </a:r>
          </a:p>
        </p:txBody>
      </p:sp>
      <p:sp>
        <p:nvSpPr>
          <p:cNvPr id="22" name="TextBox 21"/>
          <p:cNvSpPr txBox="1"/>
          <p:nvPr/>
        </p:nvSpPr>
        <p:spPr>
          <a:xfrm>
            <a:off x="685800" y="4663440"/>
            <a:ext cx="8869680" cy="548640"/>
          </a:xfrm>
          <a:prstGeom prst="rect">
            <a:avLst/>
          </a:prstGeom>
          <a:noFill/>
        </p:spPr>
        <p:txBody>
          <a:bodyPr wrap="square" lIns="45720" rIns="45720" tIns="18288" bIns="18288">
            <a:spAutoFit/>
          </a:bodyPr>
          <a:lstStyle/>
          <a:p>
            <a:pPr algn="l"/>
            <a:r>
              <a:rPr sz="1100" b="0">
                <a:solidFill>
                  <a:srgbClr val="F2F4FA"/>
                </a:solidFill>
                <a:latin typeface="Calibri"/>
              </a:rPr>
              <a:t>Au centre du carrefour ORCA, les trajectoires divergent et convergent en spirales esthétiques. Émergence pure depuis la réciprocité géométrique.</a:t>
            </a:r>
          </a:p>
        </p:txBody>
      </p:sp>
      <p:sp>
        <p:nvSpPr>
          <p:cNvPr id="23" name="Rounded Rectangle 22"/>
          <p:cNvSpPr/>
          <p:nvPr/>
        </p:nvSpPr>
        <p:spPr>
          <a:xfrm>
            <a:off x="9784080" y="4206240"/>
            <a:ext cx="2011680" cy="10515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21240" y="4297680"/>
            <a:ext cx="1737360" cy="320040"/>
          </a:xfrm>
          <a:prstGeom prst="rect">
            <a:avLst/>
          </a:prstGeom>
          <a:noFill/>
        </p:spPr>
        <p:txBody>
          <a:bodyPr wrap="square" lIns="45720" rIns="45720" tIns="18288" bIns="18288">
            <a:spAutoFit/>
          </a:bodyPr>
          <a:lstStyle/>
          <a:p>
            <a:pPr algn="l"/>
            <a:r>
              <a:rPr sz="1300" b="1">
                <a:solidFill>
                  <a:srgbClr val="4CD97F"/>
                </a:solidFill>
                <a:latin typeface="Calibri"/>
              </a:rPr>
              <a:t>Trigger</a:t>
            </a:r>
          </a:p>
        </p:txBody>
      </p:sp>
      <p:sp>
        <p:nvSpPr>
          <p:cNvPr id="25" name="TextBox 24"/>
          <p:cNvSpPr txBox="1"/>
          <p:nvPr/>
        </p:nvSpPr>
        <p:spPr>
          <a:xfrm>
            <a:off x="9921240" y="4663440"/>
            <a:ext cx="1737360" cy="548640"/>
          </a:xfrm>
          <a:prstGeom prst="rect">
            <a:avLst/>
          </a:prstGeom>
          <a:noFill/>
        </p:spPr>
        <p:txBody>
          <a:bodyPr wrap="square" lIns="45720" rIns="45720" tIns="18288" bIns="18288">
            <a:spAutoFit/>
          </a:bodyPr>
          <a:lstStyle/>
          <a:p>
            <a:pPr algn="l"/>
            <a:r>
              <a:rPr sz="1100" b="0">
                <a:solidFill>
                  <a:srgbClr val="F2F4FA"/>
                </a:solidFill>
                <a:latin typeface="Calibri"/>
              </a:rPr>
              <a:t>ORCA</a:t>
            </a:r>
          </a:p>
        </p:txBody>
      </p:sp>
      <p:sp>
        <p:nvSpPr>
          <p:cNvPr id="26" name="Rounded Rectangle 25"/>
          <p:cNvSpPr/>
          <p:nvPr/>
        </p:nvSpPr>
        <p:spPr>
          <a:xfrm>
            <a:off x="548640" y="5349240"/>
            <a:ext cx="9144000" cy="10515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440680"/>
            <a:ext cx="8869680" cy="320040"/>
          </a:xfrm>
          <a:prstGeom prst="rect">
            <a:avLst/>
          </a:prstGeom>
          <a:noFill/>
        </p:spPr>
        <p:txBody>
          <a:bodyPr wrap="square" lIns="45720" rIns="45720" tIns="18288" bIns="18288">
            <a:spAutoFit/>
          </a:bodyPr>
          <a:lstStyle/>
          <a:p>
            <a:pPr algn="l"/>
            <a:r>
              <a:rPr sz="1300" b="1">
                <a:solidFill>
                  <a:srgbClr val="3D9DF3"/>
                </a:solidFill>
                <a:latin typeface="Calibri"/>
              </a:rPr>
              <a:t>Paradoxe de Braess</a:t>
            </a:r>
          </a:p>
        </p:txBody>
      </p:sp>
      <p:sp>
        <p:nvSpPr>
          <p:cNvPr id="28" name="TextBox 27"/>
          <p:cNvSpPr txBox="1"/>
          <p:nvPr/>
        </p:nvSpPr>
        <p:spPr>
          <a:xfrm>
            <a:off x="685800" y="5806440"/>
            <a:ext cx="8869680" cy="548640"/>
          </a:xfrm>
          <a:prstGeom prst="rect">
            <a:avLst/>
          </a:prstGeom>
          <a:noFill/>
        </p:spPr>
        <p:txBody>
          <a:bodyPr wrap="square" lIns="45720" rIns="45720" tIns="18288" bIns="18288">
            <a:spAutoFit/>
          </a:bodyPr>
          <a:lstStyle/>
          <a:p>
            <a:pPr algn="l"/>
            <a:r>
              <a:rPr sz="1100" b="0">
                <a:solidFill>
                  <a:srgbClr val="F2F4FA"/>
                </a:solidFill>
                <a:latin typeface="Calibri"/>
              </a:rPr>
              <a:t>À haute densité P2P : invalidations mutuelles → véhicules hésitent, avancent par à-coups, finissent par mimer un four-way stop. Quantifiable via le delay.</a:t>
            </a:r>
          </a:p>
        </p:txBody>
      </p:sp>
      <p:sp>
        <p:nvSpPr>
          <p:cNvPr id="29" name="Rounded Rectangle 28"/>
          <p:cNvSpPr/>
          <p:nvPr/>
        </p:nvSpPr>
        <p:spPr>
          <a:xfrm>
            <a:off x="9784080" y="5349240"/>
            <a:ext cx="2011680" cy="105156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21240" y="5440680"/>
            <a:ext cx="1737360" cy="320040"/>
          </a:xfrm>
          <a:prstGeom prst="rect">
            <a:avLst/>
          </a:prstGeom>
          <a:noFill/>
        </p:spPr>
        <p:txBody>
          <a:bodyPr wrap="square" lIns="45720" rIns="45720" tIns="18288" bIns="18288">
            <a:spAutoFit/>
          </a:bodyPr>
          <a:lstStyle/>
          <a:p>
            <a:pPr algn="l"/>
            <a:r>
              <a:rPr sz="1300" b="1">
                <a:solidFill>
                  <a:srgbClr val="4CD97F"/>
                </a:solidFill>
                <a:latin typeface="Calibri"/>
              </a:rPr>
              <a:t>Trigger</a:t>
            </a:r>
          </a:p>
        </p:txBody>
      </p:sp>
      <p:sp>
        <p:nvSpPr>
          <p:cNvPr id="31" name="TextBox 30"/>
          <p:cNvSpPr txBox="1"/>
          <p:nvPr/>
        </p:nvSpPr>
        <p:spPr>
          <a:xfrm>
            <a:off x="9921240" y="5806440"/>
            <a:ext cx="1737360" cy="548640"/>
          </a:xfrm>
          <a:prstGeom prst="rect">
            <a:avLst/>
          </a:prstGeom>
          <a:noFill/>
        </p:spPr>
        <p:txBody>
          <a:bodyPr wrap="square" lIns="45720" rIns="45720" tIns="18288" bIns="18288">
            <a:spAutoFit/>
          </a:bodyPr>
          <a:lstStyle/>
          <a:p>
            <a:pPr algn="l"/>
            <a:r>
              <a:rPr sz="1100" b="0">
                <a:solidFill>
                  <a:srgbClr val="F2F4FA"/>
                </a:solidFill>
                <a:latin typeface="Calibri"/>
              </a:rPr>
              <a:t>P2P saturé</a:t>
            </a:r>
          </a:p>
        </p:txBody>
      </p:sp>
      <p:sp>
        <p:nvSpPr>
          <p:cNvPr id="32" name="TextBox 31"/>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EXPÉRIENCES · 3.4</a:t>
            </a:r>
          </a:p>
        </p:txBody>
      </p:sp>
      <p:sp>
        <p:nvSpPr>
          <p:cNvPr id="33" name="TextBox 32"/>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45 / 66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EXPÉRIENCES · 3.5</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Résultats Monte-Carlo : débit vs densité</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Comparaison stratégies sur carrefour isolé 4 branches</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20240"/>
            <a:ext cx="7315200" cy="420624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794760"/>
            <a:ext cx="7315200" cy="457200"/>
          </a:xfrm>
          <a:prstGeom prst="rect">
            <a:avLst/>
          </a:prstGeom>
          <a:noFill/>
        </p:spPr>
        <p:txBody>
          <a:bodyPr wrap="square" lIns="45720" rIns="45720" tIns="18288" bIns="18288">
            <a:spAutoFit/>
          </a:bodyPr>
          <a:lstStyle/>
          <a:p>
            <a:pPr algn="ctr"/>
            <a:r>
              <a:rPr sz="1300" b="1">
                <a:solidFill>
                  <a:srgbClr val="3D9DF3"/>
                </a:solidFill>
                <a:latin typeface="Calibri"/>
              </a:rPr>
              <a:t>[ Courbe : Throughput (véh/min) vs Densité (véh/s)</a:t>
            </a:r>
          </a:p>
          <a:p>
            <a:pPr algn="ctr"/>
            <a:r>
              <a:rPr sz="1300" b="1">
                <a:solidFill>
                  <a:srgbClr val="3D9DF3"/>
                </a:solidFill>
                <a:latin typeface="Calibri"/>
              </a:rPr>
              <a:t>10 stratégies superposées, IC 95% ]</a:t>
            </a:r>
          </a:p>
        </p:txBody>
      </p:sp>
      <p:sp>
        <p:nvSpPr>
          <p:cNvPr id="10" name="Rounded Rectangle 9"/>
          <p:cNvSpPr/>
          <p:nvPr/>
        </p:nvSpPr>
        <p:spPr>
          <a:xfrm>
            <a:off x="8046720" y="1920240"/>
            <a:ext cx="3749039" cy="201168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2011680"/>
            <a:ext cx="3474719" cy="320040"/>
          </a:xfrm>
          <a:prstGeom prst="rect">
            <a:avLst/>
          </a:prstGeom>
          <a:noFill/>
        </p:spPr>
        <p:txBody>
          <a:bodyPr wrap="square" lIns="45720" rIns="45720" tIns="18288" bIns="18288">
            <a:spAutoFit/>
          </a:bodyPr>
          <a:lstStyle/>
          <a:p>
            <a:pPr algn="l"/>
            <a:r>
              <a:rPr sz="1300" b="1">
                <a:solidFill>
                  <a:srgbClr val="3D9DF3"/>
                </a:solidFill>
                <a:latin typeface="Calibri"/>
              </a:rPr>
              <a:t>Lecture attendue</a:t>
            </a:r>
          </a:p>
        </p:txBody>
      </p:sp>
      <p:sp>
        <p:nvSpPr>
          <p:cNvPr id="12" name="TextBox 11"/>
          <p:cNvSpPr txBox="1"/>
          <p:nvPr/>
        </p:nvSpPr>
        <p:spPr>
          <a:xfrm>
            <a:off x="8183880" y="2377440"/>
            <a:ext cx="3474719" cy="1508760"/>
          </a:xfrm>
          <a:prstGeom prst="rect">
            <a:avLst/>
          </a:prstGeom>
          <a:noFill/>
        </p:spPr>
        <p:txBody>
          <a:bodyPr wrap="square" lIns="45720" rIns="45720" tIns="18288" bIns="18288">
            <a:spAutoFit/>
          </a:bodyPr>
          <a:lstStyle/>
          <a:p>
            <a:pPr algn="l"/>
            <a:r>
              <a:rPr sz="1100" b="0">
                <a:solidFill>
                  <a:srgbClr val="F2F4FA"/>
                </a:solidFill>
                <a:latin typeface="Calibri"/>
              </a:rPr>
              <a:t>AIM domine à toutes densités.</a:t>
            </a:r>
          </a:p>
          <a:p>
            <a:pPr algn="l"/>
            <a:r>
              <a:rPr sz="1100" b="0">
                <a:solidFill>
                  <a:srgbClr val="F2F4FA"/>
                </a:solidFill>
                <a:latin typeface="Calibri"/>
              </a:rPr>
              <a:t>Virtual Platoon proche d'AIM.</a:t>
            </a:r>
          </a:p>
          <a:p>
            <a:pPr algn="l"/>
            <a:r>
              <a:rPr sz="1100" b="0">
                <a:solidFill>
                  <a:srgbClr val="F2F4FA"/>
                </a:solidFill>
                <a:latin typeface="Calibri"/>
              </a:rPr>
              <a:t>P2P &gt; FIXED en bas densité.</a:t>
            </a:r>
          </a:p>
          <a:p>
            <a:pPr algn="l"/>
            <a:r>
              <a:rPr sz="1100" b="0">
                <a:solidFill>
                  <a:srgbClr val="F2F4FA"/>
                </a:solidFill>
                <a:latin typeface="Calibri"/>
              </a:rPr>
              <a:t>P2P &lt; FIXED en haute densité.</a:t>
            </a:r>
          </a:p>
          <a:p>
            <a:pPr algn="l"/>
            <a:r>
              <a:rPr sz="1100" b="0">
                <a:solidFill>
                  <a:srgbClr val="F2F4FA"/>
                </a:solidFill>
                <a:latin typeface="Calibri"/>
              </a:rPr>
              <a:t>STOP / TRAFFIC_LIGHT baseline.</a:t>
            </a:r>
          </a:p>
        </p:txBody>
      </p:sp>
      <p:sp>
        <p:nvSpPr>
          <p:cNvPr id="13" name="Rounded Rectangle 12"/>
          <p:cNvSpPr/>
          <p:nvPr/>
        </p:nvSpPr>
        <p:spPr>
          <a:xfrm>
            <a:off x="8046720" y="4023360"/>
            <a:ext cx="3749039" cy="210312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4114800"/>
            <a:ext cx="3474719" cy="320040"/>
          </a:xfrm>
          <a:prstGeom prst="rect">
            <a:avLst/>
          </a:prstGeom>
          <a:noFill/>
        </p:spPr>
        <p:txBody>
          <a:bodyPr wrap="square" lIns="45720" rIns="45720" tIns="18288" bIns="18288">
            <a:spAutoFit/>
          </a:bodyPr>
          <a:lstStyle/>
          <a:p>
            <a:pPr algn="l"/>
            <a:r>
              <a:rPr sz="1300" b="1">
                <a:solidFill>
                  <a:srgbClr val="FFB73D"/>
                </a:solidFill>
                <a:latin typeface="Calibri"/>
              </a:rPr>
              <a:t>Point d'inflexion</a:t>
            </a:r>
          </a:p>
        </p:txBody>
      </p:sp>
      <p:sp>
        <p:nvSpPr>
          <p:cNvPr id="15" name="TextBox 14"/>
          <p:cNvSpPr txBox="1"/>
          <p:nvPr/>
        </p:nvSpPr>
        <p:spPr>
          <a:xfrm>
            <a:off x="8183880" y="4480560"/>
            <a:ext cx="3474719" cy="1600200"/>
          </a:xfrm>
          <a:prstGeom prst="rect">
            <a:avLst/>
          </a:prstGeom>
          <a:noFill/>
        </p:spPr>
        <p:txBody>
          <a:bodyPr wrap="square" lIns="45720" rIns="45720" tIns="18288" bIns="18288">
            <a:spAutoFit/>
          </a:bodyPr>
          <a:lstStyle/>
          <a:p>
            <a:pPr algn="l"/>
            <a:r>
              <a:rPr sz="1100" b="0">
                <a:solidFill>
                  <a:srgbClr val="F2F4FA"/>
                </a:solidFill>
                <a:latin typeface="Calibri"/>
              </a:rPr>
              <a:t>Croisement P2P/FIXED attendu autour de 0.35 véh/s/voie selon VanMiddlesworth. À vérifier empiriquement.</a:t>
            </a:r>
          </a:p>
        </p:txBody>
      </p:sp>
      <p:sp>
        <p:nvSpPr>
          <p:cNvPr id="16" name="TextBox 15"/>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EXPÉRIENCES · 3.5</a:t>
            </a:r>
          </a:p>
        </p:txBody>
      </p:sp>
      <p:sp>
        <p:nvSpPr>
          <p:cNvPr id="17" name="TextBox 16"/>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46 / 66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EXPÉRIENCES · 3.6</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Sécurité (TTC) &amp; confort (Jerk) par stratégie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Compromis efficacité/sécurité</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20240"/>
            <a:ext cx="5486400" cy="438912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886200"/>
            <a:ext cx="5486400" cy="457200"/>
          </a:xfrm>
          <a:prstGeom prst="rect">
            <a:avLst/>
          </a:prstGeom>
          <a:noFill/>
        </p:spPr>
        <p:txBody>
          <a:bodyPr wrap="square" lIns="45720" rIns="45720" tIns="18288" bIns="18288">
            <a:spAutoFit/>
          </a:bodyPr>
          <a:lstStyle/>
          <a:p>
            <a:pPr algn="ctr"/>
            <a:r>
              <a:rPr sz="1300" b="1">
                <a:solidFill>
                  <a:srgbClr val="3D9DF3"/>
                </a:solidFill>
                <a:latin typeface="Calibri"/>
              </a:rPr>
              <a:t>[ Bar chart : TTC min par stratégie ]</a:t>
            </a:r>
          </a:p>
        </p:txBody>
      </p:sp>
      <p:sp>
        <p:nvSpPr>
          <p:cNvPr id="10" name="Rectangle 9"/>
          <p:cNvSpPr/>
          <p:nvPr/>
        </p:nvSpPr>
        <p:spPr>
          <a:xfrm>
            <a:off x="6309360" y="1920240"/>
            <a:ext cx="5486400" cy="438912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886200"/>
            <a:ext cx="5486400" cy="457200"/>
          </a:xfrm>
          <a:prstGeom prst="rect">
            <a:avLst/>
          </a:prstGeom>
          <a:noFill/>
        </p:spPr>
        <p:txBody>
          <a:bodyPr wrap="square" lIns="45720" rIns="45720" tIns="18288" bIns="18288">
            <a:spAutoFit/>
          </a:bodyPr>
          <a:lstStyle/>
          <a:p>
            <a:pPr algn="ctr"/>
            <a:r>
              <a:rPr sz="1300" b="1">
                <a:solidFill>
                  <a:srgbClr val="3D9DF3"/>
                </a:solidFill>
                <a:latin typeface="Calibri"/>
              </a:rPr>
              <a:t>[ Bar chart : Jerk accumulé moyen par stratégie ]</a:t>
            </a:r>
          </a:p>
        </p:txBody>
      </p:sp>
      <p:sp>
        <p:nvSpPr>
          <p:cNvPr id="12" name="TextBox 11"/>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EXPÉRIENCES · 3.6</a:t>
            </a:r>
          </a:p>
        </p:txBody>
      </p:sp>
      <p:sp>
        <p:nvSpPr>
          <p:cNvPr id="13" name="TextBox 12"/>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47 / 66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EXPÉRIENCES · 3.7</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Concordance avec la littérature scientifique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Phénomènes prédits vs phénomènes observés</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920240"/>
            <a:ext cx="3291840" cy="50292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984248"/>
            <a:ext cx="3145536" cy="374904"/>
          </a:xfrm>
          <a:prstGeom prst="rect">
            <a:avLst/>
          </a:prstGeom>
          <a:noFill/>
        </p:spPr>
        <p:txBody>
          <a:bodyPr wrap="square" lIns="45720" rIns="45720" tIns="18288" bIns="18288">
            <a:spAutoFit/>
          </a:bodyPr>
          <a:lstStyle/>
          <a:p>
            <a:pPr algn="l"/>
            <a:r>
              <a:rPr sz="1200" b="1">
                <a:solidFill>
                  <a:srgbClr val="101422"/>
                </a:solidFill>
                <a:latin typeface="Calibri"/>
              </a:rPr>
              <a:t>Phénomène</a:t>
            </a:r>
          </a:p>
        </p:txBody>
      </p:sp>
      <p:sp>
        <p:nvSpPr>
          <p:cNvPr id="10" name="Rectangle 9"/>
          <p:cNvSpPr/>
          <p:nvPr/>
        </p:nvSpPr>
        <p:spPr>
          <a:xfrm>
            <a:off x="3657600" y="1920240"/>
            <a:ext cx="2743200" cy="50292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30752" y="1984248"/>
            <a:ext cx="2596896" cy="374904"/>
          </a:xfrm>
          <a:prstGeom prst="rect">
            <a:avLst/>
          </a:prstGeom>
          <a:noFill/>
        </p:spPr>
        <p:txBody>
          <a:bodyPr wrap="square" lIns="45720" rIns="45720" tIns="18288" bIns="18288">
            <a:spAutoFit/>
          </a:bodyPr>
          <a:lstStyle/>
          <a:p>
            <a:pPr algn="l"/>
            <a:r>
              <a:rPr sz="1200" b="1">
                <a:solidFill>
                  <a:srgbClr val="101422"/>
                </a:solidFill>
                <a:latin typeface="Calibri"/>
              </a:rPr>
              <a:t>Référence</a:t>
            </a:r>
          </a:p>
        </p:txBody>
      </p:sp>
      <p:sp>
        <p:nvSpPr>
          <p:cNvPr id="12" name="Rectangle 11"/>
          <p:cNvSpPr/>
          <p:nvPr/>
        </p:nvSpPr>
        <p:spPr>
          <a:xfrm>
            <a:off x="6400800" y="1920240"/>
            <a:ext cx="4389120" cy="50292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984248"/>
            <a:ext cx="4242816" cy="374904"/>
          </a:xfrm>
          <a:prstGeom prst="rect">
            <a:avLst/>
          </a:prstGeom>
          <a:noFill/>
        </p:spPr>
        <p:txBody>
          <a:bodyPr wrap="square" lIns="45720" rIns="45720" tIns="18288" bIns="18288">
            <a:spAutoFit/>
          </a:bodyPr>
          <a:lstStyle/>
          <a:p>
            <a:pPr algn="l"/>
            <a:r>
              <a:rPr sz="1200" b="1">
                <a:solidFill>
                  <a:srgbClr val="101422"/>
                </a:solidFill>
                <a:latin typeface="Calibri"/>
              </a:rPr>
              <a:t>Statut simulateur</a:t>
            </a:r>
          </a:p>
        </p:txBody>
      </p:sp>
      <p:sp>
        <p:nvSpPr>
          <p:cNvPr id="14" name="Rectangle 13"/>
          <p:cNvSpPr/>
          <p:nvPr/>
        </p:nvSpPr>
        <p:spPr>
          <a:xfrm>
            <a:off x="10789920" y="1920240"/>
            <a:ext cx="1280160" cy="50292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63072" y="1984248"/>
            <a:ext cx="1133856" cy="374904"/>
          </a:xfrm>
          <a:prstGeom prst="rect">
            <a:avLst/>
          </a:prstGeom>
          <a:noFill/>
        </p:spPr>
        <p:txBody>
          <a:bodyPr wrap="square" lIns="45720" rIns="45720" tIns="18288" bIns="18288">
            <a:spAutoFit/>
          </a:bodyPr>
          <a:lstStyle/>
          <a:p>
            <a:pPr algn="l"/>
            <a:r>
              <a:rPr sz="1200" b="1">
                <a:solidFill>
                  <a:srgbClr val="101422"/>
                </a:solidFill>
                <a:latin typeface="Calibri"/>
              </a:rPr>
              <a:t/>
            </a:r>
          </a:p>
        </p:txBody>
      </p:sp>
      <p:sp>
        <p:nvSpPr>
          <p:cNvPr id="16" name="Rectangle 15"/>
          <p:cNvSpPr/>
          <p:nvPr/>
        </p:nvSpPr>
        <p:spPr>
          <a:xfrm>
            <a:off x="365760" y="2423160"/>
            <a:ext cx="329184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2487168"/>
            <a:ext cx="3145536" cy="374904"/>
          </a:xfrm>
          <a:prstGeom prst="rect">
            <a:avLst/>
          </a:prstGeom>
          <a:noFill/>
        </p:spPr>
        <p:txBody>
          <a:bodyPr wrap="square" lIns="45720" rIns="45720" tIns="18288" bIns="18288">
            <a:spAutoFit/>
          </a:bodyPr>
          <a:lstStyle/>
          <a:p>
            <a:pPr algn="l"/>
            <a:r>
              <a:rPr sz="1100" b="0">
                <a:solidFill>
                  <a:srgbClr val="F2F4FA"/>
                </a:solidFill>
                <a:latin typeface="Calibri"/>
              </a:rPr>
              <a:t>Effet accordéon IDM</a:t>
            </a:r>
          </a:p>
        </p:txBody>
      </p:sp>
      <p:sp>
        <p:nvSpPr>
          <p:cNvPr id="18" name="Rectangle 17"/>
          <p:cNvSpPr/>
          <p:nvPr/>
        </p:nvSpPr>
        <p:spPr>
          <a:xfrm>
            <a:off x="3657600" y="2423160"/>
            <a:ext cx="27432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30752" y="2487168"/>
            <a:ext cx="2596896" cy="374904"/>
          </a:xfrm>
          <a:prstGeom prst="rect">
            <a:avLst/>
          </a:prstGeom>
          <a:noFill/>
        </p:spPr>
        <p:txBody>
          <a:bodyPr wrap="square" lIns="45720" rIns="45720" tIns="18288" bIns="18288">
            <a:spAutoFit/>
          </a:bodyPr>
          <a:lstStyle/>
          <a:p>
            <a:pPr algn="l"/>
            <a:r>
              <a:rPr sz="1100" b="0">
                <a:solidFill>
                  <a:srgbClr val="F2F4FA"/>
                </a:solidFill>
                <a:latin typeface="Calibri"/>
              </a:rPr>
              <a:t>Treiber 2000</a:t>
            </a:r>
          </a:p>
        </p:txBody>
      </p:sp>
      <p:sp>
        <p:nvSpPr>
          <p:cNvPr id="20" name="Rectangle 19"/>
          <p:cNvSpPr/>
          <p:nvPr/>
        </p:nvSpPr>
        <p:spPr>
          <a:xfrm>
            <a:off x="6400800" y="2423160"/>
            <a:ext cx="438912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2487168"/>
            <a:ext cx="4242816" cy="374904"/>
          </a:xfrm>
          <a:prstGeom prst="rect">
            <a:avLst/>
          </a:prstGeom>
          <a:noFill/>
        </p:spPr>
        <p:txBody>
          <a:bodyPr wrap="square" lIns="45720" rIns="45720" tIns="18288" bIns="18288">
            <a:spAutoFit/>
          </a:bodyPr>
          <a:lstStyle/>
          <a:p>
            <a:pPr algn="l"/>
            <a:r>
              <a:rPr sz="1100" b="1">
                <a:solidFill>
                  <a:srgbClr val="4CD97F"/>
                </a:solidFill>
                <a:latin typeface="Calibri"/>
              </a:rPr>
              <a:t>✅ Observé en chaîne car-follow</a:t>
            </a:r>
          </a:p>
        </p:txBody>
      </p:sp>
      <p:sp>
        <p:nvSpPr>
          <p:cNvPr id="22" name="Rectangle 21"/>
          <p:cNvSpPr/>
          <p:nvPr/>
        </p:nvSpPr>
        <p:spPr>
          <a:xfrm>
            <a:off x="365760" y="2926080"/>
            <a:ext cx="329184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2990088"/>
            <a:ext cx="3145536" cy="374904"/>
          </a:xfrm>
          <a:prstGeom prst="rect">
            <a:avLst/>
          </a:prstGeom>
          <a:noFill/>
        </p:spPr>
        <p:txBody>
          <a:bodyPr wrap="square" lIns="45720" rIns="45720" tIns="18288" bIns="18288">
            <a:spAutoFit/>
          </a:bodyPr>
          <a:lstStyle/>
          <a:p>
            <a:pPr algn="l"/>
            <a:r>
              <a:rPr sz="1100" b="0">
                <a:solidFill>
                  <a:srgbClr val="F2F4FA"/>
                </a:solidFill>
                <a:latin typeface="Calibri"/>
              </a:rPr>
              <a:t>Zipping AIM/Platoon</a:t>
            </a:r>
          </a:p>
        </p:txBody>
      </p:sp>
      <p:sp>
        <p:nvSpPr>
          <p:cNvPr id="24" name="Rectangle 23"/>
          <p:cNvSpPr/>
          <p:nvPr/>
        </p:nvSpPr>
        <p:spPr>
          <a:xfrm>
            <a:off x="3657600" y="2926080"/>
            <a:ext cx="27432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30752" y="2990088"/>
            <a:ext cx="2596896" cy="374904"/>
          </a:xfrm>
          <a:prstGeom prst="rect">
            <a:avLst/>
          </a:prstGeom>
          <a:noFill/>
        </p:spPr>
        <p:txBody>
          <a:bodyPr wrap="square" lIns="45720" rIns="45720" tIns="18288" bIns="18288">
            <a:spAutoFit/>
          </a:bodyPr>
          <a:lstStyle/>
          <a:p>
            <a:pPr algn="l"/>
            <a:r>
              <a:rPr sz="1100" b="0">
                <a:solidFill>
                  <a:srgbClr val="F2F4FA"/>
                </a:solidFill>
                <a:latin typeface="Calibri"/>
              </a:rPr>
              <a:t>Dresner 2008, Medina</a:t>
            </a:r>
          </a:p>
        </p:txBody>
      </p:sp>
      <p:sp>
        <p:nvSpPr>
          <p:cNvPr id="26" name="Rectangle 25"/>
          <p:cNvSpPr/>
          <p:nvPr/>
        </p:nvSpPr>
        <p:spPr>
          <a:xfrm>
            <a:off x="6400800" y="2926080"/>
            <a:ext cx="438912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2990088"/>
            <a:ext cx="4242816" cy="374904"/>
          </a:xfrm>
          <a:prstGeom prst="rect">
            <a:avLst/>
          </a:prstGeom>
          <a:noFill/>
        </p:spPr>
        <p:txBody>
          <a:bodyPr wrap="square" lIns="45720" rIns="45720" tIns="18288" bIns="18288">
            <a:spAutoFit/>
          </a:bodyPr>
          <a:lstStyle/>
          <a:p>
            <a:pPr algn="l"/>
            <a:r>
              <a:rPr sz="1100" b="1">
                <a:solidFill>
                  <a:srgbClr val="4CD97F"/>
                </a:solidFill>
                <a:latin typeface="Calibri"/>
              </a:rPr>
              <a:t>✅ Reproduit, fluide</a:t>
            </a:r>
          </a:p>
        </p:txBody>
      </p:sp>
      <p:sp>
        <p:nvSpPr>
          <p:cNvPr id="28" name="Rectangle 27"/>
          <p:cNvSpPr/>
          <p:nvPr/>
        </p:nvSpPr>
        <p:spPr>
          <a:xfrm>
            <a:off x="365760" y="3429000"/>
            <a:ext cx="329184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3493008"/>
            <a:ext cx="3145536" cy="374904"/>
          </a:xfrm>
          <a:prstGeom prst="rect">
            <a:avLst/>
          </a:prstGeom>
          <a:noFill/>
        </p:spPr>
        <p:txBody>
          <a:bodyPr wrap="square" lIns="45720" rIns="45720" tIns="18288" bIns="18288">
            <a:spAutoFit/>
          </a:bodyPr>
          <a:lstStyle/>
          <a:p>
            <a:pPr algn="l"/>
            <a:r>
              <a:rPr sz="1100" b="0">
                <a:solidFill>
                  <a:srgbClr val="F2F4FA"/>
                </a:solidFill>
                <a:latin typeface="Calibri"/>
              </a:rPr>
              <a:t>Spirales ORCA</a:t>
            </a:r>
          </a:p>
        </p:txBody>
      </p:sp>
      <p:sp>
        <p:nvSpPr>
          <p:cNvPr id="30" name="Rectangle 29"/>
          <p:cNvSpPr/>
          <p:nvPr/>
        </p:nvSpPr>
        <p:spPr>
          <a:xfrm>
            <a:off x="3657600" y="3429000"/>
            <a:ext cx="27432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30752" y="3493008"/>
            <a:ext cx="2596896" cy="374904"/>
          </a:xfrm>
          <a:prstGeom prst="rect">
            <a:avLst/>
          </a:prstGeom>
          <a:noFill/>
        </p:spPr>
        <p:txBody>
          <a:bodyPr wrap="square" lIns="45720" rIns="45720" tIns="18288" bIns="18288">
            <a:spAutoFit/>
          </a:bodyPr>
          <a:lstStyle/>
          <a:p>
            <a:pPr algn="l"/>
            <a:r>
              <a:rPr sz="1100" b="0">
                <a:solidFill>
                  <a:srgbClr val="F2F4FA"/>
                </a:solidFill>
                <a:latin typeface="Calibri"/>
              </a:rPr>
              <a:t>van den Berg 2011</a:t>
            </a:r>
          </a:p>
        </p:txBody>
      </p:sp>
      <p:sp>
        <p:nvSpPr>
          <p:cNvPr id="32" name="Rectangle 31"/>
          <p:cNvSpPr/>
          <p:nvPr/>
        </p:nvSpPr>
        <p:spPr>
          <a:xfrm>
            <a:off x="6400800" y="3429000"/>
            <a:ext cx="438912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3952" y="3493008"/>
            <a:ext cx="4242816" cy="374904"/>
          </a:xfrm>
          <a:prstGeom prst="rect">
            <a:avLst/>
          </a:prstGeom>
          <a:noFill/>
        </p:spPr>
        <p:txBody>
          <a:bodyPr wrap="square" lIns="45720" rIns="45720" tIns="18288" bIns="18288">
            <a:spAutoFit/>
          </a:bodyPr>
          <a:lstStyle/>
          <a:p>
            <a:pPr algn="l"/>
            <a:r>
              <a:rPr sz="1100" b="1">
                <a:solidFill>
                  <a:srgbClr val="4CD97F"/>
                </a:solidFill>
                <a:latin typeface="Calibri"/>
              </a:rPr>
              <a:t>✅ Émerge sans script</a:t>
            </a:r>
          </a:p>
        </p:txBody>
      </p:sp>
      <p:sp>
        <p:nvSpPr>
          <p:cNvPr id="34" name="Rectangle 33"/>
          <p:cNvSpPr/>
          <p:nvPr/>
        </p:nvSpPr>
        <p:spPr>
          <a:xfrm>
            <a:off x="365760" y="3931920"/>
            <a:ext cx="329184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3995928"/>
            <a:ext cx="3145536" cy="374904"/>
          </a:xfrm>
          <a:prstGeom prst="rect">
            <a:avLst/>
          </a:prstGeom>
          <a:noFill/>
        </p:spPr>
        <p:txBody>
          <a:bodyPr wrap="square" lIns="45720" rIns="45720" tIns="18288" bIns="18288">
            <a:spAutoFit/>
          </a:bodyPr>
          <a:lstStyle/>
          <a:p>
            <a:pPr algn="l"/>
            <a:r>
              <a:rPr sz="1100" b="0">
                <a:solidFill>
                  <a:srgbClr val="F2F4FA"/>
                </a:solidFill>
                <a:latin typeface="Calibri"/>
              </a:rPr>
              <a:t>P2P seuil ~0.35 véh/s</a:t>
            </a:r>
          </a:p>
        </p:txBody>
      </p:sp>
      <p:sp>
        <p:nvSpPr>
          <p:cNvPr id="36" name="Rectangle 35"/>
          <p:cNvSpPr/>
          <p:nvPr/>
        </p:nvSpPr>
        <p:spPr>
          <a:xfrm>
            <a:off x="3657600" y="3931920"/>
            <a:ext cx="27432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30752" y="3995928"/>
            <a:ext cx="2596896" cy="374904"/>
          </a:xfrm>
          <a:prstGeom prst="rect">
            <a:avLst/>
          </a:prstGeom>
          <a:noFill/>
        </p:spPr>
        <p:txBody>
          <a:bodyPr wrap="square" lIns="45720" rIns="45720" tIns="18288" bIns="18288">
            <a:spAutoFit/>
          </a:bodyPr>
          <a:lstStyle/>
          <a:p>
            <a:pPr algn="l"/>
            <a:r>
              <a:rPr sz="1100" b="0">
                <a:solidFill>
                  <a:srgbClr val="F2F4FA"/>
                </a:solidFill>
                <a:latin typeface="Calibri"/>
              </a:rPr>
              <a:t>VanMiddlesworth 2008</a:t>
            </a:r>
          </a:p>
        </p:txBody>
      </p:sp>
      <p:sp>
        <p:nvSpPr>
          <p:cNvPr id="38" name="Rectangle 37"/>
          <p:cNvSpPr/>
          <p:nvPr/>
        </p:nvSpPr>
        <p:spPr>
          <a:xfrm>
            <a:off x="6400800" y="3931920"/>
            <a:ext cx="438912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3952" y="3995928"/>
            <a:ext cx="4242816" cy="374904"/>
          </a:xfrm>
          <a:prstGeom prst="rect">
            <a:avLst/>
          </a:prstGeom>
          <a:noFill/>
        </p:spPr>
        <p:txBody>
          <a:bodyPr wrap="square" lIns="45720" rIns="45720" tIns="18288" bIns="18288">
            <a:spAutoFit/>
          </a:bodyPr>
          <a:lstStyle/>
          <a:p>
            <a:pPr algn="l"/>
            <a:r>
              <a:rPr sz="1100" b="1">
                <a:solidFill>
                  <a:srgbClr val="FFB73D"/>
                </a:solidFill>
                <a:latin typeface="Calibri"/>
              </a:rPr>
              <a:t>🟡 À quantifier sur banc</a:t>
            </a:r>
          </a:p>
        </p:txBody>
      </p:sp>
      <p:sp>
        <p:nvSpPr>
          <p:cNvPr id="40" name="Rectangle 39"/>
          <p:cNvSpPr/>
          <p:nvPr/>
        </p:nvSpPr>
        <p:spPr>
          <a:xfrm>
            <a:off x="365760" y="4434840"/>
            <a:ext cx="329184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912" y="4498848"/>
            <a:ext cx="3145536" cy="374904"/>
          </a:xfrm>
          <a:prstGeom prst="rect">
            <a:avLst/>
          </a:prstGeom>
          <a:noFill/>
        </p:spPr>
        <p:txBody>
          <a:bodyPr wrap="square" lIns="45720" rIns="45720" tIns="18288" bIns="18288">
            <a:spAutoFit/>
          </a:bodyPr>
          <a:lstStyle/>
          <a:p>
            <a:pPr algn="l"/>
            <a:r>
              <a:rPr sz="1100" b="0">
                <a:solidFill>
                  <a:srgbClr val="F2F4FA"/>
                </a:solidFill>
                <a:latin typeface="Calibri"/>
              </a:rPr>
              <a:t>Paradoxe de Braess</a:t>
            </a:r>
          </a:p>
        </p:txBody>
      </p:sp>
      <p:sp>
        <p:nvSpPr>
          <p:cNvPr id="42" name="Rectangle 41"/>
          <p:cNvSpPr/>
          <p:nvPr/>
        </p:nvSpPr>
        <p:spPr>
          <a:xfrm>
            <a:off x="3657600" y="4434840"/>
            <a:ext cx="27432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30752" y="4498848"/>
            <a:ext cx="2596896" cy="374904"/>
          </a:xfrm>
          <a:prstGeom prst="rect">
            <a:avLst/>
          </a:prstGeom>
          <a:noFill/>
        </p:spPr>
        <p:txBody>
          <a:bodyPr wrap="square" lIns="45720" rIns="45720" tIns="18288" bIns="18288">
            <a:spAutoFit/>
          </a:bodyPr>
          <a:lstStyle/>
          <a:p>
            <a:pPr algn="l"/>
            <a:r>
              <a:rPr sz="1100" b="0">
                <a:solidFill>
                  <a:srgbClr val="F2F4FA"/>
                </a:solidFill>
                <a:latin typeface="Calibri"/>
              </a:rPr>
              <a:t>Braess 1968</a:t>
            </a:r>
          </a:p>
        </p:txBody>
      </p:sp>
      <p:sp>
        <p:nvSpPr>
          <p:cNvPr id="44" name="Rectangle 43"/>
          <p:cNvSpPr/>
          <p:nvPr/>
        </p:nvSpPr>
        <p:spPr>
          <a:xfrm>
            <a:off x="6400800" y="4434840"/>
            <a:ext cx="438912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73952" y="4498848"/>
            <a:ext cx="4242816" cy="374904"/>
          </a:xfrm>
          <a:prstGeom prst="rect">
            <a:avLst/>
          </a:prstGeom>
          <a:noFill/>
        </p:spPr>
        <p:txBody>
          <a:bodyPr wrap="square" lIns="45720" rIns="45720" tIns="18288" bIns="18288">
            <a:spAutoFit/>
          </a:bodyPr>
          <a:lstStyle/>
          <a:p>
            <a:pPr algn="l"/>
            <a:r>
              <a:rPr sz="1100" b="1">
                <a:solidFill>
                  <a:srgbClr val="4CD97F"/>
                </a:solidFill>
                <a:latin typeface="Calibri"/>
              </a:rPr>
              <a:t>✅ Visible à haute densité P2P</a:t>
            </a:r>
          </a:p>
        </p:txBody>
      </p:sp>
      <p:sp>
        <p:nvSpPr>
          <p:cNvPr id="46" name="Rectangle 45"/>
          <p:cNvSpPr/>
          <p:nvPr/>
        </p:nvSpPr>
        <p:spPr>
          <a:xfrm>
            <a:off x="365760" y="4937760"/>
            <a:ext cx="329184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8912" y="5001768"/>
            <a:ext cx="3145536" cy="374904"/>
          </a:xfrm>
          <a:prstGeom prst="rect">
            <a:avLst/>
          </a:prstGeom>
          <a:noFill/>
        </p:spPr>
        <p:txBody>
          <a:bodyPr wrap="square" lIns="45720" rIns="45720" tIns="18288" bIns="18288">
            <a:spAutoFit/>
          </a:bodyPr>
          <a:lstStyle/>
          <a:p>
            <a:pPr algn="l"/>
            <a:r>
              <a:rPr sz="1100" b="0">
                <a:solidFill>
                  <a:srgbClr val="F2F4FA"/>
                </a:solidFill>
                <a:latin typeface="Calibri"/>
              </a:rPr>
              <a:t>String stability</a:t>
            </a:r>
          </a:p>
        </p:txBody>
      </p:sp>
      <p:sp>
        <p:nvSpPr>
          <p:cNvPr id="48" name="Rectangle 47"/>
          <p:cNvSpPr/>
          <p:nvPr/>
        </p:nvSpPr>
        <p:spPr>
          <a:xfrm>
            <a:off x="3657600" y="4937760"/>
            <a:ext cx="27432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30752" y="5001768"/>
            <a:ext cx="2596896" cy="374904"/>
          </a:xfrm>
          <a:prstGeom prst="rect">
            <a:avLst/>
          </a:prstGeom>
          <a:noFill/>
        </p:spPr>
        <p:txBody>
          <a:bodyPr wrap="square" lIns="45720" rIns="45720" tIns="18288" bIns="18288">
            <a:spAutoFit/>
          </a:bodyPr>
          <a:lstStyle/>
          <a:p>
            <a:pPr algn="l"/>
            <a:r>
              <a:rPr sz="1100" b="0">
                <a:solidFill>
                  <a:srgbClr val="F2F4FA"/>
                </a:solidFill>
                <a:latin typeface="Calibri"/>
              </a:rPr>
              <a:t>Treiber 2000</a:t>
            </a:r>
          </a:p>
        </p:txBody>
      </p:sp>
      <p:sp>
        <p:nvSpPr>
          <p:cNvPr id="50" name="Rectangle 49"/>
          <p:cNvSpPr/>
          <p:nvPr/>
        </p:nvSpPr>
        <p:spPr>
          <a:xfrm>
            <a:off x="6400800" y="4937760"/>
            <a:ext cx="438912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73952" y="5001768"/>
            <a:ext cx="4242816" cy="374904"/>
          </a:xfrm>
          <a:prstGeom prst="rect">
            <a:avLst/>
          </a:prstGeom>
          <a:noFill/>
        </p:spPr>
        <p:txBody>
          <a:bodyPr wrap="square" lIns="45720" rIns="45720" tIns="18288" bIns="18288">
            <a:spAutoFit/>
          </a:bodyPr>
          <a:lstStyle/>
          <a:p>
            <a:pPr algn="l"/>
            <a:r>
              <a:rPr sz="1100" b="1">
                <a:solidFill>
                  <a:srgbClr val="4CD97F"/>
                </a:solidFill>
                <a:latin typeface="Calibri"/>
              </a:rPr>
              <a:t>✅ Pas d'onde divergente</a:t>
            </a:r>
          </a:p>
        </p:txBody>
      </p:sp>
      <p:sp>
        <p:nvSpPr>
          <p:cNvPr id="52" name="Rectangle 51"/>
          <p:cNvSpPr/>
          <p:nvPr/>
        </p:nvSpPr>
        <p:spPr>
          <a:xfrm>
            <a:off x="365760" y="5440680"/>
            <a:ext cx="329184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8912" y="5504688"/>
            <a:ext cx="3145536" cy="374904"/>
          </a:xfrm>
          <a:prstGeom prst="rect">
            <a:avLst/>
          </a:prstGeom>
          <a:noFill/>
        </p:spPr>
        <p:txBody>
          <a:bodyPr wrap="square" lIns="45720" rIns="45720" tIns="18288" bIns="18288">
            <a:spAutoFit/>
          </a:bodyPr>
          <a:lstStyle/>
          <a:p>
            <a:pPr algn="l"/>
            <a:r>
              <a:rPr sz="1100" b="0">
                <a:solidFill>
                  <a:srgbClr val="F2F4FA"/>
                </a:solidFill>
                <a:latin typeface="Calibri"/>
              </a:rPr>
              <a:t>Deadlock circulaire</a:t>
            </a:r>
          </a:p>
        </p:txBody>
      </p:sp>
      <p:sp>
        <p:nvSpPr>
          <p:cNvPr id="54" name="Rectangle 53"/>
          <p:cNvSpPr/>
          <p:nvPr/>
        </p:nvSpPr>
        <p:spPr>
          <a:xfrm>
            <a:off x="3657600" y="5440680"/>
            <a:ext cx="27432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730752" y="5504688"/>
            <a:ext cx="2596896" cy="374904"/>
          </a:xfrm>
          <a:prstGeom prst="rect">
            <a:avLst/>
          </a:prstGeom>
          <a:noFill/>
        </p:spPr>
        <p:txBody>
          <a:bodyPr wrap="square" lIns="45720" rIns="45720" tIns="18288" bIns="18288">
            <a:spAutoFit/>
          </a:bodyPr>
          <a:lstStyle/>
          <a:p>
            <a:pPr algn="l"/>
            <a:r>
              <a:rPr sz="1100" b="0">
                <a:solidFill>
                  <a:srgbClr val="F2F4FA"/>
                </a:solidFill>
                <a:latin typeface="Calibri"/>
              </a:rPr>
              <a:t>MAPF folklore</a:t>
            </a:r>
          </a:p>
        </p:txBody>
      </p:sp>
      <p:sp>
        <p:nvSpPr>
          <p:cNvPr id="56" name="Rectangle 55"/>
          <p:cNvSpPr/>
          <p:nvPr/>
        </p:nvSpPr>
        <p:spPr>
          <a:xfrm>
            <a:off x="6400800" y="5440680"/>
            <a:ext cx="438912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73952" y="5504688"/>
            <a:ext cx="4242816" cy="374904"/>
          </a:xfrm>
          <a:prstGeom prst="rect">
            <a:avLst/>
          </a:prstGeom>
          <a:noFill/>
        </p:spPr>
        <p:txBody>
          <a:bodyPr wrap="square" lIns="45720" rIns="45720" tIns="18288" bIns="18288">
            <a:spAutoFit/>
          </a:bodyPr>
          <a:lstStyle/>
          <a:p>
            <a:pPr algn="l"/>
            <a:r>
              <a:rPr sz="1100" b="1">
                <a:solidFill>
                  <a:srgbClr val="4CD97F"/>
                </a:solidFill>
                <a:latin typeface="Calibri"/>
              </a:rPr>
              <a:t>✅ Reproduit puis éradiqué</a:t>
            </a:r>
          </a:p>
        </p:txBody>
      </p:sp>
      <p:sp>
        <p:nvSpPr>
          <p:cNvPr id="58" name="TextBox 57"/>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EXPÉRIENCES · 3.7</a:t>
            </a:r>
          </a:p>
        </p:txBody>
      </p:sp>
      <p:sp>
        <p:nvSpPr>
          <p:cNvPr id="59" name="TextBox 58"/>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48 / 66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EXPÉRIENCES · 3.8</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Limitation résiduelle : grosse simulation</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Des blocages aux intersections persistent à très haute densité</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1554480"/>
          </a:xfrm>
          <a:prstGeom prst="roundRect">
            <a:avLst/>
          </a:prstGeom>
          <a:solidFill>
            <a:srgbClr val="181E30"/>
          </a:solidFill>
          <a:ln w="12700">
            <a:solidFill>
              <a:srgbClr val="F1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F16666"/>
                </a:solidFill>
                <a:latin typeface="Calibri"/>
              </a:rPr>
              <a:t>Symptôme</a:t>
            </a:r>
          </a:p>
        </p:txBody>
      </p:sp>
      <p:sp>
        <p:nvSpPr>
          <p:cNvPr id="10" name="TextBox 9"/>
          <p:cNvSpPr txBox="1"/>
          <p:nvPr/>
        </p:nvSpPr>
        <p:spPr>
          <a:xfrm>
            <a:off x="685800" y="2377440"/>
            <a:ext cx="10972800" cy="1051560"/>
          </a:xfrm>
          <a:prstGeom prst="rect">
            <a:avLst/>
          </a:prstGeom>
          <a:noFill/>
        </p:spPr>
        <p:txBody>
          <a:bodyPr wrap="square" lIns="45720" rIns="45720" tIns="18288" bIns="18288">
            <a:spAutoFit/>
          </a:bodyPr>
          <a:lstStyle/>
          <a:p>
            <a:pPr algn="l"/>
            <a:r>
              <a:rPr sz="1100" b="0">
                <a:solidFill>
                  <a:srgbClr val="F2F4FA"/>
                </a:solidFill>
                <a:latin typeface="Calibri"/>
              </a:rPr>
              <a:t>Sur scénarios denses (multi-carrefours connectés, N &gt; 200 agents), des blocages localisés réapparaissent malgré KEEP_CLEAR + bris VIN. Typiquement : une intersection libre, mais la voie de sortie chaîne sur un autre carrefour déjà saturé en amont.</a:t>
            </a:r>
          </a:p>
        </p:txBody>
      </p:sp>
      <p:sp>
        <p:nvSpPr>
          <p:cNvPr id="11" name="Rounded Rectangle 10"/>
          <p:cNvSpPr/>
          <p:nvPr/>
        </p:nvSpPr>
        <p:spPr>
          <a:xfrm>
            <a:off x="548640" y="3566160"/>
            <a:ext cx="5577840" cy="182880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657600"/>
            <a:ext cx="5303520" cy="320040"/>
          </a:xfrm>
          <a:prstGeom prst="rect">
            <a:avLst/>
          </a:prstGeom>
          <a:noFill/>
        </p:spPr>
        <p:txBody>
          <a:bodyPr wrap="square" lIns="45720" rIns="45720" tIns="18288" bIns="18288">
            <a:spAutoFit/>
          </a:bodyPr>
          <a:lstStyle/>
          <a:p>
            <a:pPr algn="l"/>
            <a:r>
              <a:rPr sz="1300" b="1">
                <a:solidFill>
                  <a:srgbClr val="FFB73D"/>
                </a:solidFill>
                <a:latin typeface="Calibri"/>
              </a:rPr>
              <a:t>Hypothèses sur la cause</a:t>
            </a:r>
          </a:p>
        </p:txBody>
      </p:sp>
      <p:sp>
        <p:nvSpPr>
          <p:cNvPr id="13" name="TextBox 12"/>
          <p:cNvSpPr txBox="1"/>
          <p:nvPr/>
        </p:nvSpPr>
        <p:spPr>
          <a:xfrm>
            <a:off x="685800" y="4023360"/>
            <a:ext cx="5303520" cy="1325880"/>
          </a:xfrm>
          <a:prstGeom prst="rect">
            <a:avLst/>
          </a:prstGeom>
          <a:noFill/>
        </p:spPr>
        <p:txBody>
          <a:bodyPr wrap="square" lIns="45720" rIns="45720" tIns="18288" bIns="18288">
            <a:spAutoFit/>
          </a:bodyPr>
          <a:lstStyle/>
          <a:p>
            <a:pPr algn="l"/>
            <a:r>
              <a:rPr sz="1100" b="0">
                <a:solidFill>
                  <a:srgbClr val="F2F4FA"/>
                </a:solidFill>
                <a:latin typeface="Calibri"/>
              </a:rPr>
              <a:t>• Look-ahead asymétrique borné à 1.5 × length → pas de propagation multi-carrefour.</a:t>
            </a:r>
          </a:p>
          <a:p>
            <a:pPr algn="l"/>
            <a:r>
              <a:rPr sz="1100" b="0">
                <a:solidFill>
                  <a:srgbClr val="F2F4FA"/>
                </a:solidFill>
                <a:latin typeface="Calibri"/>
              </a:rPr>
              <a:t>• keepClearWaited_ déclenche bris VIN, mais bris LOCAL au carrefour.</a:t>
            </a:r>
          </a:p>
          <a:p>
            <a:pPr algn="l"/>
            <a:r>
              <a:rPr sz="1100" b="0">
                <a:solidFill>
                  <a:srgbClr val="F2F4FA"/>
                </a:solidFill>
                <a:latin typeface="Calibri"/>
              </a:rPr>
              <a:t>• Pas de coordination inter-carrefour : approche correcte localement,</a:t>
            </a:r>
          </a:p>
          <a:p>
            <a:pPr algn="l"/>
            <a:r>
              <a:rPr sz="1100" b="0">
                <a:solidFill>
                  <a:srgbClr val="F2F4FA"/>
                </a:solidFill>
                <a:latin typeface="Calibri"/>
              </a:rPr>
              <a:t>  pathologique globalement.</a:t>
            </a:r>
          </a:p>
        </p:txBody>
      </p:sp>
      <p:sp>
        <p:nvSpPr>
          <p:cNvPr id="14" name="Rounded Rectangle 13"/>
          <p:cNvSpPr/>
          <p:nvPr/>
        </p:nvSpPr>
        <p:spPr>
          <a:xfrm>
            <a:off x="6263640" y="3566160"/>
            <a:ext cx="5532120" cy="182880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657600"/>
            <a:ext cx="5257800" cy="320040"/>
          </a:xfrm>
          <a:prstGeom prst="rect">
            <a:avLst/>
          </a:prstGeom>
          <a:noFill/>
        </p:spPr>
        <p:txBody>
          <a:bodyPr wrap="square" lIns="45720" rIns="45720" tIns="18288" bIns="18288">
            <a:spAutoFit/>
          </a:bodyPr>
          <a:lstStyle/>
          <a:p>
            <a:pPr algn="l"/>
            <a:r>
              <a:rPr sz="1300" b="1">
                <a:solidFill>
                  <a:srgbClr val="4CD97F"/>
                </a:solidFill>
                <a:latin typeface="Calibri"/>
              </a:rPr>
              <a:t>Pistes futures</a:t>
            </a:r>
          </a:p>
        </p:txBody>
      </p:sp>
      <p:sp>
        <p:nvSpPr>
          <p:cNvPr id="16" name="TextBox 15"/>
          <p:cNvSpPr txBox="1"/>
          <p:nvPr/>
        </p:nvSpPr>
        <p:spPr>
          <a:xfrm>
            <a:off x="6400800" y="4023360"/>
            <a:ext cx="5257800" cy="1325880"/>
          </a:xfrm>
          <a:prstGeom prst="rect">
            <a:avLst/>
          </a:prstGeom>
          <a:noFill/>
        </p:spPr>
        <p:txBody>
          <a:bodyPr wrap="square" lIns="45720" rIns="45720" tIns="18288" bIns="18288">
            <a:spAutoFit/>
          </a:bodyPr>
          <a:lstStyle/>
          <a:p>
            <a:pPr algn="l"/>
            <a:r>
              <a:rPr sz="1100" b="0">
                <a:solidFill>
                  <a:srgbClr val="F2F4FA"/>
                </a:solidFill>
                <a:latin typeface="Calibri"/>
              </a:rPr>
              <a:t>• Propagation de l'occupation par graphe d'intersections.</a:t>
            </a:r>
          </a:p>
          <a:p>
            <a:pPr algn="l"/>
            <a:r>
              <a:rPr sz="1100" b="0">
                <a:solidFill>
                  <a:srgbClr val="F2F4FA"/>
                </a:solidFill>
                <a:latin typeface="Calibri"/>
              </a:rPr>
              <a:t>• Hystérésis adaptative sur keepClearWaited_.</a:t>
            </a:r>
          </a:p>
          <a:p>
            <a:pPr algn="l"/>
            <a:r>
              <a:rPr sz="1100" b="0">
                <a:solidFill>
                  <a:srgbClr val="F2F4FA"/>
                </a:solidFill>
                <a:latin typeface="Calibri"/>
              </a:rPr>
              <a:t>• Diagnostic CSV par-véhicule (export PAUSE) déjà utilisable pour root-cause.</a:t>
            </a:r>
          </a:p>
          <a:p>
            <a:pPr algn="l"/>
            <a:r>
              <a:rPr sz="1100" b="0">
                <a:solidFill>
                  <a:srgbClr val="F2F4FA"/>
                </a:solidFill>
                <a:latin typeface="Calibri"/>
              </a:rPr>
              <a:t>• MAPF préventif sur le path globalement.</a:t>
            </a:r>
          </a:p>
        </p:txBody>
      </p:sp>
      <p:sp>
        <p:nvSpPr>
          <p:cNvPr id="17" name="TextBox 16"/>
          <p:cNvSpPr txBox="1"/>
          <p:nvPr/>
        </p:nvSpPr>
        <p:spPr>
          <a:xfrm>
            <a:off x="548640" y="5532120"/>
            <a:ext cx="11247120" cy="822960"/>
          </a:xfrm>
          <a:prstGeom prst="rect">
            <a:avLst/>
          </a:prstGeom>
          <a:noFill/>
        </p:spPr>
        <p:txBody>
          <a:bodyPr wrap="square" lIns="45720" rIns="45720" tIns="18288" bIns="18288">
            <a:spAutoFit/>
          </a:bodyPr>
          <a:lstStyle/>
          <a:p>
            <a:pPr algn="l"/>
            <a:r>
              <a:rPr sz="1200" b="0">
                <a:solidFill>
                  <a:srgbClr val="8A90A8"/>
                </a:solidFill>
                <a:latin typeface="Calibri"/>
              </a:rPr>
              <a:t>Sera documenté en transparence dans le rapport final. Limite honnête.</a:t>
            </a:r>
          </a:p>
        </p:txBody>
      </p:sp>
      <p:sp>
        <p:nvSpPr>
          <p:cNvPr id="18" name="TextBox 17"/>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EXPÉRIENCES · 3.8</a:t>
            </a:r>
          </a:p>
        </p:txBody>
      </p:sp>
      <p:sp>
        <p:nvSpPr>
          <p:cNvPr id="19" name="TextBox 18"/>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49 / 66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548640"/>
          </a:xfrm>
          <a:prstGeom prst="rect">
            <a:avLst/>
          </a:prstGeom>
          <a:noFill/>
        </p:spPr>
        <p:txBody>
          <a:bodyPr wrap="square" lIns="45720" rIns="45720" tIns="18288" bIns="18288">
            <a:spAutoFit/>
          </a:bodyPr>
          <a:lstStyle/>
          <a:p>
            <a:pPr algn="l"/>
            <a:r>
              <a:rPr sz="1800" b="1">
                <a:solidFill>
                  <a:srgbClr val="FFB73D"/>
                </a:solidFill>
                <a:latin typeface="Calibri"/>
              </a:rPr>
              <a:t>PARTIE 4</a:t>
            </a:r>
          </a:p>
        </p:txBody>
      </p:sp>
      <p:sp>
        <p:nvSpPr>
          <p:cNvPr id="4" name="TextBox 3"/>
          <p:cNvSpPr txBox="1"/>
          <p:nvPr/>
        </p:nvSpPr>
        <p:spPr>
          <a:xfrm>
            <a:off x="548640" y="2377440"/>
            <a:ext cx="10972800" cy="1280160"/>
          </a:xfrm>
          <a:prstGeom prst="rect">
            <a:avLst/>
          </a:prstGeom>
          <a:noFill/>
        </p:spPr>
        <p:txBody>
          <a:bodyPr wrap="square" lIns="45720" rIns="45720" tIns="18288" bIns="18288">
            <a:spAutoFit/>
          </a:bodyPr>
          <a:lstStyle/>
          <a:p>
            <a:pPr algn="l"/>
            <a:r>
              <a:rPr sz="4400" b="1">
                <a:solidFill>
                  <a:srgbClr val="F2F4FA"/>
                </a:solidFill>
                <a:latin typeface="Calibri"/>
              </a:rPr>
              <a:t>Architecture logicielle</a:t>
            </a:r>
          </a:p>
        </p:txBody>
      </p:sp>
      <p:sp>
        <p:nvSpPr>
          <p:cNvPr id="5" name="TextBox 4"/>
          <p:cNvSpPr txBox="1"/>
          <p:nvPr/>
        </p:nvSpPr>
        <p:spPr>
          <a:xfrm>
            <a:off x="548640" y="3657600"/>
            <a:ext cx="10972800" cy="548640"/>
          </a:xfrm>
          <a:prstGeom prst="rect">
            <a:avLst/>
          </a:prstGeom>
          <a:noFill/>
        </p:spPr>
        <p:txBody>
          <a:bodyPr wrap="square" lIns="45720" rIns="45720" tIns="18288" bIns="18288">
            <a:spAutoFit/>
          </a:bodyPr>
          <a:lstStyle/>
          <a:p>
            <a:pPr algn="l"/>
            <a:r>
              <a:rPr sz="1600" b="0">
                <a:solidFill>
                  <a:srgbClr val="8A90A8"/>
                </a:solidFill>
                <a:latin typeface="Calibri"/>
              </a:rPr>
              <a:t>Pipeline 2-phases · Strategy · diagrammes de classes · threading</a:t>
            </a:r>
          </a:p>
        </p:txBody>
      </p:sp>
      <p:sp>
        <p:nvSpPr>
          <p:cNvPr id="6" name="Rectangle 5"/>
          <p:cNvSpPr/>
          <p:nvPr/>
        </p:nvSpPr>
        <p:spPr>
          <a:xfrm>
            <a:off x="548640" y="4434840"/>
            <a:ext cx="2286000" cy="4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Partie 4</a:t>
            </a:r>
          </a:p>
        </p:txBody>
      </p:sp>
      <p:sp>
        <p:nvSpPr>
          <p:cNvPr id="8" name="TextBox 7"/>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50 / 66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ARCHITECTURE · 4.1</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Découpage en couches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core/ SFML-free ↔ render/ ↔ sim/ ↔ io/</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1920240"/>
            <a:ext cx="5669280" cy="5029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011680"/>
            <a:ext cx="5394960" cy="320040"/>
          </a:xfrm>
          <a:prstGeom prst="rect">
            <a:avLst/>
          </a:prstGeom>
          <a:noFill/>
        </p:spPr>
        <p:txBody>
          <a:bodyPr wrap="square" lIns="45720" rIns="45720" tIns="18288" bIns="18288">
            <a:spAutoFit/>
          </a:bodyPr>
          <a:lstStyle/>
          <a:p>
            <a:pPr algn="l"/>
            <a:r>
              <a:rPr sz="1300" b="1">
                <a:solidFill>
                  <a:srgbClr val="3D9DF3"/>
                </a:solidFill>
                <a:latin typeface="Calibri"/>
              </a:rPr>
              <a:t>main.cpp</a:t>
            </a:r>
          </a:p>
        </p:txBody>
      </p:sp>
      <p:sp>
        <p:nvSpPr>
          <p:cNvPr id="10" name="TextBox 9"/>
          <p:cNvSpPr txBox="1"/>
          <p:nvPr/>
        </p:nvSpPr>
        <p:spPr>
          <a:xfrm>
            <a:off x="502920" y="2377440"/>
            <a:ext cx="5394960" cy="0"/>
          </a:xfrm>
          <a:prstGeom prst="rect">
            <a:avLst/>
          </a:prstGeom>
          <a:noFill/>
        </p:spPr>
        <p:txBody>
          <a:bodyPr wrap="square" lIns="45720" rIns="45720" tIns="18288" bIns="18288">
            <a:spAutoFit/>
          </a:bodyPr>
          <a:lstStyle/>
          <a:p>
            <a:pPr algn="l"/>
            <a:r>
              <a:rPr sz="1100" b="0">
                <a:solidFill>
                  <a:srgbClr val="F2F4FA"/>
                </a:solidFill>
                <a:latin typeface="Calibri"/>
              </a:rPr>
              <a:t>Orchestration : ImGui + SFML, AppState, FIXED_DT loop</a:t>
            </a:r>
          </a:p>
        </p:txBody>
      </p:sp>
      <p:sp>
        <p:nvSpPr>
          <p:cNvPr id="11" name="Rounded Rectangle 10"/>
          <p:cNvSpPr/>
          <p:nvPr/>
        </p:nvSpPr>
        <p:spPr>
          <a:xfrm>
            <a:off x="6126480" y="1920240"/>
            <a:ext cx="5669280" cy="5029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011680"/>
            <a:ext cx="5394960" cy="320040"/>
          </a:xfrm>
          <a:prstGeom prst="rect">
            <a:avLst/>
          </a:prstGeom>
          <a:noFill/>
        </p:spPr>
        <p:txBody>
          <a:bodyPr wrap="square" lIns="45720" rIns="45720" tIns="18288" bIns="18288">
            <a:spAutoFit/>
          </a:bodyPr>
          <a:lstStyle/>
          <a:p>
            <a:pPr algn="l"/>
            <a:r>
              <a:rPr sz="1300" b="1">
                <a:solidFill>
                  <a:srgbClr val="3D9DF3"/>
                </a:solidFill>
                <a:latin typeface="Calibri"/>
              </a:rPr>
              <a:t>core/agent</a:t>
            </a:r>
          </a:p>
        </p:txBody>
      </p:sp>
      <p:sp>
        <p:nvSpPr>
          <p:cNvPr id="13" name="TextBox 12"/>
          <p:cNvSpPr txBox="1"/>
          <p:nvPr/>
        </p:nvSpPr>
        <p:spPr>
          <a:xfrm>
            <a:off x="6263640" y="2377440"/>
            <a:ext cx="5394960" cy="0"/>
          </a:xfrm>
          <a:prstGeom prst="rect">
            <a:avLst/>
          </a:prstGeom>
          <a:noFill/>
        </p:spPr>
        <p:txBody>
          <a:bodyPr wrap="square" lIns="45720" rIns="45720" tIns="18288" bIns="18288">
            <a:spAutoFit/>
          </a:bodyPr>
          <a:lstStyle/>
          <a:p>
            <a:pPr algn="l"/>
            <a:r>
              <a:rPr sz="1100" b="0">
                <a:solidFill>
                  <a:srgbClr val="F2F4FA"/>
                </a:solidFill>
                <a:latin typeface="Calibri"/>
              </a:rPr>
              <a:t>IAgent, Vehicle, Car, Truck, Personality, BlockReason</a:t>
            </a:r>
          </a:p>
        </p:txBody>
      </p:sp>
      <p:sp>
        <p:nvSpPr>
          <p:cNvPr id="14" name="Rounded Rectangle 13"/>
          <p:cNvSpPr/>
          <p:nvPr/>
        </p:nvSpPr>
        <p:spPr>
          <a:xfrm>
            <a:off x="365760" y="2514600"/>
            <a:ext cx="5669280" cy="5029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606040"/>
            <a:ext cx="5394960" cy="320040"/>
          </a:xfrm>
          <a:prstGeom prst="rect">
            <a:avLst/>
          </a:prstGeom>
          <a:noFill/>
        </p:spPr>
        <p:txBody>
          <a:bodyPr wrap="square" lIns="45720" rIns="45720" tIns="18288" bIns="18288">
            <a:spAutoFit/>
          </a:bodyPr>
          <a:lstStyle/>
          <a:p>
            <a:pPr algn="l"/>
            <a:r>
              <a:rPr sz="1300" b="1">
                <a:solidFill>
                  <a:srgbClr val="3D9DF3"/>
                </a:solidFill>
                <a:latin typeface="Calibri"/>
              </a:rPr>
              <a:t>core/intersection</a:t>
            </a:r>
          </a:p>
        </p:txBody>
      </p:sp>
      <p:sp>
        <p:nvSpPr>
          <p:cNvPr id="16" name="TextBox 15"/>
          <p:cNvSpPr txBox="1"/>
          <p:nvPr/>
        </p:nvSpPr>
        <p:spPr>
          <a:xfrm>
            <a:off x="502920" y="2971800"/>
            <a:ext cx="5394960" cy="0"/>
          </a:xfrm>
          <a:prstGeom prst="rect">
            <a:avLst/>
          </a:prstGeom>
          <a:noFill/>
        </p:spPr>
        <p:txBody>
          <a:bodyPr wrap="square" lIns="45720" rIns="45720" tIns="18288" bIns="18288">
            <a:spAutoFit/>
          </a:bodyPr>
          <a:lstStyle/>
          <a:p>
            <a:pPr algn="l"/>
            <a:r>
              <a:rPr sz="1100" b="0">
                <a:solidFill>
                  <a:srgbClr val="F2F4FA"/>
                </a:solidFill>
                <a:latin typeface="Calibri"/>
              </a:rPr>
              <a:t>IIntersectionPolicy + 10 policies, Intersection oracle passif</a:t>
            </a:r>
          </a:p>
        </p:txBody>
      </p:sp>
      <p:sp>
        <p:nvSpPr>
          <p:cNvPr id="17" name="Rounded Rectangle 16"/>
          <p:cNvSpPr/>
          <p:nvPr/>
        </p:nvSpPr>
        <p:spPr>
          <a:xfrm>
            <a:off x="6126480" y="2514600"/>
            <a:ext cx="5669280" cy="5029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2606040"/>
            <a:ext cx="5394960" cy="320040"/>
          </a:xfrm>
          <a:prstGeom prst="rect">
            <a:avLst/>
          </a:prstGeom>
          <a:noFill/>
        </p:spPr>
        <p:txBody>
          <a:bodyPr wrap="square" lIns="45720" rIns="45720" tIns="18288" bIns="18288">
            <a:spAutoFit/>
          </a:bodyPr>
          <a:lstStyle/>
          <a:p>
            <a:pPr algn="l"/>
            <a:r>
              <a:rPr sz="1300" b="1">
                <a:solidFill>
                  <a:srgbClr val="3D9DF3"/>
                </a:solidFill>
                <a:latin typeface="Calibri"/>
              </a:rPr>
              <a:t>core/world</a:t>
            </a:r>
          </a:p>
        </p:txBody>
      </p:sp>
      <p:sp>
        <p:nvSpPr>
          <p:cNvPr id="19" name="TextBox 18"/>
          <p:cNvSpPr txBox="1"/>
          <p:nvPr/>
        </p:nvSpPr>
        <p:spPr>
          <a:xfrm>
            <a:off x="6263640" y="2971800"/>
            <a:ext cx="5394960" cy="0"/>
          </a:xfrm>
          <a:prstGeom prst="rect">
            <a:avLst/>
          </a:prstGeom>
          <a:noFill/>
        </p:spPr>
        <p:txBody>
          <a:bodyPr wrap="square" lIns="45720" rIns="45720" tIns="18288" bIns="18288">
            <a:spAutoFit/>
          </a:bodyPr>
          <a:lstStyle/>
          <a:p>
            <a:pPr algn="l"/>
            <a:r>
              <a:rPr sz="1100" b="0">
                <a:solidFill>
                  <a:srgbClr val="F2F4FA"/>
                </a:solidFill>
                <a:latin typeface="Calibri"/>
              </a:rPr>
              <a:t>World, Lane (polyligne 1D), Tile, RoadType</a:t>
            </a:r>
          </a:p>
        </p:txBody>
      </p:sp>
      <p:sp>
        <p:nvSpPr>
          <p:cNvPr id="20" name="Rounded Rectangle 19"/>
          <p:cNvSpPr/>
          <p:nvPr/>
        </p:nvSpPr>
        <p:spPr>
          <a:xfrm>
            <a:off x="365760" y="3108960"/>
            <a:ext cx="5669280" cy="5029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200400"/>
            <a:ext cx="5394960" cy="320040"/>
          </a:xfrm>
          <a:prstGeom prst="rect">
            <a:avLst/>
          </a:prstGeom>
          <a:noFill/>
        </p:spPr>
        <p:txBody>
          <a:bodyPr wrap="square" lIns="45720" rIns="45720" tIns="18288" bIns="18288">
            <a:spAutoFit/>
          </a:bodyPr>
          <a:lstStyle/>
          <a:p>
            <a:pPr algn="l"/>
            <a:r>
              <a:rPr sz="1300" b="1">
                <a:solidFill>
                  <a:srgbClr val="3D9DF3"/>
                </a:solidFill>
                <a:latin typeface="Calibri"/>
              </a:rPr>
              <a:t>core/behavior</a:t>
            </a:r>
          </a:p>
        </p:txBody>
      </p:sp>
      <p:sp>
        <p:nvSpPr>
          <p:cNvPr id="22" name="TextBox 21"/>
          <p:cNvSpPr txBox="1"/>
          <p:nvPr/>
        </p:nvSpPr>
        <p:spPr>
          <a:xfrm>
            <a:off x="502920" y="3566160"/>
            <a:ext cx="5394960" cy="0"/>
          </a:xfrm>
          <a:prstGeom prst="rect">
            <a:avLst/>
          </a:prstGeom>
          <a:noFill/>
        </p:spPr>
        <p:txBody>
          <a:bodyPr wrap="square" lIns="45720" rIns="45720" tIns="18288" bIns="18288">
            <a:spAutoFit/>
          </a:bodyPr>
          <a:lstStyle/>
          <a:p>
            <a:pPr algn="l"/>
            <a:r>
              <a:rPr sz="1100" b="0">
                <a:solidFill>
                  <a:srgbClr val="F2F4FA"/>
                </a:solidFill>
                <a:latin typeface="Calibri"/>
              </a:rPr>
              <a:t>ICarFollowingModel, IdmModel, IdmParams, LeaderInfo</a:t>
            </a:r>
          </a:p>
        </p:txBody>
      </p:sp>
      <p:sp>
        <p:nvSpPr>
          <p:cNvPr id="23" name="Rounded Rectangle 22"/>
          <p:cNvSpPr/>
          <p:nvPr/>
        </p:nvSpPr>
        <p:spPr>
          <a:xfrm>
            <a:off x="6126480" y="3108960"/>
            <a:ext cx="5669280" cy="5029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3200400"/>
            <a:ext cx="5394960" cy="320040"/>
          </a:xfrm>
          <a:prstGeom prst="rect">
            <a:avLst/>
          </a:prstGeom>
          <a:noFill/>
        </p:spPr>
        <p:txBody>
          <a:bodyPr wrap="square" lIns="45720" rIns="45720" tIns="18288" bIns="18288">
            <a:spAutoFit/>
          </a:bodyPr>
          <a:lstStyle/>
          <a:p>
            <a:pPr algn="l"/>
            <a:r>
              <a:rPr sz="1300" b="1">
                <a:solidFill>
                  <a:srgbClr val="3D9DF3"/>
                </a:solidFill>
                <a:latin typeface="Calibri"/>
              </a:rPr>
              <a:t>core/perception</a:t>
            </a:r>
          </a:p>
        </p:txBody>
      </p:sp>
      <p:sp>
        <p:nvSpPr>
          <p:cNvPr id="25" name="TextBox 24"/>
          <p:cNvSpPr txBox="1"/>
          <p:nvPr/>
        </p:nvSpPr>
        <p:spPr>
          <a:xfrm>
            <a:off x="6263640" y="3566160"/>
            <a:ext cx="5394960" cy="0"/>
          </a:xfrm>
          <a:prstGeom prst="rect">
            <a:avLst/>
          </a:prstGeom>
          <a:noFill/>
        </p:spPr>
        <p:txBody>
          <a:bodyPr wrap="square" lIns="45720" rIns="45720" tIns="18288" bIns="18288">
            <a:spAutoFit/>
          </a:bodyPr>
          <a:lstStyle/>
          <a:p>
            <a:pPr algn="l"/>
            <a:r>
              <a:rPr sz="1100" b="0">
                <a:solidFill>
                  <a:srgbClr val="F2F4FA"/>
                </a:solidFill>
                <a:latin typeface="Calibri"/>
              </a:rPr>
              <a:t>Perception::scan() (service stateless, Frenet)</a:t>
            </a:r>
          </a:p>
        </p:txBody>
      </p:sp>
      <p:sp>
        <p:nvSpPr>
          <p:cNvPr id="26" name="Rounded Rectangle 25"/>
          <p:cNvSpPr/>
          <p:nvPr/>
        </p:nvSpPr>
        <p:spPr>
          <a:xfrm>
            <a:off x="365760" y="3703320"/>
            <a:ext cx="5669280" cy="5029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3794760"/>
            <a:ext cx="5394960" cy="320040"/>
          </a:xfrm>
          <a:prstGeom prst="rect">
            <a:avLst/>
          </a:prstGeom>
          <a:noFill/>
        </p:spPr>
        <p:txBody>
          <a:bodyPr wrap="square" lIns="45720" rIns="45720" tIns="18288" bIns="18288">
            <a:spAutoFit/>
          </a:bodyPr>
          <a:lstStyle/>
          <a:p>
            <a:pPr algn="l"/>
            <a:r>
              <a:rPr sz="1300" b="1">
                <a:solidFill>
                  <a:srgbClr val="3D9DF3"/>
                </a:solidFill>
                <a:latin typeface="Calibri"/>
              </a:rPr>
              <a:t>core/metrics</a:t>
            </a:r>
          </a:p>
        </p:txBody>
      </p:sp>
      <p:sp>
        <p:nvSpPr>
          <p:cNvPr id="28" name="TextBox 27"/>
          <p:cNvSpPr txBox="1"/>
          <p:nvPr/>
        </p:nvSpPr>
        <p:spPr>
          <a:xfrm>
            <a:off x="502920" y="4160520"/>
            <a:ext cx="5394960" cy="0"/>
          </a:xfrm>
          <a:prstGeom prst="rect">
            <a:avLst/>
          </a:prstGeom>
          <a:noFill/>
        </p:spPr>
        <p:txBody>
          <a:bodyPr wrap="square" lIns="45720" rIns="45720" tIns="18288" bIns="18288">
            <a:spAutoFit/>
          </a:bodyPr>
          <a:lstStyle/>
          <a:p>
            <a:pPr algn="l"/>
            <a:r>
              <a:rPr sz="1100" b="0">
                <a:solidFill>
                  <a:srgbClr val="F2F4FA"/>
                </a:solidFill>
                <a:latin typeface="Calibri"/>
              </a:rPr>
              <a:t>MetricsCollector, AggregateMetrics, computeTtc</a:t>
            </a:r>
          </a:p>
        </p:txBody>
      </p:sp>
      <p:sp>
        <p:nvSpPr>
          <p:cNvPr id="29" name="Rounded Rectangle 28"/>
          <p:cNvSpPr/>
          <p:nvPr/>
        </p:nvSpPr>
        <p:spPr>
          <a:xfrm>
            <a:off x="6126480" y="3703320"/>
            <a:ext cx="5669280" cy="5029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3794760"/>
            <a:ext cx="5394960" cy="320040"/>
          </a:xfrm>
          <a:prstGeom prst="rect">
            <a:avLst/>
          </a:prstGeom>
          <a:noFill/>
        </p:spPr>
        <p:txBody>
          <a:bodyPr wrap="square" lIns="45720" rIns="45720" tIns="18288" bIns="18288">
            <a:spAutoFit/>
          </a:bodyPr>
          <a:lstStyle/>
          <a:p>
            <a:pPr algn="l"/>
            <a:r>
              <a:rPr sz="1300" b="1">
                <a:solidFill>
                  <a:srgbClr val="3D9DF3"/>
                </a:solidFill>
                <a:latin typeface="Calibri"/>
              </a:rPr>
              <a:t>sim</a:t>
            </a:r>
          </a:p>
        </p:txBody>
      </p:sp>
      <p:sp>
        <p:nvSpPr>
          <p:cNvPr id="31" name="TextBox 30"/>
          <p:cNvSpPr txBox="1"/>
          <p:nvPr/>
        </p:nvSpPr>
        <p:spPr>
          <a:xfrm>
            <a:off x="6263640" y="4160520"/>
            <a:ext cx="5394960" cy="0"/>
          </a:xfrm>
          <a:prstGeom prst="rect">
            <a:avLst/>
          </a:prstGeom>
          <a:noFill/>
        </p:spPr>
        <p:txBody>
          <a:bodyPr wrap="square" lIns="45720" rIns="45720" tIns="18288" bIns="18288">
            <a:spAutoFit/>
          </a:bodyPr>
          <a:lstStyle/>
          <a:p>
            <a:pPr algn="l"/>
            <a:r>
              <a:rPr sz="1100" b="0">
                <a:solidFill>
                  <a:srgbClr val="F2F4FA"/>
                </a:solidFill>
                <a:latin typeface="Calibri"/>
              </a:rPr>
              <a:t>ThreadPool, Spawner, McLiveSession, ExperimentRunner, ParallelDecisions</a:t>
            </a:r>
          </a:p>
        </p:txBody>
      </p:sp>
      <p:sp>
        <p:nvSpPr>
          <p:cNvPr id="32" name="Rounded Rectangle 31"/>
          <p:cNvSpPr/>
          <p:nvPr/>
        </p:nvSpPr>
        <p:spPr>
          <a:xfrm>
            <a:off x="365760" y="4297680"/>
            <a:ext cx="5669280" cy="5029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4389120"/>
            <a:ext cx="5394960" cy="320040"/>
          </a:xfrm>
          <a:prstGeom prst="rect">
            <a:avLst/>
          </a:prstGeom>
          <a:noFill/>
        </p:spPr>
        <p:txBody>
          <a:bodyPr wrap="square" lIns="45720" rIns="45720" tIns="18288" bIns="18288">
            <a:spAutoFit/>
          </a:bodyPr>
          <a:lstStyle/>
          <a:p>
            <a:pPr algn="l"/>
            <a:r>
              <a:rPr sz="1300" b="1">
                <a:solidFill>
                  <a:srgbClr val="3D9DF3"/>
                </a:solidFill>
                <a:latin typeface="Calibri"/>
              </a:rPr>
              <a:t>render</a:t>
            </a:r>
          </a:p>
        </p:txBody>
      </p:sp>
      <p:sp>
        <p:nvSpPr>
          <p:cNvPr id="34" name="TextBox 33"/>
          <p:cNvSpPr txBox="1"/>
          <p:nvPr/>
        </p:nvSpPr>
        <p:spPr>
          <a:xfrm>
            <a:off x="502920" y="4754880"/>
            <a:ext cx="5394960" cy="0"/>
          </a:xfrm>
          <a:prstGeom prst="rect">
            <a:avLst/>
          </a:prstGeom>
          <a:noFill/>
        </p:spPr>
        <p:txBody>
          <a:bodyPr wrap="square" lIns="45720" rIns="45720" tIns="18288" bIns="18288">
            <a:spAutoFit/>
          </a:bodyPr>
          <a:lstStyle/>
          <a:p>
            <a:pPr algn="l"/>
            <a:r>
              <a:rPr sz="1100" b="0">
                <a:solidFill>
                  <a:srgbClr val="F2F4FA"/>
                </a:solidFill>
                <a:latin typeface="Calibri"/>
              </a:rPr>
              <a:t>IRenderer, SfmlRenderer, NullRenderer, Camera</a:t>
            </a:r>
          </a:p>
        </p:txBody>
      </p:sp>
      <p:sp>
        <p:nvSpPr>
          <p:cNvPr id="35" name="Rounded Rectangle 34"/>
          <p:cNvSpPr/>
          <p:nvPr/>
        </p:nvSpPr>
        <p:spPr>
          <a:xfrm>
            <a:off x="6126480" y="4297680"/>
            <a:ext cx="5669280" cy="5029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4389120"/>
            <a:ext cx="5394960" cy="320040"/>
          </a:xfrm>
          <a:prstGeom prst="rect">
            <a:avLst/>
          </a:prstGeom>
          <a:noFill/>
        </p:spPr>
        <p:txBody>
          <a:bodyPr wrap="square" lIns="45720" rIns="45720" tIns="18288" bIns="18288">
            <a:spAutoFit/>
          </a:bodyPr>
          <a:lstStyle/>
          <a:p>
            <a:pPr algn="l"/>
            <a:r>
              <a:rPr sz="1300" b="1">
                <a:solidFill>
                  <a:srgbClr val="3D9DF3"/>
                </a:solidFill>
                <a:latin typeface="Calibri"/>
              </a:rPr>
              <a:t>io</a:t>
            </a:r>
          </a:p>
        </p:txBody>
      </p:sp>
      <p:sp>
        <p:nvSpPr>
          <p:cNvPr id="37" name="TextBox 36"/>
          <p:cNvSpPr txBox="1"/>
          <p:nvPr/>
        </p:nvSpPr>
        <p:spPr>
          <a:xfrm>
            <a:off x="6263640" y="4754880"/>
            <a:ext cx="5394960" cy="0"/>
          </a:xfrm>
          <a:prstGeom prst="rect">
            <a:avLst/>
          </a:prstGeom>
          <a:noFill/>
        </p:spPr>
        <p:txBody>
          <a:bodyPr wrap="square" lIns="45720" rIns="45720" tIns="18288" bIns="18288">
            <a:spAutoFit/>
          </a:bodyPr>
          <a:lstStyle/>
          <a:p>
            <a:pPr algn="l"/>
            <a:r>
              <a:rPr sz="1100" b="0">
                <a:solidFill>
                  <a:srgbClr val="F2F4FA"/>
                </a:solidFill>
                <a:latin typeface="Calibri"/>
              </a:rPr>
              <a:t>ScenarioIO, SceneBuilder, ScenarioCatalog</a:t>
            </a:r>
          </a:p>
        </p:txBody>
      </p:sp>
      <p:sp>
        <p:nvSpPr>
          <p:cNvPr id="38" name="TextBox 37"/>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ARCHITECTURE · 4.1</a:t>
            </a:r>
          </a:p>
        </p:txBody>
      </p:sp>
      <p:sp>
        <p:nvSpPr>
          <p:cNvPr id="39" name="TextBox 38"/>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51 / 66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ARCHITECTURE · 4.2</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Pipeline 2-phases : compute then apply</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Lecture pure puis écriture privée → safe by construction</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5577840" cy="182880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5303520" cy="320040"/>
          </a:xfrm>
          <a:prstGeom prst="rect">
            <a:avLst/>
          </a:prstGeom>
          <a:noFill/>
        </p:spPr>
        <p:txBody>
          <a:bodyPr wrap="square" lIns="45720" rIns="45720" tIns="18288" bIns="18288">
            <a:spAutoFit/>
          </a:bodyPr>
          <a:lstStyle/>
          <a:p>
            <a:pPr algn="l"/>
            <a:r>
              <a:rPr sz="1300" b="1">
                <a:solidFill>
                  <a:srgbClr val="3D9DF3"/>
                </a:solidFill>
                <a:latin typeface="Calibri"/>
              </a:rPr>
              <a:t>Phase 1 — DÉCISION</a:t>
            </a:r>
          </a:p>
        </p:txBody>
      </p:sp>
      <p:sp>
        <p:nvSpPr>
          <p:cNvPr id="10" name="TextBox 9"/>
          <p:cNvSpPr txBox="1"/>
          <p:nvPr/>
        </p:nvSpPr>
        <p:spPr>
          <a:xfrm>
            <a:off x="685800" y="2377440"/>
            <a:ext cx="5303520" cy="1325880"/>
          </a:xfrm>
          <a:prstGeom prst="rect">
            <a:avLst/>
          </a:prstGeom>
          <a:noFill/>
        </p:spPr>
        <p:txBody>
          <a:bodyPr wrap="square" lIns="45720" rIns="45720" tIns="18288" bIns="18288">
            <a:spAutoFit/>
          </a:bodyPr>
          <a:lstStyle/>
          <a:p>
            <a:pPr algn="l"/>
            <a:r>
              <a:rPr sz="1100" b="0">
                <a:solidFill>
                  <a:srgbClr val="F2F4FA"/>
                </a:solidFill>
                <a:latin typeface="Calibri"/>
              </a:rPr>
              <a:t>agent.computeDecision(agents, world) — LECTURE SEULE GLOBALE.</a:t>
            </a:r>
          </a:p>
          <a:p>
            <a:pPr algn="l"/>
            <a:r>
              <a:rPr sz="1100" b="0">
                <a:solidFill>
                  <a:srgbClr val="F2F4FA"/>
                </a:solidFill>
                <a:latin typeface="Calibri"/>
              </a:rPr>
              <a:t>Produit : pendingAccel, pendingDesiredSpeed.</a:t>
            </a:r>
          </a:p>
          <a:p>
            <a:pPr algn="l"/>
            <a:r>
              <a:rPr sz="1100" b="0">
                <a:solidFill>
                  <a:srgbClr val="F2F4FA"/>
                </a:solidFill>
                <a:latin typeface="Calibri"/>
              </a:rPr>
              <a:t>Parallélisable trivialement.</a:t>
            </a:r>
          </a:p>
        </p:txBody>
      </p:sp>
      <p:sp>
        <p:nvSpPr>
          <p:cNvPr id="11" name="Rounded Rectangle 10"/>
          <p:cNvSpPr/>
          <p:nvPr/>
        </p:nvSpPr>
        <p:spPr>
          <a:xfrm>
            <a:off x="6263640" y="1920240"/>
            <a:ext cx="5532120" cy="182880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Phase 2 — INTÉGRATION</a:t>
            </a:r>
          </a:p>
        </p:txBody>
      </p:sp>
      <p:sp>
        <p:nvSpPr>
          <p:cNvPr id="13" name="TextBox 12"/>
          <p:cNvSpPr txBox="1"/>
          <p:nvPr/>
        </p:nvSpPr>
        <p:spPr>
          <a:xfrm>
            <a:off x="6400800" y="2377440"/>
            <a:ext cx="5257800" cy="1325880"/>
          </a:xfrm>
          <a:prstGeom prst="rect">
            <a:avLst/>
          </a:prstGeom>
          <a:noFill/>
        </p:spPr>
        <p:txBody>
          <a:bodyPr wrap="square" lIns="45720" rIns="45720" tIns="18288" bIns="18288">
            <a:spAutoFit/>
          </a:bodyPr>
          <a:lstStyle/>
          <a:p>
            <a:pPr algn="l"/>
            <a:r>
              <a:rPr sz="1100" b="0">
                <a:solidFill>
                  <a:srgbClr val="F2F4FA"/>
                </a:solidFill>
                <a:latin typeface="Calibri"/>
              </a:rPr>
              <a:t>agent.integrate(FIXED_DT) — ÉCRITURE PRIVÉE.</a:t>
            </a:r>
          </a:p>
          <a:p>
            <a:pPr algn="l"/>
            <a:r>
              <a:rPr sz="1100" b="0">
                <a:solidFill>
                  <a:srgbClr val="F2F4FA"/>
                </a:solidFill>
                <a:latin typeface="Calibri"/>
              </a:rPr>
              <a:t>Euler symplectique : v += a·dt, s += v·dt.</a:t>
            </a:r>
          </a:p>
          <a:p>
            <a:pPr algn="l"/>
            <a:r>
              <a:rPr sz="1100" b="0">
                <a:solidFill>
                  <a:srgbClr val="F2F4FA"/>
                </a:solidFill>
                <a:latin typeface="Calibri"/>
              </a:rPr>
              <a:t>Séquentielle pour bit-déterminisme.</a:t>
            </a:r>
          </a:p>
        </p:txBody>
      </p:sp>
      <p:sp>
        <p:nvSpPr>
          <p:cNvPr id="14" name="TextBox 13"/>
          <p:cNvSpPr txBox="1"/>
          <p:nvPr/>
        </p:nvSpPr>
        <p:spPr>
          <a:xfrm>
            <a:off x="548640" y="3886200"/>
            <a:ext cx="11247120" cy="365760"/>
          </a:xfrm>
          <a:prstGeom prst="rect">
            <a:avLst/>
          </a:prstGeom>
          <a:noFill/>
        </p:spPr>
        <p:txBody>
          <a:bodyPr wrap="square" lIns="45720" rIns="45720" tIns="18288" bIns="18288">
            <a:spAutoFit/>
          </a:bodyPr>
          <a:lstStyle/>
          <a:p>
            <a:pPr algn="l"/>
            <a:r>
              <a:rPr sz="1400" b="1">
                <a:solidFill>
                  <a:srgbClr val="F2F4FA"/>
                </a:solidFill>
                <a:latin typeface="Calibri"/>
              </a:rPr>
              <a:t>Boucle principale 60 FPS + accumulateur + MAX_SUBSTEPS=5</a:t>
            </a:r>
          </a:p>
        </p:txBody>
      </p:sp>
      <p:sp>
        <p:nvSpPr>
          <p:cNvPr id="15" name="TextBox 14"/>
          <p:cNvSpPr txBox="1"/>
          <p:nvPr/>
        </p:nvSpPr>
        <p:spPr>
          <a:xfrm>
            <a:off x="548640" y="4297680"/>
            <a:ext cx="11247120" cy="2194560"/>
          </a:xfrm>
          <a:prstGeom prst="rect">
            <a:avLst/>
          </a:prstGeom>
          <a:noFill/>
        </p:spPr>
        <p:txBody>
          <a:bodyPr wrap="square" lIns="45720" rIns="45720" tIns="18288" bIns="18288">
            <a:spAutoFit/>
          </a:bodyPr>
          <a:lstStyle/>
          <a:p>
            <a:pPr algn="l"/>
            <a:r>
              <a:rPr sz="1100" b="0">
                <a:solidFill>
                  <a:srgbClr val="F2F4FA"/>
                </a:solidFill>
                <a:latin typeface="Consolas"/>
              </a:rPr>
              <a:t>boucle (60 FPS) :</a:t>
            </a:r>
          </a:p>
          <a:p>
            <a:pPr algn="l"/>
            <a:r>
              <a:rPr sz="1100" b="0">
                <a:solidFill>
                  <a:srgbClr val="F2F4FA"/>
                </a:solidFill>
                <a:latin typeface="Consolas"/>
              </a:rPr>
              <a:t>  pollEvents()</a:t>
            </a:r>
          </a:p>
          <a:p>
            <a:pPr algn="l"/>
            <a:r>
              <a:rPr sz="1100" b="0">
                <a:solidFill>
                  <a:srgbClr val="F2F4FA"/>
                </a:solidFill>
                <a:latin typeface="Consolas"/>
              </a:rPr>
              <a:t>  simAccumulator += frameTime * simSpeedFactor</a:t>
            </a:r>
          </a:p>
          <a:p>
            <a:pPr algn="l"/>
            <a:r>
              <a:rPr sz="1100" b="0">
                <a:solidFill>
                  <a:srgbClr val="F2F4FA"/>
                </a:solidFill>
                <a:latin typeface="Consolas"/>
              </a:rPr>
              <a:t>  TANT QUE simAccumulator ≥ FIXED_DT ET steps &lt; MAX_SUBSTEPS :</a:t>
            </a:r>
          </a:p>
          <a:p>
            <a:pPr algn="l"/>
            <a:r>
              <a:rPr sz="1100" b="0">
                <a:solidFill>
                  <a:srgbClr val="F2F4FA"/>
                </a:solidFill>
                <a:latin typeface="Consolas"/>
              </a:rPr>
              <a:t>    mcLive.inject()                  # Monte-Carlo spawn</a:t>
            </a:r>
          </a:p>
          <a:p>
            <a:pPr algn="l"/>
            <a:r>
              <a:rPr sz="1100" b="0">
                <a:solidFill>
                  <a:srgbClr val="F2F4FA"/>
                </a:solidFill>
                <a:latin typeface="Consolas"/>
              </a:rPr>
              <a:t>    world.updateIntersections(dt)    # feux, horloges</a:t>
            </a:r>
          </a:p>
          <a:p>
            <a:pPr algn="l"/>
            <a:r>
              <a:rPr sz="1100" b="0">
                <a:solidFill>
                  <a:srgbClr val="F2F4FA"/>
                </a:solidFill>
                <a:latin typeface="Consolas"/>
              </a:rPr>
              <a:t>    parallel { agent.computeDecision() }   # Phase 1</a:t>
            </a:r>
          </a:p>
          <a:p>
            <a:pPr algn="l"/>
            <a:r>
              <a:rPr sz="1100" b="0">
                <a:solidFill>
                  <a:srgbClr val="F2F4FA"/>
                </a:solidFill>
                <a:latin typeface="Consolas"/>
              </a:rPr>
              <a:t>    sequential { agent.integrate(dt) }     # Phase 2</a:t>
            </a:r>
          </a:p>
          <a:p>
            <a:pPr algn="l"/>
            <a:r>
              <a:rPr sz="1100" b="0">
                <a:solidFill>
                  <a:srgbClr val="F2F4FA"/>
                </a:solidFill>
                <a:latin typeface="Consolas"/>
              </a:rPr>
              <a:t>    metrics.sample(agents, dt)</a:t>
            </a:r>
          </a:p>
          <a:p>
            <a:pPr algn="l"/>
            <a:r>
              <a:rPr sz="1100" b="0">
                <a:solidFill>
                  <a:srgbClr val="F2F4FA"/>
                </a:solidFill>
                <a:latin typeface="Consolas"/>
              </a:rPr>
              <a:t>    simAccumulator -= FIXED_DT</a:t>
            </a:r>
          </a:p>
          <a:p>
            <a:pPr algn="l"/>
            <a:r>
              <a:rPr sz="1100" b="0">
                <a:solidFill>
                  <a:srgbClr val="F2F4FA"/>
                </a:solidFill>
                <a:latin typeface="Consolas"/>
              </a:rPr>
              <a:t>  render(world, agents, ui)</a:t>
            </a:r>
          </a:p>
          <a:p>
            <a:pPr algn="l"/>
            <a:r>
              <a:rPr sz="1100" b="0">
                <a:solidFill>
                  <a:srgbClr val="F2F4FA"/>
                </a:solidFill>
                <a:latin typeface="Consolas"/>
              </a:rPr>
              <a:t/>
            </a:r>
          </a:p>
        </p:txBody>
      </p:sp>
      <p:sp>
        <p:nvSpPr>
          <p:cNvPr id="16" name="TextBox 15"/>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ARCHITECTURE · 4.2</a:t>
            </a:r>
          </a:p>
        </p:txBody>
      </p:sp>
      <p:sp>
        <p:nvSpPr>
          <p:cNvPr id="17" name="TextBox 16"/>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52 / 66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ARCHITECTURE · 4.3</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Diagramme de classes — Agent</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IAgent, Vehicle, Car, Truck, composition</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74519"/>
            <a:ext cx="7772400" cy="4572000"/>
          </a:xfrm>
          <a:prstGeom prst="rect">
            <a:avLst/>
          </a:prstGeom>
          <a:noFill/>
        </p:spPr>
        <p:txBody>
          <a:bodyPr wrap="square" lIns="45720" rIns="45720" tIns="18288" bIns="18288">
            <a:spAutoFit/>
          </a:bodyPr>
          <a:lstStyle/>
          <a:p>
            <a:pPr algn="l"/>
            <a:r>
              <a:rPr sz="1100" b="0">
                <a:solidFill>
                  <a:srgbClr val="F2F4FA"/>
                </a:solidFill>
                <a:latin typeface="Consolas"/>
              </a:rPr>
              <a:t>interface IAgent</a:t>
            </a:r>
          </a:p>
          <a:p>
            <a:pPr algn="l"/>
            <a:r>
              <a:rPr sz="1100" b="0">
                <a:solidFill>
                  <a:srgbClr val="F2F4FA"/>
                </a:solidFill>
                <a:latin typeface="Consolas"/>
              </a:rPr>
              <a:t>  + computeDecision(agents, world)</a:t>
            </a:r>
          </a:p>
          <a:p>
            <a:pPr algn="l"/>
            <a:r>
              <a:rPr sz="1100" b="0">
                <a:solidFill>
                  <a:srgbClr val="F2F4FA"/>
                </a:solidFill>
                <a:latin typeface="Consolas"/>
              </a:rPr>
              <a:t>  + integrate(dt)</a:t>
            </a:r>
          </a:p>
          <a:p>
            <a:pPr algn="l"/>
            <a:r>
              <a:rPr sz="1100" b="0">
                <a:solidFill>
                  <a:srgbClr val="F2F4FA"/>
                </a:solidFill>
                <a:latin typeface="Consolas"/>
              </a:rPr>
              <a:t>  + getPosition() : Vec2</a:t>
            </a:r>
          </a:p>
          <a:p>
            <a:pPr algn="l"/>
            <a:r>
              <a:rPr sz="1100" b="0">
                <a:solidFill>
                  <a:srgbClr val="F2F4FA"/>
                </a:solidFill>
                <a:latin typeface="Consolas"/>
              </a:rPr>
              <a:t>  + getSpeed() : float</a:t>
            </a:r>
          </a:p>
          <a:p>
            <a:pPr algn="l"/>
            <a:r>
              <a:rPr sz="1100" b="0">
                <a:solidFill>
                  <a:srgbClr val="F2F4FA"/>
                </a:solidFill>
                <a:latin typeface="Consolas"/>
              </a:rPr>
              <a:t>  + getBlockReason() : BlockReason</a:t>
            </a:r>
          </a:p>
          <a:p>
            <a:pPr algn="l"/>
            <a:r>
              <a:rPr sz="1100" b="0">
                <a:solidFill>
                  <a:srgbClr val="F2F4FA"/>
                </a:solidFill>
                <a:latin typeface="Consolas"/>
              </a:rPr>
              <a:t>  + getVehicleId() : int</a:t>
            </a:r>
          </a:p>
          <a:p>
            <a:pPr algn="l"/>
            <a:r>
              <a:rPr sz="1100" b="0">
                <a:solidFill>
                  <a:srgbClr val="F2F4FA"/>
                </a:solidFill>
                <a:latin typeface="Consolas"/>
              </a:rPr>
              <a:t/>
            </a:r>
          </a:p>
          <a:p>
            <a:pPr algn="l"/>
            <a:r>
              <a:rPr sz="1100" b="0">
                <a:solidFill>
                  <a:srgbClr val="F2F4FA"/>
                </a:solidFill>
                <a:latin typeface="Consolas"/>
              </a:rPr>
              <a:t>class Vehicle implements IAgent</a:t>
            </a:r>
          </a:p>
          <a:p>
            <a:pPr algn="l"/>
            <a:r>
              <a:rPr sz="1100" b="0">
                <a:solidFill>
                  <a:srgbClr val="F2F4FA"/>
                </a:solidFill>
                <a:latin typeface="Consolas"/>
              </a:rPr>
              <a:t>  - position, velocity : Vec2</a:t>
            </a:r>
          </a:p>
          <a:p>
            <a:pPr algn="l"/>
            <a:r>
              <a:rPr sz="1100" b="0">
                <a:solidFill>
                  <a:srgbClr val="F2F4FA"/>
                </a:solidFill>
                <a:latin typeface="Consolas"/>
              </a:rPr>
              <a:t>  - currentSpeed, currentAngle : float</a:t>
            </a:r>
          </a:p>
          <a:p>
            <a:pPr algn="l"/>
            <a:r>
              <a:rPr sz="1100" b="0">
                <a:solidFill>
                  <a:srgbClr val="F2F4FA"/>
                </a:solidFill>
                <a:latin typeface="Consolas"/>
              </a:rPr>
              <a:t>  - currentLane : shared_ptr&lt;Lane&gt;</a:t>
            </a:r>
          </a:p>
          <a:p>
            <a:pPr algn="l"/>
            <a:r>
              <a:rPr sz="1100" b="0">
                <a:solidFill>
                  <a:srgbClr val="F2F4FA"/>
                </a:solidFill>
                <a:latin typeface="Consolas"/>
              </a:rPr>
              <a:t>  - s : float                        // abscisse curviligne</a:t>
            </a:r>
          </a:p>
          <a:p>
            <a:pPr algn="l"/>
            <a:r>
              <a:rPr sz="1100" b="0">
                <a:solidFill>
                  <a:srgbClr val="F2F4FA"/>
                </a:solidFill>
                <a:latin typeface="Consolas"/>
              </a:rPr>
              <a:t>  - pendingAccel, pendingDesiredSpeed : float</a:t>
            </a:r>
          </a:p>
          <a:p>
            <a:pPr algn="l"/>
            <a:r>
              <a:rPr sz="1100" b="0">
                <a:solidFill>
                  <a:srgbClr val="F2F4FA"/>
                </a:solidFill>
                <a:latin typeface="Consolas"/>
              </a:rPr>
              <a:t>  - idm : IdmModel                   // composition</a:t>
            </a:r>
          </a:p>
          <a:p>
            <a:pPr algn="l"/>
            <a:r>
              <a:rPr sz="1100" b="0">
                <a:solidFill>
                  <a:srgbClr val="F2F4FA"/>
                </a:solidFill>
                <a:latin typeface="Consolas"/>
              </a:rPr>
              <a:t>  - personality_ : Personality</a:t>
            </a:r>
          </a:p>
          <a:p>
            <a:pPr algn="l"/>
            <a:r>
              <a:rPr sz="1100" b="0">
                <a:solidFill>
                  <a:srgbClr val="F2F4FA"/>
                </a:solidFill>
                <a:latin typeface="Consolas"/>
              </a:rPr>
              <a:t>  - rng_ : Rng                       // par-agent, seedé position</a:t>
            </a:r>
          </a:p>
          <a:p>
            <a:pPr algn="l"/>
            <a:r>
              <a:rPr sz="1100" b="0">
                <a:solidFill>
                  <a:srgbClr val="F2F4FA"/>
                </a:solidFill>
                <a:latin typeface="Consolas"/>
              </a:rPr>
              <a:t>  - vehicleId_ : int                 // VIN déterministe</a:t>
            </a:r>
          </a:p>
          <a:p>
            <a:pPr algn="l"/>
            <a:r>
              <a:rPr sz="1100" b="0">
                <a:solidFill>
                  <a:srgbClr val="F2F4FA"/>
                </a:solidFill>
                <a:latin typeface="Consolas"/>
              </a:rPr>
              <a:t>  - isCommittedToPass : bool</a:t>
            </a:r>
          </a:p>
          <a:p>
            <a:pPr algn="l"/>
            <a:r>
              <a:rPr sz="1100" b="0">
                <a:solidFill>
                  <a:srgbClr val="F2F4FA"/>
                </a:solidFill>
                <a:latin typeface="Consolas"/>
              </a:rPr>
              <a:t>  - committedIntersectionId : int</a:t>
            </a:r>
          </a:p>
          <a:p>
            <a:pPr algn="l"/>
            <a:r>
              <a:rPr sz="1100" b="0">
                <a:solidFill>
                  <a:srgbClr val="F2F4FA"/>
                </a:solidFill>
                <a:latin typeface="Consolas"/>
              </a:rPr>
              <a:t>  - overtakeState : OvertakeState</a:t>
            </a:r>
          </a:p>
          <a:p>
            <a:pPr algn="l"/>
            <a:r>
              <a:rPr sz="1100" b="0">
                <a:solidFill>
                  <a:srgbClr val="F2F4FA"/>
                </a:solidFill>
                <a:latin typeface="Consolas"/>
              </a:rPr>
              <a:t>  - lateralOffset : float</a:t>
            </a:r>
          </a:p>
          <a:p>
            <a:pPr algn="l"/>
            <a:r>
              <a:rPr sz="1100" b="0">
                <a:solidFill>
                  <a:srgbClr val="F2F4FA"/>
                </a:solidFill>
                <a:latin typeface="Consolas"/>
              </a:rPr>
              <a:t>  - currentBlockReason : BlockReason</a:t>
            </a:r>
          </a:p>
          <a:p>
            <a:pPr algn="l"/>
            <a:r>
              <a:rPr sz="1100" b="0">
                <a:solidFill>
                  <a:srgbClr val="F2F4FA"/>
                </a:solidFill>
                <a:latin typeface="Consolas"/>
              </a:rPr>
              <a:t/>
            </a:r>
          </a:p>
          <a:p>
            <a:pPr algn="l"/>
            <a:r>
              <a:rPr sz="1100" b="0">
                <a:solidFill>
                  <a:srgbClr val="F2F4FA"/>
                </a:solidFill>
                <a:latin typeface="Consolas"/>
              </a:rPr>
              <a:t>class Car extends Vehicle      // bodySize 32 × 16 px</a:t>
            </a:r>
          </a:p>
          <a:p>
            <a:pPr algn="l"/>
            <a:r>
              <a:rPr sz="1100" b="0">
                <a:solidFill>
                  <a:srgbClr val="F2F4FA"/>
                </a:solidFill>
                <a:latin typeface="Consolas"/>
              </a:rPr>
              <a:t>class Truck extends Vehicle    // bodySize 64 × 22 px</a:t>
            </a:r>
          </a:p>
          <a:p>
            <a:pPr algn="l"/>
            <a:r>
              <a:rPr sz="1100" b="0">
                <a:solidFill>
                  <a:srgbClr val="F2F4FA"/>
                </a:solidFill>
                <a:latin typeface="Consolas"/>
              </a:rPr>
              <a:t/>
            </a:r>
          </a:p>
        </p:txBody>
      </p:sp>
      <p:sp>
        <p:nvSpPr>
          <p:cNvPr id="9" name="Rounded Rectangle 8"/>
          <p:cNvSpPr/>
          <p:nvPr/>
        </p:nvSpPr>
        <p:spPr>
          <a:xfrm>
            <a:off x="8321040" y="1874519"/>
            <a:ext cx="3474720" cy="21945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1965959"/>
            <a:ext cx="3200400" cy="320040"/>
          </a:xfrm>
          <a:prstGeom prst="rect">
            <a:avLst/>
          </a:prstGeom>
          <a:noFill/>
        </p:spPr>
        <p:txBody>
          <a:bodyPr wrap="square" lIns="45720" rIns="45720" tIns="18288" bIns="18288">
            <a:spAutoFit/>
          </a:bodyPr>
          <a:lstStyle/>
          <a:p>
            <a:pPr algn="l"/>
            <a:r>
              <a:rPr sz="1300" b="1">
                <a:solidFill>
                  <a:srgbClr val="3D9DF3"/>
                </a:solidFill>
                <a:latin typeface="Calibri"/>
              </a:rPr>
              <a:t>Composition</a:t>
            </a:r>
          </a:p>
        </p:txBody>
      </p:sp>
      <p:sp>
        <p:nvSpPr>
          <p:cNvPr id="11" name="TextBox 10"/>
          <p:cNvSpPr txBox="1"/>
          <p:nvPr/>
        </p:nvSpPr>
        <p:spPr>
          <a:xfrm>
            <a:off x="8458200" y="2331719"/>
            <a:ext cx="3200400" cy="1691640"/>
          </a:xfrm>
          <a:prstGeom prst="rect">
            <a:avLst/>
          </a:prstGeom>
          <a:noFill/>
        </p:spPr>
        <p:txBody>
          <a:bodyPr wrap="square" lIns="45720" rIns="45720" tIns="18288" bIns="18288">
            <a:spAutoFit/>
          </a:bodyPr>
          <a:lstStyle/>
          <a:p>
            <a:pPr algn="l"/>
            <a:r>
              <a:rPr sz="1100" b="0">
                <a:solidFill>
                  <a:srgbClr val="F2F4FA"/>
                </a:solidFill>
                <a:latin typeface="Calibri"/>
              </a:rPr>
              <a:t>Vehicle compose IdmModel, Personality, Rng, et référence partagée à Lane.</a:t>
            </a:r>
          </a:p>
          <a:p>
            <a:pPr algn="l"/>
            <a:r>
              <a:rPr sz="1100" b="0">
                <a:solidFill>
                  <a:srgbClr val="F2F4FA"/>
                </a:solidFill>
                <a:latin typeface="Calibri"/>
              </a:rPr>
              <a:t>Pas d'héritage multiple : Strategy + composition.</a:t>
            </a:r>
          </a:p>
        </p:txBody>
      </p:sp>
      <p:sp>
        <p:nvSpPr>
          <p:cNvPr id="12" name="Rounded Rectangle 11"/>
          <p:cNvSpPr/>
          <p:nvPr/>
        </p:nvSpPr>
        <p:spPr>
          <a:xfrm>
            <a:off x="8321040" y="4160520"/>
            <a:ext cx="3474720" cy="228600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4251960"/>
            <a:ext cx="3200400" cy="320040"/>
          </a:xfrm>
          <a:prstGeom prst="rect">
            <a:avLst/>
          </a:prstGeom>
          <a:noFill/>
        </p:spPr>
        <p:txBody>
          <a:bodyPr wrap="square" lIns="45720" rIns="45720" tIns="18288" bIns="18288">
            <a:spAutoFit/>
          </a:bodyPr>
          <a:lstStyle/>
          <a:p>
            <a:pPr algn="l"/>
            <a:r>
              <a:rPr sz="1300" b="1">
                <a:solidFill>
                  <a:srgbClr val="4CD97F"/>
                </a:solidFill>
                <a:latin typeface="Calibri"/>
              </a:rPr>
              <a:t>VIN déterministe</a:t>
            </a:r>
          </a:p>
        </p:txBody>
      </p:sp>
      <p:sp>
        <p:nvSpPr>
          <p:cNvPr id="14" name="TextBox 13"/>
          <p:cNvSpPr txBox="1"/>
          <p:nvPr/>
        </p:nvSpPr>
        <p:spPr>
          <a:xfrm>
            <a:off x="8458200" y="4617720"/>
            <a:ext cx="3200400" cy="1783080"/>
          </a:xfrm>
          <a:prstGeom prst="rect">
            <a:avLst/>
          </a:prstGeom>
          <a:noFill/>
        </p:spPr>
        <p:txBody>
          <a:bodyPr wrap="square" lIns="45720" rIns="45720" tIns="18288" bIns="18288">
            <a:spAutoFit/>
          </a:bodyPr>
          <a:lstStyle/>
          <a:p>
            <a:pPr algn="l"/>
            <a:r>
              <a:rPr sz="1100" b="0">
                <a:solidFill>
                  <a:srgbClr val="F2F4FA"/>
                </a:solidFill>
                <a:latin typeface="Calibri"/>
              </a:rPr>
              <a:t>Compteur global statique → ordre de construction fixe.</a:t>
            </a:r>
          </a:p>
          <a:p>
            <a:pPr algn="l"/>
            <a:r>
              <a:rPr sz="1100" b="0">
                <a:solidFill>
                  <a:srgbClr val="F2F4FA"/>
                </a:solidFill>
                <a:latin typeface="Calibri"/>
              </a:rPr>
              <a:t>Rng seedée par (startX, startY) → bit-identique run-to-run.</a:t>
            </a:r>
          </a:p>
        </p:txBody>
      </p:sp>
      <p:sp>
        <p:nvSpPr>
          <p:cNvPr id="15" name="TextBox 14"/>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ARCHITECTURE · 4.3</a:t>
            </a:r>
          </a:p>
        </p:txBody>
      </p:sp>
      <p:sp>
        <p:nvSpPr>
          <p:cNvPr id="16" name="TextBox 15"/>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53 / 66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ARCHITECTURE · 4.4</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Diagramme de classes — Intersection &amp; Policies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Strategy Pattern : 10 policies interchangeables</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74519"/>
            <a:ext cx="7772400" cy="4572000"/>
          </a:xfrm>
          <a:prstGeom prst="rect">
            <a:avLst/>
          </a:prstGeom>
          <a:noFill/>
        </p:spPr>
        <p:txBody>
          <a:bodyPr wrap="square" lIns="45720" rIns="45720" tIns="18288" bIns="18288">
            <a:spAutoFit/>
          </a:bodyPr>
          <a:lstStyle/>
          <a:p>
            <a:pPr algn="l"/>
            <a:r>
              <a:rPr sz="1100" b="0">
                <a:solidFill>
                  <a:srgbClr val="F2F4FA"/>
                </a:solidFill>
                <a:latin typeface="Consolas"/>
              </a:rPr>
              <a:t>class Intersection</a:t>
            </a:r>
          </a:p>
          <a:p>
            <a:pPr algn="l"/>
            <a:r>
              <a:rPr sz="1100" b="0">
                <a:solidFill>
                  <a:srgbClr val="F2F4FA"/>
                </a:solidFill>
                <a:latin typeface="Consolas"/>
              </a:rPr>
              <a:t>  - id : int</a:t>
            </a:r>
          </a:p>
          <a:p>
            <a:pPr algn="l"/>
            <a:r>
              <a:rPr sz="1100" b="0">
                <a:solidFill>
                  <a:srgbClr val="F2F4FA"/>
                </a:solidFill>
                <a:latin typeface="Consolas"/>
              </a:rPr>
              <a:t>  - type : RegulationType</a:t>
            </a:r>
          </a:p>
          <a:p>
            <a:pPr algn="l"/>
            <a:r>
              <a:rPr sz="1100" b="0">
                <a:solidFill>
                  <a:srgbClr val="F2F4FA"/>
                </a:solidFill>
                <a:latin typeface="Consolas"/>
              </a:rPr>
              <a:t>  - coveredTiles : vector&lt;TileCoord&gt;</a:t>
            </a:r>
          </a:p>
          <a:p>
            <a:pPr algn="l"/>
            <a:r>
              <a:rPr sz="1100" b="0">
                <a:solidFill>
                  <a:srgbClr val="F2F4FA"/>
                </a:solidFill>
                <a:latin typeface="Consolas"/>
              </a:rPr>
              <a:t>  - approaches : vector&lt;Approach&gt;</a:t>
            </a:r>
          </a:p>
          <a:p>
            <a:pPr algn="l"/>
            <a:r>
              <a:rPr sz="1100" b="0">
                <a:solidFill>
                  <a:srgbClr val="F2F4FA"/>
                </a:solidFill>
                <a:latin typeface="Consolas"/>
              </a:rPr>
              <a:t>  - lightTimer, clock_ : float</a:t>
            </a:r>
          </a:p>
          <a:p>
            <a:pPr algn="l"/>
            <a:r>
              <a:rPr sz="1100" b="0">
                <a:solidFill>
                  <a:srgbClr val="F2F4FA"/>
                </a:solidFill>
                <a:latin typeface="Consolas"/>
              </a:rPr>
              <a:t>  - policy_ : unique_ptr&lt;IIntersectionPolicy&gt;</a:t>
            </a:r>
          </a:p>
          <a:p>
            <a:pPr algn="l"/>
            <a:r>
              <a:rPr sz="1100" b="0">
                <a:solidFill>
                  <a:srgbClr val="F2F4FA"/>
                </a:solidFill>
                <a:latin typeface="Consolas"/>
              </a:rPr>
              <a:t>  - reqMutex_ : unique_ptr&lt;mutex&gt;      // protège AIM</a:t>
            </a:r>
          </a:p>
          <a:p>
            <a:pPr algn="l"/>
            <a:r>
              <a:rPr sz="1100" b="0">
                <a:solidFill>
                  <a:srgbClr val="F2F4FA"/>
                </a:solidFill>
                <a:latin typeface="Consolas"/>
              </a:rPr>
              <a:t>  + request(ctx) : Decision</a:t>
            </a:r>
          </a:p>
          <a:p>
            <a:pPr algn="l"/>
            <a:r>
              <a:rPr sz="1100" b="0">
                <a:solidFill>
                  <a:srgbClr val="F2F4FA"/>
                </a:solidFill>
                <a:latin typeface="Consolas"/>
              </a:rPr>
              <a:t>  + setRegulation(type)                // swap hot</a:t>
            </a:r>
          </a:p>
          <a:p>
            <a:pPr algn="l"/>
            <a:r>
              <a:rPr sz="1100" b="0">
                <a:solidFill>
                  <a:srgbClr val="F2F4FA"/>
                </a:solidFill>
                <a:latin typeface="Consolas"/>
              </a:rPr>
              <a:t>  + update(dt)</a:t>
            </a:r>
          </a:p>
          <a:p>
            <a:pPr algn="l"/>
            <a:r>
              <a:rPr sz="1100" b="0">
                <a:solidFill>
                  <a:srgbClr val="F2F4FA"/>
                </a:solidFill>
                <a:latin typeface="Consolas"/>
              </a:rPr>
              <a:t/>
            </a:r>
          </a:p>
          <a:p>
            <a:pPr algn="l"/>
            <a:r>
              <a:rPr sz="1100" b="0">
                <a:solidFill>
                  <a:srgbClr val="F2F4FA"/>
                </a:solidFill>
                <a:latin typeface="Consolas"/>
              </a:rPr>
              <a:t>interface IIntersectionPolicy</a:t>
            </a:r>
          </a:p>
          <a:p>
            <a:pPr algn="l"/>
            <a:r>
              <a:rPr sz="1100" b="0">
                <a:solidFill>
                  <a:srgbClr val="F2F4FA"/>
                </a:solidFill>
                <a:latin typeface="Consolas"/>
              </a:rPr>
              <a:t>  + request(ctx, inter) : Decision</a:t>
            </a:r>
          </a:p>
          <a:p>
            <a:pPr algn="l"/>
            <a:r>
              <a:rPr sz="1100" b="0">
                <a:solidFill>
                  <a:srgbClr val="F2F4FA"/>
                </a:solidFill>
                <a:latin typeface="Consolas"/>
              </a:rPr>
              <a:t/>
            </a:r>
          </a:p>
          <a:p>
            <a:pPr algn="l"/>
            <a:r>
              <a:rPr sz="1100" b="0">
                <a:solidFill>
                  <a:srgbClr val="F2F4FA"/>
                </a:solidFill>
                <a:latin typeface="Consolas"/>
              </a:rPr>
              <a:t>  implementations :</a:t>
            </a:r>
          </a:p>
          <a:p>
            <a:pPr algn="l"/>
            <a:r>
              <a:rPr sz="1100" b="0">
                <a:solidFill>
                  <a:srgbClr val="F2F4FA"/>
                </a:solidFill>
                <a:latin typeface="Consolas"/>
              </a:rPr>
              <a:t>    PriorityRightPolicy, StopPolicy, YieldPolicy,</a:t>
            </a:r>
          </a:p>
          <a:p>
            <a:pPr algn="l"/>
            <a:r>
              <a:rPr sz="1100" b="0">
                <a:solidFill>
                  <a:srgbClr val="F2F4FA"/>
                </a:solidFill>
                <a:latin typeface="Consolas"/>
              </a:rPr>
              <a:t>    TrafficLightPolicy, RoundaboutPolicy,</a:t>
            </a:r>
          </a:p>
          <a:p>
            <a:pPr algn="l"/>
            <a:r>
              <a:rPr sz="1100" b="0">
                <a:solidFill>
                  <a:srgbClr val="F2F4FA"/>
                </a:solidFill>
                <a:latin typeface="Consolas"/>
              </a:rPr>
              <a:t>    FixedPriorityPolicy, P2PPolicy, AimPolicy,</a:t>
            </a:r>
          </a:p>
          <a:p>
            <a:pPr algn="l"/>
            <a:r>
              <a:rPr sz="1100" b="0">
                <a:solidFill>
                  <a:srgbClr val="F2F4FA"/>
                </a:solidFill>
                <a:latin typeface="Consolas"/>
              </a:rPr>
              <a:t>    PlatooningPolicy, OrcaPolicy</a:t>
            </a:r>
          </a:p>
          <a:p>
            <a:pPr algn="l"/>
            <a:r>
              <a:rPr sz="1100" b="0">
                <a:solidFill>
                  <a:srgbClr val="F2F4FA"/>
                </a:solidFill>
                <a:latin typeface="Consolas"/>
              </a:rPr>
              <a:t/>
            </a:r>
          </a:p>
        </p:txBody>
      </p:sp>
      <p:sp>
        <p:nvSpPr>
          <p:cNvPr id="9" name="Rounded Rectangle 8"/>
          <p:cNvSpPr/>
          <p:nvPr/>
        </p:nvSpPr>
        <p:spPr>
          <a:xfrm>
            <a:off x="8321040" y="1874519"/>
            <a:ext cx="3474720" cy="219456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1965959"/>
            <a:ext cx="3200400" cy="320040"/>
          </a:xfrm>
          <a:prstGeom prst="rect">
            <a:avLst/>
          </a:prstGeom>
          <a:noFill/>
        </p:spPr>
        <p:txBody>
          <a:bodyPr wrap="square" lIns="45720" rIns="45720" tIns="18288" bIns="18288">
            <a:spAutoFit/>
          </a:bodyPr>
          <a:lstStyle/>
          <a:p>
            <a:pPr algn="l"/>
            <a:r>
              <a:rPr sz="1300" b="1">
                <a:solidFill>
                  <a:srgbClr val="3D9DF3"/>
                </a:solidFill>
                <a:latin typeface="Calibri"/>
              </a:rPr>
              <a:t>Oracle passif</a:t>
            </a:r>
          </a:p>
        </p:txBody>
      </p:sp>
      <p:sp>
        <p:nvSpPr>
          <p:cNvPr id="11" name="TextBox 10"/>
          <p:cNvSpPr txBox="1"/>
          <p:nvPr/>
        </p:nvSpPr>
        <p:spPr>
          <a:xfrm>
            <a:off x="8458200" y="2331719"/>
            <a:ext cx="3200400" cy="1691640"/>
          </a:xfrm>
          <a:prstGeom prst="rect">
            <a:avLst/>
          </a:prstGeom>
          <a:noFill/>
        </p:spPr>
        <p:txBody>
          <a:bodyPr wrap="square" lIns="45720" rIns="45720" tIns="18288" bIns="18288">
            <a:spAutoFit/>
          </a:bodyPr>
          <a:lstStyle/>
          <a:p>
            <a:pPr algn="l"/>
            <a:r>
              <a:rPr sz="1100" b="0">
                <a:solidFill>
                  <a:srgbClr val="F2F4FA"/>
                </a:solidFill>
                <a:latin typeface="Calibri"/>
              </a:rPr>
              <a:t>L'intersection RÉPOND à request(), ne commande pas.</a:t>
            </a:r>
          </a:p>
          <a:p>
            <a:pPr algn="l"/>
            <a:r>
              <a:rPr sz="1100" b="0">
                <a:solidFill>
                  <a:srgbClr val="F2F4FA"/>
                </a:solidFill>
                <a:latin typeface="Calibri"/>
              </a:rPr>
              <a:t>L'agent reste autorité finale → gap-acceptance pure.</a:t>
            </a:r>
          </a:p>
        </p:txBody>
      </p:sp>
      <p:sp>
        <p:nvSpPr>
          <p:cNvPr id="12" name="Rounded Rectangle 11"/>
          <p:cNvSpPr/>
          <p:nvPr/>
        </p:nvSpPr>
        <p:spPr>
          <a:xfrm>
            <a:off x="8321040" y="4160520"/>
            <a:ext cx="3474720" cy="2286000"/>
          </a:xfrm>
          <a:prstGeom prst="roundRect">
            <a:avLst/>
          </a:prstGeom>
          <a:solidFill>
            <a:srgbClr val="181E30"/>
          </a:solidFill>
          <a:ln w="12700">
            <a:solidFill>
              <a:srgbClr val="4CD9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4251960"/>
            <a:ext cx="3200400" cy="320040"/>
          </a:xfrm>
          <a:prstGeom prst="rect">
            <a:avLst/>
          </a:prstGeom>
          <a:noFill/>
        </p:spPr>
        <p:txBody>
          <a:bodyPr wrap="square" lIns="45720" rIns="45720" tIns="18288" bIns="18288">
            <a:spAutoFit/>
          </a:bodyPr>
          <a:lstStyle/>
          <a:p>
            <a:pPr algn="l"/>
            <a:r>
              <a:rPr sz="1300" b="1">
                <a:solidFill>
                  <a:srgbClr val="4CD97F"/>
                </a:solidFill>
                <a:latin typeface="Calibri"/>
              </a:rPr>
              <a:t>Hot swap</a:t>
            </a:r>
          </a:p>
        </p:txBody>
      </p:sp>
      <p:sp>
        <p:nvSpPr>
          <p:cNvPr id="14" name="TextBox 13"/>
          <p:cNvSpPr txBox="1"/>
          <p:nvPr/>
        </p:nvSpPr>
        <p:spPr>
          <a:xfrm>
            <a:off x="8458200" y="4617720"/>
            <a:ext cx="3200400" cy="1783080"/>
          </a:xfrm>
          <a:prstGeom prst="rect">
            <a:avLst/>
          </a:prstGeom>
          <a:noFill/>
        </p:spPr>
        <p:txBody>
          <a:bodyPr wrap="square" lIns="45720" rIns="45720" tIns="18288" bIns="18288">
            <a:spAutoFit/>
          </a:bodyPr>
          <a:lstStyle/>
          <a:p>
            <a:pPr algn="l"/>
            <a:r>
              <a:rPr sz="1100" b="0">
                <a:solidFill>
                  <a:srgbClr val="F2F4FA"/>
                </a:solidFill>
                <a:latin typeface="Calibri"/>
              </a:rPr>
              <a:t>setRegulation(type) recrée la policy in-place.</a:t>
            </a:r>
          </a:p>
          <a:p>
            <a:pPr algn="l"/>
            <a:r>
              <a:rPr sz="1100" b="0">
                <a:solidFill>
                  <a:srgbClr val="F2F4FA"/>
                </a:solidFill>
                <a:latin typeface="Calibri"/>
              </a:rPr>
              <a:t>Aucune destruction de géométrie, aucun reset agents.</a:t>
            </a:r>
          </a:p>
        </p:txBody>
      </p:sp>
      <p:sp>
        <p:nvSpPr>
          <p:cNvPr id="15" name="TextBox 14"/>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ARCHITECTURE · 4.4</a:t>
            </a:r>
          </a:p>
        </p:txBody>
      </p:sp>
      <p:sp>
        <p:nvSpPr>
          <p:cNvPr id="16" name="TextBox 15"/>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54 / 66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ARCHITECTURE · 4.5</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Vue compacte du diagramme de classes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PlantUML / Mermaid — voir docs/PHASE1_Architecture.md</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920240"/>
            <a:ext cx="11521440" cy="457200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3977640"/>
            <a:ext cx="11521440" cy="457200"/>
          </a:xfrm>
          <a:prstGeom prst="rect">
            <a:avLst/>
          </a:prstGeom>
          <a:noFill/>
        </p:spPr>
        <p:txBody>
          <a:bodyPr wrap="square" lIns="45720" rIns="45720" tIns="18288" bIns="18288">
            <a:spAutoFit/>
          </a:bodyPr>
          <a:lstStyle/>
          <a:p>
            <a:pPr algn="ctr"/>
            <a:r>
              <a:rPr sz="1300" b="1">
                <a:solidFill>
                  <a:srgbClr val="3D9DF3"/>
                </a:solidFill>
                <a:latin typeface="Calibri"/>
              </a:rPr>
              <a:t>[ Diagramme complet : packages core::agent / core::intersection / core::world / core::perception / core::metrics / sim / render / io ]</a:t>
            </a:r>
          </a:p>
        </p:txBody>
      </p:sp>
      <p:sp>
        <p:nvSpPr>
          <p:cNvPr id="10" name="TextBox 9"/>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ARCHITECTURE · 4.5</a:t>
            </a:r>
          </a:p>
        </p:txBody>
      </p:sp>
      <p:sp>
        <p:nvSpPr>
          <p:cNvPr id="11" name="TextBox 10"/>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55 / 66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ARCHITECTURE · 4.6</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Dépendances entre modules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Flot des données et appels</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920240"/>
            <a:ext cx="7680960" cy="457200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3977640"/>
            <a:ext cx="7680960" cy="457200"/>
          </a:xfrm>
          <a:prstGeom prst="rect">
            <a:avLst/>
          </a:prstGeom>
          <a:noFill/>
        </p:spPr>
        <p:txBody>
          <a:bodyPr wrap="square" lIns="45720" rIns="45720" tIns="18288" bIns="18288">
            <a:spAutoFit/>
          </a:bodyPr>
          <a:lstStyle/>
          <a:p>
            <a:pPr algn="ctr"/>
            <a:r>
              <a:rPr sz="1300" b="1">
                <a:solidFill>
                  <a:srgbClr val="3D9DF3"/>
                </a:solidFill>
                <a:latin typeface="Calibri"/>
              </a:rPr>
              <a:t>[ Diagramme : main → core/agent → core/perception</a:t>
            </a:r>
          </a:p>
          <a:p>
            <a:pPr algn="ctr"/>
            <a:r>
              <a:rPr sz="1300" b="1">
                <a:solidFill>
                  <a:srgbClr val="3D9DF3"/>
                </a:solidFill>
                <a:latin typeface="Calibri"/>
              </a:rPr>
              <a:t>                              → core/intersection → policy</a:t>
            </a:r>
          </a:p>
          <a:p>
            <a:pPr algn="ctr"/>
            <a:r>
              <a:rPr sz="1300" b="1">
                <a:solidFill>
                  <a:srgbClr val="3D9DF3"/>
                </a:solidFill>
                <a:latin typeface="Calibri"/>
              </a:rPr>
              <a:t>                              → core/behavior (IDM)</a:t>
            </a:r>
          </a:p>
          <a:p>
            <a:pPr algn="ctr"/>
            <a:r>
              <a:rPr sz="1300" b="1">
                <a:solidFill>
                  <a:srgbClr val="3D9DF3"/>
                </a:solidFill>
                <a:latin typeface="Calibri"/>
              </a:rPr>
              <a:t>                 → sim (Spawner, ExperimentRunner)</a:t>
            </a:r>
          </a:p>
          <a:p>
            <a:pPr algn="ctr"/>
            <a:r>
              <a:rPr sz="1300" b="1">
                <a:solidFill>
                  <a:srgbClr val="3D9DF3"/>
                </a:solidFill>
                <a:latin typeface="Calibri"/>
              </a:rPr>
              <a:t>                 → render (SfmlRenderer)</a:t>
            </a:r>
          </a:p>
          <a:p>
            <a:pPr algn="ctr"/>
            <a:r>
              <a:rPr sz="1300" b="1">
                <a:solidFill>
                  <a:srgbClr val="3D9DF3"/>
                </a:solidFill>
                <a:latin typeface="Calibri"/>
              </a:rPr>
              <a:t>                 → core/metrics (MetricsCollector) ]</a:t>
            </a:r>
          </a:p>
        </p:txBody>
      </p:sp>
      <p:sp>
        <p:nvSpPr>
          <p:cNvPr id="10" name="Rounded Rectangle 9"/>
          <p:cNvSpPr/>
          <p:nvPr/>
        </p:nvSpPr>
        <p:spPr>
          <a:xfrm>
            <a:off x="8229600" y="1920240"/>
            <a:ext cx="3566160" cy="438912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011680"/>
            <a:ext cx="3291840" cy="320040"/>
          </a:xfrm>
          <a:prstGeom prst="rect">
            <a:avLst/>
          </a:prstGeom>
          <a:noFill/>
        </p:spPr>
        <p:txBody>
          <a:bodyPr wrap="square" lIns="45720" rIns="45720" tIns="18288" bIns="18288">
            <a:spAutoFit/>
          </a:bodyPr>
          <a:lstStyle/>
          <a:p>
            <a:pPr algn="l"/>
            <a:r>
              <a:rPr sz="1300" b="1">
                <a:solidFill>
                  <a:srgbClr val="FFB73D"/>
                </a:solidFill>
                <a:latin typeface="Calibri"/>
              </a:rPr>
              <a:t>Règles</a:t>
            </a:r>
          </a:p>
        </p:txBody>
      </p:sp>
      <p:sp>
        <p:nvSpPr>
          <p:cNvPr id="12" name="TextBox 11"/>
          <p:cNvSpPr txBox="1"/>
          <p:nvPr/>
        </p:nvSpPr>
        <p:spPr>
          <a:xfrm>
            <a:off x="8366760" y="2377440"/>
            <a:ext cx="3291840" cy="3886200"/>
          </a:xfrm>
          <a:prstGeom prst="rect">
            <a:avLst/>
          </a:prstGeom>
          <a:noFill/>
        </p:spPr>
        <p:txBody>
          <a:bodyPr wrap="square" lIns="45720" rIns="45720" tIns="18288" bIns="18288">
            <a:spAutoFit/>
          </a:bodyPr>
          <a:lstStyle/>
          <a:p>
            <a:pPr algn="l"/>
            <a:r>
              <a:rPr sz="1100" b="0">
                <a:solidFill>
                  <a:srgbClr val="F2F4FA"/>
                </a:solidFill>
                <a:latin typeface="Calibri"/>
              </a:rPr>
              <a:t>• core/ ne dépend de RIEN.</a:t>
            </a:r>
          </a:p>
          <a:p>
            <a:pPr algn="l"/>
            <a:r>
              <a:rPr sz="1100" b="0">
                <a:solidFill>
                  <a:srgbClr val="F2F4FA"/>
                </a:solidFill>
                <a:latin typeface="Calibri"/>
              </a:rPr>
              <a:t>• render/ dépend de core (lit).</a:t>
            </a:r>
          </a:p>
          <a:p>
            <a:pPr algn="l"/>
            <a:r>
              <a:rPr sz="1100" b="0">
                <a:solidFill>
                  <a:srgbClr val="F2F4FA"/>
                </a:solidFill>
                <a:latin typeface="Calibri"/>
              </a:rPr>
              <a:t>• sim/ dépend de core (orchestrer).</a:t>
            </a:r>
          </a:p>
          <a:p>
            <a:pPr algn="l"/>
            <a:r>
              <a:rPr sz="1100" b="0">
                <a:solidFill>
                  <a:srgbClr val="F2F4FA"/>
                </a:solidFill>
                <a:latin typeface="Calibri"/>
              </a:rPr>
              <a:t>• io/ dépend de core (sérialise).</a:t>
            </a:r>
          </a:p>
          <a:p>
            <a:pPr algn="l"/>
            <a:r>
              <a:rPr sz="1100" b="0">
                <a:solidFill>
                  <a:srgbClr val="F2F4FA"/>
                </a:solidFill>
                <a:latin typeface="Calibri"/>
              </a:rPr>
              <a:t>• main.cpp coordonne tout, sans logique métier.</a:t>
            </a:r>
          </a:p>
          <a:p>
            <a:pPr algn="l"/>
            <a:r>
              <a:rPr sz="1100" b="0">
                <a:solidFill>
                  <a:srgbClr val="F2F4FA"/>
                </a:solidFill>
                <a:latin typeface="Calibri"/>
              </a:rPr>
              <a:t/>
            </a:r>
          </a:p>
          <a:p>
            <a:pPr algn="l"/>
            <a:r>
              <a:rPr sz="1100" b="0">
                <a:solidFill>
                  <a:srgbClr val="F2F4FA"/>
                </a:solidFill>
                <a:latin typeface="Calibri"/>
              </a:rPr>
              <a:t>Aucune dépendance circulaire.</a:t>
            </a:r>
          </a:p>
        </p:txBody>
      </p:sp>
      <p:sp>
        <p:nvSpPr>
          <p:cNvPr id="13" name="TextBox 12"/>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ARCHITECTURE · 4.6</a:t>
            </a:r>
          </a:p>
        </p:txBody>
      </p:sp>
      <p:sp>
        <p:nvSpPr>
          <p:cNvPr id="14" name="TextBox 13"/>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56 / 66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ARCHITECTURE · 4.7</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Threading : ParallelDecisions + ThreadPool</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Speedup ~8× sur Phase 1, séquentiel sur Phase 2</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5577840" cy="2103120"/>
          </a:xfrm>
          <a:prstGeom prst="roundRect">
            <a:avLst/>
          </a:prstGeom>
          <a:solidFill>
            <a:srgbClr val="181E30"/>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5303520" cy="320040"/>
          </a:xfrm>
          <a:prstGeom prst="rect">
            <a:avLst/>
          </a:prstGeom>
          <a:noFill/>
        </p:spPr>
        <p:txBody>
          <a:bodyPr wrap="square" lIns="45720" rIns="45720" tIns="18288" bIns="18288">
            <a:spAutoFit/>
          </a:bodyPr>
          <a:lstStyle/>
          <a:p>
            <a:pPr algn="l"/>
            <a:r>
              <a:rPr sz="1300" b="1">
                <a:solidFill>
                  <a:srgbClr val="3D9DF3"/>
                </a:solidFill>
                <a:latin typeface="Calibri"/>
              </a:rPr>
              <a:t>Phase 1 parallèle</a:t>
            </a:r>
          </a:p>
        </p:txBody>
      </p:sp>
      <p:sp>
        <p:nvSpPr>
          <p:cNvPr id="10" name="TextBox 9"/>
          <p:cNvSpPr txBox="1"/>
          <p:nvPr/>
        </p:nvSpPr>
        <p:spPr>
          <a:xfrm>
            <a:off x="685800" y="2377440"/>
            <a:ext cx="5303520" cy="1600200"/>
          </a:xfrm>
          <a:prstGeom prst="rect">
            <a:avLst/>
          </a:prstGeom>
          <a:noFill/>
        </p:spPr>
        <p:txBody>
          <a:bodyPr wrap="square" lIns="45720" rIns="45720" tIns="18288" bIns="18288">
            <a:spAutoFit/>
          </a:bodyPr>
          <a:lstStyle/>
          <a:p>
            <a:pPr algn="l"/>
            <a:r>
              <a:rPr sz="1100" b="0">
                <a:solidFill>
                  <a:srgbClr val="F2F4FA"/>
                </a:solidFill>
                <a:latin typeface="Calibri"/>
              </a:rPr>
              <a:t>sim/ParallelDecisions::computeDecisionsParallel(agents, world, pool)</a:t>
            </a:r>
          </a:p>
          <a:p>
            <a:pPr algn="l"/>
            <a:r>
              <a:rPr sz="1100" b="0">
                <a:solidFill>
                  <a:srgbClr val="F2F4FA"/>
                </a:solidFill>
                <a:latin typeface="Calibri"/>
              </a:rPr>
              <a:t>Active si N agents ≥ kParallelThreshold (150).</a:t>
            </a:r>
          </a:p>
          <a:p>
            <a:pPr algn="l"/>
            <a:r>
              <a:rPr sz="1100" b="0">
                <a:solidFill>
                  <a:srgbClr val="F2F4FA"/>
                </a:solidFill>
                <a:latin typeface="Calibri"/>
              </a:rPr>
              <a:t>ThreadPool fixe, dispatch par chunks.</a:t>
            </a:r>
          </a:p>
          <a:p>
            <a:pPr algn="l"/>
            <a:r>
              <a:rPr sz="1100" b="0">
                <a:solidFill>
                  <a:srgbClr val="F2F4FA"/>
                </a:solidFill>
                <a:latin typeface="Calibri"/>
              </a:rPr>
              <a:t>Speedup typique : 8× sur 8 cœurs (Phase 1 dominante).</a:t>
            </a:r>
          </a:p>
        </p:txBody>
      </p:sp>
      <p:sp>
        <p:nvSpPr>
          <p:cNvPr id="11" name="Rounded Rectangle 10"/>
          <p:cNvSpPr/>
          <p:nvPr/>
        </p:nvSpPr>
        <p:spPr>
          <a:xfrm>
            <a:off x="6263640" y="1920240"/>
            <a:ext cx="5532120" cy="2103120"/>
          </a:xfrm>
          <a:prstGeom prst="roundRect">
            <a:avLst/>
          </a:prstGeom>
          <a:solidFill>
            <a:srgbClr val="181E30"/>
          </a:solidFill>
          <a:ln w="12700">
            <a:solidFill>
              <a:srgbClr val="FFB7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5257800" cy="320040"/>
          </a:xfrm>
          <a:prstGeom prst="rect">
            <a:avLst/>
          </a:prstGeom>
          <a:noFill/>
        </p:spPr>
        <p:txBody>
          <a:bodyPr wrap="square" lIns="45720" rIns="45720" tIns="18288" bIns="18288">
            <a:spAutoFit/>
          </a:bodyPr>
          <a:lstStyle/>
          <a:p>
            <a:pPr algn="l"/>
            <a:r>
              <a:rPr sz="1300" b="1">
                <a:solidFill>
                  <a:srgbClr val="FFB73D"/>
                </a:solidFill>
                <a:latin typeface="Calibri"/>
              </a:rPr>
              <a:t>Phase 2 séquentielle</a:t>
            </a:r>
          </a:p>
        </p:txBody>
      </p:sp>
      <p:sp>
        <p:nvSpPr>
          <p:cNvPr id="13" name="TextBox 12"/>
          <p:cNvSpPr txBox="1"/>
          <p:nvPr/>
        </p:nvSpPr>
        <p:spPr>
          <a:xfrm>
            <a:off x="6400800" y="2377440"/>
            <a:ext cx="5257800" cy="1600200"/>
          </a:xfrm>
          <a:prstGeom prst="rect">
            <a:avLst/>
          </a:prstGeom>
          <a:noFill/>
        </p:spPr>
        <p:txBody>
          <a:bodyPr wrap="square" lIns="45720" rIns="45720" tIns="18288" bIns="18288">
            <a:spAutoFit/>
          </a:bodyPr>
          <a:lstStyle/>
          <a:p>
            <a:pPr algn="l"/>
            <a:r>
              <a:rPr sz="1100" b="0">
                <a:solidFill>
                  <a:srgbClr val="F2F4FA"/>
                </a:solidFill>
                <a:latin typeface="Calibri"/>
              </a:rPr>
              <a:t>Conservée pour bit-déterminisme.</a:t>
            </a:r>
          </a:p>
          <a:p>
            <a:pPr algn="l"/>
            <a:r>
              <a:rPr sz="1100" b="0">
                <a:solidFill>
                  <a:srgbClr val="F2F4FA"/>
                </a:solidFill>
                <a:latin typeface="Calibri"/>
              </a:rPr>
              <a:t>Coût O(n), négligeable même à N=500.</a:t>
            </a:r>
          </a:p>
          <a:p>
            <a:pPr algn="l"/>
            <a:r>
              <a:rPr sz="1100" b="0">
                <a:solidFill>
                  <a:srgbClr val="F2F4FA"/>
                </a:solidFill>
                <a:latin typeface="Calibri"/>
              </a:rPr>
              <a:t/>
            </a:r>
          </a:p>
          <a:p>
            <a:pPr algn="l"/>
            <a:r>
              <a:rPr sz="1100" b="0">
                <a:solidFill>
                  <a:srgbClr val="F2F4FA"/>
                </a:solidFill>
                <a:latin typeface="Calibri"/>
              </a:rPr>
              <a:t>Monte-Carlo headless tourne sur un thread dédié, sans bloquer l'UI principale.</a:t>
            </a:r>
          </a:p>
        </p:txBody>
      </p:sp>
      <p:sp>
        <p:nvSpPr>
          <p:cNvPr id="14" name="Rounded Rectangle 13"/>
          <p:cNvSpPr/>
          <p:nvPr/>
        </p:nvSpPr>
        <p:spPr>
          <a:xfrm>
            <a:off x="548640" y="4114800"/>
            <a:ext cx="11247120" cy="2194560"/>
          </a:xfrm>
          <a:prstGeom prst="roundRect">
            <a:avLst/>
          </a:prstGeom>
          <a:solidFill>
            <a:srgbClr val="181E30"/>
          </a:solidFill>
          <a:ln w="12700">
            <a:solidFill>
              <a:srgbClr val="F1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206240"/>
            <a:ext cx="10972800" cy="320040"/>
          </a:xfrm>
          <a:prstGeom prst="rect">
            <a:avLst/>
          </a:prstGeom>
          <a:noFill/>
        </p:spPr>
        <p:txBody>
          <a:bodyPr wrap="square" lIns="45720" rIns="45720" tIns="18288" bIns="18288">
            <a:spAutoFit/>
          </a:bodyPr>
          <a:lstStyle/>
          <a:p>
            <a:pPr algn="l"/>
            <a:r>
              <a:rPr sz="1300" b="1">
                <a:solidFill>
                  <a:srgbClr val="F16666"/>
                </a:solidFill>
                <a:latin typeface="Calibri"/>
              </a:rPr>
              <a:t>Limitation AIM</a:t>
            </a:r>
          </a:p>
        </p:txBody>
      </p:sp>
      <p:sp>
        <p:nvSpPr>
          <p:cNvPr id="16" name="TextBox 15"/>
          <p:cNvSpPr txBox="1"/>
          <p:nvPr/>
        </p:nvSpPr>
        <p:spPr>
          <a:xfrm>
            <a:off x="685800" y="4572000"/>
            <a:ext cx="10972800" cy="1691640"/>
          </a:xfrm>
          <a:prstGeom prst="rect">
            <a:avLst/>
          </a:prstGeom>
          <a:noFill/>
        </p:spPr>
        <p:txBody>
          <a:bodyPr wrap="square" lIns="45720" rIns="45720" tIns="18288" bIns="18288">
            <a:spAutoFit/>
          </a:bodyPr>
          <a:lstStyle/>
          <a:p>
            <a:pPr algn="l"/>
            <a:r>
              <a:rPr sz="1100" b="0">
                <a:solidFill>
                  <a:srgbClr val="F2F4FA"/>
                </a:solidFill>
                <a:latin typeface="Calibri"/>
              </a:rPr>
              <a:t>AimPolicy n'est PAS bit-déterministe en multi-thread (l'ordre FCFS dépend du scheduling). Documenté dans ParallelDecisions.hpp. Monte-Carlo + snapshot tests tournent TOUJOURS en séquentiel. Le parallèle est réservé à l'affichage temps réel des grosses scènes (N ≥ 150).</a:t>
            </a:r>
          </a:p>
        </p:txBody>
      </p:sp>
      <p:sp>
        <p:nvSpPr>
          <p:cNvPr id="17" name="TextBox 16"/>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ARCHITECTURE · 4.7</a:t>
            </a:r>
          </a:p>
        </p:txBody>
      </p:sp>
      <p:sp>
        <p:nvSpPr>
          <p:cNvPr id="18" name="TextBox 17"/>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57 / 66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ARCHITECTURE · 4.8</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Reproductibilité bit-à-bit</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RNG seedée par position + VIN déterministe + Phase 2 séquentielle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920240"/>
            <a:ext cx="11521440" cy="1828800"/>
          </a:xfrm>
          <a:prstGeom prst="rect">
            <a:avLst/>
          </a:prstGeom>
          <a:noFill/>
        </p:spPr>
        <p:txBody>
          <a:bodyPr wrap="square" lIns="45720" rIns="45720" tIns="18288" bIns="18288">
            <a:spAutoFit/>
          </a:bodyPr>
          <a:lstStyle/>
          <a:p>
            <a:pPr algn="l"/>
            <a:r>
              <a:rPr sz="1200" b="0">
                <a:solidFill>
                  <a:srgbClr val="F2F4FA"/>
                </a:solidFill>
                <a:latin typeface="Consolas"/>
              </a:rPr>
              <a:t>// RNG par-agent seedé UNIQUEMENT par la position de spawn</a:t>
            </a:r>
          </a:p>
          <a:p>
            <a:pPr algn="l"/>
            <a:r>
              <a:rPr sz="1200" b="0">
                <a:solidFill>
                  <a:srgbClr val="F2F4FA"/>
                </a:solidFill>
                <a:latin typeface="Consolas"/>
              </a:rPr>
              <a:t>rng_(uint64_t(startX*1000.f) * 0x9E3779B97F4A7C15ULL</a:t>
            </a:r>
          </a:p>
          <a:p>
            <a:pPr algn="l"/>
            <a:r>
              <a:rPr sz="1200" b="0">
                <a:solidFill>
                  <a:srgbClr val="F2F4FA"/>
                </a:solidFill>
                <a:latin typeface="Consolas"/>
              </a:rPr>
              <a:t>   ^ uint64_t(startY*1000.f) * 0xBF58476D1CE4E5B9ULL);</a:t>
            </a:r>
          </a:p>
          <a:p>
            <a:pPr algn="l"/>
            <a:r>
              <a:rPr sz="1200" b="0">
                <a:solidFill>
                  <a:srgbClr val="F2F4FA"/>
                </a:solidFill>
                <a:latin typeface="Consolas"/>
              </a:rPr>
              <a:t/>
            </a:r>
          </a:p>
          <a:p>
            <a:pPr algn="l"/>
            <a:r>
              <a:rPr sz="1200" b="0">
                <a:solidFill>
                  <a:srgbClr val="F2F4FA"/>
                </a:solidFill>
                <a:latin typeface="Consolas"/>
              </a:rPr>
              <a:t>// VIN : compteur global statique, ordre de construction fixe</a:t>
            </a:r>
          </a:p>
          <a:p>
            <a:pPr algn="l"/>
            <a:r>
              <a:rPr sz="1200" b="0">
                <a:solidFill>
                  <a:srgbClr val="F2F4FA"/>
                </a:solidFill>
                <a:latin typeface="Consolas"/>
              </a:rPr>
              <a:t>static int s_nextVehicleId = 0;</a:t>
            </a:r>
          </a:p>
          <a:p>
            <a:pPr algn="l"/>
            <a:r>
              <a:rPr sz="1200" b="0">
                <a:solidFill>
                  <a:srgbClr val="F2F4FA"/>
                </a:solidFill>
                <a:latin typeface="Consolas"/>
              </a:rPr>
              <a:t>vehicleId_ = s_nextVehicleId++;</a:t>
            </a:r>
          </a:p>
          <a:p>
            <a:pPr algn="l"/>
            <a:r>
              <a:rPr sz="1200" b="0">
                <a:solidFill>
                  <a:srgbClr val="F2F4FA"/>
                </a:solidFill>
                <a:latin typeface="Consolas"/>
              </a:rPr>
              <a:t/>
            </a:r>
          </a:p>
        </p:txBody>
      </p:sp>
      <p:sp>
        <p:nvSpPr>
          <p:cNvPr id="9" name="TextBox 8"/>
          <p:cNvSpPr txBox="1"/>
          <p:nvPr/>
        </p:nvSpPr>
        <p:spPr>
          <a:xfrm>
            <a:off x="548640" y="4023360"/>
            <a:ext cx="10972800" cy="2286000"/>
          </a:xfrm>
          <a:prstGeom prst="rect">
            <a:avLst/>
          </a:prstGeom>
          <a:noFill/>
        </p:spPr>
        <p:txBody>
          <a:bodyPr wrap="square">
            <a:spAutoFit/>
          </a:bodyPr>
          <a:lstStyle/>
          <a:p>
            <a:pPr algn="l">
              <a:spcAft>
                <a:spcPts val="400"/>
              </a:spcAft>
            </a:pPr>
            <a:r>
              <a:rPr sz="1300">
                <a:solidFill>
                  <a:srgbClr val="F2F4FA"/>
                </a:solidFill>
                <a:latin typeface="Calibri"/>
              </a:rPr>
              <a:t>•  ASLR neutralisé : aucune dépendance à l'adresse mémoire des agents.</a:t>
            </a:r>
          </a:p>
          <a:p>
            <a:pPr algn="l">
              <a:spcAft>
                <a:spcPts val="400"/>
              </a:spcAft>
            </a:pPr>
            <a:r>
              <a:rPr sz="1300">
                <a:solidFill>
                  <a:srgbClr val="F2F4FA"/>
                </a:solidFill>
                <a:latin typeface="Calibri"/>
              </a:rPr>
              <a:t>•  Hashmap iteration order évité : pas de boucle dépendant d'un std::unordered_map dans la décision.</a:t>
            </a:r>
          </a:p>
          <a:p>
            <a:pPr algn="l">
              <a:spcAft>
                <a:spcPts val="400"/>
              </a:spcAft>
            </a:pPr>
            <a:r>
              <a:rPr sz="1300">
                <a:solidFill>
                  <a:srgbClr val="F2F4FA"/>
                </a:solidFill>
                <a:latin typeface="Calibri"/>
              </a:rPr>
              <a:t>•  Ordre des threads : Phase 1 parallèle, mais la Phase 2 séquentielle re-synchronise.</a:t>
            </a:r>
          </a:p>
          <a:p>
            <a:pPr algn="l">
              <a:spcAft>
                <a:spcPts val="400"/>
              </a:spcAft>
            </a:pPr>
            <a:r>
              <a:rPr sz="1300">
                <a:solidFill>
                  <a:srgbClr val="F2F4FA"/>
                </a:solidFill>
                <a:latin typeface="Calibri"/>
              </a:rPr>
              <a:t>•  Compteurs globaux statiques (VIN) : déterministes.</a:t>
            </a:r>
          </a:p>
          <a:p>
            <a:pPr algn="l">
              <a:spcAft>
                <a:spcPts val="400"/>
              </a:spcAft>
            </a:pPr>
            <a:r>
              <a:rPr sz="1300">
                <a:solidFill>
                  <a:srgbClr val="F2F4FA"/>
                </a:solidFill>
                <a:latin typeface="Calibri"/>
              </a:rPr>
              <a:t>•  → Même scénario, même seed → trajectoires bit-identiques run-to-run.</a:t>
            </a:r>
          </a:p>
        </p:txBody>
      </p:sp>
      <p:sp>
        <p:nvSpPr>
          <p:cNvPr id="10" name="TextBox 9"/>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ARCHITECTURE · 4.8</a:t>
            </a:r>
          </a:p>
        </p:txBody>
      </p:sp>
      <p:sp>
        <p:nvSpPr>
          <p:cNvPr id="11" name="TextBox 10"/>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58 / 66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ARCHITECTURE · 4.9</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Difficultés classiques contournées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Comment l'architecture résout les écueils SMA habituels</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965960"/>
            <a:ext cx="4114800" cy="50292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2029968"/>
            <a:ext cx="3968496" cy="374904"/>
          </a:xfrm>
          <a:prstGeom prst="rect">
            <a:avLst/>
          </a:prstGeom>
          <a:noFill/>
        </p:spPr>
        <p:txBody>
          <a:bodyPr wrap="square" lIns="45720" rIns="45720" tIns="18288" bIns="18288">
            <a:spAutoFit/>
          </a:bodyPr>
          <a:lstStyle/>
          <a:p>
            <a:pPr algn="l"/>
            <a:r>
              <a:rPr sz="1200" b="1">
                <a:solidFill>
                  <a:srgbClr val="101422"/>
                </a:solidFill>
                <a:latin typeface="Calibri"/>
              </a:rPr>
              <a:t>Difficulté</a:t>
            </a:r>
          </a:p>
        </p:txBody>
      </p:sp>
      <p:sp>
        <p:nvSpPr>
          <p:cNvPr id="10" name="Rectangle 9"/>
          <p:cNvSpPr/>
          <p:nvPr/>
        </p:nvSpPr>
        <p:spPr>
          <a:xfrm>
            <a:off x="4480560" y="1965960"/>
            <a:ext cx="7680960" cy="50292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2029968"/>
            <a:ext cx="7534656" cy="374904"/>
          </a:xfrm>
          <a:prstGeom prst="rect">
            <a:avLst/>
          </a:prstGeom>
          <a:noFill/>
        </p:spPr>
        <p:txBody>
          <a:bodyPr wrap="square" lIns="45720" rIns="45720" tIns="18288" bIns="18288">
            <a:spAutoFit/>
          </a:bodyPr>
          <a:lstStyle/>
          <a:p>
            <a:pPr algn="l"/>
            <a:r>
              <a:rPr sz="1200" b="1">
                <a:solidFill>
                  <a:srgbClr val="101422"/>
                </a:solidFill>
                <a:latin typeface="Calibri"/>
              </a:rPr>
              <a:t>Contournement architectural</a:t>
            </a:r>
          </a:p>
        </p:txBody>
      </p:sp>
      <p:sp>
        <p:nvSpPr>
          <p:cNvPr id="12" name="Rectangle 11"/>
          <p:cNvSpPr/>
          <p:nvPr/>
        </p:nvSpPr>
        <p:spPr>
          <a:xfrm>
            <a:off x="365760" y="2468880"/>
            <a:ext cx="41148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2532888"/>
            <a:ext cx="3968496" cy="374904"/>
          </a:xfrm>
          <a:prstGeom prst="rect">
            <a:avLst/>
          </a:prstGeom>
          <a:noFill/>
        </p:spPr>
        <p:txBody>
          <a:bodyPr wrap="square" lIns="45720" rIns="45720" tIns="18288" bIns="18288">
            <a:spAutoFit/>
          </a:bodyPr>
          <a:lstStyle/>
          <a:p>
            <a:pPr algn="l"/>
            <a:r>
              <a:rPr sz="1100" b="0">
                <a:solidFill>
                  <a:srgbClr val="F2F4FA"/>
                </a:solidFill>
                <a:latin typeface="Calibri"/>
              </a:rPr>
              <a:t>O(n²) perception</a:t>
            </a:r>
          </a:p>
        </p:txBody>
      </p:sp>
      <p:sp>
        <p:nvSpPr>
          <p:cNvPr id="14" name="Rectangle 13"/>
          <p:cNvSpPr/>
          <p:nvPr/>
        </p:nvSpPr>
        <p:spPr>
          <a:xfrm>
            <a:off x="4480560" y="2468880"/>
            <a:ext cx="768096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2532888"/>
            <a:ext cx="7534656" cy="374904"/>
          </a:xfrm>
          <a:prstGeom prst="rect">
            <a:avLst/>
          </a:prstGeom>
          <a:noFill/>
        </p:spPr>
        <p:txBody>
          <a:bodyPr wrap="square" lIns="45720" rIns="45720" tIns="18288" bIns="18288">
            <a:spAutoFit/>
          </a:bodyPr>
          <a:lstStyle/>
          <a:p>
            <a:pPr algn="l"/>
            <a:r>
              <a:rPr sz="1100" b="0">
                <a:solidFill>
                  <a:srgbClr val="F2F4FA"/>
                </a:solidFill>
                <a:latin typeface="Calibri"/>
              </a:rPr>
              <a:t>Scope ciblé + projection Frenet bornée + Phase 1 parallèle</a:t>
            </a:r>
          </a:p>
        </p:txBody>
      </p:sp>
      <p:sp>
        <p:nvSpPr>
          <p:cNvPr id="16" name="Rectangle 15"/>
          <p:cNvSpPr/>
          <p:nvPr/>
        </p:nvSpPr>
        <p:spPr>
          <a:xfrm>
            <a:off x="365760" y="2971800"/>
            <a:ext cx="41148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3035808"/>
            <a:ext cx="3968496" cy="374904"/>
          </a:xfrm>
          <a:prstGeom prst="rect">
            <a:avLst/>
          </a:prstGeom>
          <a:noFill/>
        </p:spPr>
        <p:txBody>
          <a:bodyPr wrap="square" lIns="45720" rIns="45720" tIns="18288" bIns="18288">
            <a:spAutoFit/>
          </a:bodyPr>
          <a:lstStyle/>
          <a:p>
            <a:pPr algn="l"/>
            <a:r>
              <a:rPr sz="1100" b="0">
                <a:solidFill>
                  <a:srgbClr val="F2F4FA"/>
                </a:solidFill>
                <a:latin typeface="Calibri"/>
              </a:rPr>
              <a:t>Raycasting capricieux</a:t>
            </a:r>
          </a:p>
        </p:txBody>
      </p:sp>
      <p:sp>
        <p:nvSpPr>
          <p:cNvPr id="18" name="Rectangle 17"/>
          <p:cNvSpPr/>
          <p:nvPr/>
        </p:nvSpPr>
        <p:spPr>
          <a:xfrm>
            <a:off x="4480560" y="2971800"/>
            <a:ext cx="768096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53712" y="3035808"/>
            <a:ext cx="7534656" cy="374904"/>
          </a:xfrm>
          <a:prstGeom prst="rect">
            <a:avLst/>
          </a:prstGeom>
          <a:noFill/>
        </p:spPr>
        <p:txBody>
          <a:bodyPr wrap="square" lIns="45720" rIns="45720" tIns="18288" bIns="18288">
            <a:spAutoFit/>
          </a:bodyPr>
          <a:lstStyle/>
          <a:p>
            <a:pPr algn="l"/>
            <a:r>
              <a:rPr sz="1100" b="0">
                <a:solidFill>
                  <a:srgbClr val="F2F4FA"/>
                </a:solidFill>
                <a:latin typeface="Calibri"/>
              </a:rPr>
              <a:t>Projection Frenet curviligne (rejet latéral 22 px)</a:t>
            </a:r>
          </a:p>
        </p:txBody>
      </p:sp>
      <p:sp>
        <p:nvSpPr>
          <p:cNvPr id="20" name="Rectangle 19"/>
          <p:cNvSpPr/>
          <p:nvPr/>
        </p:nvSpPr>
        <p:spPr>
          <a:xfrm>
            <a:off x="365760" y="3474720"/>
            <a:ext cx="41148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3538728"/>
            <a:ext cx="3968496" cy="374904"/>
          </a:xfrm>
          <a:prstGeom prst="rect">
            <a:avLst/>
          </a:prstGeom>
          <a:noFill/>
        </p:spPr>
        <p:txBody>
          <a:bodyPr wrap="square" lIns="45720" rIns="45720" tIns="18288" bIns="18288">
            <a:spAutoFit/>
          </a:bodyPr>
          <a:lstStyle/>
          <a:p>
            <a:pPr algn="l"/>
            <a:r>
              <a:rPr sz="1100" b="0">
                <a:solidFill>
                  <a:srgbClr val="F2F4FA"/>
                </a:solidFill>
                <a:latin typeface="Calibri"/>
              </a:rPr>
              <a:t>Tunneling / oscillation</a:t>
            </a:r>
          </a:p>
        </p:txBody>
      </p:sp>
      <p:sp>
        <p:nvSpPr>
          <p:cNvPr id="22" name="Rectangle 21"/>
          <p:cNvSpPr/>
          <p:nvPr/>
        </p:nvSpPr>
        <p:spPr>
          <a:xfrm>
            <a:off x="4480560" y="3474720"/>
            <a:ext cx="768096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3538728"/>
            <a:ext cx="7534656" cy="374904"/>
          </a:xfrm>
          <a:prstGeom prst="rect">
            <a:avLst/>
          </a:prstGeom>
          <a:noFill/>
        </p:spPr>
        <p:txBody>
          <a:bodyPr wrap="square" lIns="45720" rIns="45720" tIns="18288" bIns="18288">
            <a:spAutoFit/>
          </a:bodyPr>
          <a:lstStyle/>
          <a:p>
            <a:pPr algn="l"/>
            <a:r>
              <a:rPr sz="1100" b="0">
                <a:solidFill>
                  <a:srgbClr val="F2F4FA"/>
                </a:solidFill>
                <a:latin typeface="Calibri"/>
              </a:rPr>
              <a:t>FIXED_DT 60 Hz + accumulateur + MAX_SUBSTEPS=5</a:t>
            </a:r>
          </a:p>
        </p:txBody>
      </p:sp>
      <p:sp>
        <p:nvSpPr>
          <p:cNvPr id="24" name="Rectangle 23"/>
          <p:cNvSpPr/>
          <p:nvPr/>
        </p:nvSpPr>
        <p:spPr>
          <a:xfrm>
            <a:off x="365760" y="3977640"/>
            <a:ext cx="41148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4041648"/>
            <a:ext cx="3968496" cy="374904"/>
          </a:xfrm>
          <a:prstGeom prst="rect">
            <a:avLst/>
          </a:prstGeom>
          <a:noFill/>
        </p:spPr>
        <p:txBody>
          <a:bodyPr wrap="square" lIns="45720" rIns="45720" tIns="18288" bIns="18288">
            <a:spAutoFit/>
          </a:bodyPr>
          <a:lstStyle/>
          <a:p>
            <a:pPr algn="l"/>
            <a:r>
              <a:rPr sz="1100" b="0">
                <a:solidFill>
                  <a:srgbClr val="F2F4FA"/>
                </a:solidFill>
                <a:latin typeface="Calibri"/>
              </a:rPr>
              <a:t>Deadlocks circulaires</a:t>
            </a:r>
          </a:p>
        </p:txBody>
      </p:sp>
      <p:sp>
        <p:nvSpPr>
          <p:cNvPr id="26" name="Rectangle 25"/>
          <p:cNvSpPr/>
          <p:nvPr/>
        </p:nvSpPr>
        <p:spPr>
          <a:xfrm>
            <a:off x="4480560" y="3977640"/>
            <a:ext cx="768096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53712" y="4041648"/>
            <a:ext cx="7534656" cy="374904"/>
          </a:xfrm>
          <a:prstGeom prst="rect">
            <a:avLst/>
          </a:prstGeom>
          <a:noFill/>
        </p:spPr>
        <p:txBody>
          <a:bodyPr wrap="square" lIns="45720" rIns="45720" tIns="18288" bIns="18288">
            <a:spAutoFit/>
          </a:bodyPr>
          <a:lstStyle/>
          <a:p>
            <a:pPr algn="l"/>
            <a:r>
              <a:rPr sz="1100" b="0">
                <a:solidFill>
                  <a:srgbClr val="F2F4FA"/>
                </a:solidFill>
                <a:latin typeface="Calibri"/>
              </a:rPr>
              <a:t>Look-ahead asymétrique + KEEP_CLEAR + bris min(VIN)</a:t>
            </a:r>
          </a:p>
        </p:txBody>
      </p:sp>
      <p:sp>
        <p:nvSpPr>
          <p:cNvPr id="28" name="Rectangle 27"/>
          <p:cNvSpPr/>
          <p:nvPr/>
        </p:nvSpPr>
        <p:spPr>
          <a:xfrm>
            <a:off x="365760" y="4480560"/>
            <a:ext cx="41148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4544568"/>
            <a:ext cx="3968496" cy="374904"/>
          </a:xfrm>
          <a:prstGeom prst="rect">
            <a:avLst/>
          </a:prstGeom>
          <a:noFill/>
        </p:spPr>
        <p:txBody>
          <a:bodyPr wrap="square" lIns="45720" rIns="45720" tIns="18288" bIns="18288">
            <a:spAutoFit/>
          </a:bodyPr>
          <a:lstStyle/>
          <a:p>
            <a:pPr algn="l"/>
            <a:r>
              <a:rPr sz="1100" b="0">
                <a:solidFill>
                  <a:srgbClr val="F2F4FA"/>
                </a:solidFill>
                <a:latin typeface="Calibri"/>
              </a:rPr>
              <a:t>Ghost-following</a:t>
            </a:r>
          </a:p>
        </p:txBody>
      </p:sp>
      <p:sp>
        <p:nvSpPr>
          <p:cNvPr id="30" name="Rectangle 29"/>
          <p:cNvSpPr/>
          <p:nvPr/>
        </p:nvSpPr>
        <p:spPr>
          <a:xfrm>
            <a:off x="4480560" y="4480560"/>
            <a:ext cx="768096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53712" y="4544568"/>
            <a:ext cx="7534656" cy="374904"/>
          </a:xfrm>
          <a:prstGeom prst="rect">
            <a:avLst/>
          </a:prstGeom>
          <a:noFill/>
        </p:spPr>
        <p:txBody>
          <a:bodyPr wrap="square" lIns="45720" rIns="45720" tIns="18288" bIns="18288">
            <a:spAutoFit/>
          </a:bodyPr>
          <a:lstStyle/>
          <a:p>
            <a:pPr algn="l"/>
            <a:r>
              <a:rPr sz="1100" b="0">
                <a:solidFill>
                  <a:srgbClr val="F2F4FA"/>
                </a:solidFill>
                <a:latin typeface="Calibri"/>
              </a:rPr>
              <a:t>Filtre Frenet |lateral|&lt;22 px + cap relatif &lt; 45°</a:t>
            </a:r>
          </a:p>
        </p:txBody>
      </p:sp>
      <p:sp>
        <p:nvSpPr>
          <p:cNvPr id="32" name="Rectangle 31"/>
          <p:cNvSpPr/>
          <p:nvPr/>
        </p:nvSpPr>
        <p:spPr>
          <a:xfrm>
            <a:off x="365760" y="4983480"/>
            <a:ext cx="41148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5047488"/>
            <a:ext cx="3968496" cy="374904"/>
          </a:xfrm>
          <a:prstGeom prst="rect">
            <a:avLst/>
          </a:prstGeom>
          <a:noFill/>
        </p:spPr>
        <p:txBody>
          <a:bodyPr wrap="square" lIns="45720" rIns="45720" tIns="18288" bIns="18288">
            <a:spAutoFit/>
          </a:bodyPr>
          <a:lstStyle/>
          <a:p>
            <a:pPr algn="l"/>
            <a:r>
              <a:rPr sz="1100" b="0">
                <a:solidFill>
                  <a:srgbClr val="F2F4FA"/>
                </a:solidFill>
                <a:latin typeface="Calibri"/>
              </a:rPr>
              <a:t>ASLR / ordre threads</a:t>
            </a:r>
          </a:p>
        </p:txBody>
      </p:sp>
      <p:sp>
        <p:nvSpPr>
          <p:cNvPr id="34" name="Rectangle 33"/>
          <p:cNvSpPr/>
          <p:nvPr/>
        </p:nvSpPr>
        <p:spPr>
          <a:xfrm>
            <a:off x="4480560" y="4983480"/>
            <a:ext cx="768096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53712" y="5047488"/>
            <a:ext cx="7534656" cy="374904"/>
          </a:xfrm>
          <a:prstGeom prst="rect">
            <a:avLst/>
          </a:prstGeom>
          <a:noFill/>
        </p:spPr>
        <p:txBody>
          <a:bodyPr wrap="square" lIns="45720" rIns="45720" tIns="18288" bIns="18288">
            <a:spAutoFit/>
          </a:bodyPr>
          <a:lstStyle/>
          <a:p>
            <a:pPr algn="l"/>
            <a:r>
              <a:rPr sz="1100" b="0">
                <a:solidFill>
                  <a:srgbClr val="F2F4FA"/>
                </a:solidFill>
                <a:latin typeface="Calibri"/>
              </a:rPr>
              <a:t>RNG par-position + VIN déterministe + Phase 2 séquentielle</a:t>
            </a:r>
          </a:p>
        </p:txBody>
      </p:sp>
      <p:sp>
        <p:nvSpPr>
          <p:cNvPr id="36" name="Rectangle 35"/>
          <p:cNvSpPr/>
          <p:nvPr/>
        </p:nvSpPr>
        <p:spPr>
          <a:xfrm>
            <a:off x="365760" y="5486400"/>
            <a:ext cx="41148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5550408"/>
            <a:ext cx="3968496" cy="374904"/>
          </a:xfrm>
          <a:prstGeom prst="rect">
            <a:avLst/>
          </a:prstGeom>
          <a:noFill/>
        </p:spPr>
        <p:txBody>
          <a:bodyPr wrap="square" lIns="45720" rIns="45720" tIns="18288" bIns="18288">
            <a:spAutoFit/>
          </a:bodyPr>
          <a:lstStyle/>
          <a:p>
            <a:pPr algn="l"/>
            <a:r>
              <a:rPr sz="1100" b="0">
                <a:solidFill>
                  <a:srgbClr val="F2F4FA"/>
                </a:solidFill>
                <a:latin typeface="Calibri"/>
              </a:rPr>
              <a:t>Couplage logique/rendu</a:t>
            </a:r>
          </a:p>
        </p:txBody>
      </p:sp>
      <p:sp>
        <p:nvSpPr>
          <p:cNvPr id="38" name="Rectangle 37"/>
          <p:cNvSpPr/>
          <p:nvPr/>
        </p:nvSpPr>
        <p:spPr>
          <a:xfrm>
            <a:off x="4480560" y="5486400"/>
            <a:ext cx="768096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53712" y="5550408"/>
            <a:ext cx="7534656" cy="374904"/>
          </a:xfrm>
          <a:prstGeom prst="rect">
            <a:avLst/>
          </a:prstGeom>
          <a:noFill/>
        </p:spPr>
        <p:txBody>
          <a:bodyPr wrap="square" lIns="45720" rIns="45720" tIns="18288" bIns="18288">
            <a:spAutoFit/>
          </a:bodyPr>
          <a:lstStyle/>
          <a:p>
            <a:pPr algn="l"/>
            <a:r>
              <a:rPr sz="1100" b="0">
                <a:solidFill>
                  <a:srgbClr val="F2F4FA"/>
                </a:solidFill>
                <a:latin typeface="Calibri"/>
              </a:rPr>
              <a:t>core/ SFML-free + IRenderer + NullRenderer</a:t>
            </a:r>
          </a:p>
        </p:txBody>
      </p:sp>
      <p:sp>
        <p:nvSpPr>
          <p:cNvPr id="40" name="Rectangle 39"/>
          <p:cNvSpPr/>
          <p:nvPr/>
        </p:nvSpPr>
        <p:spPr>
          <a:xfrm>
            <a:off x="365760" y="5989320"/>
            <a:ext cx="411480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912" y="6053328"/>
            <a:ext cx="3968496" cy="374904"/>
          </a:xfrm>
          <a:prstGeom prst="rect">
            <a:avLst/>
          </a:prstGeom>
          <a:noFill/>
        </p:spPr>
        <p:txBody>
          <a:bodyPr wrap="square" lIns="45720" rIns="45720" tIns="18288" bIns="18288">
            <a:spAutoFit/>
          </a:bodyPr>
          <a:lstStyle/>
          <a:p>
            <a:pPr algn="l"/>
            <a:r>
              <a:rPr sz="1100" b="0">
                <a:solidFill>
                  <a:srgbClr val="F2F4FA"/>
                </a:solidFill>
                <a:latin typeface="Calibri"/>
              </a:rPr>
              <a:t>Émergent illisible</a:t>
            </a:r>
          </a:p>
        </p:txBody>
      </p:sp>
      <p:sp>
        <p:nvSpPr>
          <p:cNvPr id="42" name="Rectangle 41"/>
          <p:cNvSpPr/>
          <p:nvPr/>
        </p:nvSpPr>
        <p:spPr>
          <a:xfrm>
            <a:off x="4480560" y="5989320"/>
            <a:ext cx="7680960" cy="502920"/>
          </a:xfrm>
          <a:prstGeom prst="rect">
            <a:avLst/>
          </a:prstGeom>
          <a:solidFill>
            <a:srgbClr val="1B2236"/>
          </a:solidFill>
          <a:ln w="6350">
            <a:solidFill>
              <a:srgbClr val="8A9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53712" y="6053328"/>
            <a:ext cx="7534656" cy="374904"/>
          </a:xfrm>
          <a:prstGeom prst="rect">
            <a:avLst/>
          </a:prstGeom>
          <a:noFill/>
        </p:spPr>
        <p:txBody>
          <a:bodyPr wrap="square" lIns="45720" rIns="45720" tIns="18288" bIns="18288">
            <a:spAutoFit/>
          </a:bodyPr>
          <a:lstStyle/>
          <a:p>
            <a:pPr algn="l"/>
            <a:r>
              <a:rPr sz="1100" b="0">
                <a:solidFill>
                  <a:srgbClr val="F2F4FA"/>
                </a:solidFill>
                <a:latin typeface="Calibri"/>
              </a:rPr>
              <a:t>BlockReason exhaustif + overlay décisions + diagnostic CSV</a:t>
            </a:r>
          </a:p>
        </p:txBody>
      </p:sp>
      <p:sp>
        <p:nvSpPr>
          <p:cNvPr id="44" name="TextBox 43"/>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ARCHITECTURE · 4.9</a:t>
            </a:r>
          </a:p>
        </p:txBody>
      </p:sp>
      <p:sp>
        <p:nvSpPr>
          <p:cNvPr id="45" name="TextBox 44"/>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59 / 66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548640"/>
          </a:xfrm>
          <a:prstGeom prst="rect">
            <a:avLst/>
          </a:prstGeom>
          <a:noFill/>
        </p:spPr>
        <p:txBody>
          <a:bodyPr wrap="square" lIns="45720" rIns="45720" tIns="18288" bIns="18288">
            <a:spAutoFit/>
          </a:bodyPr>
          <a:lstStyle/>
          <a:p>
            <a:pPr algn="l"/>
            <a:r>
              <a:rPr sz="1800" b="1">
                <a:solidFill>
                  <a:srgbClr val="FFB73D"/>
                </a:solidFill>
                <a:latin typeface="Calibri"/>
              </a:rPr>
              <a:t>PARTIE 5</a:t>
            </a:r>
          </a:p>
        </p:txBody>
      </p:sp>
      <p:sp>
        <p:nvSpPr>
          <p:cNvPr id="4" name="TextBox 3"/>
          <p:cNvSpPr txBox="1"/>
          <p:nvPr/>
        </p:nvSpPr>
        <p:spPr>
          <a:xfrm>
            <a:off x="548640" y="2377440"/>
            <a:ext cx="10972800" cy="1280160"/>
          </a:xfrm>
          <a:prstGeom prst="rect">
            <a:avLst/>
          </a:prstGeom>
          <a:noFill/>
        </p:spPr>
        <p:txBody>
          <a:bodyPr wrap="square" lIns="45720" rIns="45720" tIns="18288" bIns="18288">
            <a:spAutoFit/>
          </a:bodyPr>
          <a:lstStyle/>
          <a:p>
            <a:pPr algn="l"/>
            <a:r>
              <a:rPr sz="4400" b="1">
                <a:solidFill>
                  <a:srgbClr val="F2F4FA"/>
                </a:solidFill>
                <a:latin typeface="Calibri"/>
              </a:rPr>
              <a:t>Synthèse, limitations &amp; travaux futurs</a:t>
            </a:r>
          </a:p>
        </p:txBody>
      </p:sp>
      <p:sp>
        <p:nvSpPr>
          <p:cNvPr id="5" name="TextBox 4"/>
          <p:cNvSpPr txBox="1"/>
          <p:nvPr/>
        </p:nvSpPr>
        <p:spPr>
          <a:xfrm>
            <a:off x="548640" y="3657600"/>
            <a:ext cx="10972800" cy="548640"/>
          </a:xfrm>
          <a:prstGeom prst="rect">
            <a:avLst/>
          </a:prstGeom>
          <a:noFill/>
        </p:spPr>
        <p:txBody>
          <a:bodyPr wrap="square" lIns="45720" rIns="45720" tIns="18288" bIns="18288">
            <a:spAutoFit/>
          </a:bodyPr>
          <a:lstStyle/>
          <a:p>
            <a:pPr algn="l"/>
            <a:r>
              <a:rPr sz="1600" b="0">
                <a:solidFill>
                  <a:srgbClr val="8A90A8"/>
                </a:solidFill>
                <a:latin typeface="Calibri"/>
              </a:rPr>
              <a:t>Ce qui marche, ce qui reste imparfait, où aller ensuite</a:t>
            </a:r>
          </a:p>
        </p:txBody>
      </p:sp>
      <p:sp>
        <p:nvSpPr>
          <p:cNvPr id="6" name="Rectangle 5"/>
          <p:cNvSpPr/>
          <p:nvPr/>
        </p:nvSpPr>
        <p:spPr>
          <a:xfrm>
            <a:off x="548640" y="4434840"/>
            <a:ext cx="2286000" cy="4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Partie 5</a:t>
            </a:r>
          </a:p>
        </p:txBody>
      </p:sp>
      <p:sp>
        <p:nvSpPr>
          <p:cNvPr id="8" name="TextBox 7"/>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60 / 66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CONCLUSION · 5.1</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Synthèse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De la preuve de concept à la preuve de technologie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11247120" cy="4114800"/>
          </a:xfrm>
          <a:prstGeom prst="rect">
            <a:avLst/>
          </a:prstGeom>
          <a:noFill/>
        </p:spPr>
        <p:txBody>
          <a:bodyPr wrap="square">
            <a:spAutoFit/>
          </a:bodyPr>
          <a:lstStyle/>
          <a:p>
            <a:pPr algn="l">
              <a:spcAft>
                <a:spcPts val="400"/>
              </a:spcAft>
            </a:pPr>
            <a:r>
              <a:rPr sz="1400">
                <a:solidFill>
                  <a:srgbClr val="F2F4FA"/>
                </a:solidFill>
                <a:latin typeface="Calibri"/>
              </a:rPr>
              <a:t>•  10 régulations interchangeables, 15 comportements documentés.</a:t>
            </a:r>
          </a:p>
          <a:p>
            <a:pPr algn="l">
              <a:spcAft>
                <a:spcPts val="400"/>
              </a:spcAft>
            </a:pPr>
            <a:r>
              <a:rPr sz="1400">
                <a:solidFill>
                  <a:srgbClr val="F2F4FA"/>
                </a:solidFill>
                <a:latin typeface="Calibri"/>
              </a:rPr>
              <a:t>•  FSM hiérarchique stricte : 8 invariants formellement listés.</a:t>
            </a:r>
          </a:p>
          <a:p>
            <a:pPr algn="l">
              <a:spcAft>
                <a:spcPts val="400"/>
              </a:spcAft>
            </a:pPr>
            <a:r>
              <a:rPr sz="1400">
                <a:solidFill>
                  <a:srgbClr val="F2F4FA"/>
                </a:solidFill>
                <a:latin typeface="Calibri"/>
              </a:rPr>
              <a:t>•  Pipeline 2-phases safe-by-construction, parallélisable.</a:t>
            </a:r>
          </a:p>
          <a:p>
            <a:pPr algn="l">
              <a:spcAft>
                <a:spcPts val="400"/>
              </a:spcAft>
            </a:pPr>
            <a:r>
              <a:rPr sz="1400">
                <a:solidFill>
                  <a:srgbClr val="F2F4FA"/>
                </a:solidFill>
                <a:latin typeface="Calibri"/>
              </a:rPr>
              <a:t>•  Bit-déterminisme run-to-run préservé (sauf AIM en parallèle, documenté).</a:t>
            </a:r>
          </a:p>
          <a:p>
            <a:pPr algn="l">
              <a:spcAft>
                <a:spcPts val="400"/>
              </a:spcAft>
            </a:pPr>
            <a:r>
              <a:rPr sz="1400">
                <a:solidFill>
                  <a:srgbClr val="F2F4FA"/>
                </a:solidFill>
                <a:latin typeface="Calibri"/>
              </a:rPr>
              <a:t>•  Banc d'essai Monte-Carlo headless + live + export CSV/JSON.</a:t>
            </a:r>
          </a:p>
          <a:p>
            <a:pPr algn="l">
              <a:spcAft>
                <a:spcPts val="400"/>
              </a:spcAft>
            </a:pPr>
            <a:r>
              <a:rPr sz="1400">
                <a:solidFill>
                  <a:srgbClr val="F2F4FA"/>
                </a:solidFill>
                <a:latin typeface="Calibri"/>
              </a:rPr>
              <a:t>•  Métriques scientifiques standard (Throughput, Delay, TTC, PET, Jerk).</a:t>
            </a:r>
          </a:p>
          <a:p>
            <a:pPr algn="l">
              <a:spcAft>
                <a:spcPts val="400"/>
              </a:spcAft>
            </a:pPr>
            <a:r>
              <a:rPr sz="1400">
                <a:solidFill>
                  <a:srgbClr val="F2F4FA"/>
                </a:solidFill>
                <a:latin typeface="Calibri"/>
              </a:rPr>
              <a:t>•  Comportements émergents observés (accordéon, zipping, spirales, Braess).</a:t>
            </a:r>
          </a:p>
          <a:p>
            <a:pPr algn="l">
              <a:spcAft>
                <a:spcPts val="400"/>
              </a:spcAft>
            </a:pPr>
            <a:r>
              <a:rPr sz="1400">
                <a:solidFill>
                  <a:srgbClr val="F2F4FA"/>
                </a:solidFill>
                <a:latin typeface="Calibri"/>
              </a:rPr>
              <a:t>•  Trois bugs critiques éradiqués : ghost-following, deadlocks, ronds-points.</a:t>
            </a:r>
          </a:p>
        </p:txBody>
      </p:sp>
      <p:sp>
        <p:nvSpPr>
          <p:cNvPr id="9" name="TextBox 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CONCLUSION · 5.1</a:t>
            </a:r>
          </a:p>
        </p:txBody>
      </p:sp>
      <p:sp>
        <p:nvSpPr>
          <p:cNvPr id="10" name="TextBox 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61 / 66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CONCLUSION · 5.2</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Limitations résiduelles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Discussion honnête de ce qui reste imparfait</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920240"/>
            <a:ext cx="11247120" cy="685800"/>
          </a:xfrm>
          <a:prstGeom prst="roundRect">
            <a:avLst/>
          </a:prstGeom>
          <a:solidFill>
            <a:srgbClr val="181E30"/>
          </a:solidFill>
          <a:ln w="12700">
            <a:solidFill>
              <a:srgbClr val="F1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10972800" cy="320040"/>
          </a:xfrm>
          <a:prstGeom prst="rect">
            <a:avLst/>
          </a:prstGeom>
          <a:noFill/>
        </p:spPr>
        <p:txBody>
          <a:bodyPr wrap="square" lIns="45720" rIns="45720" tIns="18288" bIns="18288">
            <a:spAutoFit/>
          </a:bodyPr>
          <a:lstStyle/>
          <a:p>
            <a:pPr algn="l"/>
            <a:r>
              <a:rPr sz="1300" b="1">
                <a:solidFill>
                  <a:srgbClr val="F16666"/>
                </a:solidFill>
                <a:latin typeface="Calibri"/>
              </a:rPr>
              <a:t>AIM non déterministe en multi-thread</a:t>
            </a:r>
          </a:p>
        </p:txBody>
      </p:sp>
      <p:sp>
        <p:nvSpPr>
          <p:cNvPr id="10" name="TextBox 9"/>
          <p:cNvSpPr txBox="1"/>
          <p:nvPr/>
        </p:nvSpPr>
        <p:spPr>
          <a:xfrm>
            <a:off x="685800" y="2377440"/>
            <a:ext cx="10972800" cy="182880"/>
          </a:xfrm>
          <a:prstGeom prst="rect">
            <a:avLst/>
          </a:prstGeom>
          <a:noFill/>
        </p:spPr>
        <p:txBody>
          <a:bodyPr wrap="square" lIns="45720" rIns="45720" tIns="18288" bIns="18288">
            <a:spAutoFit/>
          </a:bodyPr>
          <a:lstStyle/>
          <a:p>
            <a:pPr algn="l"/>
            <a:r>
              <a:rPr sz="1100" b="0">
                <a:solidFill>
                  <a:srgbClr val="F2F4FA"/>
                </a:solidFill>
                <a:latin typeface="Calibri"/>
              </a:rPr>
              <a:t>L'ordre FCFS dépend du scheduling. Monte-Carlo en séquentiel pour cette raison.</a:t>
            </a:r>
          </a:p>
        </p:txBody>
      </p:sp>
      <p:sp>
        <p:nvSpPr>
          <p:cNvPr id="11" name="Rounded Rectangle 10"/>
          <p:cNvSpPr/>
          <p:nvPr/>
        </p:nvSpPr>
        <p:spPr>
          <a:xfrm>
            <a:off x="548640" y="2679192"/>
            <a:ext cx="11247120" cy="685800"/>
          </a:xfrm>
          <a:prstGeom prst="roundRect">
            <a:avLst/>
          </a:prstGeom>
          <a:solidFill>
            <a:srgbClr val="181E30"/>
          </a:solidFill>
          <a:ln w="12700">
            <a:solidFill>
              <a:srgbClr val="F1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70632"/>
            <a:ext cx="10972800" cy="320040"/>
          </a:xfrm>
          <a:prstGeom prst="rect">
            <a:avLst/>
          </a:prstGeom>
          <a:noFill/>
        </p:spPr>
        <p:txBody>
          <a:bodyPr wrap="square" lIns="45720" rIns="45720" tIns="18288" bIns="18288">
            <a:spAutoFit/>
          </a:bodyPr>
          <a:lstStyle/>
          <a:p>
            <a:pPr algn="l"/>
            <a:r>
              <a:rPr sz="1300" b="1">
                <a:solidFill>
                  <a:srgbClr val="F16666"/>
                </a:solidFill>
                <a:latin typeface="Calibri"/>
              </a:rPr>
              <a:t>TTC en O(n²)</a:t>
            </a:r>
          </a:p>
        </p:txBody>
      </p:sp>
      <p:sp>
        <p:nvSpPr>
          <p:cNvPr id="13" name="TextBox 12"/>
          <p:cNvSpPr txBox="1"/>
          <p:nvPr/>
        </p:nvSpPr>
        <p:spPr>
          <a:xfrm>
            <a:off x="685800" y="3136392"/>
            <a:ext cx="10972800" cy="182880"/>
          </a:xfrm>
          <a:prstGeom prst="rect">
            <a:avLst/>
          </a:prstGeom>
          <a:noFill/>
        </p:spPr>
        <p:txBody>
          <a:bodyPr wrap="square" lIns="45720" rIns="45720" tIns="18288" bIns="18288">
            <a:spAutoFit/>
          </a:bodyPr>
          <a:lstStyle/>
          <a:p>
            <a:pPr algn="l"/>
            <a:r>
              <a:rPr sz="1100" b="0">
                <a:solidFill>
                  <a:srgbClr val="F2F4FA"/>
                </a:solidFill>
                <a:latin typeface="Calibri"/>
              </a:rPr>
              <a:t>Acceptable à N ≤ 500. Hotspot au-delà → SpatialGrid 64×64 px en suspens.</a:t>
            </a:r>
          </a:p>
        </p:txBody>
      </p:sp>
      <p:sp>
        <p:nvSpPr>
          <p:cNvPr id="14" name="Rounded Rectangle 13"/>
          <p:cNvSpPr/>
          <p:nvPr/>
        </p:nvSpPr>
        <p:spPr>
          <a:xfrm>
            <a:off x="548640" y="3438144"/>
            <a:ext cx="11247120" cy="685800"/>
          </a:xfrm>
          <a:prstGeom prst="roundRect">
            <a:avLst/>
          </a:prstGeom>
          <a:solidFill>
            <a:srgbClr val="181E30"/>
          </a:solidFill>
          <a:ln w="12700">
            <a:solidFill>
              <a:srgbClr val="F1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529584"/>
            <a:ext cx="10972800" cy="320040"/>
          </a:xfrm>
          <a:prstGeom prst="rect">
            <a:avLst/>
          </a:prstGeom>
          <a:noFill/>
        </p:spPr>
        <p:txBody>
          <a:bodyPr wrap="square" lIns="45720" rIns="45720" tIns="18288" bIns="18288">
            <a:spAutoFit/>
          </a:bodyPr>
          <a:lstStyle/>
          <a:p>
            <a:pPr algn="l"/>
            <a:r>
              <a:rPr sz="1300" b="1">
                <a:solidFill>
                  <a:srgbClr val="F16666"/>
                </a:solidFill>
                <a:latin typeface="Calibri"/>
              </a:rPr>
              <a:t>Path replanning O(n × A*)</a:t>
            </a:r>
          </a:p>
        </p:txBody>
      </p:sp>
      <p:sp>
        <p:nvSpPr>
          <p:cNvPr id="16" name="TextBox 15"/>
          <p:cNvSpPr txBox="1"/>
          <p:nvPr/>
        </p:nvSpPr>
        <p:spPr>
          <a:xfrm>
            <a:off x="685800" y="3895344"/>
            <a:ext cx="10972800" cy="182880"/>
          </a:xfrm>
          <a:prstGeom prst="rect">
            <a:avLst/>
          </a:prstGeom>
          <a:noFill/>
        </p:spPr>
        <p:txBody>
          <a:bodyPr wrap="square" lIns="45720" rIns="45720" tIns="18288" bIns="18288">
            <a:spAutoFit/>
          </a:bodyPr>
          <a:lstStyle/>
          <a:p>
            <a:pPr algn="l"/>
            <a:r>
              <a:rPr sz="1100" b="0">
                <a:solidFill>
                  <a:srgbClr val="F2F4FA"/>
                </a:solidFill>
                <a:latin typeface="Calibri"/>
              </a:rPr>
              <a:t>Sur édition map en build mode. Acceptable à N ≤ 100.</a:t>
            </a:r>
          </a:p>
        </p:txBody>
      </p:sp>
      <p:sp>
        <p:nvSpPr>
          <p:cNvPr id="17" name="Rounded Rectangle 16"/>
          <p:cNvSpPr/>
          <p:nvPr/>
        </p:nvSpPr>
        <p:spPr>
          <a:xfrm>
            <a:off x="548640" y="4197096"/>
            <a:ext cx="11247120" cy="685800"/>
          </a:xfrm>
          <a:prstGeom prst="roundRect">
            <a:avLst/>
          </a:prstGeom>
          <a:solidFill>
            <a:srgbClr val="181E30"/>
          </a:solidFill>
          <a:ln w="12700">
            <a:solidFill>
              <a:srgbClr val="F1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288536"/>
            <a:ext cx="10972800" cy="320040"/>
          </a:xfrm>
          <a:prstGeom prst="rect">
            <a:avLst/>
          </a:prstGeom>
          <a:noFill/>
        </p:spPr>
        <p:txBody>
          <a:bodyPr wrap="square" lIns="45720" rIns="45720" tIns="18288" bIns="18288">
            <a:spAutoFit/>
          </a:bodyPr>
          <a:lstStyle/>
          <a:p>
            <a:pPr algn="l"/>
            <a:r>
              <a:rPr sz="1300" b="1">
                <a:solidFill>
                  <a:srgbClr val="F16666"/>
                </a:solidFill>
                <a:latin typeface="Calibri"/>
              </a:rPr>
              <a:t>Pas de multi-voie réelle</a:t>
            </a:r>
          </a:p>
        </p:txBody>
      </p:sp>
      <p:sp>
        <p:nvSpPr>
          <p:cNvPr id="19" name="TextBox 18"/>
          <p:cNvSpPr txBox="1"/>
          <p:nvPr/>
        </p:nvSpPr>
        <p:spPr>
          <a:xfrm>
            <a:off x="685800" y="4654296"/>
            <a:ext cx="10972800" cy="182880"/>
          </a:xfrm>
          <a:prstGeom prst="rect">
            <a:avLst/>
          </a:prstGeom>
          <a:noFill/>
        </p:spPr>
        <p:txBody>
          <a:bodyPr wrap="square" lIns="45720" rIns="45720" tIns="18288" bIns="18288">
            <a:spAutoFit/>
          </a:bodyPr>
          <a:lstStyle/>
          <a:p>
            <a:pPr algn="l"/>
            <a:r>
              <a:rPr sz="1100" b="0">
                <a:solidFill>
                  <a:srgbClr val="F2F4FA"/>
                </a:solidFill>
                <a:latin typeface="Calibri"/>
              </a:rPr>
              <a:t>Une voie par direction. Dépassement par lateralOffset transitoire seulement.</a:t>
            </a:r>
          </a:p>
        </p:txBody>
      </p:sp>
      <p:sp>
        <p:nvSpPr>
          <p:cNvPr id="20" name="Rounded Rectangle 19"/>
          <p:cNvSpPr/>
          <p:nvPr/>
        </p:nvSpPr>
        <p:spPr>
          <a:xfrm>
            <a:off x="548640" y="4956048"/>
            <a:ext cx="11247120" cy="685800"/>
          </a:xfrm>
          <a:prstGeom prst="roundRect">
            <a:avLst/>
          </a:prstGeom>
          <a:solidFill>
            <a:srgbClr val="181E30"/>
          </a:solidFill>
          <a:ln w="12700">
            <a:solidFill>
              <a:srgbClr val="F1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047488"/>
            <a:ext cx="10972800" cy="320040"/>
          </a:xfrm>
          <a:prstGeom prst="rect">
            <a:avLst/>
          </a:prstGeom>
          <a:noFill/>
        </p:spPr>
        <p:txBody>
          <a:bodyPr wrap="square" lIns="45720" rIns="45720" tIns="18288" bIns="18288">
            <a:spAutoFit/>
          </a:bodyPr>
          <a:lstStyle/>
          <a:p>
            <a:pPr algn="l"/>
            <a:r>
              <a:rPr sz="1300" b="1">
                <a:solidFill>
                  <a:srgbClr val="F16666"/>
                </a:solidFill>
                <a:latin typeface="Calibri"/>
              </a:rPr>
              <a:t>Blocages multi-carrefours en grosse simulation</a:t>
            </a:r>
          </a:p>
        </p:txBody>
      </p:sp>
      <p:sp>
        <p:nvSpPr>
          <p:cNvPr id="22" name="TextBox 21"/>
          <p:cNvSpPr txBox="1"/>
          <p:nvPr/>
        </p:nvSpPr>
        <p:spPr>
          <a:xfrm>
            <a:off x="685800" y="5413248"/>
            <a:ext cx="10972800" cy="182880"/>
          </a:xfrm>
          <a:prstGeom prst="rect">
            <a:avLst/>
          </a:prstGeom>
          <a:noFill/>
        </p:spPr>
        <p:txBody>
          <a:bodyPr wrap="square" lIns="45720" rIns="45720" tIns="18288" bIns="18288">
            <a:spAutoFit/>
          </a:bodyPr>
          <a:lstStyle/>
          <a:p>
            <a:pPr algn="l"/>
            <a:r>
              <a:rPr sz="1100" b="0">
                <a:solidFill>
                  <a:srgbClr val="F2F4FA"/>
                </a:solidFill>
                <a:latin typeface="Calibri"/>
              </a:rPr>
              <a:t>Look-ahead local ne propage pas la chaîne d'occupation inter-carrefour.</a:t>
            </a:r>
          </a:p>
        </p:txBody>
      </p:sp>
      <p:sp>
        <p:nvSpPr>
          <p:cNvPr id="23" name="Rounded Rectangle 22"/>
          <p:cNvSpPr/>
          <p:nvPr/>
        </p:nvSpPr>
        <p:spPr>
          <a:xfrm>
            <a:off x="548640" y="5715000"/>
            <a:ext cx="11247120" cy="685800"/>
          </a:xfrm>
          <a:prstGeom prst="roundRect">
            <a:avLst/>
          </a:prstGeom>
          <a:solidFill>
            <a:srgbClr val="181E30"/>
          </a:solidFill>
          <a:ln w="12700">
            <a:solidFill>
              <a:srgbClr val="F1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806440"/>
            <a:ext cx="10972800" cy="320040"/>
          </a:xfrm>
          <a:prstGeom prst="rect">
            <a:avLst/>
          </a:prstGeom>
          <a:noFill/>
        </p:spPr>
        <p:txBody>
          <a:bodyPr wrap="square" lIns="45720" rIns="45720" tIns="18288" bIns="18288">
            <a:spAutoFit/>
          </a:bodyPr>
          <a:lstStyle/>
          <a:p>
            <a:pPr algn="l"/>
            <a:r>
              <a:rPr sz="1300" b="1">
                <a:solidFill>
                  <a:srgbClr val="F16666"/>
                </a:solidFill>
                <a:latin typeface="Calibri"/>
              </a:rPr>
              <a:t>Métriques par-intersection limitées</a:t>
            </a:r>
          </a:p>
        </p:txBody>
      </p:sp>
      <p:sp>
        <p:nvSpPr>
          <p:cNvPr id="25" name="TextBox 24"/>
          <p:cNvSpPr txBox="1"/>
          <p:nvPr/>
        </p:nvSpPr>
        <p:spPr>
          <a:xfrm>
            <a:off x="685800" y="6172200"/>
            <a:ext cx="10972800" cy="182880"/>
          </a:xfrm>
          <a:prstGeom prst="rect">
            <a:avLst/>
          </a:prstGeom>
          <a:noFill/>
        </p:spPr>
        <p:txBody>
          <a:bodyPr wrap="square" lIns="45720" rIns="45720" tIns="18288" bIns="18288">
            <a:spAutoFit/>
          </a:bodyPr>
          <a:lstStyle/>
          <a:p>
            <a:pPr algn="l"/>
            <a:r>
              <a:rPr sz="1100" b="0">
                <a:solidFill>
                  <a:srgbClr val="F2F4FA"/>
                </a:solidFill>
                <a:latin typeface="Calibri"/>
              </a:rPr>
              <a:t>Globales pour l'instant. Phase 5 documente les extensions (occupancy, queue, waiting).</a:t>
            </a:r>
          </a:p>
        </p:txBody>
      </p:sp>
      <p:sp>
        <p:nvSpPr>
          <p:cNvPr id="26" name="TextBox 25"/>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CONCLUSION · 5.2</a:t>
            </a:r>
          </a:p>
        </p:txBody>
      </p:sp>
      <p:sp>
        <p:nvSpPr>
          <p:cNvPr id="27" name="TextBox 26"/>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62 / 66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CONCLUSION · 5.3</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Travaux futurs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Extensions naturelles et frontières de recherche</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11247120" cy="4389120"/>
          </a:xfrm>
          <a:prstGeom prst="rect">
            <a:avLst/>
          </a:prstGeom>
          <a:noFill/>
        </p:spPr>
        <p:txBody>
          <a:bodyPr wrap="square">
            <a:spAutoFit/>
          </a:bodyPr>
          <a:lstStyle/>
          <a:p>
            <a:pPr algn="l">
              <a:spcAft>
                <a:spcPts val="400"/>
              </a:spcAft>
            </a:pPr>
            <a:r>
              <a:rPr sz="1400">
                <a:solidFill>
                  <a:srgbClr val="F2F4FA"/>
                </a:solidFill>
                <a:latin typeface="Calibri"/>
              </a:rPr>
              <a:t>•  SpatialGrid 64×64 px → perception et TTC en O(n·k).</a:t>
            </a:r>
          </a:p>
          <a:p>
            <a:pPr algn="l">
              <a:spcAft>
                <a:spcPts val="400"/>
              </a:spcAft>
            </a:pPr>
            <a:r>
              <a:rPr sz="1400">
                <a:solidFill>
                  <a:srgbClr val="F2F4FA"/>
                </a:solidFill>
                <a:latin typeface="Calibri"/>
              </a:rPr>
              <a:t>•  Modèle MOBIL (Treiber-Hennecke-Helbing) → vrai changement de voie multi-voies.</a:t>
            </a:r>
          </a:p>
          <a:p>
            <a:pPr algn="l">
              <a:spcAft>
                <a:spcPts val="400"/>
              </a:spcAft>
            </a:pPr>
            <a:r>
              <a:rPr sz="1400">
                <a:solidFill>
                  <a:srgbClr val="F2F4FA"/>
                </a:solidFill>
                <a:latin typeface="Calibri"/>
              </a:rPr>
              <a:t>•  Propagation graphe inter-carrefours → résoudre les blocages globaux résiduels.</a:t>
            </a:r>
          </a:p>
          <a:p>
            <a:pPr algn="l">
              <a:spcAft>
                <a:spcPts val="400"/>
              </a:spcAft>
            </a:pPr>
            <a:r>
              <a:rPr sz="1400">
                <a:solidFill>
                  <a:srgbClr val="F2F4FA"/>
                </a:solidFill>
                <a:latin typeface="Calibri"/>
              </a:rPr>
              <a:t>•  Métriques par-intersection (occupancy, queue, waiting, headway) — déjà spécifiées.</a:t>
            </a:r>
          </a:p>
          <a:p>
            <a:pPr algn="l">
              <a:spcAft>
                <a:spcPts val="400"/>
              </a:spcAft>
            </a:pPr>
            <a:r>
              <a:rPr sz="1400">
                <a:solidFill>
                  <a:srgbClr val="F2F4FA"/>
                </a:solidFill>
                <a:latin typeface="Calibri"/>
              </a:rPr>
              <a:t>•  Apprentissage par renforcement multi-agents (MARL/MACPO) → frontière contemporaine.</a:t>
            </a:r>
          </a:p>
          <a:p>
            <a:pPr algn="l">
              <a:spcAft>
                <a:spcPts val="400"/>
              </a:spcAft>
            </a:pPr>
            <a:r>
              <a:rPr sz="1400">
                <a:solidFill>
                  <a:srgbClr val="F2F4FA"/>
                </a:solidFill>
                <a:latin typeface="Calibri"/>
              </a:rPr>
              <a:t>•  LLM-agents pour raisonnement stratégique quasi-humain (LLM-RL hybride).</a:t>
            </a:r>
          </a:p>
          <a:p>
            <a:pPr algn="l">
              <a:spcAft>
                <a:spcPts val="400"/>
              </a:spcAft>
            </a:pPr>
            <a:r>
              <a:rPr sz="1400">
                <a:solidFill>
                  <a:srgbClr val="F2F4FA"/>
                </a:solidFill>
                <a:latin typeface="Calibri"/>
              </a:rPr>
              <a:t>•  Banc d'essai étendu : import/export OpenStreetMap pour scénarios réels.</a:t>
            </a:r>
          </a:p>
          <a:p>
            <a:pPr algn="l">
              <a:spcAft>
                <a:spcPts val="400"/>
              </a:spcAft>
            </a:pPr>
            <a:r>
              <a:rPr sz="1400">
                <a:solidFill>
                  <a:srgbClr val="F2F4FA"/>
                </a:solidFill>
                <a:latin typeface="Calibri"/>
              </a:rPr>
              <a:t>•  Comparaison vs SUMO / Aimsun sur scénarios de référence.</a:t>
            </a:r>
          </a:p>
        </p:txBody>
      </p:sp>
      <p:sp>
        <p:nvSpPr>
          <p:cNvPr id="9" name="TextBox 8"/>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CONCLUSION · 5.3</a:t>
            </a:r>
          </a:p>
        </p:txBody>
      </p:sp>
      <p:sp>
        <p:nvSpPr>
          <p:cNvPr id="10" name="TextBox 9"/>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63 / 66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CONCLUSION · 5.4</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Références bibliographiques principales</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Articles fondateurs cités dans l'état de l'art</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11247120" cy="548640"/>
          </a:xfrm>
          <a:prstGeom prst="rect">
            <a:avLst/>
          </a:prstGeom>
          <a:noFill/>
        </p:spPr>
        <p:txBody>
          <a:bodyPr wrap="square" lIns="45720" rIns="45720" tIns="18288" bIns="18288">
            <a:spAutoFit/>
          </a:bodyPr>
          <a:lstStyle/>
          <a:p>
            <a:pPr algn="l"/>
            <a:r>
              <a:rPr sz="1100" b="0">
                <a:solidFill>
                  <a:srgbClr val="F2F4FA"/>
                </a:solidFill>
                <a:latin typeface="Calibri"/>
              </a:rPr>
              <a:t>[1]  Treiber, M., Hennecke, A., Helbing, D. (2000). Congested traffic states in empirical observations and microscopic simulations. Physical Review E, 62.</a:t>
            </a:r>
          </a:p>
        </p:txBody>
      </p:sp>
      <p:sp>
        <p:nvSpPr>
          <p:cNvPr id="9" name="TextBox 8"/>
          <p:cNvSpPr txBox="1"/>
          <p:nvPr/>
        </p:nvSpPr>
        <p:spPr>
          <a:xfrm>
            <a:off x="548640" y="2423160"/>
            <a:ext cx="11247120" cy="548640"/>
          </a:xfrm>
          <a:prstGeom prst="rect">
            <a:avLst/>
          </a:prstGeom>
          <a:noFill/>
        </p:spPr>
        <p:txBody>
          <a:bodyPr wrap="square" lIns="45720" rIns="45720" tIns="18288" bIns="18288">
            <a:spAutoFit/>
          </a:bodyPr>
          <a:lstStyle/>
          <a:p>
            <a:pPr algn="l"/>
            <a:r>
              <a:rPr sz="1100" b="0">
                <a:solidFill>
                  <a:srgbClr val="F2F4FA"/>
                </a:solidFill>
                <a:latin typeface="Calibri"/>
              </a:rPr>
              <a:t>[2]  Dresner, K., Stone, P. (2008). A Multiagent Approach to Autonomous Intersection Management. JAIR, 31, 591-656.</a:t>
            </a:r>
          </a:p>
        </p:txBody>
      </p:sp>
      <p:sp>
        <p:nvSpPr>
          <p:cNvPr id="10" name="TextBox 9"/>
          <p:cNvSpPr txBox="1"/>
          <p:nvPr/>
        </p:nvSpPr>
        <p:spPr>
          <a:xfrm>
            <a:off x="548640" y="2926080"/>
            <a:ext cx="11247120" cy="548640"/>
          </a:xfrm>
          <a:prstGeom prst="rect">
            <a:avLst/>
          </a:prstGeom>
          <a:noFill/>
        </p:spPr>
        <p:txBody>
          <a:bodyPr wrap="square" lIns="45720" rIns="45720" tIns="18288" bIns="18288">
            <a:spAutoFit/>
          </a:bodyPr>
          <a:lstStyle/>
          <a:p>
            <a:pPr algn="l"/>
            <a:r>
              <a:rPr sz="1100" b="0">
                <a:solidFill>
                  <a:srgbClr val="F2F4FA"/>
                </a:solidFill>
                <a:latin typeface="Calibri"/>
              </a:rPr>
              <a:t>[3]  VanMiddlesworth, M., Dresner, K., Stone, P. (2008). Replacing the Stop Sign: Unmanaged Intersection Control for Autonomous Vehicles. AAMAS workshop.</a:t>
            </a:r>
          </a:p>
        </p:txBody>
      </p:sp>
      <p:sp>
        <p:nvSpPr>
          <p:cNvPr id="11" name="TextBox 10"/>
          <p:cNvSpPr txBox="1"/>
          <p:nvPr/>
        </p:nvSpPr>
        <p:spPr>
          <a:xfrm>
            <a:off x="548640" y="3429000"/>
            <a:ext cx="11247120" cy="548640"/>
          </a:xfrm>
          <a:prstGeom prst="rect">
            <a:avLst/>
          </a:prstGeom>
          <a:noFill/>
        </p:spPr>
        <p:txBody>
          <a:bodyPr wrap="square" lIns="45720" rIns="45720" tIns="18288" bIns="18288">
            <a:spAutoFit/>
          </a:bodyPr>
          <a:lstStyle/>
          <a:p>
            <a:pPr algn="l"/>
            <a:r>
              <a:rPr sz="1100" b="0">
                <a:solidFill>
                  <a:srgbClr val="F2F4FA"/>
                </a:solidFill>
                <a:latin typeface="Calibri"/>
              </a:rPr>
              <a:t>[4]  Van den Berg, J., Guy, S., Lin, M., Manocha, D. (2011). Reciprocal n-body Collision Avoidance. Robotics Research, 70, 3-19.</a:t>
            </a:r>
          </a:p>
        </p:txBody>
      </p:sp>
      <p:sp>
        <p:nvSpPr>
          <p:cNvPr id="12" name="TextBox 11"/>
          <p:cNvSpPr txBox="1"/>
          <p:nvPr/>
        </p:nvSpPr>
        <p:spPr>
          <a:xfrm>
            <a:off x="548640" y="3931920"/>
            <a:ext cx="11247120" cy="548640"/>
          </a:xfrm>
          <a:prstGeom prst="rect">
            <a:avLst/>
          </a:prstGeom>
          <a:noFill/>
        </p:spPr>
        <p:txBody>
          <a:bodyPr wrap="square" lIns="45720" rIns="45720" tIns="18288" bIns="18288">
            <a:spAutoFit/>
          </a:bodyPr>
          <a:lstStyle/>
          <a:p>
            <a:pPr algn="l"/>
            <a:r>
              <a:rPr sz="1100" b="0">
                <a:solidFill>
                  <a:srgbClr val="F2F4FA"/>
                </a:solidFill>
                <a:latin typeface="Calibri"/>
              </a:rPr>
              <a:t>[5]  Medina, A. et al. (2018). Cooperative Intersection Control Based on Virtual Platooning. IEEE Trans. Intelligent Transportation Systems.</a:t>
            </a:r>
          </a:p>
        </p:txBody>
      </p:sp>
      <p:sp>
        <p:nvSpPr>
          <p:cNvPr id="13" name="TextBox 12"/>
          <p:cNvSpPr txBox="1"/>
          <p:nvPr/>
        </p:nvSpPr>
        <p:spPr>
          <a:xfrm>
            <a:off x="548640" y="4434840"/>
            <a:ext cx="11247120" cy="548640"/>
          </a:xfrm>
          <a:prstGeom prst="rect">
            <a:avLst/>
          </a:prstGeom>
          <a:noFill/>
        </p:spPr>
        <p:txBody>
          <a:bodyPr wrap="square" lIns="45720" rIns="45720" tIns="18288" bIns="18288">
            <a:spAutoFit/>
          </a:bodyPr>
          <a:lstStyle/>
          <a:p>
            <a:pPr algn="l"/>
            <a:r>
              <a:rPr sz="1100" b="0">
                <a:solidFill>
                  <a:srgbClr val="F2F4FA"/>
                </a:solidFill>
                <a:latin typeface="Calibri"/>
              </a:rPr>
              <a:t>[6]  Stern, R. et al. (2019). Multi-Agent Path Finding: Definitions, Variants, Benchmarks. SoCS.</a:t>
            </a:r>
          </a:p>
        </p:txBody>
      </p:sp>
      <p:sp>
        <p:nvSpPr>
          <p:cNvPr id="14" name="TextBox 13"/>
          <p:cNvSpPr txBox="1"/>
          <p:nvPr/>
        </p:nvSpPr>
        <p:spPr>
          <a:xfrm>
            <a:off x="548640" y="4937760"/>
            <a:ext cx="11247120" cy="548640"/>
          </a:xfrm>
          <a:prstGeom prst="rect">
            <a:avLst/>
          </a:prstGeom>
          <a:noFill/>
        </p:spPr>
        <p:txBody>
          <a:bodyPr wrap="square" lIns="45720" rIns="45720" tIns="18288" bIns="18288">
            <a:spAutoFit/>
          </a:bodyPr>
          <a:lstStyle/>
          <a:p>
            <a:pPr algn="l"/>
            <a:r>
              <a:rPr sz="1100" b="0">
                <a:solidFill>
                  <a:srgbClr val="F2F4FA"/>
                </a:solidFill>
                <a:latin typeface="Calibri"/>
              </a:rPr>
              <a:t>[7]  MACPO — Multi-Agent Constrained Policy Optimization (IEEE 2023).</a:t>
            </a:r>
          </a:p>
        </p:txBody>
      </p:sp>
      <p:sp>
        <p:nvSpPr>
          <p:cNvPr id="15" name="TextBox 14"/>
          <p:cNvSpPr txBox="1"/>
          <p:nvPr/>
        </p:nvSpPr>
        <p:spPr>
          <a:xfrm>
            <a:off x="548640" y="5440680"/>
            <a:ext cx="11247120" cy="548640"/>
          </a:xfrm>
          <a:prstGeom prst="rect">
            <a:avLst/>
          </a:prstGeom>
          <a:noFill/>
        </p:spPr>
        <p:txBody>
          <a:bodyPr wrap="square" lIns="45720" rIns="45720" tIns="18288" bIns="18288">
            <a:spAutoFit/>
          </a:bodyPr>
          <a:lstStyle/>
          <a:p>
            <a:pPr algn="l"/>
            <a:r>
              <a:rPr sz="1100" b="0">
                <a:solidFill>
                  <a:srgbClr val="F2F4FA"/>
                </a:solidFill>
                <a:latin typeface="Calibri"/>
              </a:rPr>
              <a:t>[8]  Treiber, M., Kesting, A. (2025). Twenty-Five Years of the Intelligent Driver Model. arXiv 2506.05909.</a:t>
            </a:r>
          </a:p>
        </p:txBody>
      </p:sp>
      <p:sp>
        <p:nvSpPr>
          <p:cNvPr id="16" name="TextBox 15"/>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CONCLUSION · 5.4</a:t>
            </a:r>
          </a:p>
        </p:txBody>
      </p:sp>
      <p:sp>
        <p:nvSpPr>
          <p:cNvPr id="17" name="TextBox 16"/>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64 / 66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292608"/>
          </a:xfrm>
          <a:prstGeom prst="rect">
            <a:avLst/>
          </a:prstGeom>
          <a:noFill/>
        </p:spPr>
        <p:txBody>
          <a:bodyPr wrap="square" lIns="45720" rIns="45720" tIns="18288" bIns="18288">
            <a:spAutoFit/>
          </a:bodyPr>
          <a:lstStyle/>
          <a:p>
            <a:pPr algn="l"/>
            <a:r>
              <a:rPr sz="1100" b="1">
                <a:solidFill>
                  <a:srgbClr val="3D9DF3"/>
                </a:solidFill>
                <a:latin typeface="Calibri"/>
              </a:rPr>
              <a:t>CONCLUSION · 5.5</a:t>
            </a:r>
          </a:p>
        </p:txBody>
      </p:sp>
      <p:sp>
        <p:nvSpPr>
          <p:cNvPr id="5" name="TextBox 4"/>
          <p:cNvSpPr txBox="1"/>
          <p:nvPr/>
        </p:nvSpPr>
        <p:spPr>
          <a:xfrm>
            <a:off x="365760" y="502920"/>
            <a:ext cx="11430000" cy="777240"/>
          </a:xfrm>
          <a:prstGeom prst="rect">
            <a:avLst/>
          </a:prstGeom>
          <a:noFill/>
        </p:spPr>
        <p:txBody>
          <a:bodyPr wrap="square" lIns="45720" rIns="45720" tIns="18288" bIns="18288">
            <a:spAutoFit/>
          </a:bodyPr>
          <a:lstStyle/>
          <a:p>
            <a:pPr algn="l"/>
            <a:r>
              <a:rPr sz="3000" b="1">
                <a:solidFill>
                  <a:srgbClr val="F2F4FA"/>
                </a:solidFill>
                <a:latin typeface="Calibri"/>
              </a:rPr>
              <a:t>Démonstration live</a:t>
            </a:r>
          </a:p>
        </p:txBody>
      </p:sp>
      <p:sp>
        <p:nvSpPr>
          <p:cNvPr id="6" name="TextBox 5"/>
          <p:cNvSpPr txBox="1"/>
          <p:nvPr/>
        </p:nvSpPr>
        <p:spPr>
          <a:xfrm>
            <a:off x="365760" y="1207008"/>
            <a:ext cx="11430000" cy="411480"/>
          </a:xfrm>
          <a:prstGeom prst="rect">
            <a:avLst/>
          </a:prstGeom>
          <a:noFill/>
        </p:spPr>
        <p:txBody>
          <a:bodyPr wrap="square" lIns="45720" rIns="45720" tIns="18288" bIns="18288">
            <a:spAutoFit/>
          </a:bodyPr>
          <a:lstStyle/>
          <a:p>
            <a:pPr algn="l"/>
            <a:r>
              <a:rPr sz="1500" b="0">
                <a:solidFill>
                  <a:srgbClr val="8A90A8"/>
                </a:solidFill>
                <a:latin typeface="Calibri"/>
              </a:rPr>
              <a:t>Ce qu'on va voir tourner</a:t>
            </a:r>
          </a:p>
        </p:txBody>
      </p:sp>
      <p:sp>
        <p:nvSpPr>
          <p:cNvPr id="7" name="Rectangle 6"/>
          <p:cNvSpPr/>
          <p:nvPr/>
        </p:nvSpPr>
        <p:spPr>
          <a:xfrm>
            <a:off x="365760" y="1691640"/>
            <a:ext cx="11430000" cy="20000"/>
          </a:xfrm>
          <a:prstGeom prst="rect">
            <a:avLst/>
          </a:prstGeom>
          <a:solidFill>
            <a:srgbClr val="3D9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11247120" cy="4114800"/>
          </a:xfrm>
          <a:prstGeom prst="rect">
            <a:avLst/>
          </a:prstGeom>
          <a:noFill/>
        </p:spPr>
        <p:txBody>
          <a:bodyPr wrap="square">
            <a:spAutoFit/>
          </a:bodyPr>
          <a:lstStyle/>
          <a:p>
            <a:pPr algn="l">
              <a:spcAft>
                <a:spcPts val="400"/>
              </a:spcAft>
            </a:pPr>
            <a:r>
              <a:rPr sz="1400">
                <a:solidFill>
                  <a:srgbClr val="F2F4FA"/>
                </a:solidFill>
                <a:latin typeface="Calibri"/>
              </a:rPr>
              <a:t>•  Carrefour 4 branches : swap STOP → P2P → AIM → ORCA en direct.</a:t>
            </a:r>
          </a:p>
          <a:p>
            <a:pPr algn="l">
              <a:spcAft>
                <a:spcPts val="400"/>
              </a:spcAft>
            </a:pPr>
            <a:r>
              <a:rPr sz="1400">
                <a:solidFill>
                  <a:srgbClr val="F2F4FA"/>
                </a:solidFill>
                <a:latin typeface="Calibri"/>
              </a:rPr>
              <a:t>•  Rond-point 8 véhicules : démonstration priorité absolue à l'anneau.</a:t>
            </a:r>
          </a:p>
          <a:p>
            <a:pPr algn="l">
              <a:spcAft>
                <a:spcPts val="400"/>
              </a:spcAft>
            </a:pPr>
            <a:r>
              <a:rPr sz="1400">
                <a:solidFill>
                  <a:srgbClr val="F2F4FA"/>
                </a:solidFill>
                <a:latin typeface="Calibri"/>
              </a:rPr>
              <a:t>•  Mode build : édition de map + recalculatePath() en live.</a:t>
            </a:r>
          </a:p>
          <a:p>
            <a:pPr algn="l">
              <a:spcAft>
                <a:spcPts val="400"/>
              </a:spcAft>
            </a:pPr>
            <a:r>
              <a:rPr sz="1400">
                <a:solidFill>
                  <a:srgbClr val="F2F4FA"/>
                </a:solidFill>
                <a:latin typeface="Calibri"/>
              </a:rPr>
              <a:t>•  Monte-Carlo live : injection stochastique, dashboard métriques à droite.</a:t>
            </a:r>
          </a:p>
          <a:p>
            <a:pPr algn="l">
              <a:spcAft>
                <a:spcPts val="400"/>
              </a:spcAft>
            </a:pPr>
            <a:r>
              <a:rPr sz="1400">
                <a:solidFill>
                  <a:srgbClr val="F2F4FA"/>
                </a:solidFill>
                <a:latin typeface="Calibri"/>
              </a:rPr>
              <a:t>•  Diagnostic CSV PAUSE : isoler une chaîne de blocage.</a:t>
            </a:r>
          </a:p>
          <a:p>
            <a:pPr algn="l">
              <a:spcAft>
                <a:spcPts val="400"/>
              </a:spcAft>
            </a:pPr>
            <a:r>
              <a:rPr sz="1400">
                <a:solidFill>
                  <a:srgbClr val="F2F4FA"/>
                </a:solidFill>
                <a:latin typeface="Calibri"/>
              </a:rPr>
              <a:t>•  Overlay décisions : couleurs comportementales en temps réel.</a:t>
            </a:r>
          </a:p>
        </p:txBody>
      </p:sp>
      <p:sp>
        <p:nvSpPr>
          <p:cNvPr id="9" name="Rectangle 8"/>
          <p:cNvSpPr/>
          <p:nvPr/>
        </p:nvSpPr>
        <p:spPr>
          <a:xfrm>
            <a:off x="548640" y="5212080"/>
            <a:ext cx="11247120" cy="1325880"/>
          </a:xfrm>
          <a:prstGeom prst="rect">
            <a:avLst/>
          </a:prstGeom>
          <a:solidFill>
            <a:srgbClr val="242A3C"/>
          </a:solidFill>
          <a:ln w="15240">
            <a:solidFill>
              <a:srgbClr val="3D9DF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646420"/>
            <a:ext cx="11247120" cy="457200"/>
          </a:xfrm>
          <a:prstGeom prst="rect">
            <a:avLst/>
          </a:prstGeom>
          <a:noFill/>
        </p:spPr>
        <p:txBody>
          <a:bodyPr wrap="square" lIns="45720" rIns="45720" tIns="18288" bIns="18288">
            <a:spAutoFit/>
          </a:bodyPr>
          <a:lstStyle/>
          <a:p>
            <a:pPr algn="ctr"/>
            <a:r>
              <a:rPr sz="1300" b="1">
                <a:solidFill>
                  <a:srgbClr val="3D9DF3"/>
                </a:solidFill>
                <a:latin typeface="Calibri"/>
              </a:rPr>
              <a:t>[ Capture : dashboard complet + overlay décisions ]</a:t>
            </a:r>
          </a:p>
        </p:txBody>
      </p:sp>
      <p:sp>
        <p:nvSpPr>
          <p:cNvPr id="11" name="TextBox 10"/>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CONCLUSION · 5.5</a:t>
            </a:r>
          </a:p>
        </p:txBody>
      </p:sp>
      <p:sp>
        <p:nvSpPr>
          <p:cNvPr id="12" name="TextBox 11"/>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65 / 66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0"/>
            <a:ext cx="10972800" cy="1371600"/>
          </a:xfrm>
          <a:prstGeom prst="rect">
            <a:avLst/>
          </a:prstGeom>
          <a:noFill/>
        </p:spPr>
        <p:txBody>
          <a:bodyPr wrap="square" lIns="45720" rIns="45720" tIns="18288" bIns="18288">
            <a:spAutoFit/>
          </a:bodyPr>
          <a:lstStyle/>
          <a:p>
            <a:pPr algn="ctr"/>
            <a:r>
              <a:rPr sz="8000" b="1">
                <a:solidFill>
                  <a:srgbClr val="F2F4FA"/>
                </a:solidFill>
                <a:latin typeface="Calibri"/>
              </a:rPr>
              <a:t>Merci.</a:t>
            </a:r>
          </a:p>
        </p:txBody>
      </p:sp>
      <p:sp>
        <p:nvSpPr>
          <p:cNvPr id="4" name="TextBox 3"/>
          <p:cNvSpPr txBox="1"/>
          <p:nvPr/>
        </p:nvSpPr>
        <p:spPr>
          <a:xfrm>
            <a:off x="548640" y="3840480"/>
            <a:ext cx="10972800" cy="731520"/>
          </a:xfrm>
          <a:prstGeom prst="rect">
            <a:avLst/>
          </a:prstGeom>
          <a:noFill/>
        </p:spPr>
        <p:txBody>
          <a:bodyPr wrap="square" lIns="45720" rIns="45720" tIns="18288" bIns="18288">
            <a:spAutoFit/>
          </a:bodyPr>
          <a:lstStyle/>
          <a:p>
            <a:pPr algn="ctr"/>
            <a:r>
              <a:rPr sz="3600" b="0">
                <a:solidFill>
                  <a:srgbClr val="3D9DF3"/>
                </a:solidFill>
                <a:latin typeface="Calibri"/>
              </a:rPr>
              <a:t>Questions ?</a:t>
            </a:r>
          </a:p>
        </p:txBody>
      </p:sp>
      <p:sp>
        <p:nvSpPr>
          <p:cNvPr id="5" name="TextBox 4"/>
          <p:cNvSpPr txBox="1"/>
          <p:nvPr/>
        </p:nvSpPr>
        <p:spPr>
          <a:xfrm>
            <a:off x="548640" y="4754880"/>
            <a:ext cx="10972800" cy="457200"/>
          </a:xfrm>
          <a:prstGeom prst="rect">
            <a:avLst/>
          </a:prstGeom>
          <a:noFill/>
        </p:spPr>
        <p:txBody>
          <a:bodyPr wrap="square" lIns="45720" rIns="45720" tIns="18288" bIns="18288">
            <a:spAutoFit/>
          </a:bodyPr>
          <a:lstStyle/>
          <a:p>
            <a:pPr algn="ctr"/>
            <a:r>
              <a:rPr sz="1400" b="0">
                <a:solidFill>
                  <a:srgbClr val="8A90A8"/>
                </a:solidFill>
                <a:latin typeface="Calibri"/>
              </a:rPr>
              <a:t>TrafficSimulation MAS · 2026</a:t>
            </a:r>
          </a:p>
        </p:txBody>
      </p:sp>
      <p:sp>
        <p:nvSpPr>
          <p:cNvPr id="6" name="TextBox 5"/>
          <p:cNvSpPr txBox="1"/>
          <p:nvPr/>
        </p:nvSpPr>
        <p:spPr>
          <a:xfrm>
            <a:off x="365760" y="6537960"/>
            <a:ext cx="5486400" cy="274320"/>
          </a:xfrm>
          <a:prstGeom prst="rect">
            <a:avLst/>
          </a:prstGeom>
          <a:noFill/>
        </p:spPr>
        <p:txBody>
          <a:bodyPr wrap="square" lIns="45720" rIns="45720" tIns="18288" bIns="18288">
            <a:spAutoFit/>
          </a:bodyPr>
          <a:lstStyle/>
          <a:p>
            <a:pPr algn="l"/>
            <a:r>
              <a:rPr sz="900" b="0">
                <a:solidFill>
                  <a:srgbClr val="8A90A8"/>
                </a:solidFill>
                <a:latin typeface="Calibri"/>
              </a:rPr>
              <a:t>TrafficSimulation MAS · Q&amp;A</a:t>
            </a:r>
          </a:p>
        </p:txBody>
      </p:sp>
      <p:sp>
        <p:nvSpPr>
          <p:cNvPr id="7" name="TextBox 6"/>
          <p:cNvSpPr txBox="1"/>
          <p:nvPr/>
        </p:nvSpPr>
        <p:spPr>
          <a:xfrm>
            <a:off x="11094415" y="6537960"/>
            <a:ext cx="731520" cy="274320"/>
          </a:xfrm>
          <a:prstGeom prst="rect">
            <a:avLst/>
          </a:prstGeom>
          <a:noFill/>
        </p:spPr>
        <p:txBody>
          <a:bodyPr wrap="square" lIns="45720" rIns="45720" tIns="18288" bIns="18288">
            <a:spAutoFit/>
          </a:bodyPr>
          <a:lstStyle/>
          <a:p>
            <a:pPr algn="r"/>
            <a:r>
              <a:rPr sz="900" b="0">
                <a:solidFill>
                  <a:srgbClr val="8A90A8"/>
                </a:solidFill>
                <a:latin typeface="Calibri"/>
              </a:rPr>
              <a:t>66 / 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