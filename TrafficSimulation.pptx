
<file path=[Content_Types].xml><?xml version="1.0" encoding="utf-8"?>
<Types xmlns="http://schemas.openxmlformats.org/package/2006/content-types">
  <Default Extension="fntdata" ContentType="application/x-fontdata"/>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7" r:id="rId1"/>
  </p:sldMasterIdLst>
  <p:notesMasterIdLst>
    <p:notesMasterId r:id="rId22"/>
  </p:notesMasterIdLst>
  <p:handoutMasterIdLst>
    <p:handoutMasterId r:id="rId23"/>
  </p:handoutMasterIdLst>
  <p:sldIdLst>
    <p:sldId id="256" r:id="rId2"/>
    <p:sldId id="258" r:id="rId3"/>
    <p:sldId id="259" r:id="rId4"/>
    <p:sldId id="272" r:id="rId5"/>
    <p:sldId id="273" r:id="rId6"/>
    <p:sldId id="274" r:id="rId7"/>
    <p:sldId id="275" r:id="rId8"/>
    <p:sldId id="260" r:id="rId9"/>
    <p:sldId id="261" r:id="rId10"/>
    <p:sldId id="263" r:id="rId11"/>
    <p:sldId id="264" r:id="rId12"/>
    <p:sldId id="276" r:id="rId13"/>
    <p:sldId id="277" r:id="rId14"/>
    <p:sldId id="266" r:id="rId15"/>
    <p:sldId id="267" r:id="rId16"/>
    <p:sldId id="268" r:id="rId17"/>
    <p:sldId id="280" r:id="rId18"/>
    <p:sldId id="278" r:id="rId19"/>
    <p:sldId id="279" r:id="rId20"/>
    <p:sldId id="271" r:id="rId21"/>
  </p:sldIdLst>
  <p:sldSz cx="9144000" cy="5143500" type="screen16x9"/>
  <p:notesSz cx="6858000" cy="9144000"/>
  <p:embeddedFontLst>
    <p:embeddedFont>
      <p:font typeface="Abhaya Libre" panose="020B0604020202020204" charset="0"/>
      <p:regular r:id="rId24"/>
      <p:bold r:id="rId25"/>
    </p:embeddedFont>
    <p:embeddedFont>
      <p:font typeface="Chivo" panose="020B0604020202020204" charset="0"/>
      <p:regular r:id="rId26"/>
      <p:bold r:id="rId27"/>
      <p:italic r:id="rId28"/>
      <p:boldItalic r:id="rId29"/>
    </p:embeddedFont>
    <p:embeddedFont>
      <p:font typeface="Fredoka One" panose="02000000000000000000" pitchFamily="2" charset="0"/>
      <p:regular r:id="rId30"/>
    </p:embeddedFont>
    <p:embeddedFont>
      <p:font typeface="Palanquin Dark" panose="020B0604020202020204" charset="0"/>
      <p:regular r:id="rId31"/>
      <p:bold r:id="rId32"/>
    </p:embeddedFont>
    <p:embeddedFont>
      <p:font typeface="Poppins" panose="00000500000000000000" pitchFamily="2" charset="0"/>
      <p:regular r:id="rId33"/>
      <p:bold r:id="rId34"/>
      <p:italic r:id="rId35"/>
      <p:boldItalic r:id="rId36"/>
    </p:embeddedFont>
    <p:embeddedFont>
      <p:font typeface="Roboto Condensed Light" panose="02000000000000000000" pitchFamily="2"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6C70FA5-060A-427F-A934-83C82688F7A2}">
  <a:tblStyle styleId="{66C70FA5-060A-427F-A934-83C82688F7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092" autoAdjust="0"/>
  </p:normalViewPr>
  <p:slideViewPr>
    <p:cSldViewPr snapToGrid="0">
      <p:cViewPr varScale="1">
        <p:scale>
          <a:sx n="89" d="100"/>
          <a:sy n="89" d="100"/>
        </p:scale>
        <p:origin x="39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E47DD8F-F97D-09CF-DB02-CCE014853E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31C82777-57E8-78A4-5137-C414FC096AD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C0578D-2FB7-43ED-8981-3704701445E2}" type="datetimeFigureOut">
              <a:rPr lang="fr-FR" smtClean="0"/>
              <a:t>29/05/2026</a:t>
            </a:fld>
            <a:endParaRPr lang="fr-FR"/>
          </a:p>
        </p:txBody>
      </p:sp>
      <p:sp>
        <p:nvSpPr>
          <p:cNvPr id="4" name="Espace réservé du pied de page 3">
            <a:extLst>
              <a:ext uri="{FF2B5EF4-FFF2-40B4-BE49-F238E27FC236}">
                <a16:creationId xmlns:a16="http://schemas.microsoft.com/office/drawing/2014/main" id="{E2B44850-98AF-D117-9077-C14F3147095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9905D3A3-000E-B6D3-A83E-9AB53E5926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B1E622-5302-4D61-A948-9B9FF83B6912}" type="slidenum">
              <a:rPr lang="fr-FR" smtClean="0"/>
              <a:t>‹N°›</a:t>
            </a:fld>
            <a:endParaRPr lang="fr-FR"/>
          </a:p>
        </p:txBody>
      </p:sp>
    </p:spTree>
    <p:extLst>
      <p:ext uri="{BB962C8B-B14F-4D97-AF65-F5344CB8AC3E}">
        <p14:creationId xmlns:p14="http://schemas.microsoft.com/office/powerpoint/2010/main" val="33789749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Bonjour à tous. Je vous présente aujourd'hui les résultats de mon travail de recherche et développement sur la simulation de trafic multi-agents. L'objectif de ce projet était de dépasser le simple simulateur préprogrammé pour concevoir une véritable Preuve de Technologie scientifique.</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5207a17831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5207a178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152a7caf94b_1_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152a7caf94b_1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J’ai reformulé la problématique autour d’une comparaison mesurable. Le sujet n’est pas simplement de faire bouger des voitures, mais d’observer comment des règles locales produisent des effets globaux : files d’attente, fluidité, collisions potentielles ou blocages. La priorité fixe sert de référence simple. La négociation locale représente une approche plus distribuée, plus proche des systèmes multi-agents.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a:extLst>
            <a:ext uri="{FF2B5EF4-FFF2-40B4-BE49-F238E27FC236}">
              <a16:creationId xmlns:a16="http://schemas.microsoft.com/office/drawing/2014/main" id="{B196A9F8-7CA7-DB8F-DA0D-CC24C65DC9D1}"/>
            </a:ext>
          </a:extLst>
        </p:cNvPr>
        <p:cNvGrpSpPr/>
        <p:nvPr/>
      </p:nvGrpSpPr>
      <p:grpSpPr>
        <a:xfrm>
          <a:off x="0" y="0"/>
          <a:ext cx="0" cy="0"/>
          <a:chOff x="0" y="0"/>
          <a:chExt cx="0" cy="0"/>
        </a:xfrm>
      </p:grpSpPr>
      <p:sp>
        <p:nvSpPr>
          <p:cNvPr id="388" name="Google Shape;388;g152a7caf94b_1_413:notes">
            <a:extLst>
              <a:ext uri="{FF2B5EF4-FFF2-40B4-BE49-F238E27FC236}">
                <a16:creationId xmlns:a16="http://schemas.microsoft.com/office/drawing/2014/main" id="{FD06C6A1-69A8-1EF7-1486-02A56B68ED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152a7caf94b_1_413:notes">
            <a:extLst>
              <a:ext uri="{FF2B5EF4-FFF2-40B4-BE49-F238E27FC236}">
                <a16:creationId xmlns:a16="http://schemas.microsoft.com/office/drawing/2014/main" id="{497FB39C-F649-D17C-6300-55F7070C94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4837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a:extLst>
            <a:ext uri="{FF2B5EF4-FFF2-40B4-BE49-F238E27FC236}">
              <a16:creationId xmlns:a16="http://schemas.microsoft.com/office/drawing/2014/main" id="{4FE0337E-712C-342F-63A7-3F0BA7800506}"/>
            </a:ext>
          </a:extLst>
        </p:cNvPr>
        <p:cNvGrpSpPr/>
        <p:nvPr/>
      </p:nvGrpSpPr>
      <p:grpSpPr>
        <a:xfrm>
          <a:off x="0" y="0"/>
          <a:ext cx="0" cy="0"/>
          <a:chOff x="0" y="0"/>
          <a:chExt cx="0" cy="0"/>
        </a:xfrm>
      </p:grpSpPr>
      <p:sp>
        <p:nvSpPr>
          <p:cNvPr id="388" name="Google Shape;388;g152a7caf94b_1_413:notes">
            <a:extLst>
              <a:ext uri="{FF2B5EF4-FFF2-40B4-BE49-F238E27FC236}">
                <a16:creationId xmlns:a16="http://schemas.microsoft.com/office/drawing/2014/main" id="{7E44828D-E17C-5A68-F3BD-D7C6DEA96B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152a7caf94b_1_413:notes">
            <a:extLst>
              <a:ext uri="{FF2B5EF4-FFF2-40B4-BE49-F238E27FC236}">
                <a16:creationId xmlns:a16="http://schemas.microsoft.com/office/drawing/2014/main" id="{3F0F58A8-25D6-EC2F-80E9-35F0E94112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La démarche est celle d’une preuve de technologie. Le prototype n’a pas vocation à être complet ou industriel. Il sert à expérimenter une hypothèse : est-ce que des stratégies de coordination différentes produisent des comportements mesurables différents ? Pour cela, il faut un moteur d’agents, des règles interchangeables et des métriques objectives.</a:t>
            </a:r>
            <a:endParaRPr dirty="0"/>
          </a:p>
        </p:txBody>
      </p:sp>
    </p:spTree>
    <p:extLst>
      <p:ext uri="{BB962C8B-B14F-4D97-AF65-F5344CB8AC3E}">
        <p14:creationId xmlns:p14="http://schemas.microsoft.com/office/powerpoint/2010/main" val="1212368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a:extLst>
            <a:ext uri="{FF2B5EF4-FFF2-40B4-BE49-F238E27FC236}">
              <a16:creationId xmlns:a16="http://schemas.microsoft.com/office/drawing/2014/main" id="{8BFA5603-43BE-F759-8766-D8302457C382}"/>
            </a:ext>
          </a:extLst>
        </p:cNvPr>
        <p:cNvGrpSpPr/>
        <p:nvPr/>
      </p:nvGrpSpPr>
      <p:grpSpPr>
        <a:xfrm>
          <a:off x="0" y="0"/>
          <a:ext cx="0" cy="0"/>
          <a:chOff x="0" y="0"/>
          <a:chExt cx="0" cy="0"/>
        </a:xfrm>
      </p:grpSpPr>
      <p:sp>
        <p:nvSpPr>
          <p:cNvPr id="388" name="Google Shape;388;g152a7caf94b_1_413:notes">
            <a:extLst>
              <a:ext uri="{FF2B5EF4-FFF2-40B4-BE49-F238E27FC236}">
                <a16:creationId xmlns:a16="http://schemas.microsoft.com/office/drawing/2014/main" id="{C964E109-6F55-E960-20DC-B029FDABED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152a7caf94b_1_413:notes">
            <a:extLst>
              <a:ext uri="{FF2B5EF4-FFF2-40B4-BE49-F238E27FC236}">
                <a16:creationId xmlns:a16="http://schemas.microsoft.com/office/drawing/2014/main" id="{FC76F190-1956-3481-C5B7-D7732C1BB2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L’état de l’art montre trois grandes familles. Les régulations classiques sont simples et robustes, mais peu adaptatives. Les approches centralisées, comme AIM, utilisent un gestionnaire de carrefour qui attribue les passages. Les approches décentralisées, comme P2P ou ORCA, laissent les agents décider localement. C’est cette troisième famille qui correspond le mieux au cœur scientifique du sujet, mais c’est aussi la plus difficile à stabiliser.</a:t>
            </a:r>
            <a:endParaRPr dirty="0"/>
          </a:p>
        </p:txBody>
      </p:sp>
    </p:spTree>
    <p:extLst>
      <p:ext uri="{BB962C8B-B14F-4D97-AF65-F5344CB8AC3E}">
        <p14:creationId xmlns:p14="http://schemas.microsoft.com/office/powerpoint/2010/main" val="3793922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a:extLst>
            <a:ext uri="{FF2B5EF4-FFF2-40B4-BE49-F238E27FC236}">
              <a16:creationId xmlns:a16="http://schemas.microsoft.com/office/drawing/2014/main" id="{93CD7299-A71B-F357-48FE-8EC79D2F4321}"/>
            </a:ext>
          </a:extLst>
        </p:cNvPr>
        <p:cNvGrpSpPr/>
        <p:nvPr/>
      </p:nvGrpSpPr>
      <p:grpSpPr>
        <a:xfrm>
          <a:off x="0" y="0"/>
          <a:ext cx="0" cy="0"/>
          <a:chOff x="0" y="0"/>
          <a:chExt cx="0" cy="0"/>
        </a:xfrm>
      </p:grpSpPr>
      <p:sp>
        <p:nvSpPr>
          <p:cNvPr id="388" name="Google Shape;388;g152a7caf94b_1_413:notes">
            <a:extLst>
              <a:ext uri="{FF2B5EF4-FFF2-40B4-BE49-F238E27FC236}">
                <a16:creationId xmlns:a16="http://schemas.microsoft.com/office/drawing/2014/main" id="{13C38B6C-776F-9506-176F-505268F0A5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152a7caf94b_1_413:notes">
            <a:extLst>
              <a:ext uri="{FF2B5EF4-FFF2-40B4-BE49-F238E27FC236}">
                <a16:creationId xmlns:a16="http://schemas.microsoft.com/office/drawing/2014/main" id="{FDBA2805-B4B7-AC63-CB2F-476974D926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J’ai identifié plusieurs familles de solutions. Le choix final est pragmatique : conserver les règles classiques pour avoir des références compréhensibles, implémenter la priorité fixe comme </a:t>
            </a:r>
            <a:r>
              <a:rPr lang="fr-FR" dirty="0" err="1"/>
              <a:t>baseline</a:t>
            </a:r>
            <a:r>
              <a:rPr lang="fr-FR" dirty="0"/>
              <a:t>, et intégrer la négociation locale comme approche multi-agents. AIM, ORCA, Virtual </a:t>
            </a:r>
            <a:r>
              <a:rPr lang="fr-FR" dirty="0" err="1"/>
              <a:t>Platooning</a:t>
            </a:r>
            <a:r>
              <a:rPr lang="fr-FR" dirty="0"/>
              <a:t> et MARL sont pertinents scientifiquement, mais trop ambitieux pour être le cœur du prototype sur deux semaines.</a:t>
            </a:r>
            <a:endParaRPr dirty="0"/>
          </a:p>
        </p:txBody>
      </p:sp>
    </p:spTree>
    <p:extLst>
      <p:ext uri="{BB962C8B-B14F-4D97-AF65-F5344CB8AC3E}">
        <p14:creationId xmlns:p14="http://schemas.microsoft.com/office/powerpoint/2010/main" val="4274987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152a7caf94b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152a7caf94b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Pour qu'une simulation soit valide, la cinématique doit être continue. J’ai donc implémenté l'Intelligent Driver Model (IDM) de Treiber et Helbing. Ce modèle différentiel calcule l'accélération en temps réel pour maintenir un écart dynamique de sécurité, évitant les freinages irréalistes. Toute l'astuce de notre architecture réside ici : un panneau STOP ou un refus de priorité n'est pas un simple "if/</a:t>
            </a:r>
            <a:r>
              <a:rPr lang="fr-FR" dirty="0" err="1"/>
              <a:t>else</a:t>
            </a:r>
            <a:r>
              <a:rPr lang="fr-FR" dirty="0"/>
              <a:t>" imposant une vitesse nulle. Le système projette un </a:t>
            </a:r>
            <a:r>
              <a:rPr lang="fr-FR" i="1" dirty="0"/>
              <a:t>leader virtuel</a:t>
            </a:r>
            <a:r>
              <a:rPr lang="fr-FR" dirty="0"/>
              <a:t> à l'arrêt sur la ligne d'intersection. L'IDM calcule alors naturellement la courbe de freinage asymptotique parfaite.</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52a7caf94b_1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152a7caf94b_1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La reproductibilité scientifique exige un déterminisme absolu. Notre architecture est cadencée à 60 Hz avec un pas de temps fixe décorrélé de l'affichage. Nous avons mis en place un pipeline strict en deux phases : la phase de décision, où chaque agent lit l'état du monde simultanément (parfaitement </a:t>
            </a:r>
            <a:r>
              <a:rPr lang="fr-FR" dirty="0" err="1"/>
              <a:t>parallélisable</a:t>
            </a:r>
            <a:r>
              <a:rPr lang="fr-FR" dirty="0"/>
              <a:t> sur plusieurs cœurs), et la phase d'intégration, purement séquentielle, où chaque agent met à jour ses coordonnées spatiales via une intégration d'Euler. Cela éradique par construction toute </a:t>
            </a:r>
            <a:r>
              <a:rPr lang="fr-FR" i="1" dirty="0"/>
              <a:t>race condition</a:t>
            </a:r>
            <a:r>
              <a:rPr lang="fr-FR" dirty="0"/>
              <a:t> ou biais lié à l'ordre de calcul des véhicules.</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152a7caf94b_1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152a7caf94b_1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Ce pipeline est essentiel. Si les véhicules modifient leur position pendant que les autres décident, alors les décisions dépendent de l’ordre de calcul. Avec </a:t>
            </a:r>
            <a:r>
              <a:rPr lang="fr-FR" dirty="0" err="1"/>
              <a:t>compute</a:t>
            </a:r>
            <a:r>
              <a:rPr lang="fr-FR" dirty="0"/>
              <a:t> </a:t>
            </a:r>
            <a:r>
              <a:rPr lang="fr-FR" dirty="0" err="1"/>
              <a:t>then</a:t>
            </a:r>
            <a:r>
              <a:rPr lang="fr-FR" dirty="0"/>
              <a:t> </a:t>
            </a:r>
            <a:r>
              <a:rPr lang="fr-FR" dirty="0" err="1"/>
              <a:t>apply</a:t>
            </a:r>
            <a:r>
              <a:rPr lang="fr-FR" dirty="0"/>
              <a:t>, tous les agents raisonnent sur le même snapshot. C’est plus cohérent pour une simulation scientifique et plus robuste techniquement.</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152a7caf94b_1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152a7caf94b_1_4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Nos agents ont une vision strictement locale. Un défi majeur des simulateurs est le 'Ghost-</a:t>
            </a:r>
            <a:r>
              <a:rPr lang="fr-FR" dirty="0" err="1"/>
              <a:t>following</a:t>
            </a:r>
            <a:r>
              <a:rPr lang="fr-FR" dirty="0"/>
              <a:t>' : un agent freine à cause d'un véhicule roulant en sens inverse dans un virage. Le </a:t>
            </a:r>
            <a:r>
              <a:rPr lang="fr-FR" dirty="0" err="1"/>
              <a:t>raycasting</a:t>
            </a:r>
            <a:r>
              <a:rPr lang="fr-FR" dirty="0"/>
              <a:t> classique échoue ici. Nous l'avons éradiqué en utilisant une projection curviligne de Frenet. Chaque véhicule proche est mathématiquement projeté sur la ligne directrice 1D de l'agent. Tout véhicule présentant un écart latéral supérieur à 22 pixels (soit la largeur d'une </a:t>
            </a:r>
            <a:r>
              <a:rPr lang="fr-FR" dirty="0" err="1"/>
              <a:t>demi-voie</a:t>
            </a:r>
            <a:r>
              <a:rPr lang="fr-FR" dirty="0"/>
              <a:t>) est physiquement rejeté de l'équation.</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a:extLst>
            <a:ext uri="{FF2B5EF4-FFF2-40B4-BE49-F238E27FC236}">
              <a16:creationId xmlns:a16="http://schemas.microsoft.com/office/drawing/2014/main" id="{6209A0D8-F926-ECCA-2F65-319B879C3105}"/>
            </a:ext>
          </a:extLst>
        </p:cNvPr>
        <p:cNvGrpSpPr/>
        <p:nvPr/>
      </p:nvGrpSpPr>
      <p:grpSpPr>
        <a:xfrm>
          <a:off x="0" y="0"/>
          <a:ext cx="0" cy="0"/>
          <a:chOff x="0" y="0"/>
          <a:chExt cx="0" cy="0"/>
        </a:xfrm>
      </p:grpSpPr>
      <p:sp>
        <p:nvSpPr>
          <p:cNvPr id="513" name="Google Shape;513;g152a7caf94b_1_469:notes">
            <a:extLst>
              <a:ext uri="{FF2B5EF4-FFF2-40B4-BE49-F238E27FC236}">
                <a16:creationId xmlns:a16="http://schemas.microsoft.com/office/drawing/2014/main" id="{B30674E3-AB79-5612-60B2-0C89B625AB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152a7caf94b_1_469:notes">
            <a:extLst>
              <a:ext uri="{FF2B5EF4-FFF2-40B4-BE49-F238E27FC236}">
                <a16:creationId xmlns:a16="http://schemas.microsoft.com/office/drawing/2014/main" id="{7BD506E8-C506-027E-F7E6-6E298D278C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Les intersections classiques servent de base de comparaison. Elles sont importantes parce qu’elles sont compréhensibles et proches du code de la route. La priorité à droite et le cédez-le-passage reposent sur l’acceptation de créneau. Le stop ajoute une contrainte d’arrêt complet. Les feux introduisent une logique temporelle indépendante de la décision individuelle des agents.</a:t>
            </a:r>
          </a:p>
        </p:txBody>
      </p:sp>
    </p:spTree>
    <p:extLst>
      <p:ext uri="{BB962C8B-B14F-4D97-AF65-F5344CB8AC3E}">
        <p14:creationId xmlns:p14="http://schemas.microsoft.com/office/powerpoint/2010/main" val="1549202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a:extLst>
            <a:ext uri="{FF2B5EF4-FFF2-40B4-BE49-F238E27FC236}">
              <a16:creationId xmlns:a16="http://schemas.microsoft.com/office/drawing/2014/main" id="{0128BBF1-F4E6-E81B-5BA9-C587EC17B95F}"/>
            </a:ext>
          </a:extLst>
        </p:cNvPr>
        <p:cNvGrpSpPr/>
        <p:nvPr/>
      </p:nvGrpSpPr>
      <p:grpSpPr>
        <a:xfrm>
          <a:off x="0" y="0"/>
          <a:ext cx="0" cy="0"/>
          <a:chOff x="0" y="0"/>
          <a:chExt cx="0" cy="0"/>
        </a:xfrm>
      </p:grpSpPr>
      <p:sp>
        <p:nvSpPr>
          <p:cNvPr id="513" name="Google Shape;513;g152a7caf94b_1_469:notes">
            <a:extLst>
              <a:ext uri="{FF2B5EF4-FFF2-40B4-BE49-F238E27FC236}">
                <a16:creationId xmlns:a16="http://schemas.microsoft.com/office/drawing/2014/main" id="{7E7856DE-6A03-3849-7281-BD4CEB6B4F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152a7caf94b_1_469:notes">
            <a:extLst>
              <a:ext uri="{FF2B5EF4-FFF2-40B4-BE49-F238E27FC236}">
                <a16:creationId xmlns:a16="http://schemas.microsoft.com/office/drawing/2014/main" id="{5CA1F8C3-03CF-A824-D376-2AB860F767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Les intersections avancées sont plus proches de la recherche multi-agents. La priorité fixe sert de référence. P2P est l’approche la plus importante pour mon sujet, car elle repose sur une décision locale. AIM est intéressant, mais il introduit une autorité centrale. ORCA et Virtual </a:t>
            </a:r>
            <a:r>
              <a:rPr lang="fr-FR" dirty="0" err="1"/>
              <a:t>Platooning</a:t>
            </a:r>
            <a:r>
              <a:rPr lang="fr-FR" dirty="0"/>
              <a:t> sont prometteurs, mais demandent une stabilisation plus poussée que ce que permettait le périmètre du projet.</a:t>
            </a:r>
          </a:p>
        </p:txBody>
      </p:sp>
    </p:spTree>
    <p:extLst>
      <p:ext uri="{BB962C8B-B14F-4D97-AF65-F5344CB8AC3E}">
        <p14:creationId xmlns:p14="http://schemas.microsoft.com/office/powerpoint/2010/main" val="2857467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152a7caf94b_1_9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152a7caf94b_1_9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Le véhicule n’est pas seulement un point qui avance. Il possède plusieurs comportements microscopiques. En route libre, il accélère vers sa vitesse cible. En suivi, il utilise l’IDM. En virage, il ralentit. À l’intersection, il peut céder, s’arrêter, attendre, ou s’engager. Ces comportements se combinent et la contrainte la plus forte domine la décision finale.</a:t>
            </a:r>
          </a:p>
          <a:p>
            <a:pPr marL="0" lvl="0" indent="0" algn="l" rtl="0">
              <a:spcBef>
                <a:spcPts val="0"/>
              </a:spcBef>
              <a:spcAft>
                <a:spcPts val="0"/>
              </a:spcAft>
              <a:buNone/>
            </a:pPr>
            <a:r>
              <a:rPr lang="fr-FR" dirty="0"/>
              <a:t>La machine à états sert à rendre le comportement explicite. Un agent peut conduire normalement, négocier une intersection, attendre, puis s’engager. Le point important est le </a:t>
            </a:r>
            <a:r>
              <a:rPr lang="fr-FR" dirty="0" err="1"/>
              <a:t>committed</a:t>
            </a:r>
            <a:r>
              <a:rPr lang="fr-FR" dirty="0"/>
              <a:t> </a:t>
            </a:r>
            <a:r>
              <a:rPr lang="fr-FR" dirty="0" err="1"/>
              <a:t>traversal</a:t>
            </a:r>
            <a:r>
              <a:rPr lang="fr-FR" dirty="0"/>
              <a:t>. Une fois qu’un véhicule a franchi la ligne d’entrée, il ne doit pas changer brutalement de décision au centre du carrefour. Cela évite des comportements incohérents.</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152a7caf94b_1_1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4" name="Google Shape;634;g152a7caf94b_1_1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Les métriques permettent de sortir d’une évaluation visuelle. Une stratégie peut sembler fluide mais générer des situations dangereuses. Une autre peut être sûre mais bloquer trop souvent. Les métriques servent donc à comparer les approches de manière plus rigoureuse.</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52a7caf94b_1_1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52a7caf94b_1_1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Pour valider nos hypothèses, le simulateur bascule en mode '</a:t>
            </a:r>
            <a:r>
              <a:rPr lang="fr-FR" dirty="0" err="1"/>
              <a:t>Headless</a:t>
            </a:r>
            <a:r>
              <a:rPr lang="fr-FR" dirty="0"/>
              <a:t>' (sans rendu graphique) pour exécuter </a:t>
            </a:r>
            <a:r>
              <a:rPr lang="fr-FR"/>
              <a:t>une série </a:t>
            </a:r>
            <a:r>
              <a:rPr lang="fr-FR" dirty="0"/>
              <a:t>de simulations stochastiques de Monte-Carlo. Nous mesurons 5 métriques clés en temps réel : le </a:t>
            </a:r>
            <a:r>
              <a:rPr lang="fr-FR" dirty="0" err="1"/>
              <a:t>Throughput</a:t>
            </a:r>
            <a:r>
              <a:rPr lang="fr-FR" dirty="0"/>
              <a:t> (débit en véhicules/minute), le Mean Delay (temps perdu par rapport au flux libre), le Time-To-Collision minimum (sécurité absolue), les violations de PET (Near-misses) et le Jerk accumulé (confort).</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a:extLst>
            <a:ext uri="{FF2B5EF4-FFF2-40B4-BE49-F238E27FC236}">
              <a16:creationId xmlns:a16="http://schemas.microsoft.com/office/drawing/2014/main" id="{724BA797-F379-114E-620E-17EB4FF806BC}"/>
            </a:ext>
          </a:extLst>
        </p:cNvPr>
        <p:cNvGrpSpPr/>
        <p:nvPr/>
      </p:nvGrpSpPr>
      <p:grpSpPr>
        <a:xfrm>
          <a:off x="0" y="0"/>
          <a:ext cx="0" cy="0"/>
          <a:chOff x="0" y="0"/>
          <a:chExt cx="0" cy="0"/>
        </a:xfrm>
      </p:grpSpPr>
      <p:sp>
        <p:nvSpPr>
          <p:cNvPr id="693" name="Google Shape;693;g152a7caf94b_1_1283:notes">
            <a:extLst>
              <a:ext uri="{FF2B5EF4-FFF2-40B4-BE49-F238E27FC236}">
                <a16:creationId xmlns:a16="http://schemas.microsoft.com/office/drawing/2014/main" id="{06E64C7A-6919-DCCA-C3DF-240EC0A8BF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52a7caf94b_1_1283:notes">
            <a:extLst>
              <a:ext uri="{FF2B5EF4-FFF2-40B4-BE49-F238E27FC236}">
                <a16:creationId xmlns:a16="http://schemas.microsoft.com/office/drawing/2014/main" id="{3538C21D-C4D1-C40C-C3B3-9BEC66DC69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Pour valider nos hypothèses, le simulateur bascule en mode '</a:t>
            </a:r>
            <a:r>
              <a:rPr lang="fr-FR" dirty="0" err="1"/>
              <a:t>Headless</a:t>
            </a:r>
            <a:r>
              <a:rPr lang="fr-FR" dirty="0"/>
              <a:t>' (sans rendu graphique) pour exécuter </a:t>
            </a:r>
            <a:r>
              <a:rPr lang="fr-FR"/>
              <a:t>une série </a:t>
            </a:r>
            <a:r>
              <a:rPr lang="fr-FR" dirty="0"/>
              <a:t>de simulations stochastiques de Monte-Carlo. Nous mesurons 5 métriques clés en temps réel : le </a:t>
            </a:r>
            <a:r>
              <a:rPr lang="fr-FR" dirty="0" err="1"/>
              <a:t>Throughput</a:t>
            </a:r>
            <a:r>
              <a:rPr lang="fr-FR" dirty="0"/>
              <a:t> (débit en véhicules/minute), le Mean Delay (temps perdu par rapport au flux libre), le Time-To-Collision minimum (sécurité absolue), les violations de PET (Near-misses) et le Jerk accumulé (confort).</a:t>
            </a:r>
            <a:endParaRPr dirty="0"/>
          </a:p>
        </p:txBody>
      </p:sp>
    </p:spTree>
    <p:extLst>
      <p:ext uri="{BB962C8B-B14F-4D97-AF65-F5344CB8AC3E}">
        <p14:creationId xmlns:p14="http://schemas.microsoft.com/office/powerpoint/2010/main" val="3030346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a:extLst>
            <a:ext uri="{FF2B5EF4-FFF2-40B4-BE49-F238E27FC236}">
              <a16:creationId xmlns:a16="http://schemas.microsoft.com/office/drawing/2014/main" id="{ACF4EE55-3F10-E1C3-7FA2-2B1ACD62DD1F}"/>
            </a:ext>
          </a:extLst>
        </p:cNvPr>
        <p:cNvGrpSpPr/>
        <p:nvPr/>
      </p:nvGrpSpPr>
      <p:grpSpPr>
        <a:xfrm>
          <a:off x="0" y="0"/>
          <a:ext cx="0" cy="0"/>
          <a:chOff x="0" y="0"/>
          <a:chExt cx="0" cy="0"/>
        </a:xfrm>
      </p:grpSpPr>
      <p:sp>
        <p:nvSpPr>
          <p:cNvPr id="693" name="Google Shape;693;g152a7caf94b_1_1283:notes">
            <a:extLst>
              <a:ext uri="{FF2B5EF4-FFF2-40B4-BE49-F238E27FC236}">
                <a16:creationId xmlns:a16="http://schemas.microsoft.com/office/drawing/2014/main" id="{E25BF817-D0C8-739B-BFB9-1A921DE20A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52a7caf94b_1_1283:notes">
            <a:extLst>
              <a:ext uri="{FF2B5EF4-FFF2-40B4-BE49-F238E27FC236}">
                <a16:creationId xmlns:a16="http://schemas.microsoft.com/office/drawing/2014/main" id="{FB0292C0-8787-BA97-14FE-EF00203199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Le résultat principal n’est pas un simulateur parfait. C’est un socle expérimental. J’ai produit les briques nécessaires pour étudier le problème : agents autonomes, perception locale, stratégies d’intersection, modèle cinématique et métriques. Certaines parties restent partielles, mais l’architecture permet de continuer proprement. Le résultat principal n’est pas un simulateur parfait. C’est un socle expérimental. J’ai produit les briques nécessaires pour étudier le problème : agents autonomes, perception locale, stratégies d’intersection, modèle cinématique et métriques. Certaines parties restent partielles, mais l’architecture permet de continuer proprement.</a:t>
            </a:r>
            <a:endParaRPr dirty="0"/>
          </a:p>
        </p:txBody>
      </p:sp>
    </p:spTree>
    <p:extLst>
      <p:ext uri="{BB962C8B-B14F-4D97-AF65-F5344CB8AC3E}">
        <p14:creationId xmlns:p14="http://schemas.microsoft.com/office/powerpoint/2010/main" val="1605647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a:extLst>
            <a:ext uri="{FF2B5EF4-FFF2-40B4-BE49-F238E27FC236}">
              <a16:creationId xmlns:a16="http://schemas.microsoft.com/office/drawing/2014/main" id="{3CA0527A-D032-23BA-7F2E-B882A04AD836}"/>
            </a:ext>
          </a:extLst>
        </p:cNvPr>
        <p:cNvGrpSpPr/>
        <p:nvPr/>
      </p:nvGrpSpPr>
      <p:grpSpPr>
        <a:xfrm>
          <a:off x="0" y="0"/>
          <a:ext cx="0" cy="0"/>
          <a:chOff x="0" y="0"/>
          <a:chExt cx="0" cy="0"/>
        </a:xfrm>
      </p:grpSpPr>
      <p:sp>
        <p:nvSpPr>
          <p:cNvPr id="693" name="Google Shape;693;g152a7caf94b_1_1283:notes">
            <a:extLst>
              <a:ext uri="{FF2B5EF4-FFF2-40B4-BE49-F238E27FC236}">
                <a16:creationId xmlns:a16="http://schemas.microsoft.com/office/drawing/2014/main" id="{C955EE68-C8F6-8BBB-6FCB-EBE673F549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52a7caf94b_1_1283:notes">
            <a:extLst>
              <a:ext uri="{FF2B5EF4-FFF2-40B4-BE49-F238E27FC236}">
                <a16:creationId xmlns:a16="http://schemas.microsoft.com/office/drawing/2014/main" id="{B4243438-305C-CEE2-C810-A1464FBC8F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La suite logique est claire. D’abord stabiliser les cas limites. Ensuite automatiser les scénarios et comparer les stratégies sur plusieurs densités. Enfin, intégrer des approches plus avancées. L’objectif final serait d’avoir un banc d’essai capable de comparer objectivement plusieurs familles de coordination.</a:t>
            </a:r>
            <a:endParaRPr dirty="0"/>
          </a:p>
        </p:txBody>
      </p:sp>
    </p:spTree>
    <p:extLst>
      <p:ext uri="{BB962C8B-B14F-4D97-AF65-F5344CB8AC3E}">
        <p14:creationId xmlns:p14="http://schemas.microsoft.com/office/powerpoint/2010/main" val="2155666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81700"/>
            <a:ext cx="7078500" cy="1581300"/>
          </a:xfrm>
          <a:prstGeom prst="rect">
            <a:avLst/>
          </a:prstGeom>
          <a:noFill/>
        </p:spPr>
        <p:txBody>
          <a:bodyPr spcFirstLastPara="1" wrap="square" lIns="91425" tIns="91425" rIns="91425" bIns="91425" anchor="ctr" anchorCtr="0">
            <a:noAutofit/>
          </a:bodyPr>
          <a:lstStyle>
            <a:lvl1pPr lvl="0">
              <a:lnSpc>
                <a:spcPct val="80000"/>
              </a:lnSpc>
              <a:spcBef>
                <a:spcPts val="0"/>
              </a:spcBef>
              <a:spcAft>
                <a:spcPts val="0"/>
              </a:spcAft>
              <a:buSzPts val="5200"/>
              <a:buNone/>
              <a:defRPr sz="7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3225" y="4055075"/>
            <a:ext cx="2304900" cy="553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title" idx="2"/>
          </p:nvPr>
        </p:nvSpPr>
        <p:spPr>
          <a:xfrm rot="-5400000">
            <a:off x="6092850" y="2059650"/>
            <a:ext cx="5756400" cy="663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1732325" y="539500"/>
            <a:ext cx="6698400" cy="5727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21" name="Google Shape;21;p4"/>
          <p:cNvSpPr txBox="1">
            <a:spLocks noGrp="1"/>
          </p:cNvSpPr>
          <p:nvPr>
            <p:ph type="body" idx="1"/>
          </p:nvPr>
        </p:nvSpPr>
        <p:spPr>
          <a:xfrm>
            <a:off x="713225" y="1670575"/>
            <a:ext cx="4253700" cy="20253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Clr>
                <a:schemeClr val="accent1"/>
              </a:buClr>
              <a:buSzPts val="1500"/>
              <a:buFont typeface="Chivo"/>
              <a:buChar char="●"/>
              <a:defRPr sz="1400"/>
            </a:lvl1pPr>
            <a:lvl2pPr marL="914400" lvl="1" indent="-323850">
              <a:spcBef>
                <a:spcPts val="0"/>
              </a:spcBef>
              <a:spcAft>
                <a:spcPts val="0"/>
              </a:spcAft>
              <a:buClr>
                <a:srgbClr val="434343"/>
              </a:buClr>
              <a:buSzPts val="1500"/>
              <a:buFont typeface="Roboto Condensed Light"/>
              <a:buChar char="○"/>
              <a:defRPr/>
            </a:lvl2pPr>
            <a:lvl3pPr marL="1371600" lvl="2" indent="-323850">
              <a:spcBef>
                <a:spcPts val="0"/>
              </a:spcBef>
              <a:spcAft>
                <a:spcPts val="0"/>
              </a:spcAft>
              <a:buClr>
                <a:srgbClr val="434343"/>
              </a:buClr>
              <a:buSzPts val="1500"/>
              <a:buFont typeface="Roboto Condensed Light"/>
              <a:buChar char="■"/>
              <a:defRPr/>
            </a:lvl3pPr>
            <a:lvl4pPr marL="1828800" lvl="3" indent="-323850">
              <a:spcBef>
                <a:spcPts val="0"/>
              </a:spcBef>
              <a:spcAft>
                <a:spcPts val="0"/>
              </a:spcAft>
              <a:buClr>
                <a:srgbClr val="434343"/>
              </a:buClr>
              <a:buSzPts val="1500"/>
              <a:buFont typeface="Roboto Condensed Light"/>
              <a:buChar char="●"/>
              <a:defRPr/>
            </a:lvl4pPr>
            <a:lvl5pPr marL="2286000" lvl="4" indent="-323850">
              <a:spcBef>
                <a:spcPts val="0"/>
              </a:spcBef>
              <a:spcAft>
                <a:spcPts val="0"/>
              </a:spcAft>
              <a:buClr>
                <a:srgbClr val="434343"/>
              </a:buClr>
              <a:buSzPts val="1500"/>
              <a:buFont typeface="Roboto Condensed Light"/>
              <a:buChar char="○"/>
              <a:defRPr/>
            </a:lvl5pPr>
            <a:lvl6pPr marL="2743200" lvl="5" indent="-323850">
              <a:spcBef>
                <a:spcPts val="0"/>
              </a:spcBef>
              <a:spcAft>
                <a:spcPts val="0"/>
              </a:spcAft>
              <a:buClr>
                <a:srgbClr val="434343"/>
              </a:buClr>
              <a:buSzPts val="1500"/>
              <a:buFont typeface="Roboto Condensed Light"/>
              <a:buChar char="■"/>
              <a:defRPr/>
            </a:lvl6pPr>
            <a:lvl7pPr marL="3200400" lvl="6" indent="-323850">
              <a:spcBef>
                <a:spcPts val="0"/>
              </a:spcBef>
              <a:spcAft>
                <a:spcPts val="0"/>
              </a:spcAft>
              <a:buClr>
                <a:srgbClr val="434343"/>
              </a:buClr>
              <a:buSzPts val="1500"/>
              <a:buFont typeface="Roboto Condensed Light"/>
              <a:buChar char="●"/>
              <a:defRPr/>
            </a:lvl7pPr>
            <a:lvl8pPr marL="3657600" lvl="7" indent="-323850">
              <a:spcBef>
                <a:spcPts val="0"/>
              </a:spcBef>
              <a:spcAft>
                <a:spcPts val="0"/>
              </a:spcAft>
              <a:buClr>
                <a:srgbClr val="434343"/>
              </a:buClr>
              <a:buSzPts val="1500"/>
              <a:buFont typeface="Roboto Condensed Light"/>
              <a:buChar char="○"/>
              <a:defRPr/>
            </a:lvl8pPr>
            <a:lvl9pPr marL="4114800" lvl="8" indent="-323850">
              <a:spcBef>
                <a:spcPts val="0"/>
              </a:spcBef>
              <a:spcAft>
                <a:spcPts val="0"/>
              </a:spcAft>
              <a:buClr>
                <a:srgbClr val="434343"/>
              </a:buClr>
              <a:buSzPts val="1500"/>
              <a:buFont typeface="Roboto Condensed Light"/>
              <a:buChar char="■"/>
              <a:defRPr/>
            </a:lvl9pPr>
          </a:lstStyle>
          <a:p>
            <a:endParaRPr/>
          </a:p>
        </p:txBody>
      </p:sp>
      <p:sp>
        <p:nvSpPr>
          <p:cNvPr id="22" name="Google Shape;22;p4"/>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rot="-448633">
            <a:off x="5982493" y="2395875"/>
            <a:ext cx="2718012" cy="2717417"/>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 name="Google Shape;24;p4"/>
          <p:cNvCxnSpPr/>
          <p:nvPr/>
        </p:nvCxnSpPr>
        <p:spPr>
          <a:xfrm rot="10800000">
            <a:off x="820750" y="948675"/>
            <a:ext cx="791400" cy="0"/>
          </a:xfrm>
          <a:prstGeom prst="straightConnector1">
            <a:avLst/>
          </a:prstGeom>
          <a:noFill/>
          <a:ln w="38100" cap="flat" cmpd="sng">
            <a:solidFill>
              <a:srgbClr val="6178F6"/>
            </a:solidFill>
            <a:prstDash val="solid"/>
            <a:round/>
            <a:headEnd type="none" w="med" len="med"/>
            <a:tailEnd type="none" w="med" len="med"/>
          </a:ln>
        </p:spPr>
      </p:cxnSp>
      <p:sp>
        <p:nvSpPr>
          <p:cNvPr id="25" name="Google Shape;25;p4"/>
          <p:cNvSpPr>
            <a:spLocks noGrp="1"/>
          </p:cNvSpPr>
          <p:nvPr>
            <p:ph type="pic" idx="2"/>
          </p:nvPr>
        </p:nvSpPr>
        <p:spPr>
          <a:xfrm>
            <a:off x="5138050" y="1213950"/>
            <a:ext cx="2886600" cy="2715600"/>
          </a:xfrm>
          <a:prstGeom prst="decagon">
            <a:avLst>
              <a:gd name="vf" fmla="val 105146"/>
            </a:avLst>
          </a:prstGeom>
          <a:noFill/>
          <a:ln>
            <a:noFill/>
          </a:ln>
        </p:spPr>
        <p:txBody>
          <a:bodyPr/>
          <a:lstStyle/>
          <a:p>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txBox="1">
            <a:spLocks noGrp="1"/>
          </p:cNvSpPr>
          <p:nvPr>
            <p:ph type="subTitle" idx="1"/>
          </p:nvPr>
        </p:nvSpPr>
        <p:spPr>
          <a:xfrm>
            <a:off x="1370038" y="2191300"/>
            <a:ext cx="2776800" cy="234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8" name="Google Shape;28;p5"/>
          <p:cNvSpPr txBox="1">
            <a:spLocks noGrp="1"/>
          </p:cNvSpPr>
          <p:nvPr>
            <p:ph type="subTitle" idx="2"/>
          </p:nvPr>
        </p:nvSpPr>
        <p:spPr>
          <a:xfrm>
            <a:off x="5638288" y="2191305"/>
            <a:ext cx="2776800" cy="2342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29" name="Google Shape;29;p5"/>
          <p:cNvSpPr txBox="1">
            <a:spLocks noGrp="1"/>
          </p:cNvSpPr>
          <p:nvPr>
            <p:ph type="title"/>
          </p:nvPr>
        </p:nvSpPr>
        <p:spPr>
          <a:xfrm>
            <a:off x="728913" y="1540466"/>
            <a:ext cx="2776800" cy="592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3200"/>
              <a:buFont typeface="Fredoka One"/>
              <a:buNone/>
              <a:defRPr/>
            </a:lvl1pPr>
            <a:lvl2pPr lvl="1"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30" name="Google Shape;30;p5"/>
          <p:cNvSpPr txBox="1">
            <a:spLocks noGrp="1"/>
          </p:cNvSpPr>
          <p:nvPr>
            <p:ph type="title" idx="3"/>
          </p:nvPr>
        </p:nvSpPr>
        <p:spPr>
          <a:xfrm>
            <a:off x="4997163" y="1540466"/>
            <a:ext cx="2776800" cy="592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dk2"/>
              </a:buClr>
              <a:buSzPts val="3200"/>
              <a:buFont typeface="Fredoka One"/>
              <a:buNone/>
              <a:defRPr/>
            </a:lvl1pPr>
            <a:lvl2pPr lvl="1"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31" name="Google Shape;31;p5"/>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3"/>
        <p:cNvGrpSpPr/>
        <p:nvPr/>
      </p:nvGrpSpPr>
      <p:grpSpPr>
        <a:xfrm>
          <a:off x="0" y="0"/>
          <a:ext cx="0" cy="0"/>
          <a:chOff x="0" y="0"/>
          <a:chExt cx="0" cy="0"/>
        </a:xfrm>
      </p:grpSpPr>
      <p:sp>
        <p:nvSpPr>
          <p:cNvPr id="64" name="Google Shape;64;p9"/>
          <p:cNvSpPr txBox="1">
            <a:spLocks noGrp="1"/>
          </p:cNvSpPr>
          <p:nvPr>
            <p:ph type="title"/>
          </p:nvPr>
        </p:nvSpPr>
        <p:spPr>
          <a:xfrm>
            <a:off x="1537700" y="1450125"/>
            <a:ext cx="4045200" cy="7494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5" name="Google Shape;65;p9"/>
          <p:cNvSpPr txBox="1">
            <a:spLocks noGrp="1"/>
          </p:cNvSpPr>
          <p:nvPr>
            <p:ph type="subTitle" idx="1"/>
          </p:nvPr>
        </p:nvSpPr>
        <p:spPr>
          <a:xfrm>
            <a:off x="3595100" y="2363275"/>
            <a:ext cx="4045200" cy="1235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9"/>
          <p:cNvSpPr/>
          <p:nvPr/>
        </p:nvSpPr>
        <p:spPr>
          <a:xfrm rot="-448633">
            <a:off x="6542918" y="2756475"/>
            <a:ext cx="2718012" cy="2717417"/>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9"/>
          <p:cNvSpPr/>
          <p:nvPr/>
        </p:nvSpPr>
        <p:spPr>
          <a:xfrm>
            <a:off x="0" y="0"/>
            <a:ext cx="252300" cy="5143500"/>
          </a:xfrm>
          <a:prstGeom prst="rect">
            <a:avLst/>
          </a:prstGeom>
          <a:gradFill>
            <a:gsLst>
              <a:gs pos="0">
                <a:srgbClr val="6178F6"/>
              </a:gs>
              <a:gs pos="100000">
                <a:srgbClr val="737373">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txBox="1">
            <a:spLocks noGrp="1"/>
          </p:cNvSpPr>
          <p:nvPr>
            <p:ph type="title" idx="2"/>
          </p:nvPr>
        </p:nvSpPr>
        <p:spPr>
          <a:xfrm rot="-5400000">
            <a:off x="6092850" y="2059650"/>
            <a:ext cx="5756400" cy="663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7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_26_1">
    <p:spTree>
      <p:nvGrpSpPr>
        <p:cNvPr id="1" name="Shape 80"/>
        <p:cNvGrpSpPr/>
        <p:nvPr/>
      </p:nvGrpSpPr>
      <p:grpSpPr>
        <a:xfrm>
          <a:off x="0" y="0"/>
          <a:ext cx="0" cy="0"/>
          <a:chOff x="0" y="0"/>
          <a:chExt cx="0" cy="0"/>
        </a:xfrm>
      </p:grpSpPr>
      <p:sp>
        <p:nvSpPr>
          <p:cNvPr id="81" name="Google Shape;81;p13"/>
          <p:cNvSpPr/>
          <p:nvPr/>
        </p:nvSpPr>
        <p:spPr>
          <a:xfrm>
            <a:off x="6947125" y="2704652"/>
            <a:ext cx="2718000" cy="2717400"/>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txBox="1">
            <a:spLocks noGrp="1"/>
          </p:cNvSpPr>
          <p:nvPr>
            <p:ph type="title" hasCustomPrompt="1"/>
          </p:nvPr>
        </p:nvSpPr>
        <p:spPr>
          <a:xfrm flipH="1">
            <a:off x="2644250" y="1722725"/>
            <a:ext cx="1676100" cy="8511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3500"/>
              <a:buNone/>
              <a:defRPr sz="8500">
                <a:solidFill>
                  <a:srgbClr val="6178F6"/>
                </a:solidFill>
                <a:latin typeface="Poppins"/>
                <a:ea typeface="Poppins"/>
                <a:cs typeface="Poppins"/>
                <a:sym typeface="Poppins"/>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3" name="Google Shape;83;p13"/>
          <p:cNvSpPr txBox="1">
            <a:spLocks noGrp="1"/>
          </p:cNvSpPr>
          <p:nvPr>
            <p:ph type="subTitle" idx="1"/>
          </p:nvPr>
        </p:nvSpPr>
        <p:spPr>
          <a:xfrm flipH="1">
            <a:off x="713224" y="1722725"/>
            <a:ext cx="2402400" cy="3714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None/>
              <a:defRPr sz="2500" b="1">
                <a:latin typeface="Abhaya Libre"/>
                <a:ea typeface="Abhaya Libre"/>
                <a:cs typeface="Abhaya Libre"/>
                <a:sym typeface="Abhaya Libre"/>
              </a:defRPr>
            </a:lvl1pPr>
            <a:lvl2pPr lvl="1" algn="r" rtl="0">
              <a:lnSpc>
                <a:spcPct val="100000"/>
              </a:lnSpc>
              <a:spcBef>
                <a:spcPts val="0"/>
              </a:spcBef>
              <a:spcAft>
                <a:spcPts val="0"/>
              </a:spcAft>
              <a:buNone/>
              <a:defRPr sz="2500" b="1">
                <a:latin typeface="Abhaya Libre"/>
                <a:ea typeface="Abhaya Libre"/>
                <a:cs typeface="Abhaya Libre"/>
                <a:sym typeface="Abhaya Libre"/>
              </a:defRPr>
            </a:lvl2pPr>
            <a:lvl3pPr lvl="2" algn="r" rtl="0">
              <a:lnSpc>
                <a:spcPct val="100000"/>
              </a:lnSpc>
              <a:spcBef>
                <a:spcPts val="0"/>
              </a:spcBef>
              <a:spcAft>
                <a:spcPts val="0"/>
              </a:spcAft>
              <a:buNone/>
              <a:defRPr sz="2500" b="1">
                <a:latin typeface="Abhaya Libre"/>
                <a:ea typeface="Abhaya Libre"/>
                <a:cs typeface="Abhaya Libre"/>
                <a:sym typeface="Abhaya Libre"/>
              </a:defRPr>
            </a:lvl3pPr>
            <a:lvl4pPr lvl="3" algn="r" rtl="0">
              <a:lnSpc>
                <a:spcPct val="100000"/>
              </a:lnSpc>
              <a:spcBef>
                <a:spcPts val="0"/>
              </a:spcBef>
              <a:spcAft>
                <a:spcPts val="0"/>
              </a:spcAft>
              <a:buNone/>
              <a:defRPr sz="2500" b="1">
                <a:latin typeface="Abhaya Libre"/>
                <a:ea typeface="Abhaya Libre"/>
                <a:cs typeface="Abhaya Libre"/>
                <a:sym typeface="Abhaya Libre"/>
              </a:defRPr>
            </a:lvl4pPr>
            <a:lvl5pPr lvl="4" algn="r" rtl="0">
              <a:lnSpc>
                <a:spcPct val="100000"/>
              </a:lnSpc>
              <a:spcBef>
                <a:spcPts val="0"/>
              </a:spcBef>
              <a:spcAft>
                <a:spcPts val="0"/>
              </a:spcAft>
              <a:buNone/>
              <a:defRPr sz="2500" b="1">
                <a:latin typeface="Abhaya Libre"/>
                <a:ea typeface="Abhaya Libre"/>
                <a:cs typeface="Abhaya Libre"/>
                <a:sym typeface="Abhaya Libre"/>
              </a:defRPr>
            </a:lvl5pPr>
            <a:lvl6pPr lvl="5" algn="r" rtl="0">
              <a:lnSpc>
                <a:spcPct val="100000"/>
              </a:lnSpc>
              <a:spcBef>
                <a:spcPts val="0"/>
              </a:spcBef>
              <a:spcAft>
                <a:spcPts val="0"/>
              </a:spcAft>
              <a:buNone/>
              <a:defRPr sz="2500" b="1">
                <a:latin typeface="Abhaya Libre"/>
                <a:ea typeface="Abhaya Libre"/>
                <a:cs typeface="Abhaya Libre"/>
                <a:sym typeface="Abhaya Libre"/>
              </a:defRPr>
            </a:lvl6pPr>
            <a:lvl7pPr lvl="6" algn="r" rtl="0">
              <a:lnSpc>
                <a:spcPct val="100000"/>
              </a:lnSpc>
              <a:spcBef>
                <a:spcPts val="0"/>
              </a:spcBef>
              <a:spcAft>
                <a:spcPts val="0"/>
              </a:spcAft>
              <a:buNone/>
              <a:defRPr sz="2500" b="1">
                <a:latin typeface="Abhaya Libre"/>
                <a:ea typeface="Abhaya Libre"/>
                <a:cs typeface="Abhaya Libre"/>
                <a:sym typeface="Abhaya Libre"/>
              </a:defRPr>
            </a:lvl7pPr>
            <a:lvl8pPr lvl="7" algn="r" rtl="0">
              <a:lnSpc>
                <a:spcPct val="100000"/>
              </a:lnSpc>
              <a:spcBef>
                <a:spcPts val="0"/>
              </a:spcBef>
              <a:spcAft>
                <a:spcPts val="0"/>
              </a:spcAft>
              <a:buNone/>
              <a:defRPr sz="2500" b="1">
                <a:latin typeface="Abhaya Libre"/>
                <a:ea typeface="Abhaya Libre"/>
                <a:cs typeface="Abhaya Libre"/>
                <a:sym typeface="Abhaya Libre"/>
              </a:defRPr>
            </a:lvl8pPr>
            <a:lvl9pPr lvl="8" algn="r"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84" name="Google Shape;84;p13"/>
          <p:cNvSpPr txBox="1">
            <a:spLocks noGrp="1"/>
          </p:cNvSpPr>
          <p:nvPr>
            <p:ph type="subTitle" idx="2"/>
          </p:nvPr>
        </p:nvSpPr>
        <p:spPr>
          <a:xfrm flipH="1">
            <a:off x="713225" y="2046325"/>
            <a:ext cx="2402400" cy="527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endParaRPr/>
          </a:p>
        </p:txBody>
      </p:sp>
      <p:sp>
        <p:nvSpPr>
          <p:cNvPr id="85" name="Google Shape;85;p13"/>
          <p:cNvSpPr txBox="1">
            <a:spLocks noGrp="1"/>
          </p:cNvSpPr>
          <p:nvPr>
            <p:ph type="title" idx="3" hasCustomPrompt="1"/>
          </p:nvPr>
        </p:nvSpPr>
        <p:spPr>
          <a:xfrm flipH="1">
            <a:off x="2644275" y="3249525"/>
            <a:ext cx="1676100" cy="8511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3500"/>
              <a:buNone/>
              <a:defRPr sz="8000">
                <a:solidFill>
                  <a:srgbClr val="6178F6"/>
                </a:solidFill>
                <a:latin typeface="Poppins"/>
                <a:ea typeface="Poppins"/>
                <a:cs typeface="Poppins"/>
                <a:sym typeface="Poppins"/>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6" name="Google Shape;86;p13"/>
          <p:cNvSpPr txBox="1">
            <a:spLocks noGrp="1"/>
          </p:cNvSpPr>
          <p:nvPr>
            <p:ph type="subTitle" idx="4"/>
          </p:nvPr>
        </p:nvSpPr>
        <p:spPr>
          <a:xfrm flipH="1">
            <a:off x="713224" y="3249537"/>
            <a:ext cx="2402400" cy="3714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None/>
              <a:defRPr sz="2500" b="1">
                <a:latin typeface="Abhaya Libre"/>
                <a:ea typeface="Abhaya Libre"/>
                <a:cs typeface="Abhaya Libre"/>
                <a:sym typeface="Abhaya Libre"/>
              </a:defRPr>
            </a:lvl1pPr>
            <a:lvl2pPr lvl="1" algn="r" rtl="0">
              <a:lnSpc>
                <a:spcPct val="100000"/>
              </a:lnSpc>
              <a:spcBef>
                <a:spcPts val="0"/>
              </a:spcBef>
              <a:spcAft>
                <a:spcPts val="0"/>
              </a:spcAft>
              <a:buNone/>
              <a:defRPr sz="2500" b="1">
                <a:latin typeface="Abhaya Libre"/>
                <a:ea typeface="Abhaya Libre"/>
                <a:cs typeface="Abhaya Libre"/>
                <a:sym typeface="Abhaya Libre"/>
              </a:defRPr>
            </a:lvl2pPr>
            <a:lvl3pPr lvl="2" algn="r" rtl="0">
              <a:lnSpc>
                <a:spcPct val="100000"/>
              </a:lnSpc>
              <a:spcBef>
                <a:spcPts val="0"/>
              </a:spcBef>
              <a:spcAft>
                <a:spcPts val="0"/>
              </a:spcAft>
              <a:buNone/>
              <a:defRPr sz="2500" b="1">
                <a:latin typeface="Abhaya Libre"/>
                <a:ea typeface="Abhaya Libre"/>
                <a:cs typeface="Abhaya Libre"/>
                <a:sym typeface="Abhaya Libre"/>
              </a:defRPr>
            </a:lvl3pPr>
            <a:lvl4pPr lvl="3" algn="r" rtl="0">
              <a:lnSpc>
                <a:spcPct val="100000"/>
              </a:lnSpc>
              <a:spcBef>
                <a:spcPts val="0"/>
              </a:spcBef>
              <a:spcAft>
                <a:spcPts val="0"/>
              </a:spcAft>
              <a:buNone/>
              <a:defRPr sz="2500" b="1">
                <a:latin typeface="Abhaya Libre"/>
                <a:ea typeface="Abhaya Libre"/>
                <a:cs typeface="Abhaya Libre"/>
                <a:sym typeface="Abhaya Libre"/>
              </a:defRPr>
            </a:lvl4pPr>
            <a:lvl5pPr lvl="4" algn="r" rtl="0">
              <a:lnSpc>
                <a:spcPct val="100000"/>
              </a:lnSpc>
              <a:spcBef>
                <a:spcPts val="0"/>
              </a:spcBef>
              <a:spcAft>
                <a:spcPts val="0"/>
              </a:spcAft>
              <a:buNone/>
              <a:defRPr sz="2500" b="1">
                <a:latin typeface="Abhaya Libre"/>
                <a:ea typeface="Abhaya Libre"/>
                <a:cs typeface="Abhaya Libre"/>
                <a:sym typeface="Abhaya Libre"/>
              </a:defRPr>
            </a:lvl5pPr>
            <a:lvl6pPr lvl="5" algn="r" rtl="0">
              <a:lnSpc>
                <a:spcPct val="100000"/>
              </a:lnSpc>
              <a:spcBef>
                <a:spcPts val="0"/>
              </a:spcBef>
              <a:spcAft>
                <a:spcPts val="0"/>
              </a:spcAft>
              <a:buNone/>
              <a:defRPr sz="2500" b="1">
                <a:latin typeface="Abhaya Libre"/>
                <a:ea typeface="Abhaya Libre"/>
                <a:cs typeface="Abhaya Libre"/>
                <a:sym typeface="Abhaya Libre"/>
              </a:defRPr>
            </a:lvl6pPr>
            <a:lvl7pPr lvl="6" algn="r" rtl="0">
              <a:lnSpc>
                <a:spcPct val="100000"/>
              </a:lnSpc>
              <a:spcBef>
                <a:spcPts val="0"/>
              </a:spcBef>
              <a:spcAft>
                <a:spcPts val="0"/>
              </a:spcAft>
              <a:buNone/>
              <a:defRPr sz="2500" b="1">
                <a:latin typeface="Abhaya Libre"/>
                <a:ea typeface="Abhaya Libre"/>
                <a:cs typeface="Abhaya Libre"/>
                <a:sym typeface="Abhaya Libre"/>
              </a:defRPr>
            </a:lvl7pPr>
            <a:lvl8pPr lvl="7" algn="r" rtl="0">
              <a:lnSpc>
                <a:spcPct val="100000"/>
              </a:lnSpc>
              <a:spcBef>
                <a:spcPts val="0"/>
              </a:spcBef>
              <a:spcAft>
                <a:spcPts val="0"/>
              </a:spcAft>
              <a:buNone/>
              <a:defRPr sz="2500" b="1">
                <a:latin typeface="Abhaya Libre"/>
                <a:ea typeface="Abhaya Libre"/>
                <a:cs typeface="Abhaya Libre"/>
                <a:sym typeface="Abhaya Libre"/>
              </a:defRPr>
            </a:lvl8pPr>
            <a:lvl9pPr lvl="8" algn="r"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87" name="Google Shape;87;p13"/>
          <p:cNvSpPr txBox="1">
            <a:spLocks noGrp="1"/>
          </p:cNvSpPr>
          <p:nvPr>
            <p:ph type="subTitle" idx="5"/>
          </p:nvPr>
        </p:nvSpPr>
        <p:spPr>
          <a:xfrm flipH="1">
            <a:off x="713225" y="3555487"/>
            <a:ext cx="2402400" cy="527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endParaRPr/>
          </a:p>
        </p:txBody>
      </p:sp>
      <p:sp>
        <p:nvSpPr>
          <p:cNvPr id="88" name="Google Shape;88;p13"/>
          <p:cNvSpPr txBox="1">
            <a:spLocks noGrp="1"/>
          </p:cNvSpPr>
          <p:nvPr>
            <p:ph type="title" idx="6" hasCustomPrompt="1"/>
          </p:nvPr>
        </p:nvSpPr>
        <p:spPr>
          <a:xfrm>
            <a:off x="4823650" y="1722725"/>
            <a:ext cx="1676100" cy="851100"/>
          </a:xfrm>
          <a:prstGeom prst="rect">
            <a:avLst/>
          </a:prstGeom>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3500"/>
              <a:buNone/>
              <a:defRPr sz="8000">
                <a:solidFill>
                  <a:srgbClr val="6178F6"/>
                </a:solidFill>
                <a:latin typeface="Poppins"/>
                <a:ea typeface="Poppins"/>
                <a:cs typeface="Poppins"/>
                <a:sym typeface="Poppins"/>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89" name="Google Shape;89;p13"/>
          <p:cNvSpPr txBox="1">
            <a:spLocks noGrp="1"/>
          </p:cNvSpPr>
          <p:nvPr>
            <p:ph type="subTitle" idx="7"/>
          </p:nvPr>
        </p:nvSpPr>
        <p:spPr>
          <a:xfrm>
            <a:off x="6028325" y="1722713"/>
            <a:ext cx="24024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90" name="Google Shape;90;p13"/>
          <p:cNvSpPr txBox="1">
            <a:spLocks noGrp="1"/>
          </p:cNvSpPr>
          <p:nvPr>
            <p:ph type="subTitle" idx="8"/>
          </p:nvPr>
        </p:nvSpPr>
        <p:spPr>
          <a:xfrm>
            <a:off x="6028326" y="2046325"/>
            <a:ext cx="24024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91" name="Google Shape;91;p13"/>
          <p:cNvSpPr txBox="1">
            <a:spLocks noGrp="1"/>
          </p:cNvSpPr>
          <p:nvPr>
            <p:ph type="title" idx="9" hasCustomPrompt="1"/>
          </p:nvPr>
        </p:nvSpPr>
        <p:spPr>
          <a:xfrm>
            <a:off x="4823625" y="3249525"/>
            <a:ext cx="1676100" cy="851100"/>
          </a:xfrm>
          <a:prstGeom prst="rect">
            <a:avLst/>
          </a:prstGeom>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3500"/>
              <a:buNone/>
              <a:defRPr sz="8000">
                <a:solidFill>
                  <a:srgbClr val="6178F6"/>
                </a:solidFill>
                <a:latin typeface="Poppins"/>
                <a:ea typeface="Poppins"/>
                <a:cs typeface="Poppins"/>
                <a:sym typeface="Poppins"/>
              </a:defRPr>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2" name="Google Shape;92;p13"/>
          <p:cNvSpPr txBox="1">
            <a:spLocks noGrp="1"/>
          </p:cNvSpPr>
          <p:nvPr>
            <p:ph type="subTitle" idx="13"/>
          </p:nvPr>
        </p:nvSpPr>
        <p:spPr>
          <a:xfrm>
            <a:off x="6028325" y="3249534"/>
            <a:ext cx="24024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93" name="Google Shape;93;p13"/>
          <p:cNvSpPr txBox="1">
            <a:spLocks noGrp="1"/>
          </p:cNvSpPr>
          <p:nvPr>
            <p:ph type="subTitle" idx="14"/>
          </p:nvPr>
        </p:nvSpPr>
        <p:spPr>
          <a:xfrm>
            <a:off x="6028326" y="3555487"/>
            <a:ext cx="24024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94" name="Google Shape;94;p13"/>
          <p:cNvSpPr txBox="1">
            <a:spLocks noGrp="1"/>
          </p:cNvSpPr>
          <p:nvPr>
            <p:ph type="title" idx="15"/>
          </p:nvPr>
        </p:nvSpPr>
        <p:spPr>
          <a:xfrm>
            <a:off x="1732325" y="539500"/>
            <a:ext cx="66984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sp>
        <p:nvSpPr>
          <p:cNvPr id="95" name="Google Shape;95;p13"/>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2">
  <p:cSld name="CUSTOM_23_1_2_2">
    <p:spTree>
      <p:nvGrpSpPr>
        <p:cNvPr id="1" name="Shape 96"/>
        <p:cNvGrpSpPr/>
        <p:nvPr/>
      </p:nvGrpSpPr>
      <p:grpSpPr>
        <a:xfrm>
          <a:off x="0" y="0"/>
          <a:ext cx="0" cy="0"/>
          <a:chOff x="0" y="0"/>
          <a:chExt cx="0" cy="0"/>
        </a:xfrm>
      </p:grpSpPr>
      <p:sp>
        <p:nvSpPr>
          <p:cNvPr id="97" name="Google Shape;97;p14"/>
          <p:cNvSpPr/>
          <p:nvPr/>
        </p:nvSpPr>
        <p:spPr>
          <a:xfrm rot="-448633">
            <a:off x="343693" y="2395875"/>
            <a:ext cx="2718012" cy="2717417"/>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4"/>
          <p:cNvSpPr>
            <a:spLocks noGrp="1"/>
          </p:cNvSpPr>
          <p:nvPr>
            <p:ph type="pic" idx="2"/>
          </p:nvPr>
        </p:nvSpPr>
        <p:spPr>
          <a:xfrm>
            <a:off x="1785250" y="1545400"/>
            <a:ext cx="2886600" cy="2715300"/>
          </a:xfrm>
          <a:prstGeom prst="decagon">
            <a:avLst>
              <a:gd name="vf" fmla="val 105146"/>
            </a:avLst>
          </a:prstGeom>
          <a:noFill/>
          <a:ln>
            <a:noFill/>
          </a:ln>
        </p:spPr>
        <p:txBody>
          <a:bodyPr/>
          <a:lstStyle/>
          <a:p>
            <a:endParaRPr lang="fr-FR"/>
          </a:p>
        </p:txBody>
      </p:sp>
      <p:sp>
        <p:nvSpPr>
          <p:cNvPr id="99" name="Google Shape;99;p14"/>
          <p:cNvSpPr txBox="1">
            <a:spLocks noGrp="1"/>
          </p:cNvSpPr>
          <p:nvPr>
            <p:ph type="subTitle" idx="1"/>
          </p:nvPr>
        </p:nvSpPr>
        <p:spPr>
          <a:xfrm>
            <a:off x="5619475" y="1722125"/>
            <a:ext cx="27780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100" name="Google Shape;100;p14"/>
          <p:cNvSpPr txBox="1">
            <a:spLocks noGrp="1"/>
          </p:cNvSpPr>
          <p:nvPr>
            <p:ph type="subTitle" idx="3"/>
          </p:nvPr>
        </p:nvSpPr>
        <p:spPr>
          <a:xfrm>
            <a:off x="5619476" y="2028038"/>
            <a:ext cx="27780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01" name="Google Shape;101;p14"/>
          <p:cNvSpPr txBox="1">
            <a:spLocks noGrp="1"/>
          </p:cNvSpPr>
          <p:nvPr>
            <p:ph type="subTitle" idx="4"/>
          </p:nvPr>
        </p:nvSpPr>
        <p:spPr>
          <a:xfrm>
            <a:off x="5619475" y="3248946"/>
            <a:ext cx="27780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102" name="Google Shape;102;p14"/>
          <p:cNvSpPr txBox="1">
            <a:spLocks noGrp="1"/>
          </p:cNvSpPr>
          <p:nvPr>
            <p:ph type="subTitle" idx="5"/>
          </p:nvPr>
        </p:nvSpPr>
        <p:spPr>
          <a:xfrm>
            <a:off x="5619476" y="3554899"/>
            <a:ext cx="27780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03" name="Google Shape;103;p14"/>
          <p:cNvSpPr txBox="1">
            <a:spLocks noGrp="1"/>
          </p:cNvSpPr>
          <p:nvPr>
            <p:ph type="title"/>
          </p:nvPr>
        </p:nvSpPr>
        <p:spPr>
          <a:xfrm>
            <a:off x="1732325" y="539500"/>
            <a:ext cx="66984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sp>
        <p:nvSpPr>
          <p:cNvPr id="104" name="Google Shape;104;p14"/>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 name="Google Shape;105;p14"/>
          <p:cNvCxnSpPr/>
          <p:nvPr/>
        </p:nvCxnSpPr>
        <p:spPr>
          <a:xfrm rot="10800000">
            <a:off x="820750" y="948675"/>
            <a:ext cx="791400" cy="0"/>
          </a:xfrm>
          <a:prstGeom prst="straightConnector1">
            <a:avLst/>
          </a:prstGeom>
          <a:noFill/>
          <a:ln w="38100" cap="flat" cmpd="sng">
            <a:solidFill>
              <a:srgbClr val="6178F6"/>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_10">
    <p:spTree>
      <p:nvGrpSpPr>
        <p:cNvPr id="1" name="Shape 106"/>
        <p:cNvGrpSpPr/>
        <p:nvPr/>
      </p:nvGrpSpPr>
      <p:grpSpPr>
        <a:xfrm>
          <a:off x="0" y="0"/>
          <a:ext cx="0" cy="0"/>
          <a:chOff x="0" y="0"/>
          <a:chExt cx="0" cy="0"/>
        </a:xfrm>
      </p:grpSpPr>
      <p:sp>
        <p:nvSpPr>
          <p:cNvPr id="107" name="Google Shape;107;p15"/>
          <p:cNvSpPr txBox="1">
            <a:spLocks noGrp="1"/>
          </p:cNvSpPr>
          <p:nvPr>
            <p:ph type="subTitle" idx="1"/>
          </p:nvPr>
        </p:nvSpPr>
        <p:spPr>
          <a:xfrm>
            <a:off x="1767336" y="2221511"/>
            <a:ext cx="2958900" cy="1741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a:endParaRPr/>
          </a:p>
        </p:txBody>
      </p:sp>
      <p:sp>
        <p:nvSpPr>
          <p:cNvPr id="108" name="Google Shape;108;p15"/>
          <p:cNvSpPr txBox="1">
            <a:spLocks noGrp="1"/>
          </p:cNvSpPr>
          <p:nvPr>
            <p:ph type="title"/>
          </p:nvPr>
        </p:nvSpPr>
        <p:spPr>
          <a:xfrm>
            <a:off x="1036036" y="1559761"/>
            <a:ext cx="2958900" cy="5952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Font typeface="Palanquin Dark"/>
              <a:buNone/>
              <a:defRPr>
                <a:latin typeface="Palanquin Dark"/>
                <a:ea typeface="Palanquin Dark"/>
                <a:cs typeface="Palanquin Dark"/>
                <a:sym typeface="Palanquin Dark"/>
              </a:defRPr>
            </a:lvl2pPr>
            <a:lvl3pPr lvl="2" rtl="0">
              <a:spcBef>
                <a:spcPts val="0"/>
              </a:spcBef>
              <a:spcAft>
                <a:spcPts val="0"/>
              </a:spcAft>
              <a:buSzPts val="3500"/>
              <a:buFont typeface="Palanquin Dark"/>
              <a:buNone/>
              <a:defRPr>
                <a:latin typeface="Palanquin Dark"/>
                <a:ea typeface="Palanquin Dark"/>
                <a:cs typeface="Palanquin Dark"/>
                <a:sym typeface="Palanquin Dark"/>
              </a:defRPr>
            </a:lvl3pPr>
            <a:lvl4pPr lvl="3" rtl="0">
              <a:spcBef>
                <a:spcPts val="0"/>
              </a:spcBef>
              <a:spcAft>
                <a:spcPts val="0"/>
              </a:spcAft>
              <a:buSzPts val="3500"/>
              <a:buFont typeface="Palanquin Dark"/>
              <a:buNone/>
              <a:defRPr>
                <a:latin typeface="Palanquin Dark"/>
                <a:ea typeface="Palanquin Dark"/>
                <a:cs typeface="Palanquin Dark"/>
                <a:sym typeface="Palanquin Dark"/>
              </a:defRPr>
            </a:lvl4pPr>
            <a:lvl5pPr lvl="4" rtl="0">
              <a:spcBef>
                <a:spcPts val="0"/>
              </a:spcBef>
              <a:spcAft>
                <a:spcPts val="0"/>
              </a:spcAft>
              <a:buSzPts val="3500"/>
              <a:buFont typeface="Palanquin Dark"/>
              <a:buNone/>
              <a:defRPr>
                <a:latin typeface="Palanquin Dark"/>
                <a:ea typeface="Palanquin Dark"/>
                <a:cs typeface="Palanquin Dark"/>
                <a:sym typeface="Palanquin Dark"/>
              </a:defRPr>
            </a:lvl5pPr>
            <a:lvl6pPr lvl="5" rtl="0">
              <a:spcBef>
                <a:spcPts val="0"/>
              </a:spcBef>
              <a:spcAft>
                <a:spcPts val="0"/>
              </a:spcAft>
              <a:buSzPts val="3500"/>
              <a:buFont typeface="Palanquin Dark"/>
              <a:buNone/>
              <a:defRPr>
                <a:latin typeface="Palanquin Dark"/>
                <a:ea typeface="Palanquin Dark"/>
                <a:cs typeface="Palanquin Dark"/>
                <a:sym typeface="Palanquin Dark"/>
              </a:defRPr>
            </a:lvl6pPr>
            <a:lvl7pPr lvl="6" rtl="0">
              <a:spcBef>
                <a:spcPts val="0"/>
              </a:spcBef>
              <a:spcAft>
                <a:spcPts val="0"/>
              </a:spcAft>
              <a:buSzPts val="3500"/>
              <a:buFont typeface="Palanquin Dark"/>
              <a:buNone/>
              <a:defRPr>
                <a:latin typeface="Palanquin Dark"/>
                <a:ea typeface="Palanquin Dark"/>
                <a:cs typeface="Palanquin Dark"/>
                <a:sym typeface="Palanquin Dark"/>
              </a:defRPr>
            </a:lvl7pPr>
            <a:lvl8pPr lvl="7" rtl="0">
              <a:spcBef>
                <a:spcPts val="0"/>
              </a:spcBef>
              <a:spcAft>
                <a:spcPts val="0"/>
              </a:spcAft>
              <a:buSzPts val="3500"/>
              <a:buFont typeface="Palanquin Dark"/>
              <a:buNone/>
              <a:defRPr>
                <a:latin typeface="Palanquin Dark"/>
                <a:ea typeface="Palanquin Dark"/>
                <a:cs typeface="Palanquin Dark"/>
                <a:sym typeface="Palanquin Dark"/>
              </a:defRPr>
            </a:lvl8pPr>
            <a:lvl9pPr lvl="8" rtl="0">
              <a:spcBef>
                <a:spcPts val="0"/>
              </a:spcBef>
              <a:spcAft>
                <a:spcPts val="0"/>
              </a:spcAft>
              <a:buSzPts val="3500"/>
              <a:buFont typeface="Palanquin Dark"/>
              <a:buNone/>
              <a:defRPr>
                <a:latin typeface="Palanquin Dark"/>
                <a:ea typeface="Palanquin Dark"/>
                <a:cs typeface="Palanquin Dark"/>
                <a:sym typeface="Palanquin Dark"/>
              </a:defRPr>
            </a:lvl9pPr>
          </a:lstStyle>
          <a:p>
            <a:endParaRPr/>
          </a:p>
        </p:txBody>
      </p:sp>
      <p:cxnSp>
        <p:nvCxnSpPr>
          <p:cNvPr id="109" name="Google Shape;109;p15"/>
          <p:cNvCxnSpPr/>
          <p:nvPr/>
        </p:nvCxnSpPr>
        <p:spPr>
          <a:xfrm>
            <a:off x="1176700" y="1399800"/>
            <a:ext cx="852000" cy="0"/>
          </a:xfrm>
          <a:prstGeom prst="straightConnector1">
            <a:avLst/>
          </a:prstGeom>
          <a:noFill/>
          <a:ln w="38100" cap="flat" cmpd="sng">
            <a:solidFill>
              <a:schemeClr val="accent1"/>
            </a:solidFill>
            <a:prstDash val="solid"/>
            <a:round/>
            <a:headEnd type="none" w="med" len="med"/>
            <a:tailEnd type="none" w="med" len="med"/>
          </a:ln>
        </p:spPr>
      </p:cxnSp>
      <p:sp>
        <p:nvSpPr>
          <p:cNvPr id="110" name="Google Shape;110;p15"/>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a:off x="5512425" y="668949"/>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37"/>
        <p:cNvGrpSpPr/>
        <p:nvPr/>
      </p:nvGrpSpPr>
      <p:grpSpPr>
        <a:xfrm>
          <a:off x="0" y="0"/>
          <a:ext cx="0" cy="0"/>
          <a:chOff x="0" y="0"/>
          <a:chExt cx="0" cy="0"/>
        </a:xfrm>
      </p:grpSpPr>
      <p:sp>
        <p:nvSpPr>
          <p:cNvPr id="138" name="Google Shape;138;p20"/>
          <p:cNvSpPr txBox="1">
            <a:spLocks noGrp="1"/>
          </p:cNvSpPr>
          <p:nvPr>
            <p:ph type="title"/>
          </p:nvPr>
        </p:nvSpPr>
        <p:spPr>
          <a:xfrm>
            <a:off x="1732225" y="539500"/>
            <a:ext cx="6698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9" name="Google Shape;139;p20"/>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0" name="Google Shape;140;p20"/>
          <p:cNvCxnSpPr/>
          <p:nvPr/>
        </p:nvCxnSpPr>
        <p:spPr>
          <a:xfrm rot="10800000">
            <a:off x="820750" y="948675"/>
            <a:ext cx="791400" cy="0"/>
          </a:xfrm>
          <a:prstGeom prst="straightConnector1">
            <a:avLst/>
          </a:prstGeom>
          <a:noFill/>
          <a:ln w="38100" cap="flat" cmpd="sng">
            <a:solidFill>
              <a:srgbClr val="6178F6"/>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2_2_1_1">
    <p:spTree>
      <p:nvGrpSpPr>
        <p:cNvPr id="1" name="Shape 190"/>
        <p:cNvGrpSpPr/>
        <p:nvPr/>
      </p:nvGrpSpPr>
      <p:grpSpPr>
        <a:xfrm>
          <a:off x="0" y="0"/>
          <a:ext cx="0" cy="0"/>
          <a:chOff x="0" y="0"/>
          <a:chExt cx="0" cy="0"/>
        </a:xfrm>
      </p:grpSpPr>
      <p:sp>
        <p:nvSpPr>
          <p:cNvPr id="191" name="Google Shape;191;p29"/>
          <p:cNvSpPr txBox="1">
            <a:spLocks noGrp="1"/>
          </p:cNvSpPr>
          <p:nvPr>
            <p:ph type="title" hasCustomPrompt="1"/>
          </p:nvPr>
        </p:nvSpPr>
        <p:spPr>
          <a:xfrm>
            <a:off x="3442950" y="3689500"/>
            <a:ext cx="2258100" cy="7179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5000"/>
              <a:buNone/>
              <a:defRPr sz="5000">
                <a:solidFill>
                  <a:schemeClr val="accent1"/>
                </a:solidFill>
                <a:latin typeface="Poppins"/>
                <a:ea typeface="Poppins"/>
                <a:cs typeface="Poppins"/>
                <a:sym typeface="Poppins"/>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92" name="Google Shape;192;p29"/>
          <p:cNvSpPr txBox="1">
            <a:spLocks noGrp="1"/>
          </p:cNvSpPr>
          <p:nvPr>
            <p:ph type="title" idx="2" hasCustomPrompt="1"/>
          </p:nvPr>
        </p:nvSpPr>
        <p:spPr>
          <a:xfrm>
            <a:off x="827225" y="3689500"/>
            <a:ext cx="2258100" cy="7179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000">
                <a:solidFill>
                  <a:schemeClr val="accent1"/>
                </a:solidFill>
                <a:latin typeface="Poppins"/>
                <a:ea typeface="Poppins"/>
                <a:cs typeface="Poppins"/>
                <a:sym typeface="Poppins"/>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193" name="Google Shape;193;p29"/>
          <p:cNvSpPr txBox="1">
            <a:spLocks noGrp="1"/>
          </p:cNvSpPr>
          <p:nvPr>
            <p:ph type="subTitle" idx="1"/>
          </p:nvPr>
        </p:nvSpPr>
        <p:spPr>
          <a:xfrm>
            <a:off x="827227" y="2621685"/>
            <a:ext cx="22581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endParaRPr/>
          </a:p>
        </p:txBody>
      </p:sp>
      <p:sp>
        <p:nvSpPr>
          <p:cNvPr id="194" name="Google Shape;194;p29"/>
          <p:cNvSpPr txBox="1">
            <a:spLocks noGrp="1"/>
          </p:cNvSpPr>
          <p:nvPr>
            <p:ph type="subTitle" idx="3"/>
          </p:nvPr>
        </p:nvSpPr>
        <p:spPr>
          <a:xfrm>
            <a:off x="827225" y="2993077"/>
            <a:ext cx="2258100" cy="7209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95" name="Google Shape;195;p29"/>
          <p:cNvSpPr txBox="1">
            <a:spLocks noGrp="1"/>
          </p:cNvSpPr>
          <p:nvPr>
            <p:ph type="subTitle" idx="4"/>
          </p:nvPr>
        </p:nvSpPr>
        <p:spPr>
          <a:xfrm>
            <a:off x="3442950" y="2621685"/>
            <a:ext cx="22581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endParaRPr/>
          </a:p>
        </p:txBody>
      </p:sp>
      <p:sp>
        <p:nvSpPr>
          <p:cNvPr id="196" name="Google Shape;196;p29"/>
          <p:cNvSpPr txBox="1">
            <a:spLocks noGrp="1"/>
          </p:cNvSpPr>
          <p:nvPr>
            <p:ph type="subTitle" idx="5"/>
          </p:nvPr>
        </p:nvSpPr>
        <p:spPr>
          <a:xfrm>
            <a:off x="3442950" y="2993077"/>
            <a:ext cx="2258100" cy="7209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97" name="Google Shape;197;p29"/>
          <p:cNvSpPr txBox="1">
            <a:spLocks noGrp="1"/>
          </p:cNvSpPr>
          <p:nvPr>
            <p:ph type="subTitle" idx="6"/>
          </p:nvPr>
        </p:nvSpPr>
        <p:spPr>
          <a:xfrm>
            <a:off x="6058673" y="2621685"/>
            <a:ext cx="22581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sz="2400" b="1">
                <a:latin typeface="Abhaya Libre"/>
                <a:ea typeface="Abhaya Libre"/>
                <a:cs typeface="Abhaya Libre"/>
                <a:sym typeface="Abhaya Libre"/>
              </a:defRPr>
            </a:lvl1pPr>
            <a:lvl2pPr lvl="1" rtl="0">
              <a:lnSpc>
                <a:spcPct val="100000"/>
              </a:lnSpc>
              <a:spcBef>
                <a:spcPts val="0"/>
              </a:spcBef>
              <a:spcAft>
                <a:spcPts val="0"/>
              </a:spcAft>
              <a:buNone/>
              <a:defRPr sz="2400" b="1">
                <a:latin typeface="Abhaya Libre"/>
                <a:ea typeface="Abhaya Libre"/>
                <a:cs typeface="Abhaya Libre"/>
                <a:sym typeface="Abhaya Libre"/>
              </a:defRPr>
            </a:lvl2pPr>
            <a:lvl3pPr lvl="2" rtl="0">
              <a:lnSpc>
                <a:spcPct val="100000"/>
              </a:lnSpc>
              <a:spcBef>
                <a:spcPts val="0"/>
              </a:spcBef>
              <a:spcAft>
                <a:spcPts val="0"/>
              </a:spcAft>
              <a:buNone/>
              <a:defRPr sz="2400" b="1">
                <a:latin typeface="Abhaya Libre"/>
                <a:ea typeface="Abhaya Libre"/>
                <a:cs typeface="Abhaya Libre"/>
                <a:sym typeface="Abhaya Libre"/>
              </a:defRPr>
            </a:lvl3pPr>
            <a:lvl4pPr lvl="3" rtl="0">
              <a:lnSpc>
                <a:spcPct val="100000"/>
              </a:lnSpc>
              <a:spcBef>
                <a:spcPts val="0"/>
              </a:spcBef>
              <a:spcAft>
                <a:spcPts val="0"/>
              </a:spcAft>
              <a:buNone/>
              <a:defRPr sz="2400" b="1">
                <a:latin typeface="Abhaya Libre"/>
                <a:ea typeface="Abhaya Libre"/>
                <a:cs typeface="Abhaya Libre"/>
                <a:sym typeface="Abhaya Libre"/>
              </a:defRPr>
            </a:lvl4pPr>
            <a:lvl5pPr lvl="4" rtl="0">
              <a:lnSpc>
                <a:spcPct val="100000"/>
              </a:lnSpc>
              <a:spcBef>
                <a:spcPts val="0"/>
              </a:spcBef>
              <a:spcAft>
                <a:spcPts val="0"/>
              </a:spcAft>
              <a:buNone/>
              <a:defRPr sz="2400" b="1">
                <a:latin typeface="Abhaya Libre"/>
                <a:ea typeface="Abhaya Libre"/>
                <a:cs typeface="Abhaya Libre"/>
                <a:sym typeface="Abhaya Libre"/>
              </a:defRPr>
            </a:lvl5pPr>
            <a:lvl6pPr lvl="5" rtl="0">
              <a:lnSpc>
                <a:spcPct val="100000"/>
              </a:lnSpc>
              <a:spcBef>
                <a:spcPts val="0"/>
              </a:spcBef>
              <a:spcAft>
                <a:spcPts val="0"/>
              </a:spcAft>
              <a:buNone/>
              <a:defRPr sz="2400" b="1">
                <a:latin typeface="Abhaya Libre"/>
                <a:ea typeface="Abhaya Libre"/>
                <a:cs typeface="Abhaya Libre"/>
                <a:sym typeface="Abhaya Libre"/>
              </a:defRPr>
            </a:lvl6pPr>
            <a:lvl7pPr lvl="6" rtl="0">
              <a:lnSpc>
                <a:spcPct val="100000"/>
              </a:lnSpc>
              <a:spcBef>
                <a:spcPts val="0"/>
              </a:spcBef>
              <a:spcAft>
                <a:spcPts val="0"/>
              </a:spcAft>
              <a:buNone/>
              <a:defRPr sz="2400" b="1">
                <a:latin typeface="Abhaya Libre"/>
                <a:ea typeface="Abhaya Libre"/>
                <a:cs typeface="Abhaya Libre"/>
                <a:sym typeface="Abhaya Libre"/>
              </a:defRPr>
            </a:lvl7pPr>
            <a:lvl8pPr lvl="7" rtl="0">
              <a:lnSpc>
                <a:spcPct val="100000"/>
              </a:lnSpc>
              <a:spcBef>
                <a:spcPts val="0"/>
              </a:spcBef>
              <a:spcAft>
                <a:spcPts val="0"/>
              </a:spcAft>
              <a:buNone/>
              <a:defRPr sz="2400" b="1">
                <a:latin typeface="Abhaya Libre"/>
                <a:ea typeface="Abhaya Libre"/>
                <a:cs typeface="Abhaya Libre"/>
                <a:sym typeface="Abhaya Libre"/>
              </a:defRPr>
            </a:lvl8pPr>
            <a:lvl9pPr lvl="8" rtl="0">
              <a:lnSpc>
                <a:spcPct val="100000"/>
              </a:lnSpc>
              <a:spcBef>
                <a:spcPts val="0"/>
              </a:spcBef>
              <a:spcAft>
                <a:spcPts val="0"/>
              </a:spcAft>
              <a:buNone/>
              <a:defRPr sz="2400" b="1">
                <a:latin typeface="Abhaya Libre"/>
                <a:ea typeface="Abhaya Libre"/>
                <a:cs typeface="Abhaya Libre"/>
                <a:sym typeface="Abhaya Libre"/>
              </a:defRPr>
            </a:lvl9pPr>
          </a:lstStyle>
          <a:p>
            <a:endParaRPr/>
          </a:p>
        </p:txBody>
      </p:sp>
      <p:sp>
        <p:nvSpPr>
          <p:cNvPr id="198" name="Google Shape;198;p29"/>
          <p:cNvSpPr txBox="1">
            <a:spLocks noGrp="1"/>
          </p:cNvSpPr>
          <p:nvPr>
            <p:ph type="subTitle" idx="7"/>
          </p:nvPr>
        </p:nvSpPr>
        <p:spPr>
          <a:xfrm>
            <a:off x="6058674" y="2993077"/>
            <a:ext cx="2258100" cy="7209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99" name="Google Shape;199;p29"/>
          <p:cNvSpPr/>
          <p:nvPr/>
        </p:nvSpPr>
        <p:spPr>
          <a:xfrm>
            <a:off x="8296510" y="4331203"/>
            <a:ext cx="250245" cy="250245"/>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9"/>
          <p:cNvSpPr txBox="1">
            <a:spLocks noGrp="1"/>
          </p:cNvSpPr>
          <p:nvPr>
            <p:ph type="title" idx="8"/>
          </p:nvPr>
        </p:nvSpPr>
        <p:spPr>
          <a:xfrm>
            <a:off x="1732325" y="539500"/>
            <a:ext cx="66984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sp>
        <p:nvSpPr>
          <p:cNvPr id="201" name="Google Shape;201;p29"/>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2" name="Google Shape;202;p29"/>
          <p:cNvCxnSpPr/>
          <p:nvPr/>
        </p:nvCxnSpPr>
        <p:spPr>
          <a:xfrm rot="10800000">
            <a:off x="820750" y="948675"/>
            <a:ext cx="791400" cy="0"/>
          </a:xfrm>
          <a:prstGeom prst="straightConnector1">
            <a:avLst/>
          </a:prstGeom>
          <a:noFill/>
          <a:ln w="38100" cap="flat" cmpd="sng">
            <a:solidFill>
              <a:srgbClr val="6178F6"/>
            </a:solidFill>
            <a:prstDash val="solid"/>
            <a:round/>
            <a:headEnd type="none" w="med" len="med"/>
            <a:tailEnd type="none" w="med" len="med"/>
          </a:ln>
        </p:spPr>
      </p:cxnSp>
      <p:sp>
        <p:nvSpPr>
          <p:cNvPr id="203" name="Google Shape;203;p29"/>
          <p:cNvSpPr txBox="1">
            <a:spLocks noGrp="1"/>
          </p:cNvSpPr>
          <p:nvPr>
            <p:ph type="title" idx="9" hasCustomPrompt="1"/>
          </p:nvPr>
        </p:nvSpPr>
        <p:spPr>
          <a:xfrm>
            <a:off x="6058674" y="3689500"/>
            <a:ext cx="2258100" cy="7179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5000">
                <a:solidFill>
                  <a:schemeClr val="accent1"/>
                </a:solidFill>
                <a:latin typeface="Poppins"/>
                <a:ea typeface="Poppins"/>
                <a:cs typeface="Poppins"/>
                <a:sym typeface="Poppins"/>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3_1_4_2">
    <p:spTree>
      <p:nvGrpSpPr>
        <p:cNvPr id="1" name="Shape 228"/>
        <p:cNvGrpSpPr/>
        <p:nvPr/>
      </p:nvGrpSpPr>
      <p:grpSpPr>
        <a:xfrm>
          <a:off x="0" y="0"/>
          <a:ext cx="0" cy="0"/>
          <a:chOff x="0" y="0"/>
          <a:chExt cx="0" cy="0"/>
        </a:xfrm>
      </p:grpSpPr>
      <p:sp>
        <p:nvSpPr>
          <p:cNvPr id="229" name="Google Shape;229;p32"/>
          <p:cNvSpPr/>
          <p:nvPr/>
        </p:nvSpPr>
        <p:spPr>
          <a:xfrm rot="-448633">
            <a:off x="6943268" y="1563000"/>
            <a:ext cx="2718012" cy="2717417"/>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2"/>
          <p:cNvSpPr txBox="1">
            <a:spLocks noGrp="1"/>
          </p:cNvSpPr>
          <p:nvPr>
            <p:ph type="subTitle" idx="1"/>
          </p:nvPr>
        </p:nvSpPr>
        <p:spPr>
          <a:xfrm>
            <a:off x="713226" y="1763896"/>
            <a:ext cx="21732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31" name="Google Shape;231;p32"/>
          <p:cNvSpPr txBox="1">
            <a:spLocks noGrp="1"/>
          </p:cNvSpPr>
          <p:nvPr>
            <p:ph type="subTitle" idx="2"/>
          </p:nvPr>
        </p:nvSpPr>
        <p:spPr>
          <a:xfrm>
            <a:off x="713225" y="2068012"/>
            <a:ext cx="21732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32" name="Google Shape;232;p32"/>
          <p:cNvSpPr txBox="1">
            <a:spLocks noGrp="1"/>
          </p:cNvSpPr>
          <p:nvPr>
            <p:ph type="subTitle" idx="3"/>
          </p:nvPr>
        </p:nvSpPr>
        <p:spPr>
          <a:xfrm>
            <a:off x="713226" y="3247112"/>
            <a:ext cx="21732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33" name="Google Shape;233;p32"/>
          <p:cNvSpPr txBox="1">
            <a:spLocks noGrp="1"/>
          </p:cNvSpPr>
          <p:nvPr>
            <p:ph type="subTitle" idx="4"/>
          </p:nvPr>
        </p:nvSpPr>
        <p:spPr>
          <a:xfrm>
            <a:off x="713225" y="3553062"/>
            <a:ext cx="21732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34" name="Google Shape;234;p32"/>
          <p:cNvSpPr txBox="1">
            <a:spLocks noGrp="1"/>
          </p:cNvSpPr>
          <p:nvPr>
            <p:ph type="subTitle" idx="5"/>
          </p:nvPr>
        </p:nvSpPr>
        <p:spPr>
          <a:xfrm>
            <a:off x="6255650" y="1763896"/>
            <a:ext cx="2173200" cy="371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2500" b="1">
                <a:latin typeface="Abhaya Libre"/>
                <a:ea typeface="Abhaya Libre"/>
                <a:cs typeface="Abhaya Libre"/>
                <a:sym typeface="Abhaya Libre"/>
              </a:defRPr>
            </a:lvl1pPr>
            <a:lvl2pPr lvl="1" algn="r" rtl="0">
              <a:lnSpc>
                <a:spcPct val="100000"/>
              </a:lnSpc>
              <a:spcBef>
                <a:spcPts val="0"/>
              </a:spcBef>
              <a:spcAft>
                <a:spcPts val="0"/>
              </a:spcAft>
              <a:buNone/>
              <a:defRPr sz="2500" b="1">
                <a:latin typeface="Abhaya Libre"/>
                <a:ea typeface="Abhaya Libre"/>
                <a:cs typeface="Abhaya Libre"/>
                <a:sym typeface="Abhaya Libre"/>
              </a:defRPr>
            </a:lvl2pPr>
            <a:lvl3pPr lvl="2" algn="r" rtl="0">
              <a:lnSpc>
                <a:spcPct val="100000"/>
              </a:lnSpc>
              <a:spcBef>
                <a:spcPts val="0"/>
              </a:spcBef>
              <a:spcAft>
                <a:spcPts val="0"/>
              </a:spcAft>
              <a:buNone/>
              <a:defRPr sz="2500" b="1">
                <a:latin typeface="Abhaya Libre"/>
                <a:ea typeface="Abhaya Libre"/>
                <a:cs typeface="Abhaya Libre"/>
                <a:sym typeface="Abhaya Libre"/>
              </a:defRPr>
            </a:lvl3pPr>
            <a:lvl4pPr lvl="3" algn="r" rtl="0">
              <a:lnSpc>
                <a:spcPct val="100000"/>
              </a:lnSpc>
              <a:spcBef>
                <a:spcPts val="0"/>
              </a:spcBef>
              <a:spcAft>
                <a:spcPts val="0"/>
              </a:spcAft>
              <a:buNone/>
              <a:defRPr sz="2500" b="1">
                <a:latin typeface="Abhaya Libre"/>
                <a:ea typeface="Abhaya Libre"/>
                <a:cs typeface="Abhaya Libre"/>
                <a:sym typeface="Abhaya Libre"/>
              </a:defRPr>
            </a:lvl4pPr>
            <a:lvl5pPr lvl="4" algn="r" rtl="0">
              <a:lnSpc>
                <a:spcPct val="100000"/>
              </a:lnSpc>
              <a:spcBef>
                <a:spcPts val="0"/>
              </a:spcBef>
              <a:spcAft>
                <a:spcPts val="0"/>
              </a:spcAft>
              <a:buNone/>
              <a:defRPr sz="2500" b="1">
                <a:latin typeface="Abhaya Libre"/>
                <a:ea typeface="Abhaya Libre"/>
                <a:cs typeface="Abhaya Libre"/>
                <a:sym typeface="Abhaya Libre"/>
              </a:defRPr>
            </a:lvl5pPr>
            <a:lvl6pPr lvl="5" algn="r" rtl="0">
              <a:lnSpc>
                <a:spcPct val="100000"/>
              </a:lnSpc>
              <a:spcBef>
                <a:spcPts val="0"/>
              </a:spcBef>
              <a:spcAft>
                <a:spcPts val="0"/>
              </a:spcAft>
              <a:buNone/>
              <a:defRPr sz="2500" b="1">
                <a:latin typeface="Abhaya Libre"/>
                <a:ea typeface="Abhaya Libre"/>
                <a:cs typeface="Abhaya Libre"/>
                <a:sym typeface="Abhaya Libre"/>
              </a:defRPr>
            </a:lvl6pPr>
            <a:lvl7pPr lvl="6" algn="r" rtl="0">
              <a:lnSpc>
                <a:spcPct val="100000"/>
              </a:lnSpc>
              <a:spcBef>
                <a:spcPts val="0"/>
              </a:spcBef>
              <a:spcAft>
                <a:spcPts val="0"/>
              </a:spcAft>
              <a:buNone/>
              <a:defRPr sz="2500" b="1">
                <a:latin typeface="Abhaya Libre"/>
                <a:ea typeface="Abhaya Libre"/>
                <a:cs typeface="Abhaya Libre"/>
                <a:sym typeface="Abhaya Libre"/>
              </a:defRPr>
            </a:lvl7pPr>
            <a:lvl8pPr lvl="7" algn="r" rtl="0">
              <a:lnSpc>
                <a:spcPct val="100000"/>
              </a:lnSpc>
              <a:spcBef>
                <a:spcPts val="0"/>
              </a:spcBef>
              <a:spcAft>
                <a:spcPts val="0"/>
              </a:spcAft>
              <a:buNone/>
              <a:defRPr sz="2500" b="1">
                <a:latin typeface="Abhaya Libre"/>
                <a:ea typeface="Abhaya Libre"/>
                <a:cs typeface="Abhaya Libre"/>
                <a:sym typeface="Abhaya Libre"/>
              </a:defRPr>
            </a:lvl8pPr>
            <a:lvl9pPr lvl="8" algn="r"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35" name="Google Shape;235;p32"/>
          <p:cNvSpPr txBox="1">
            <a:spLocks noGrp="1"/>
          </p:cNvSpPr>
          <p:nvPr>
            <p:ph type="subTitle" idx="6"/>
          </p:nvPr>
        </p:nvSpPr>
        <p:spPr>
          <a:xfrm>
            <a:off x="6255650" y="2068012"/>
            <a:ext cx="2173200" cy="527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endParaRPr/>
          </a:p>
        </p:txBody>
      </p:sp>
      <p:sp>
        <p:nvSpPr>
          <p:cNvPr id="236" name="Google Shape;236;p32"/>
          <p:cNvSpPr txBox="1">
            <a:spLocks noGrp="1"/>
          </p:cNvSpPr>
          <p:nvPr>
            <p:ph type="subTitle" idx="7"/>
          </p:nvPr>
        </p:nvSpPr>
        <p:spPr>
          <a:xfrm>
            <a:off x="6255650" y="3248946"/>
            <a:ext cx="2173200" cy="371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2500" b="1">
                <a:latin typeface="Abhaya Libre"/>
                <a:ea typeface="Abhaya Libre"/>
                <a:cs typeface="Abhaya Libre"/>
                <a:sym typeface="Abhaya Libre"/>
              </a:defRPr>
            </a:lvl1pPr>
            <a:lvl2pPr lvl="1" algn="r" rtl="0">
              <a:lnSpc>
                <a:spcPct val="100000"/>
              </a:lnSpc>
              <a:spcBef>
                <a:spcPts val="0"/>
              </a:spcBef>
              <a:spcAft>
                <a:spcPts val="0"/>
              </a:spcAft>
              <a:buNone/>
              <a:defRPr sz="2500" b="1">
                <a:latin typeface="Abhaya Libre"/>
                <a:ea typeface="Abhaya Libre"/>
                <a:cs typeface="Abhaya Libre"/>
                <a:sym typeface="Abhaya Libre"/>
              </a:defRPr>
            </a:lvl2pPr>
            <a:lvl3pPr lvl="2" algn="r" rtl="0">
              <a:lnSpc>
                <a:spcPct val="100000"/>
              </a:lnSpc>
              <a:spcBef>
                <a:spcPts val="0"/>
              </a:spcBef>
              <a:spcAft>
                <a:spcPts val="0"/>
              </a:spcAft>
              <a:buNone/>
              <a:defRPr sz="2500" b="1">
                <a:latin typeface="Abhaya Libre"/>
                <a:ea typeface="Abhaya Libre"/>
                <a:cs typeface="Abhaya Libre"/>
                <a:sym typeface="Abhaya Libre"/>
              </a:defRPr>
            </a:lvl3pPr>
            <a:lvl4pPr lvl="3" algn="r" rtl="0">
              <a:lnSpc>
                <a:spcPct val="100000"/>
              </a:lnSpc>
              <a:spcBef>
                <a:spcPts val="0"/>
              </a:spcBef>
              <a:spcAft>
                <a:spcPts val="0"/>
              </a:spcAft>
              <a:buNone/>
              <a:defRPr sz="2500" b="1">
                <a:latin typeface="Abhaya Libre"/>
                <a:ea typeface="Abhaya Libre"/>
                <a:cs typeface="Abhaya Libre"/>
                <a:sym typeface="Abhaya Libre"/>
              </a:defRPr>
            </a:lvl4pPr>
            <a:lvl5pPr lvl="4" algn="r" rtl="0">
              <a:lnSpc>
                <a:spcPct val="100000"/>
              </a:lnSpc>
              <a:spcBef>
                <a:spcPts val="0"/>
              </a:spcBef>
              <a:spcAft>
                <a:spcPts val="0"/>
              </a:spcAft>
              <a:buNone/>
              <a:defRPr sz="2500" b="1">
                <a:latin typeface="Abhaya Libre"/>
                <a:ea typeface="Abhaya Libre"/>
                <a:cs typeface="Abhaya Libre"/>
                <a:sym typeface="Abhaya Libre"/>
              </a:defRPr>
            </a:lvl5pPr>
            <a:lvl6pPr lvl="5" algn="r" rtl="0">
              <a:lnSpc>
                <a:spcPct val="100000"/>
              </a:lnSpc>
              <a:spcBef>
                <a:spcPts val="0"/>
              </a:spcBef>
              <a:spcAft>
                <a:spcPts val="0"/>
              </a:spcAft>
              <a:buNone/>
              <a:defRPr sz="2500" b="1">
                <a:latin typeface="Abhaya Libre"/>
                <a:ea typeface="Abhaya Libre"/>
                <a:cs typeface="Abhaya Libre"/>
                <a:sym typeface="Abhaya Libre"/>
              </a:defRPr>
            </a:lvl6pPr>
            <a:lvl7pPr lvl="6" algn="r" rtl="0">
              <a:lnSpc>
                <a:spcPct val="100000"/>
              </a:lnSpc>
              <a:spcBef>
                <a:spcPts val="0"/>
              </a:spcBef>
              <a:spcAft>
                <a:spcPts val="0"/>
              </a:spcAft>
              <a:buNone/>
              <a:defRPr sz="2500" b="1">
                <a:latin typeface="Abhaya Libre"/>
                <a:ea typeface="Abhaya Libre"/>
                <a:cs typeface="Abhaya Libre"/>
                <a:sym typeface="Abhaya Libre"/>
              </a:defRPr>
            </a:lvl7pPr>
            <a:lvl8pPr lvl="7" algn="r" rtl="0">
              <a:lnSpc>
                <a:spcPct val="100000"/>
              </a:lnSpc>
              <a:spcBef>
                <a:spcPts val="0"/>
              </a:spcBef>
              <a:spcAft>
                <a:spcPts val="0"/>
              </a:spcAft>
              <a:buNone/>
              <a:defRPr sz="2500" b="1">
                <a:latin typeface="Abhaya Libre"/>
                <a:ea typeface="Abhaya Libre"/>
                <a:cs typeface="Abhaya Libre"/>
                <a:sym typeface="Abhaya Libre"/>
              </a:defRPr>
            </a:lvl8pPr>
            <a:lvl9pPr lvl="8" algn="r"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37" name="Google Shape;237;p32"/>
          <p:cNvSpPr txBox="1">
            <a:spLocks noGrp="1"/>
          </p:cNvSpPr>
          <p:nvPr>
            <p:ph type="subTitle" idx="8"/>
          </p:nvPr>
        </p:nvSpPr>
        <p:spPr>
          <a:xfrm>
            <a:off x="6255650" y="3553062"/>
            <a:ext cx="2173200" cy="527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lvl1pPr>
            <a:lvl2pPr lvl="1" algn="r" rtl="0">
              <a:lnSpc>
                <a:spcPct val="100000"/>
              </a:lnSpc>
              <a:spcBef>
                <a:spcPts val="0"/>
              </a:spcBef>
              <a:spcAft>
                <a:spcPts val="0"/>
              </a:spcAft>
              <a:buNone/>
              <a:defRPr sz="1400"/>
            </a:lvl2pPr>
            <a:lvl3pPr lvl="2" algn="r" rtl="0">
              <a:lnSpc>
                <a:spcPct val="100000"/>
              </a:lnSpc>
              <a:spcBef>
                <a:spcPts val="0"/>
              </a:spcBef>
              <a:spcAft>
                <a:spcPts val="0"/>
              </a:spcAft>
              <a:buNone/>
              <a:defRPr sz="1400"/>
            </a:lvl3pPr>
            <a:lvl4pPr lvl="3" algn="r" rtl="0">
              <a:lnSpc>
                <a:spcPct val="100000"/>
              </a:lnSpc>
              <a:spcBef>
                <a:spcPts val="0"/>
              </a:spcBef>
              <a:spcAft>
                <a:spcPts val="0"/>
              </a:spcAft>
              <a:buNone/>
              <a:defRPr sz="1400"/>
            </a:lvl4pPr>
            <a:lvl5pPr lvl="4" algn="r" rtl="0">
              <a:lnSpc>
                <a:spcPct val="100000"/>
              </a:lnSpc>
              <a:spcBef>
                <a:spcPts val="0"/>
              </a:spcBef>
              <a:spcAft>
                <a:spcPts val="0"/>
              </a:spcAft>
              <a:buNone/>
              <a:defRPr sz="1400"/>
            </a:lvl5pPr>
            <a:lvl6pPr lvl="5" algn="r" rtl="0">
              <a:lnSpc>
                <a:spcPct val="100000"/>
              </a:lnSpc>
              <a:spcBef>
                <a:spcPts val="0"/>
              </a:spcBef>
              <a:spcAft>
                <a:spcPts val="0"/>
              </a:spcAft>
              <a:buNone/>
              <a:defRPr sz="1400"/>
            </a:lvl6pPr>
            <a:lvl7pPr lvl="6" algn="r" rtl="0">
              <a:lnSpc>
                <a:spcPct val="100000"/>
              </a:lnSpc>
              <a:spcBef>
                <a:spcPts val="0"/>
              </a:spcBef>
              <a:spcAft>
                <a:spcPts val="0"/>
              </a:spcAft>
              <a:buNone/>
              <a:defRPr sz="1400"/>
            </a:lvl7pPr>
            <a:lvl8pPr lvl="7" algn="r" rtl="0">
              <a:lnSpc>
                <a:spcPct val="100000"/>
              </a:lnSpc>
              <a:spcBef>
                <a:spcPts val="0"/>
              </a:spcBef>
              <a:spcAft>
                <a:spcPts val="0"/>
              </a:spcAft>
              <a:buNone/>
              <a:defRPr sz="1400"/>
            </a:lvl8pPr>
            <a:lvl9pPr lvl="8" algn="r" rtl="0">
              <a:lnSpc>
                <a:spcPct val="100000"/>
              </a:lnSpc>
              <a:spcBef>
                <a:spcPts val="0"/>
              </a:spcBef>
              <a:spcAft>
                <a:spcPts val="0"/>
              </a:spcAft>
              <a:buNone/>
              <a:defRPr sz="1400"/>
            </a:lvl9pPr>
          </a:lstStyle>
          <a:p>
            <a:endParaRPr/>
          </a:p>
        </p:txBody>
      </p:sp>
      <p:sp>
        <p:nvSpPr>
          <p:cNvPr id="238" name="Google Shape;238;p32"/>
          <p:cNvSpPr/>
          <p:nvPr/>
        </p:nvSpPr>
        <p:spPr>
          <a:xfrm>
            <a:off x="8307865" y="4318573"/>
            <a:ext cx="227528" cy="226908"/>
          </a:xfrm>
          <a:custGeom>
            <a:avLst/>
            <a:gdLst/>
            <a:ahLst/>
            <a:cxnLst/>
            <a:rect l="l" t="t" r="r" b="b"/>
            <a:pathLst>
              <a:path w="12109" h="12076" extrusionOk="0">
                <a:moveTo>
                  <a:pt x="6071" y="0"/>
                </a:moveTo>
                <a:lnTo>
                  <a:pt x="5504" y="2302"/>
                </a:lnTo>
                <a:cubicBezTo>
                  <a:pt x="5137" y="3870"/>
                  <a:pt x="3903" y="5104"/>
                  <a:pt x="2335" y="5471"/>
                </a:cubicBezTo>
                <a:lnTo>
                  <a:pt x="0" y="6005"/>
                </a:lnTo>
                <a:lnTo>
                  <a:pt x="2335" y="6572"/>
                </a:lnTo>
                <a:cubicBezTo>
                  <a:pt x="3903" y="6939"/>
                  <a:pt x="5137" y="8173"/>
                  <a:pt x="5504" y="9741"/>
                </a:cubicBezTo>
                <a:lnTo>
                  <a:pt x="6038" y="12076"/>
                </a:lnTo>
                <a:lnTo>
                  <a:pt x="6605" y="9741"/>
                </a:lnTo>
                <a:cubicBezTo>
                  <a:pt x="6972" y="8173"/>
                  <a:pt x="8206" y="6939"/>
                  <a:pt x="9774" y="6572"/>
                </a:cubicBezTo>
                <a:lnTo>
                  <a:pt x="12109" y="6038"/>
                </a:lnTo>
                <a:lnTo>
                  <a:pt x="9774" y="5471"/>
                </a:lnTo>
                <a:cubicBezTo>
                  <a:pt x="8206" y="5104"/>
                  <a:pt x="6972" y="3870"/>
                  <a:pt x="6605" y="2302"/>
                </a:cubicBezTo>
                <a:lnTo>
                  <a:pt x="6071" y="0"/>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2"/>
          <p:cNvSpPr txBox="1">
            <a:spLocks noGrp="1"/>
          </p:cNvSpPr>
          <p:nvPr>
            <p:ph type="title"/>
          </p:nvPr>
        </p:nvSpPr>
        <p:spPr>
          <a:xfrm>
            <a:off x="1732325" y="539500"/>
            <a:ext cx="66984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cxnSp>
        <p:nvCxnSpPr>
          <p:cNvPr id="240" name="Google Shape;240;p32"/>
          <p:cNvCxnSpPr/>
          <p:nvPr/>
        </p:nvCxnSpPr>
        <p:spPr>
          <a:xfrm rot="10800000">
            <a:off x="820750" y="948675"/>
            <a:ext cx="791400" cy="0"/>
          </a:xfrm>
          <a:prstGeom prst="straightConnector1">
            <a:avLst/>
          </a:prstGeom>
          <a:noFill/>
          <a:ln w="38100" cap="flat" cmpd="sng">
            <a:solidFill>
              <a:srgbClr val="6178F6"/>
            </a:solidFill>
            <a:prstDash val="solid"/>
            <a:round/>
            <a:headEnd type="none" w="med" len="med"/>
            <a:tailEnd type="none" w="med" len="med"/>
          </a:ln>
        </p:spPr>
      </p:cxnSp>
      <p:sp>
        <p:nvSpPr>
          <p:cNvPr id="241" name="Google Shape;241;p32"/>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4_1_1_1">
    <p:spTree>
      <p:nvGrpSpPr>
        <p:cNvPr id="1" name="Shape 271"/>
        <p:cNvGrpSpPr/>
        <p:nvPr/>
      </p:nvGrpSpPr>
      <p:grpSpPr>
        <a:xfrm>
          <a:off x="0" y="0"/>
          <a:ext cx="0" cy="0"/>
          <a:chOff x="0" y="0"/>
          <a:chExt cx="0" cy="0"/>
        </a:xfrm>
      </p:grpSpPr>
      <p:sp>
        <p:nvSpPr>
          <p:cNvPr id="272" name="Google Shape;272;p35"/>
          <p:cNvSpPr/>
          <p:nvPr/>
        </p:nvSpPr>
        <p:spPr>
          <a:xfrm rot="-448633">
            <a:off x="417593" y="2975950"/>
            <a:ext cx="2718012" cy="2717417"/>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5"/>
          <p:cNvSpPr txBox="1">
            <a:spLocks noGrp="1"/>
          </p:cNvSpPr>
          <p:nvPr>
            <p:ph type="subTitle" idx="1"/>
          </p:nvPr>
        </p:nvSpPr>
        <p:spPr>
          <a:xfrm>
            <a:off x="5668750" y="2609261"/>
            <a:ext cx="26415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74" name="Google Shape;274;p35"/>
          <p:cNvSpPr txBox="1">
            <a:spLocks noGrp="1"/>
          </p:cNvSpPr>
          <p:nvPr>
            <p:ph type="subTitle" idx="2"/>
          </p:nvPr>
        </p:nvSpPr>
        <p:spPr>
          <a:xfrm>
            <a:off x="5668750" y="2924498"/>
            <a:ext cx="2641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75" name="Google Shape;275;p35"/>
          <p:cNvSpPr txBox="1">
            <a:spLocks noGrp="1"/>
          </p:cNvSpPr>
          <p:nvPr>
            <p:ph type="subTitle" idx="3"/>
          </p:nvPr>
        </p:nvSpPr>
        <p:spPr>
          <a:xfrm>
            <a:off x="5668750" y="1485449"/>
            <a:ext cx="26415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76" name="Google Shape;276;p35"/>
          <p:cNvSpPr txBox="1">
            <a:spLocks noGrp="1"/>
          </p:cNvSpPr>
          <p:nvPr>
            <p:ph type="subTitle" idx="4"/>
          </p:nvPr>
        </p:nvSpPr>
        <p:spPr>
          <a:xfrm>
            <a:off x="5668750" y="1800676"/>
            <a:ext cx="2641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77" name="Google Shape;277;p35"/>
          <p:cNvSpPr txBox="1">
            <a:spLocks noGrp="1"/>
          </p:cNvSpPr>
          <p:nvPr>
            <p:ph type="subTitle" idx="5"/>
          </p:nvPr>
        </p:nvSpPr>
        <p:spPr>
          <a:xfrm>
            <a:off x="5668750" y="3733073"/>
            <a:ext cx="2641500" cy="3714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78" name="Google Shape;278;p35"/>
          <p:cNvSpPr txBox="1">
            <a:spLocks noGrp="1"/>
          </p:cNvSpPr>
          <p:nvPr>
            <p:ph type="subTitle" idx="6"/>
          </p:nvPr>
        </p:nvSpPr>
        <p:spPr>
          <a:xfrm>
            <a:off x="5668750" y="4048300"/>
            <a:ext cx="2641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79" name="Google Shape;279;p35"/>
          <p:cNvSpPr txBox="1">
            <a:spLocks noGrp="1"/>
          </p:cNvSpPr>
          <p:nvPr>
            <p:ph type="subTitle" idx="7"/>
          </p:nvPr>
        </p:nvSpPr>
        <p:spPr>
          <a:xfrm>
            <a:off x="1739500" y="1485449"/>
            <a:ext cx="26415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80" name="Google Shape;280;p35"/>
          <p:cNvSpPr txBox="1">
            <a:spLocks noGrp="1"/>
          </p:cNvSpPr>
          <p:nvPr>
            <p:ph type="subTitle" idx="8"/>
          </p:nvPr>
        </p:nvSpPr>
        <p:spPr>
          <a:xfrm>
            <a:off x="1739500" y="1800676"/>
            <a:ext cx="2641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81" name="Google Shape;281;p35"/>
          <p:cNvSpPr txBox="1">
            <a:spLocks noGrp="1"/>
          </p:cNvSpPr>
          <p:nvPr>
            <p:ph type="subTitle" idx="9"/>
          </p:nvPr>
        </p:nvSpPr>
        <p:spPr>
          <a:xfrm>
            <a:off x="1739500" y="2609261"/>
            <a:ext cx="26415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82" name="Google Shape;282;p35"/>
          <p:cNvSpPr txBox="1">
            <a:spLocks noGrp="1"/>
          </p:cNvSpPr>
          <p:nvPr>
            <p:ph type="subTitle" idx="13"/>
          </p:nvPr>
        </p:nvSpPr>
        <p:spPr>
          <a:xfrm>
            <a:off x="1739500" y="2924498"/>
            <a:ext cx="2641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83" name="Google Shape;283;p35"/>
          <p:cNvSpPr txBox="1">
            <a:spLocks noGrp="1"/>
          </p:cNvSpPr>
          <p:nvPr>
            <p:ph type="subTitle" idx="14"/>
          </p:nvPr>
        </p:nvSpPr>
        <p:spPr>
          <a:xfrm>
            <a:off x="1739500" y="3733073"/>
            <a:ext cx="2641500" cy="371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2500" b="1">
                <a:latin typeface="Abhaya Libre"/>
                <a:ea typeface="Abhaya Libre"/>
                <a:cs typeface="Abhaya Libre"/>
                <a:sym typeface="Abhaya Libre"/>
              </a:defRPr>
            </a:lvl1pPr>
            <a:lvl2pPr lvl="1" rtl="0">
              <a:lnSpc>
                <a:spcPct val="100000"/>
              </a:lnSpc>
              <a:spcBef>
                <a:spcPts val="0"/>
              </a:spcBef>
              <a:spcAft>
                <a:spcPts val="0"/>
              </a:spcAft>
              <a:buNone/>
              <a:defRPr sz="2500" b="1">
                <a:latin typeface="Abhaya Libre"/>
                <a:ea typeface="Abhaya Libre"/>
                <a:cs typeface="Abhaya Libre"/>
                <a:sym typeface="Abhaya Libre"/>
              </a:defRPr>
            </a:lvl2pPr>
            <a:lvl3pPr lvl="2" rtl="0">
              <a:lnSpc>
                <a:spcPct val="100000"/>
              </a:lnSpc>
              <a:spcBef>
                <a:spcPts val="0"/>
              </a:spcBef>
              <a:spcAft>
                <a:spcPts val="0"/>
              </a:spcAft>
              <a:buNone/>
              <a:defRPr sz="2500" b="1">
                <a:latin typeface="Abhaya Libre"/>
                <a:ea typeface="Abhaya Libre"/>
                <a:cs typeface="Abhaya Libre"/>
                <a:sym typeface="Abhaya Libre"/>
              </a:defRPr>
            </a:lvl3pPr>
            <a:lvl4pPr lvl="3" rtl="0">
              <a:lnSpc>
                <a:spcPct val="100000"/>
              </a:lnSpc>
              <a:spcBef>
                <a:spcPts val="0"/>
              </a:spcBef>
              <a:spcAft>
                <a:spcPts val="0"/>
              </a:spcAft>
              <a:buNone/>
              <a:defRPr sz="2500" b="1">
                <a:latin typeface="Abhaya Libre"/>
                <a:ea typeface="Abhaya Libre"/>
                <a:cs typeface="Abhaya Libre"/>
                <a:sym typeface="Abhaya Libre"/>
              </a:defRPr>
            </a:lvl4pPr>
            <a:lvl5pPr lvl="4" rtl="0">
              <a:lnSpc>
                <a:spcPct val="100000"/>
              </a:lnSpc>
              <a:spcBef>
                <a:spcPts val="0"/>
              </a:spcBef>
              <a:spcAft>
                <a:spcPts val="0"/>
              </a:spcAft>
              <a:buNone/>
              <a:defRPr sz="2500" b="1">
                <a:latin typeface="Abhaya Libre"/>
                <a:ea typeface="Abhaya Libre"/>
                <a:cs typeface="Abhaya Libre"/>
                <a:sym typeface="Abhaya Libre"/>
              </a:defRPr>
            </a:lvl5pPr>
            <a:lvl6pPr lvl="5" rtl="0">
              <a:lnSpc>
                <a:spcPct val="100000"/>
              </a:lnSpc>
              <a:spcBef>
                <a:spcPts val="0"/>
              </a:spcBef>
              <a:spcAft>
                <a:spcPts val="0"/>
              </a:spcAft>
              <a:buNone/>
              <a:defRPr sz="2500" b="1">
                <a:latin typeface="Abhaya Libre"/>
                <a:ea typeface="Abhaya Libre"/>
                <a:cs typeface="Abhaya Libre"/>
                <a:sym typeface="Abhaya Libre"/>
              </a:defRPr>
            </a:lvl6pPr>
            <a:lvl7pPr lvl="6" rtl="0">
              <a:lnSpc>
                <a:spcPct val="100000"/>
              </a:lnSpc>
              <a:spcBef>
                <a:spcPts val="0"/>
              </a:spcBef>
              <a:spcAft>
                <a:spcPts val="0"/>
              </a:spcAft>
              <a:buNone/>
              <a:defRPr sz="2500" b="1">
                <a:latin typeface="Abhaya Libre"/>
                <a:ea typeface="Abhaya Libre"/>
                <a:cs typeface="Abhaya Libre"/>
                <a:sym typeface="Abhaya Libre"/>
              </a:defRPr>
            </a:lvl7pPr>
            <a:lvl8pPr lvl="7" rtl="0">
              <a:lnSpc>
                <a:spcPct val="100000"/>
              </a:lnSpc>
              <a:spcBef>
                <a:spcPts val="0"/>
              </a:spcBef>
              <a:spcAft>
                <a:spcPts val="0"/>
              </a:spcAft>
              <a:buNone/>
              <a:defRPr sz="2500" b="1">
                <a:latin typeface="Abhaya Libre"/>
                <a:ea typeface="Abhaya Libre"/>
                <a:cs typeface="Abhaya Libre"/>
                <a:sym typeface="Abhaya Libre"/>
              </a:defRPr>
            </a:lvl8pPr>
            <a:lvl9pPr lvl="8" rtl="0">
              <a:lnSpc>
                <a:spcPct val="100000"/>
              </a:lnSpc>
              <a:spcBef>
                <a:spcPts val="0"/>
              </a:spcBef>
              <a:spcAft>
                <a:spcPts val="0"/>
              </a:spcAft>
              <a:buNone/>
              <a:defRPr sz="2500" b="1">
                <a:latin typeface="Abhaya Libre"/>
                <a:ea typeface="Abhaya Libre"/>
                <a:cs typeface="Abhaya Libre"/>
                <a:sym typeface="Abhaya Libre"/>
              </a:defRPr>
            </a:lvl9pPr>
          </a:lstStyle>
          <a:p>
            <a:endParaRPr/>
          </a:p>
        </p:txBody>
      </p:sp>
      <p:sp>
        <p:nvSpPr>
          <p:cNvPr id="284" name="Google Shape;284;p35"/>
          <p:cNvSpPr txBox="1">
            <a:spLocks noGrp="1"/>
          </p:cNvSpPr>
          <p:nvPr>
            <p:ph type="subTitle" idx="15"/>
          </p:nvPr>
        </p:nvSpPr>
        <p:spPr>
          <a:xfrm>
            <a:off x="1739500" y="4048300"/>
            <a:ext cx="2641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85" name="Google Shape;285;p35"/>
          <p:cNvSpPr txBox="1">
            <a:spLocks noGrp="1"/>
          </p:cNvSpPr>
          <p:nvPr>
            <p:ph type="title"/>
          </p:nvPr>
        </p:nvSpPr>
        <p:spPr>
          <a:xfrm>
            <a:off x="1732325" y="539500"/>
            <a:ext cx="66984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sp>
        <p:nvSpPr>
          <p:cNvPr id="286" name="Google Shape;286;p35"/>
          <p:cNvSpPr/>
          <p:nvPr/>
        </p:nvSpPr>
        <p:spPr>
          <a:xfrm>
            <a:off x="0" y="0"/>
            <a:ext cx="252300" cy="5143500"/>
          </a:xfrm>
          <a:prstGeom prst="rect">
            <a:avLst/>
          </a:prstGeom>
          <a:gradFill>
            <a:gsLst>
              <a:gs pos="0">
                <a:srgbClr val="6178F6"/>
              </a:gs>
              <a:gs pos="100000">
                <a:srgbClr val="737373">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7" name="Google Shape;287;p35"/>
          <p:cNvCxnSpPr/>
          <p:nvPr/>
        </p:nvCxnSpPr>
        <p:spPr>
          <a:xfrm rot="10800000">
            <a:off x="820750" y="948675"/>
            <a:ext cx="791400" cy="0"/>
          </a:xfrm>
          <a:prstGeom prst="straightConnector1">
            <a:avLst/>
          </a:prstGeom>
          <a:noFill/>
          <a:ln w="38100" cap="flat" cmpd="sng">
            <a:solidFill>
              <a:srgbClr val="6178F6"/>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24">
    <p:spTree>
      <p:nvGrpSpPr>
        <p:cNvPr id="1" name="Shape 295"/>
        <p:cNvGrpSpPr/>
        <p:nvPr/>
      </p:nvGrpSpPr>
      <p:grpSpPr>
        <a:xfrm>
          <a:off x="0" y="0"/>
          <a:ext cx="0" cy="0"/>
          <a:chOff x="0" y="0"/>
          <a:chExt cx="0" cy="0"/>
        </a:xfrm>
      </p:grpSpPr>
      <p:sp>
        <p:nvSpPr>
          <p:cNvPr id="296" name="Google Shape;296;p37"/>
          <p:cNvSpPr/>
          <p:nvPr/>
        </p:nvSpPr>
        <p:spPr>
          <a:xfrm>
            <a:off x="597253" y="562378"/>
            <a:ext cx="250245" cy="250245"/>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7"/>
          <p:cNvSpPr/>
          <p:nvPr/>
        </p:nvSpPr>
        <p:spPr>
          <a:xfrm>
            <a:off x="8296503" y="4330878"/>
            <a:ext cx="250245" cy="250245"/>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7"/>
          <p:cNvSpPr/>
          <p:nvPr/>
        </p:nvSpPr>
        <p:spPr>
          <a:xfrm rot="-448633">
            <a:off x="494218" y="-154200"/>
            <a:ext cx="2718012" cy="2717417"/>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25">
    <p:spTree>
      <p:nvGrpSpPr>
        <p:cNvPr id="1" name="Shape 299"/>
        <p:cNvGrpSpPr/>
        <p:nvPr/>
      </p:nvGrpSpPr>
      <p:grpSpPr>
        <a:xfrm>
          <a:off x="0" y="0"/>
          <a:ext cx="0" cy="0"/>
          <a:chOff x="0" y="0"/>
          <a:chExt cx="0" cy="0"/>
        </a:xfrm>
      </p:grpSpPr>
      <p:sp>
        <p:nvSpPr>
          <p:cNvPr id="300" name="Google Shape;300;p38"/>
          <p:cNvSpPr/>
          <p:nvPr/>
        </p:nvSpPr>
        <p:spPr>
          <a:xfrm>
            <a:off x="597253" y="562378"/>
            <a:ext cx="250245" cy="250245"/>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8"/>
          <p:cNvSpPr/>
          <p:nvPr/>
        </p:nvSpPr>
        <p:spPr>
          <a:xfrm>
            <a:off x="8296503" y="4330878"/>
            <a:ext cx="250245" cy="250245"/>
          </a:xfrm>
          <a:custGeom>
            <a:avLst/>
            <a:gdLst/>
            <a:ahLst/>
            <a:cxnLst/>
            <a:rect l="l" t="t" r="r" b="b"/>
            <a:pathLst>
              <a:path w="12076" h="12076" extrusionOk="0">
                <a:moveTo>
                  <a:pt x="6038" y="1"/>
                </a:moveTo>
                <a:lnTo>
                  <a:pt x="5504" y="2336"/>
                </a:lnTo>
                <a:cubicBezTo>
                  <a:pt x="5104" y="3903"/>
                  <a:pt x="3903" y="5104"/>
                  <a:pt x="2335" y="5505"/>
                </a:cubicBezTo>
                <a:lnTo>
                  <a:pt x="0" y="6038"/>
                </a:lnTo>
                <a:lnTo>
                  <a:pt x="2335" y="6605"/>
                </a:lnTo>
                <a:cubicBezTo>
                  <a:pt x="3903" y="6972"/>
                  <a:pt x="5104" y="8207"/>
                  <a:pt x="5504" y="9774"/>
                </a:cubicBezTo>
                <a:lnTo>
                  <a:pt x="6038" y="12076"/>
                </a:lnTo>
                <a:lnTo>
                  <a:pt x="6605" y="9774"/>
                </a:lnTo>
                <a:cubicBezTo>
                  <a:pt x="6972" y="8207"/>
                  <a:pt x="8206" y="6972"/>
                  <a:pt x="9774" y="6605"/>
                </a:cubicBezTo>
                <a:lnTo>
                  <a:pt x="12075" y="6038"/>
                </a:lnTo>
                <a:lnTo>
                  <a:pt x="9774" y="5505"/>
                </a:lnTo>
                <a:cubicBezTo>
                  <a:pt x="8206" y="5104"/>
                  <a:pt x="6972" y="3903"/>
                  <a:pt x="6605" y="2336"/>
                </a:cubicBezTo>
                <a:lnTo>
                  <a:pt x="6038" y="1"/>
                </a:lnTo>
                <a:close/>
              </a:path>
            </a:pathLst>
          </a:custGeom>
          <a:solidFill>
            <a:srgbClr val="F1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8"/>
          <p:cNvSpPr/>
          <p:nvPr/>
        </p:nvSpPr>
        <p:spPr>
          <a:xfrm rot="-448633">
            <a:off x="417593" y="2975950"/>
            <a:ext cx="2718012" cy="2717417"/>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8"/>
          <p:cNvSpPr txBox="1">
            <a:spLocks noGrp="1"/>
          </p:cNvSpPr>
          <p:nvPr>
            <p:ph type="title"/>
          </p:nvPr>
        </p:nvSpPr>
        <p:spPr>
          <a:xfrm rot="-5400000">
            <a:off x="6092850" y="2059650"/>
            <a:ext cx="5756400" cy="663000"/>
          </a:xfrm>
          <a:prstGeom prst="rect">
            <a:avLst/>
          </a:prstGeom>
        </p:spPr>
        <p:txBody>
          <a:bodyPr spcFirstLastPara="1" wrap="square" lIns="91425" tIns="91425" rIns="91425" bIns="91425" anchor="ctr" anchorCtr="0">
            <a:noAutofit/>
          </a:bodyPr>
          <a:lstStyle>
            <a:lvl1pPr lvl="0" rtl="0">
              <a:lnSpc>
                <a:spcPct val="60000"/>
              </a:lnSpc>
              <a:spcBef>
                <a:spcPts val="0"/>
              </a:spcBef>
              <a:spcAft>
                <a:spcPts val="0"/>
              </a:spcAft>
              <a:buSzPts val="6200"/>
              <a:buNone/>
              <a:defRPr sz="6200"/>
            </a:lvl1pPr>
            <a:lvl2pPr lvl="1" rtl="0">
              <a:spcBef>
                <a:spcPts val="0"/>
              </a:spcBef>
              <a:spcAft>
                <a:spcPts val="0"/>
              </a:spcAft>
              <a:buSzPts val="3500"/>
              <a:buNone/>
              <a:defRPr>
                <a:latin typeface="Poppins"/>
                <a:ea typeface="Poppins"/>
                <a:cs typeface="Poppins"/>
                <a:sym typeface="Poppins"/>
              </a:defRPr>
            </a:lvl2pPr>
            <a:lvl3pPr lvl="2" rtl="0">
              <a:spcBef>
                <a:spcPts val="0"/>
              </a:spcBef>
              <a:spcAft>
                <a:spcPts val="0"/>
              </a:spcAft>
              <a:buSzPts val="3500"/>
              <a:buNone/>
              <a:defRPr>
                <a:latin typeface="Poppins"/>
                <a:ea typeface="Poppins"/>
                <a:cs typeface="Poppins"/>
                <a:sym typeface="Poppins"/>
              </a:defRPr>
            </a:lvl3pPr>
            <a:lvl4pPr lvl="3" rtl="0">
              <a:spcBef>
                <a:spcPts val="0"/>
              </a:spcBef>
              <a:spcAft>
                <a:spcPts val="0"/>
              </a:spcAft>
              <a:buSzPts val="3500"/>
              <a:buNone/>
              <a:defRPr>
                <a:latin typeface="Poppins"/>
                <a:ea typeface="Poppins"/>
                <a:cs typeface="Poppins"/>
                <a:sym typeface="Poppins"/>
              </a:defRPr>
            </a:lvl4pPr>
            <a:lvl5pPr lvl="4" rtl="0">
              <a:spcBef>
                <a:spcPts val="0"/>
              </a:spcBef>
              <a:spcAft>
                <a:spcPts val="0"/>
              </a:spcAft>
              <a:buSzPts val="3500"/>
              <a:buNone/>
              <a:defRPr>
                <a:latin typeface="Poppins"/>
                <a:ea typeface="Poppins"/>
                <a:cs typeface="Poppins"/>
                <a:sym typeface="Poppins"/>
              </a:defRPr>
            </a:lvl5pPr>
            <a:lvl6pPr lvl="5" rtl="0">
              <a:spcBef>
                <a:spcPts val="0"/>
              </a:spcBef>
              <a:spcAft>
                <a:spcPts val="0"/>
              </a:spcAft>
              <a:buSzPts val="3500"/>
              <a:buNone/>
              <a:defRPr>
                <a:latin typeface="Poppins"/>
                <a:ea typeface="Poppins"/>
                <a:cs typeface="Poppins"/>
                <a:sym typeface="Poppins"/>
              </a:defRPr>
            </a:lvl6pPr>
            <a:lvl7pPr lvl="6" rtl="0">
              <a:spcBef>
                <a:spcPts val="0"/>
              </a:spcBef>
              <a:spcAft>
                <a:spcPts val="0"/>
              </a:spcAft>
              <a:buSzPts val="3500"/>
              <a:buNone/>
              <a:defRPr>
                <a:latin typeface="Poppins"/>
                <a:ea typeface="Poppins"/>
                <a:cs typeface="Poppins"/>
                <a:sym typeface="Poppins"/>
              </a:defRPr>
            </a:lvl7pPr>
            <a:lvl8pPr lvl="7" rtl="0">
              <a:spcBef>
                <a:spcPts val="0"/>
              </a:spcBef>
              <a:spcAft>
                <a:spcPts val="0"/>
              </a:spcAft>
              <a:buSzPts val="3500"/>
              <a:buNone/>
              <a:defRPr>
                <a:latin typeface="Poppins"/>
                <a:ea typeface="Poppins"/>
                <a:cs typeface="Poppins"/>
                <a:sym typeface="Poppins"/>
              </a:defRPr>
            </a:lvl8pPr>
            <a:lvl9pPr lvl="8" rtl="0">
              <a:spcBef>
                <a:spcPts val="0"/>
              </a:spcBef>
              <a:spcAft>
                <a:spcPts val="0"/>
              </a:spcAft>
              <a:buSzPts val="3500"/>
              <a:buNone/>
              <a:defRPr>
                <a:latin typeface="Poppins"/>
                <a:ea typeface="Poppins"/>
                <a:cs typeface="Poppins"/>
                <a:sym typeface="Poppins"/>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732325" y="539500"/>
            <a:ext cx="66984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sp>
        <p:nvSpPr>
          <p:cNvPr id="7" name="Google Shape;7;p1"/>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Poppins"/>
              <a:buChar char="●"/>
              <a:defRPr sz="1800">
                <a:solidFill>
                  <a:schemeClr val="dk1"/>
                </a:solidFill>
                <a:latin typeface="Poppins"/>
                <a:ea typeface="Poppins"/>
                <a:cs typeface="Poppins"/>
                <a:sym typeface="Poppins"/>
              </a:defRPr>
            </a:lvl1pPr>
            <a:lvl2pPr marL="914400" lvl="1"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
        <p:nvSpPr>
          <p:cNvPr id="2" name="Espace réservé du numéro de diapositive 1">
            <a:extLst>
              <a:ext uri="{FF2B5EF4-FFF2-40B4-BE49-F238E27FC236}">
                <a16:creationId xmlns:a16="http://schemas.microsoft.com/office/drawing/2014/main" id="{FB6E7CA9-81BB-0112-65DF-9B3C9EDEC5C7}"/>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D2B140AE-2A80-436C-8BA3-2918610BE44C}" type="slidenum">
              <a:rPr lang="fr-FR" smtClean="0"/>
              <a:t>‹N°›</a:t>
            </a:fld>
            <a:endParaRPr lang="fr-F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5" r:id="rId4"/>
    <p:sldLayoutId id="2147483658" r:id="rId5"/>
    <p:sldLayoutId id="2147483659" r:id="rId6"/>
    <p:sldLayoutId id="2147483660" r:id="rId7"/>
    <p:sldLayoutId id="2147483661" r:id="rId8"/>
    <p:sldLayoutId id="2147483666" r:id="rId9"/>
    <p:sldLayoutId id="2147483675" r:id="rId10"/>
    <p:sldLayoutId id="2147483678" r:id="rId11"/>
    <p:sldLayoutId id="2147483681" r:id="rId12"/>
    <p:sldLayoutId id="2147483683" r:id="rId13"/>
    <p:sldLayoutId id="2147483684"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pos="5311">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2"/>
          <p:cNvSpPr txBox="1">
            <a:spLocks noGrp="1"/>
          </p:cNvSpPr>
          <p:nvPr>
            <p:ph type="ctrTitle"/>
          </p:nvPr>
        </p:nvSpPr>
        <p:spPr>
          <a:xfrm>
            <a:off x="713225" y="1181700"/>
            <a:ext cx="7078500" cy="1581300"/>
          </a:xfrm>
          <a:prstGeom prst="rect">
            <a:avLst/>
          </a:prstGeom>
          <a:noFill/>
        </p:spPr>
        <p:txBody>
          <a:bodyPr spcFirstLastPara="1" wrap="square" lIns="91425" tIns="91425" rIns="91425" bIns="91425" anchor="ctr" anchorCtr="0">
            <a:noAutofit/>
          </a:bodyPr>
          <a:lstStyle/>
          <a:p>
            <a:pPr marL="0" lvl="0" indent="0" algn="l" rtl="0">
              <a:spcBef>
                <a:spcPts val="0"/>
              </a:spcBef>
              <a:spcAft>
                <a:spcPts val="0"/>
              </a:spcAft>
              <a:buNone/>
            </a:pPr>
            <a:r>
              <a:rPr lang="en" sz="6100" dirty="0">
                <a:latin typeface="Abhaya Libre"/>
                <a:ea typeface="Abhaya Libre"/>
                <a:cs typeface="Abhaya Libre"/>
                <a:sym typeface="Abhaya Libre"/>
              </a:rPr>
              <a:t>Traffic</a:t>
            </a:r>
            <a:br>
              <a:rPr lang="en" sz="6100" dirty="0">
                <a:latin typeface="Abhaya Libre"/>
                <a:ea typeface="Abhaya Libre"/>
                <a:cs typeface="Abhaya Libre"/>
                <a:sym typeface="Abhaya Libre"/>
              </a:rPr>
            </a:br>
            <a:r>
              <a:rPr lang="en" sz="6100" dirty="0">
                <a:latin typeface="Abhaya Libre"/>
                <a:ea typeface="Abhaya Libre"/>
                <a:cs typeface="Abhaya Libre"/>
                <a:sym typeface="Abhaya Libre"/>
              </a:rPr>
              <a:t>Simulation</a:t>
            </a:r>
            <a:r>
              <a:rPr lang="en" sz="6100" b="1" dirty="0">
                <a:latin typeface="Abhaya Libre"/>
                <a:ea typeface="Abhaya Libre"/>
                <a:cs typeface="Abhaya Libre"/>
                <a:sym typeface="Abhaya Libre"/>
              </a:rPr>
              <a:t> </a:t>
            </a:r>
            <a:endParaRPr sz="6100" dirty="0">
              <a:latin typeface="Abhaya Libre"/>
              <a:ea typeface="Abhaya Libre"/>
              <a:cs typeface="Abhaya Libre"/>
              <a:sym typeface="Abhaya Libre"/>
            </a:endParaRPr>
          </a:p>
        </p:txBody>
      </p:sp>
      <p:sp>
        <p:nvSpPr>
          <p:cNvPr id="315" name="Google Shape;315;p42"/>
          <p:cNvSpPr txBox="1">
            <a:spLocks noGrp="1"/>
          </p:cNvSpPr>
          <p:nvPr>
            <p:ph type="subTitle" idx="1"/>
          </p:nvPr>
        </p:nvSpPr>
        <p:spPr>
          <a:xfrm>
            <a:off x="713225" y="4055075"/>
            <a:ext cx="2304900" cy="55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rPr>
              <a:t>François DAVID</a:t>
            </a:r>
            <a:endParaRPr sz="1600" dirty="0">
              <a:solidFill>
                <a:schemeClr val="dk1"/>
              </a:solidFill>
            </a:endParaRPr>
          </a:p>
        </p:txBody>
      </p:sp>
      <p:sp>
        <p:nvSpPr>
          <p:cNvPr id="316" name="Google Shape;316;p42"/>
          <p:cNvSpPr txBox="1">
            <a:spLocks noGrp="1"/>
          </p:cNvSpPr>
          <p:nvPr>
            <p:ph type="title" idx="2"/>
          </p:nvPr>
        </p:nvSpPr>
        <p:spPr>
          <a:xfrm rot="-5400000">
            <a:off x="6092850" y="1844061"/>
            <a:ext cx="5756400" cy="66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4800" dirty="0"/>
              <a:t>ISEN Brest DL 2026</a:t>
            </a:r>
            <a:endParaRPr sz="4800" dirty="0"/>
          </a:p>
        </p:txBody>
      </p:sp>
      <p:sp>
        <p:nvSpPr>
          <p:cNvPr id="317" name="Google Shape;317;p42"/>
          <p:cNvSpPr/>
          <p:nvPr/>
        </p:nvSpPr>
        <p:spPr>
          <a:xfrm>
            <a:off x="6808925" y="539499"/>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2"/>
          <p:cNvSpPr txBox="1"/>
          <p:nvPr/>
        </p:nvSpPr>
        <p:spPr>
          <a:xfrm>
            <a:off x="4768186" y="2915356"/>
            <a:ext cx="2621982" cy="691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4000" i="1" dirty="0">
                <a:solidFill>
                  <a:schemeClr val="dk1"/>
                </a:solidFill>
                <a:latin typeface="Abhaya Libre"/>
                <a:ea typeface="Abhaya Libre"/>
                <a:cs typeface="Abhaya Libre"/>
                <a:sym typeface="Abhaya Libre"/>
              </a:rPr>
              <a:t>Pair project</a:t>
            </a:r>
            <a:endParaRPr sz="4000" i="1" dirty="0">
              <a:solidFill>
                <a:schemeClr val="dk1"/>
              </a:solidFill>
            </a:endParaRPr>
          </a:p>
        </p:txBody>
      </p:sp>
      <p:cxnSp>
        <p:nvCxnSpPr>
          <p:cNvPr id="319" name="Google Shape;319;p42"/>
          <p:cNvCxnSpPr>
            <a:cxnSpLocks/>
            <a:stCxn id="318" idx="1"/>
          </p:cNvCxnSpPr>
          <p:nvPr/>
        </p:nvCxnSpPr>
        <p:spPr>
          <a:xfrm flipH="1">
            <a:off x="3161986" y="3261106"/>
            <a:ext cx="1606200" cy="0"/>
          </a:xfrm>
          <a:prstGeom prst="straightConnector1">
            <a:avLst/>
          </a:prstGeom>
          <a:solidFill>
            <a:schemeClr val="lt2"/>
          </a:solidFill>
          <a:ln w="76200" cap="flat" cmpd="sng">
            <a:solidFill>
              <a:srgbClr val="95FFD4"/>
            </a:solidFill>
            <a:prstDash val="solid"/>
            <a:round/>
            <a:headEnd type="none" w="med" len="med"/>
            <a:tailEnd type="none" w="med" len="med"/>
          </a:ln>
        </p:spPr>
      </p:cxnSp>
      <p:grpSp>
        <p:nvGrpSpPr>
          <p:cNvPr id="320" name="Google Shape;320;p42"/>
          <p:cNvGrpSpPr/>
          <p:nvPr/>
        </p:nvGrpSpPr>
        <p:grpSpPr>
          <a:xfrm>
            <a:off x="7005219" y="747465"/>
            <a:ext cx="648944" cy="649017"/>
            <a:chOff x="7513696" y="775342"/>
            <a:chExt cx="718733" cy="718814"/>
          </a:xfrm>
        </p:grpSpPr>
        <p:sp>
          <p:nvSpPr>
            <p:cNvPr id="321" name="Google Shape;321;p42"/>
            <p:cNvSpPr/>
            <p:nvPr/>
          </p:nvSpPr>
          <p:spPr>
            <a:xfrm rot="-1092566">
              <a:off x="7607939" y="869666"/>
              <a:ext cx="552057" cy="552057"/>
            </a:xfrm>
            <a:custGeom>
              <a:avLst/>
              <a:gdLst/>
              <a:ahLst/>
              <a:cxnLst/>
              <a:rect l="l" t="t" r="r" b="b"/>
              <a:pathLst>
                <a:path w="19493" h="19493" extrusionOk="0">
                  <a:moveTo>
                    <a:pt x="3265" y="0"/>
                  </a:moveTo>
                  <a:cubicBezTo>
                    <a:pt x="3069" y="0"/>
                    <a:pt x="2908" y="161"/>
                    <a:pt x="2908" y="357"/>
                  </a:cubicBezTo>
                  <a:lnTo>
                    <a:pt x="2908" y="848"/>
                  </a:lnTo>
                  <a:lnTo>
                    <a:pt x="2908" y="1508"/>
                  </a:lnTo>
                  <a:lnTo>
                    <a:pt x="2677" y="1508"/>
                  </a:lnTo>
                  <a:cubicBezTo>
                    <a:pt x="2025" y="1508"/>
                    <a:pt x="1508" y="2025"/>
                    <a:pt x="1508" y="2668"/>
                  </a:cubicBezTo>
                  <a:lnTo>
                    <a:pt x="1508" y="2909"/>
                  </a:lnTo>
                  <a:lnTo>
                    <a:pt x="357" y="2909"/>
                  </a:lnTo>
                  <a:cubicBezTo>
                    <a:pt x="161" y="2909"/>
                    <a:pt x="0" y="3069"/>
                    <a:pt x="0" y="3265"/>
                  </a:cubicBezTo>
                  <a:lnTo>
                    <a:pt x="0" y="5380"/>
                  </a:lnTo>
                  <a:cubicBezTo>
                    <a:pt x="0" y="5576"/>
                    <a:pt x="161" y="5737"/>
                    <a:pt x="357" y="5737"/>
                  </a:cubicBezTo>
                  <a:lnTo>
                    <a:pt x="1508" y="5737"/>
                  </a:lnTo>
                  <a:lnTo>
                    <a:pt x="1508" y="8333"/>
                  </a:lnTo>
                  <a:lnTo>
                    <a:pt x="357" y="8333"/>
                  </a:lnTo>
                  <a:cubicBezTo>
                    <a:pt x="161" y="8333"/>
                    <a:pt x="0" y="8493"/>
                    <a:pt x="0" y="8689"/>
                  </a:cubicBezTo>
                  <a:lnTo>
                    <a:pt x="0" y="10804"/>
                  </a:lnTo>
                  <a:cubicBezTo>
                    <a:pt x="0" y="11000"/>
                    <a:pt x="161" y="11160"/>
                    <a:pt x="357" y="11160"/>
                  </a:cubicBezTo>
                  <a:lnTo>
                    <a:pt x="1508" y="11160"/>
                  </a:lnTo>
                  <a:lnTo>
                    <a:pt x="1508" y="13756"/>
                  </a:lnTo>
                  <a:lnTo>
                    <a:pt x="357" y="13756"/>
                  </a:lnTo>
                  <a:cubicBezTo>
                    <a:pt x="161" y="13756"/>
                    <a:pt x="0" y="13917"/>
                    <a:pt x="0" y="14113"/>
                  </a:cubicBezTo>
                  <a:lnTo>
                    <a:pt x="0" y="16219"/>
                  </a:lnTo>
                  <a:cubicBezTo>
                    <a:pt x="0" y="16424"/>
                    <a:pt x="161" y="16576"/>
                    <a:pt x="357" y="16576"/>
                  </a:cubicBezTo>
                  <a:lnTo>
                    <a:pt x="1508" y="16576"/>
                  </a:lnTo>
                  <a:lnTo>
                    <a:pt x="1508" y="16816"/>
                  </a:lnTo>
                  <a:cubicBezTo>
                    <a:pt x="1508" y="17459"/>
                    <a:pt x="2025" y="17985"/>
                    <a:pt x="2677" y="17985"/>
                  </a:cubicBezTo>
                  <a:lnTo>
                    <a:pt x="2908" y="17985"/>
                  </a:lnTo>
                  <a:lnTo>
                    <a:pt x="2908" y="18636"/>
                  </a:lnTo>
                  <a:lnTo>
                    <a:pt x="2908" y="19136"/>
                  </a:lnTo>
                  <a:cubicBezTo>
                    <a:pt x="2908" y="19332"/>
                    <a:pt x="3069" y="19493"/>
                    <a:pt x="3265" y="19493"/>
                  </a:cubicBezTo>
                  <a:lnTo>
                    <a:pt x="5380" y="19493"/>
                  </a:lnTo>
                  <a:cubicBezTo>
                    <a:pt x="5576" y="19493"/>
                    <a:pt x="5736" y="19332"/>
                    <a:pt x="5736" y="19136"/>
                  </a:cubicBezTo>
                  <a:lnTo>
                    <a:pt x="5736" y="18636"/>
                  </a:lnTo>
                  <a:lnTo>
                    <a:pt x="5736" y="17985"/>
                  </a:lnTo>
                  <a:lnTo>
                    <a:pt x="8332" y="17985"/>
                  </a:lnTo>
                  <a:lnTo>
                    <a:pt x="8332" y="18636"/>
                  </a:lnTo>
                  <a:lnTo>
                    <a:pt x="8332" y="19136"/>
                  </a:lnTo>
                  <a:cubicBezTo>
                    <a:pt x="8332" y="19332"/>
                    <a:pt x="8493" y="19493"/>
                    <a:pt x="8689" y="19493"/>
                  </a:cubicBezTo>
                  <a:lnTo>
                    <a:pt x="10804" y="19493"/>
                  </a:lnTo>
                  <a:cubicBezTo>
                    <a:pt x="11000" y="19493"/>
                    <a:pt x="11160" y="19332"/>
                    <a:pt x="11160" y="19136"/>
                  </a:cubicBezTo>
                  <a:lnTo>
                    <a:pt x="11160" y="18636"/>
                  </a:lnTo>
                  <a:lnTo>
                    <a:pt x="11160" y="17985"/>
                  </a:lnTo>
                  <a:lnTo>
                    <a:pt x="13756" y="17985"/>
                  </a:lnTo>
                  <a:lnTo>
                    <a:pt x="13756" y="18636"/>
                  </a:lnTo>
                  <a:lnTo>
                    <a:pt x="13756" y="19136"/>
                  </a:lnTo>
                  <a:cubicBezTo>
                    <a:pt x="13756" y="19332"/>
                    <a:pt x="13917" y="19493"/>
                    <a:pt x="14113" y="19493"/>
                  </a:cubicBezTo>
                  <a:lnTo>
                    <a:pt x="16228" y="19493"/>
                  </a:lnTo>
                  <a:cubicBezTo>
                    <a:pt x="16424" y="19493"/>
                    <a:pt x="16584" y="19332"/>
                    <a:pt x="16584" y="19136"/>
                  </a:cubicBezTo>
                  <a:lnTo>
                    <a:pt x="16584" y="18636"/>
                  </a:lnTo>
                  <a:lnTo>
                    <a:pt x="16584" y="17985"/>
                  </a:lnTo>
                  <a:lnTo>
                    <a:pt x="16816" y="17985"/>
                  </a:lnTo>
                  <a:cubicBezTo>
                    <a:pt x="17459" y="17985"/>
                    <a:pt x="17985" y="17459"/>
                    <a:pt x="17985" y="16816"/>
                  </a:cubicBezTo>
                  <a:lnTo>
                    <a:pt x="17985" y="16576"/>
                  </a:lnTo>
                  <a:lnTo>
                    <a:pt x="19136" y="16576"/>
                  </a:lnTo>
                  <a:cubicBezTo>
                    <a:pt x="19332" y="16576"/>
                    <a:pt x="19493" y="16424"/>
                    <a:pt x="19493" y="16219"/>
                  </a:cubicBezTo>
                  <a:lnTo>
                    <a:pt x="19493" y="14113"/>
                  </a:lnTo>
                  <a:cubicBezTo>
                    <a:pt x="19493" y="13917"/>
                    <a:pt x="19332" y="13756"/>
                    <a:pt x="19136" y="13756"/>
                  </a:cubicBezTo>
                  <a:lnTo>
                    <a:pt x="17985" y="13756"/>
                  </a:lnTo>
                  <a:lnTo>
                    <a:pt x="17985" y="11160"/>
                  </a:lnTo>
                  <a:lnTo>
                    <a:pt x="19136" y="11160"/>
                  </a:lnTo>
                  <a:cubicBezTo>
                    <a:pt x="19332" y="11160"/>
                    <a:pt x="19493" y="11000"/>
                    <a:pt x="19493" y="10804"/>
                  </a:cubicBezTo>
                  <a:lnTo>
                    <a:pt x="19493" y="8689"/>
                  </a:lnTo>
                  <a:cubicBezTo>
                    <a:pt x="19493" y="8493"/>
                    <a:pt x="19332" y="8333"/>
                    <a:pt x="19136" y="8333"/>
                  </a:cubicBezTo>
                  <a:lnTo>
                    <a:pt x="17985" y="8333"/>
                  </a:lnTo>
                  <a:lnTo>
                    <a:pt x="17985" y="5737"/>
                  </a:lnTo>
                  <a:lnTo>
                    <a:pt x="19136" y="5737"/>
                  </a:lnTo>
                  <a:cubicBezTo>
                    <a:pt x="19332" y="5737"/>
                    <a:pt x="19493" y="5576"/>
                    <a:pt x="19493" y="5380"/>
                  </a:cubicBezTo>
                  <a:lnTo>
                    <a:pt x="19493" y="3265"/>
                  </a:lnTo>
                  <a:cubicBezTo>
                    <a:pt x="19493" y="3069"/>
                    <a:pt x="19332" y="2909"/>
                    <a:pt x="19136" y="2909"/>
                  </a:cubicBezTo>
                  <a:lnTo>
                    <a:pt x="17985" y="2909"/>
                  </a:lnTo>
                  <a:lnTo>
                    <a:pt x="17985" y="2668"/>
                  </a:lnTo>
                  <a:cubicBezTo>
                    <a:pt x="17985" y="2025"/>
                    <a:pt x="17459" y="1508"/>
                    <a:pt x="16816" y="1508"/>
                  </a:cubicBezTo>
                  <a:lnTo>
                    <a:pt x="16584" y="1508"/>
                  </a:lnTo>
                  <a:lnTo>
                    <a:pt x="16584" y="848"/>
                  </a:lnTo>
                  <a:lnTo>
                    <a:pt x="16584" y="357"/>
                  </a:lnTo>
                  <a:cubicBezTo>
                    <a:pt x="16584" y="161"/>
                    <a:pt x="16424" y="0"/>
                    <a:pt x="16228" y="0"/>
                  </a:cubicBezTo>
                  <a:lnTo>
                    <a:pt x="14113" y="0"/>
                  </a:lnTo>
                  <a:cubicBezTo>
                    <a:pt x="13917" y="0"/>
                    <a:pt x="13756" y="161"/>
                    <a:pt x="13756" y="357"/>
                  </a:cubicBezTo>
                  <a:lnTo>
                    <a:pt x="13756" y="848"/>
                  </a:lnTo>
                  <a:lnTo>
                    <a:pt x="13756" y="1508"/>
                  </a:lnTo>
                  <a:lnTo>
                    <a:pt x="11160" y="1508"/>
                  </a:lnTo>
                  <a:lnTo>
                    <a:pt x="11160" y="848"/>
                  </a:lnTo>
                  <a:lnTo>
                    <a:pt x="11160" y="357"/>
                  </a:lnTo>
                  <a:cubicBezTo>
                    <a:pt x="11160" y="161"/>
                    <a:pt x="11000" y="0"/>
                    <a:pt x="10804" y="0"/>
                  </a:cubicBezTo>
                  <a:lnTo>
                    <a:pt x="8689" y="0"/>
                  </a:lnTo>
                  <a:cubicBezTo>
                    <a:pt x="8493" y="0"/>
                    <a:pt x="8332" y="161"/>
                    <a:pt x="8332" y="357"/>
                  </a:cubicBezTo>
                  <a:lnTo>
                    <a:pt x="8332" y="848"/>
                  </a:lnTo>
                  <a:lnTo>
                    <a:pt x="8332" y="1508"/>
                  </a:lnTo>
                  <a:lnTo>
                    <a:pt x="5736" y="1508"/>
                  </a:lnTo>
                  <a:lnTo>
                    <a:pt x="5736" y="848"/>
                  </a:lnTo>
                  <a:lnTo>
                    <a:pt x="5736" y="357"/>
                  </a:lnTo>
                  <a:cubicBezTo>
                    <a:pt x="5736" y="161"/>
                    <a:pt x="5576" y="0"/>
                    <a:pt x="53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2" name="Google Shape;322;p42"/>
            <p:cNvGrpSpPr/>
            <p:nvPr/>
          </p:nvGrpSpPr>
          <p:grpSpPr>
            <a:xfrm rot="-1092566">
              <a:off x="7584512" y="846112"/>
              <a:ext cx="539426" cy="539681"/>
              <a:chOff x="4178325" y="2207475"/>
              <a:chExt cx="476175" cy="476400"/>
            </a:xfrm>
          </p:grpSpPr>
          <p:sp>
            <p:nvSpPr>
              <p:cNvPr id="323" name="Google Shape;323;p42"/>
              <p:cNvSpPr/>
              <p:nvPr/>
            </p:nvSpPr>
            <p:spPr>
              <a:xfrm>
                <a:off x="4178325" y="2207475"/>
                <a:ext cx="476175" cy="476400"/>
              </a:xfrm>
              <a:custGeom>
                <a:avLst/>
                <a:gdLst/>
                <a:ahLst/>
                <a:cxnLst/>
                <a:rect l="l" t="t" r="r" b="b"/>
                <a:pathLst>
                  <a:path w="19047" h="19056" extrusionOk="0">
                    <a:moveTo>
                      <a:pt x="5380" y="562"/>
                    </a:moveTo>
                    <a:cubicBezTo>
                      <a:pt x="5406" y="562"/>
                      <a:pt x="5433" y="589"/>
                      <a:pt x="5433" y="625"/>
                    </a:cubicBezTo>
                    <a:lnTo>
                      <a:pt x="5433" y="1437"/>
                    </a:lnTo>
                    <a:lnTo>
                      <a:pt x="3319" y="1437"/>
                    </a:lnTo>
                    <a:lnTo>
                      <a:pt x="3319" y="625"/>
                    </a:lnTo>
                    <a:cubicBezTo>
                      <a:pt x="3319" y="589"/>
                      <a:pt x="3346" y="562"/>
                      <a:pt x="3372" y="562"/>
                    </a:cubicBezTo>
                    <a:close/>
                    <a:moveTo>
                      <a:pt x="10518" y="562"/>
                    </a:moveTo>
                    <a:cubicBezTo>
                      <a:pt x="10554" y="562"/>
                      <a:pt x="10580" y="589"/>
                      <a:pt x="10580" y="625"/>
                    </a:cubicBezTo>
                    <a:lnTo>
                      <a:pt x="10580" y="1437"/>
                    </a:lnTo>
                    <a:lnTo>
                      <a:pt x="8457" y="1437"/>
                    </a:lnTo>
                    <a:lnTo>
                      <a:pt x="8457" y="625"/>
                    </a:lnTo>
                    <a:cubicBezTo>
                      <a:pt x="8457" y="589"/>
                      <a:pt x="8484" y="562"/>
                      <a:pt x="8520" y="562"/>
                    </a:cubicBezTo>
                    <a:close/>
                    <a:moveTo>
                      <a:pt x="15665" y="562"/>
                    </a:moveTo>
                    <a:cubicBezTo>
                      <a:pt x="15701" y="562"/>
                      <a:pt x="15728" y="589"/>
                      <a:pt x="15728" y="625"/>
                    </a:cubicBezTo>
                    <a:lnTo>
                      <a:pt x="15728" y="1437"/>
                    </a:lnTo>
                    <a:lnTo>
                      <a:pt x="13605" y="1437"/>
                    </a:lnTo>
                    <a:lnTo>
                      <a:pt x="13605" y="625"/>
                    </a:lnTo>
                    <a:cubicBezTo>
                      <a:pt x="13605" y="589"/>
                      <a:pt x="13631" y="562"/>
                      <a:pt x="13667" y="562"/>
                    </a:cubicBezTo>
                    <a:close/>
                    <a:moveTo>
                      <a:pt x="1427" y="3319"/>
                    </a:moveTo>
                    <a:lnTo>
                      <a:pt x="1427" y="5442"/>
                    </a:lnTo>
                    <a:lnTo>
                      <a:pt x="616" y="5442"/>
                    </a:lnTo>
                    <a:cubicBezTo>
                      <a:pt x="580" y="5442"/>
                      <a:pt x="553" y="5415"/>
                      <a:pt x="553" y="5389"/>
                    </a:cubicBezTo>
                    <a:lnTo>
                      <a:pt x="553" y="3381"/>
                    </a:lnTo>
                    <a:cubicBezTo>
                      <a:pt x="553" y="3346"/>
                      <a:pt x="580" y="3319"/>
                      <a:pt x="616" y="3319"/>
                    </a:cubicBezTo>
                    <a:close/>
                    <a:moveTo>
                      <a:pt x="18431" y="3319"/>
                    </a:moveTo>
                    <a:cubicBezTo>
                      <a:pt x="18458" y="3319"/>
                      <a:pt x="18485" y="3346"/>
                      <a:pt x="18485" y="3381"/>
                    </a:cubicBezTo>
                    <a:lnTo>
                      <a:pt x="18485" y="5389"/>
                    </a:lnTo>
                    <a:cubicBezTo>
                      <a:pt x="18485" y="5415"/>
                      <a:pt x="18458" y="5442"/>
                      <a:pt x="18431" y="5442"/>
                    </a:cubicBezTo>
                    <a:lnTo>
                      <a:pt x="17619" y="5442"/>
                    </a:lnTo>
                    <a:lnTo>
                      <a:pt x="17619" y="3319"/>
                    </a:lnTo>
                    <a:close/>
                    <a:moveTo>
                      <a:pt x="1427" y="8466"/>
                    </a:moveTo>
                    <a:lnTo>
                      <a:pt x="1427" y="10589"/>
                    </a:lnTo>
                    <a:lnTo>
                      <a:pt x="616" y="10589"/>
                    </a:lnTo>
                    <a:cubicBezTo>
                      <a:pt x="580" y="10589"/>
                      <a:pt x="553" y="10563"/>
                      <a:pt x="553" y="10527"/>
                    </a:cubicBezTo>
                    <a:lnTo>
                      <a:pt x="553" y="8529"/>
                    </a:lnTo>
                    <a:cubicBezTo>
                      <a:pt x="553" y="8493"/>
                      <a:pt x="580" y="8466"/>
                      <a:pt x="616" y="8466"/>
                    </a:cubicBezTo>
                    <a:close/>
                    <a:moveTo>
                      <a:pt x="18431" y="8466"/>
                    </a:moveTo>
                    <a:cubicBezTo>
                      <a:pt x="18458" y="8466"/>
                      <a:pt x="18485" y="8493"/>
                      <a:pt x="18485" y="8529"/>
                    </a:cubicBezTo>
                    <a:lnTo>
                      <a:pt x="18485" y="10527"/>
                    </a:lnTo>
                    <a:cubicBezTo>
                      <a:pt x="18485" y="10563"/>
                      <a:pt x="18458" y="10589"/>
                      <a:pt x="18431" y="10589"/>
                    </a:cubicBezTo>
                    <a:lnTo>
                      <a:pt x="17619" y="10589"/>
                    </a:lnTo>
                    <a:lnTo>
                      <a:pt x="17619" y="8466"/>
                    </a:lnTo>
                    <a:close/>
                    <a:moveTo>
                      <a:pt x="1427" y="13614"/>
                    </a:moveTo>
                    <a:lnTo>
                      <a:pt x="1427" y="15737"/>
                    </a:lnTo>
                    <a:lnTo>
                      <a:pt x="616" y="15737"/>
                    </a:lnTo>
                    <a:cubicBezTo>
                      <a:pt x="580" y="15737"/>
                      <a:pt x="553" y="15710"/>
                      <a:pt x="553" y="15674"/>
                    </a:cubicBezTo>
                    <a:lnTo>
                      <a:pt x="553" y="13676"/>
                    </a:lnTo>
                    <a:cubicBezTo>
                      <a:pt x="553" y="13640"/>
                      <a:pt x="580" y="13614"/>
                      <a:pt x="616" y="13614"/>
                    </a:cubicBezTo>
                    <a:close/>
                    <a:moveTo>
                      <a:pt x="18431" y="13614"/>
                    </a:moveTo>
                    <a:cubicBezTo>
                      <a:pt x="18458" y="13614"/>
                      <a:pt x="18485" y="13640"/>
                      <a:pt x="18485" y="13676"/>
                    </a:cubicBezTo>
                    <a:lnTo>
                      <a:pt x="18485" y="15674"/>
                    </a:lnTo>
                    <a:cubicBezTo>
                      <a:pt x="18485" y="15710"/>
                      <a:pt x="18458" y="15737"/>
                      <a:pt x="18431" y="15737"/>
                    </a:cubicBezTo>
                    <a:lnTo>
                      <a:pt x="17619" y="15737"/>
                    </a:lnTo>
                    <a:lnTo>
                      <a:pt x="17619" y="13614"/>
                    </a:lnTo>
                    <a:close/>
                    <a:moveTo>
                      <a:pt x="16227" y="1990"/>
                    </a:moveTo>
                    <a:cubicBezTo>
                      <a:pt x="16682" y="1990"/>
                      <a:pt x="17057" y="2364"/>
                      <a:pt x="17057" y="2819"/>
                    </a:cubicBezTo>
                    <a:lnTo>
                      <a:pt x="17057" y="16236"/>
                    </a:lnTo>
                    <a:cubicBezTo>
                      <a:pt x="17057" y="16691"/>
                      <a:pt x="16682" y="17066"/>
                      <a:pt x="16227" y="17066"/>
                    </a:cubicBezTo>
                    <a:lnTo>
                      <a:pt x="2810" y="17066"/>
                    </a:lnTo>
                    <a:cubicBezTo>
                      <a:pt x="2355" y="17066"/>
                      <a:pt x="1990" y="16691"/>
                      <a:pt x="1990" y="16236"/>
                    </a:cubicBezTo>
                    <a:lnTo>
                      <a:pt x="1990" y="2819"/>
                    </a:lnTo>
                    <a:cubicBezTo>
                      <a:pt x="1990" y="2364"/>
                      <a:pt x="2355" y="1990"/>
                      <a:pt x="2810" y="1990"/>
                    </a:cubicBezTo>
                    <a:close/>
                    <a:moveTo>
                      <a:pt x="10580" y="17619"/>
                    </a:moveTo>
                    <a:lnTo>
                      <a:pt x="10580" y="18431"/>
                    </a:lnTo>
                    <a:cubicBezTo>
                      <a:pt x="10580" y="18467"/>
                      <a:pt x="10554" y="18493"/>
                      <a:pt x="10518" y="18493"/>
                    </a:cubicBezTo>
                    <a:lnTo>
                      <a:pt x="8520" y="18493"/>
                    </a:lnTo>
                    <a:cubicBezTo>
                      <a:pt x="8484" y="18493"/>
                      <a:pt x="8457" y="18467"/>
                      <a:pt x="8457" y="18431"/>
                    </a:cubicBezTo>
                    <a:lnTo>
                      <a:pt x="8457" y="17619"/>
                    </a:lnTo>
                    <a:close/>
                    <a:moveTo>
                      <a:pt x="15728" y="17619"/>
                    </a:moveTo>
                    <a:lnTo>
                      <a:pt x="15728" y="18431"/>
                    </a:lnTo>
                    <a:cubicBezTo>
                      <a:pt x="15728" y="18467"/>
                      <a:pt x="15701" y="18493"/>
                      <a:pt x="15665" y="18493"/>
                    </a:cubicBezTo>
                    <a:lnTo>
                      <a:pt x="13667" y="18493"/>
                    </a:lnTo>
                    <a:cubicBezTo>
                      <a:pt x="13631" y="18493"/>
                      <a:pt x="13605" y="18467"/>
                      <a:pt x="13605" y="18431"/>
                    </a:cubicBezTo>
                    <a:lnTo>
                      <a:pt x="13605" y="17619"/>
                    </a:lnTo>
                    <a:close/>
                    <a:moveTo>
                      <a:pt x="3372" y="0"/>
                    </a:moveTo>
                    <a:cubicBezTo>
                      <a:pt x="3033" y="0"/>
                      <a:pt x="2757" y="277"/>
                      <a:pt x="2757" y="625"/>
                    </a:cubicBezTo>
                    <a:lnTo>
                      <a:pt x="2757" y="1437"/>
                    </a:lnTo>
                    <a:cubicBezTo>
                      <a:pt x="2034" y="1463"/>
                      <a:pt x="1454" y="2043"/>
                      <a:pt x="1427" y="2766"/>
                    </a:cubicBezTo>
                    <a:lnTo>
                      <a:pt x="616" y="2766"/>
                    </a:lnTo>
                    <a:cubicBezTo>
                      <a:pt x="277" y="2766"/>
                      <a:pt x="0" y="3042"/>
                      <a:pt x="0" y="3381"/>
                    </a:cubicBezTo>
                    <a:lnTo>
                      <a:pt x="0" y="5389"/>
                    </a:lnTo>
                    <a:cubicBezTo>
                      <a:pt x="0" y="5728"/>
                      <a:pt x="277" y="6004"/>
                      <a:pt x="616" y="6004"/>
                    </a:cubicBezTo>
                    <a:lnTo>
                      <a:pt x="1427" y="6004"/>
                    </a:lnTo>
                    <a:lnTo>
                      <a:pt x="1427" y="7913"/>
                    </a:lnTo>
                    <a:lnTo>
                      <a:pt x="616" y="7913"/>
                    </a:lnTo>
                    <a:cubicBezTo>
                      <a:pt x="277" y="7913"/>
                      <a:pt x="0" y="8190"/>
                      <a:pt x="0" y="8529"/>
                    </a:cubicBezTo>
                    <a:lnTo>
                      <a:pt x="0" y="10527"/>
                    </a:lnTo>
                    <a:cubicBezTo>
                      <a:pt x="0" y="10866"/>
                      <a:pt x="277" y="11143"/>
                      <a:pt x="616" y="11143"/>
                    </a:cubicBezTo>
                    <a:lnTo>
                      <a:pt x="1427" y="11143"/>
                    </a:lnTo>
                    <a:lnTo>
                      <a:pt x="1427" y="13052"/>
                    </a:lnTo>
                    <a:lnTo>
                      <a:pt x="616" y="13052"/>
                    </a:lnTo>
                    <a:cubicBezTo>
                      <a:pt x="277" y="13052"/>
                      <a:pt x="0" y="13328"/>
                      <a:pt x="0" y="13676"/>
                    </a:cubicBezTo>
                    <a:lnTo>
                      <a:pt x="0" y="15674"/>
                    </a:lnTo>
                    <a:cubicBezTo>
                      <a:pt x="0" y="16013"/>
                      <a:pt x="277" y="16290"/>
                      <a:pt x="616" y="16290"/>
                    </a:cubicBezTo>
                    <a:lnTo>
                      <a:pt x="1427" y="16290"/>
                    </a:lnTo>
                    <a:cubicBezTo>
                      <a:pt x="1454" y="17013"/>
                      <a:pt x="2034" y="17592"/>
                      <a:pt x="2757" y="17619"/>
                    </a:cubicBezTo>
                    <a:lnTo>
                      <a:pt x="2757" y="18431"/>
                    </a:lnTo>
                    <a:cubicBezTo>
                      <a:pt x="2757" y="18779"/>
                      <a:pt x="3033" y="19056"/>
                      <a:pt x="3372" y="19056"/>
                    </a:cubicBezTo>
                    <a:lnTo>
                      <a:pt x="3604" y="19056"/>
                    </a:lnTo>
                    <a:cubicBezTo>
                      <a:pt x="3765" y="19056"/>
                      <a:pt x="3890" y="18931"/>
                      <a:pt x="3890" y="18770"/>
                    </a:cubicBezTo>
                    <a:cubicBezTo>
                      <a:pt x="3890" y="18618"/>
                      <a:pt x="3765" y="18493"/>
                      <a:pt x="3604" y="18493"/>
                    </a:cubicBezTo>
                    <a:lnTo>
                      <a:pt x="3372" y="18493"/>
                    </a:lnTo>
                    <a:cubicBezTo>
                      <a:pt x="3346" y="18493"/>
                      <a:pt x="3319" y="18467"/>
                      <a:pt x="3319" y="18431"/>
                    </a:cubicBezTo>
                    <a:lnTo>
                      <a:pt x="3319" y="17619"/>
                    </a:lnTo>
                    <a:lnTo>
                      <a:pt x="5433" y="17619"/>
                    </a:lnTo>
                    <a:lnTo>
                      <a:pt x="5433" y="18431"/>
                    </a:lnTo>
                    <a:cubicBezTo>
                      <a:pt x="5433" y="18467"/>
                      <a:pt x="5406" y="18493"/>
                      <a:pt x="5380" y="18493"/>
                    </a:cubicBezTo>
                    <a:lnTo>
                      <a:pt x="4746" y="18493"/>
                    </a:lnTo>
                    <a:cubicBezTo>
                      <a:pt x="4594" y="18493"/>
                      <a:pt x="4470" y="18618"/>
                      <a:pt x="4470" y="18770"/>
                    </a:cubicBezTo>
                    <a:cubicBezTo>
                      <a:pt x="4470" y="18931"/>
                      <a:pt x="4594" y="19056"/>
                      <a:pt x="4746" y="19056"/>
                    </a:cubicBezTo>
                    <a:lnTo>
                      <a:pt x="5380" y="19056"/>
                    </a:lnTo>
                    <a:cubicBezTo>
                      <a:pt x="5719" y="19056"/>
                      <a:pt x="5995" y="18779"/>
                      <a:pt x="5995" y="18431"/>
                    </a:cubicBezTo>
                    <a:lnTo>
                      <a:pt x="5995" y="17619"/>
                    </a:lnTo>
                    <a:lnTo>
                      <a:pt x="7904" y="17619"/>
                    </a:lnTo>
                    <a:lnTo>
                      <a:pt x="7904" y="18431"/>
                    </a:lnTo>
                    <a:cubicBezTo>
                      <a:pt x="7904" y="18779"/>
                      <a:pt x="8181" y="19056"/>
                      <a:pt x="8520" y="19056"/>
                    </a:cubicBezTo>
                    <a:lnTo>
                      <a:pt x="10518" y="19056"/>
                    </a:lnTo>
                    <a:cubicBezTo>
                      <a:pt x="10866" y="19056"/>
                      <a:pt x="11142" y="18779"/>
                      <a:pt x="11142" y="18431"/>
                    </a:cubicBezTo>
                    <a:lnTo>
                      <a:pt x="11142" y="17619"/>
                    </a:lnTo>
                    <a:lnTo>
                      <a:pt x="13052" y="17619"/>
                    </a:lnTo>
                    <a:lnTo>
                      <a:pt x="13052" y="18431"/>
                    </a:lnTo>
                    <a:cubicBezTo>
                      <a:pt x="13052" y="18779"/>
                      <a:pt x="13328" y="19056"/>
                      <a:pt x="13667" y="19056"/>
                    </a:cubicBezTo>
                    <a:lnTo>
                      <a:pt x="15665" y="19056"/>
                    </a:lnTo>
                    <a:cubicBezTo>
                      <a:pt x="16004" y="19056"/>
                      <a:pt x="16281" y="18779"/>
                      <a:pt x="16281" y="18431"/>
                    </a:cubicBezTo>
                    <a:lnTo>
                      <a:pt x="16281" y="17619"/>
                    </a:lnTo>
                    <a:cubicBezTo>
                      <a:pt x="17004" y="17592"/>
                      <a:pt x="17583" y="17013"/>
                      <a:pt x="17610" y="16290"/>
                    </a:cubicBezTo>
                    <a:lnTo>
                      <a:pt x="18431" y="16290"/>
                    </a:lnTo>
                    <a:cubicBezTo>
                      <a:pt x="18770" y="16290"/>
                      <a:pt x="19047" y="16013"/>
                      <a:pt x="19047" y="15674"/>
                    </a:cubicBezTo>
                    <a:lnTo>
                      <a:pt x="19047" y="13676"/>
                    </a:lnTo>
                    <a:cubicBezTo>
                      <a:pt x="19047" y="13328"/>
                      <a:pt x="18770" y="13052"/>
                      <a:pt x="18431" y="13052"/>
                    </a:cubicBezTo>
                    <a:lnTo>
                      <a:pt x="17619" y="13052"/>
                    </a:lnTo>
                    <a:lnTo>
                      <a:pt x="17619" y="11143"/>
                    </a:lnTo>
                    <a:lnTo>
                      <a:pt x="18431" y="11143"/>
                    </a:lnTo>
                    <a:cubicBezTo>
                      <a:pt x="18770" y="11143"/>
                      <a:pt x="19047" y="10866"/>
                      <a:pt x="19047" y="10527"/>
                    </a:cubicBezTo>
                    <a:lnTo>
                      <a:pt x="19047" y="8529"/>
                    </a:lnTo>
                    <a:cubicBezTo>
                      <a:pt x="19047" y="8190"/>
                      <a:pt x="18770" y="7913"/>
                      <a:pt x="18431" y="7913"/>
                    </a:cubicBezTo>
                    <a:lnTo>
                      <a:pt x="17619" y="7913"/>
                    </a:lnTo>
                    <a:lnTo>
                      <a:pt x="17619" y="6004"/>
                    </a:lnTo>
                    <a:lnTo>
                      <a:pt x="18431" y="6004"/>
                    </a:lnTo>
                    <a:cubicBezTo>
                      <a:pt x="18770" y="6004"/>
                      <a:pt x="19047" y="5728"/>
                      <a:pt x="19047" y="5389"/>
                    </a:cubicBezTo>
                    <a:lnTo>
                      <a:pt x="19047" y="3381"/>
                    </a:lnTo>
                    <a:cubicBezTo>
                      <a:pt x="19047" y="3042"/>
                      <a:pt x="18770" y="2766"/>
                      <a:pt x="18431" y="2766"/>
                    </a:cubicBezTo>
                    <a:lnTo>
                      <a:pt x="17610" y="2766"/>
                    </a:lnTo>
                    <a:cubicBezTo>
                      <a:pt x="17583" y="2043"/>
                      <a:pt x="17004" y="1463"/>
                      <a:pt x="16281" y="1437"/>
                    </a:cubicBezTo>
                    <a:lnTo>
                      <a:pt x="16281" y="625"/>
                    </a:lnTo>
                    <a:cubicBezTo>
                      <a:pt x="16281" y="277"/>
                      <a:pt x="16004" y="0"/>
                      <a:pt x="15665" y="0"/>
                    </a:cubicBezTo>
                    <a:lnTo>
                      <a:pt x="13667" y="0"/>
                    </a:lnTo>
                    <a:cubicBezTo>
                      <a:pt x="13328" y="0"/>
                      <a:pt x="13052" y="277"/>
                      <a:pt x="13052" y="625"/>
                    </a:cubicBezTo>
                    <a:lnTo>
                      <a:pt x="13052" y="1437"/>
                    </a:lnTo>
                    <a:lnTo>
                      <a:pt x="11142" y="1437"/>
                    </a:lnTo>
                    <a:lnTo>
                      <a:pt x="11142" y="625"/>
                    </a:lnTo>
                    <a:cubicBezTo>
                      <a:pt x="11142" y="277"/>
                      <a:pt x="10866" y="0"/>
                      <a:pt x="10518" y="0"/>
                    </a:cubicBezTo>
                    <a:lnTo>
                      <a:pt x="8520" y="0"/>
                    </a:lnTo>
                    <a:cubicBezTo>
                      <a:pt x="8181" y="0"/>
                      <a:pt x="7904" y="277"/>
                      <a:pt x="7904" y="625"/>
                    </a:cubicBezTo>
                    <a:lnTo>
                      <a:pt x="7904" y="1437"/>
                    </a:lnTo>
                    <a:lnTo>
                      <a:pt x="5995" y="1437"/>
                    </a:lnTo>
                    <a:lnTo>
                      <a:pt x="5995" y="625"/>
                    </a:lnTo>
                    <a:cubicBezTo>
                      <a:pt x="5995" y="277"/>
                      <a:pt x="5719" y="0"/>
                      <a:pt x="538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2"/>
              <p:cNvSpPr/>
              <p:nvPr/>
            </p:nvSpPr>
            <p:spPr>
              <a:xfrm>
                <a:off x="4267750" y="2297125"/>
                <a:ext cx="297325" cy="297100"/>
              </a:xfrm>
              <a:custGeom>
                <a:avLst/>
                <a:gdLst/>
                <a:ahLst/>
                <a:cxnLst/>
                <a:rect l="l" t="t" r="r" b="b"/>
                <a:pathLst>
                  <a:path w="11893" h="11884" extrusionOk="0">
                    <a:moveTo>
                      <a:pt x="848" y="1"/>
                    </a:moveTo>
                    <a:cubicBezTo>
                      <a:pt x="384" y="1"/>
                      <a:pt x="0" y="375"/>
                      <a:pt x="0" y="848"/>
                    </a:cubicBezTo>
                    <a:lnTo>
                      <a:pt x="0" y="11036"/>
                    </a:lnTo>
                    <a:cubicBezTo>
                      <a:pt x="0" y="11509"/>
                      <a:pt x="384" y="11883"/>
                      <a:pt x="848" y="11883"/>
                    </a:cubicBezTo>
                    <a:lnTo>
                      <a:pt x="2266" y="11883"/>
                    </a:lnTo>
                    <a:cubicBezTo>
                      <a:pt x="2418" y="11883"/>
                      <a:pt x="2543" y="11758"/>
                      <a:pt x="2543" y="11607"/>
                    </a:cubicBezTo>
                    <a:cubicBezTo>
                      <a:pt x="2543" y="11455"/>
                      <a:pt x="2418" y="11330"/>
                      <a:pt x="2266" y="11330"/>
                    </a:cubicBezTo>
                    <a:lnTo>
                      <a:pt x="848" y="11330"/>
                    </a:lnTo>
                    <a:cubicBezTo>
                      <a:pt x="687" y="11330"/>
                      <a:pt x="554" y="11196"/>
                      <a:pt x="554" y="11036"/>
                    </a:cubicBezTo>
                    <a:lnTo>
                      <a:pt x="554" y="848"/>
                    </a:lnTo>
                    <a:cubicBezTo>
                      <a:pt x="554" y="687"/>
                      <a:pt x="687" y="554"/>
                      <a:pt x="848" y="554"/>
                    </a:cubicBezTo>
                    <a:lnTo>
                      <a:pt x="11036" y="554"/>
                    </a:lnTo>
                    <a:cubicBezTo>
                      <a:pt x="11196" y="554"/>
                      <a:pt x="11330" y="687"/>
                      <a:pt x="11330" y="848"/>
                    </a:cubicBezTo>
                    <a:lnTo>
                      <a:pt x="11330" y="3105"/>
                    </a:lnTo>
                    <a:cubicBezTo>
                      <a:pt x="11330" y="3257"/>
                      <a:pt x="11455" y="3382"/>
                      <a:pt x="11607" y="3382"/>
                    </a:cubicBezTo>
                    <a:cubicBezTo>
                      <a:pt x="11767" y="3382"/>
                      <a:pt x="11892" y="3257"/>
                      <a:pt x="11892" y="3105"/>
                    </a:cubicBezTo>
                    <a:lnTo>
                      <a:pt x="11892" y="848"/>
                    </a:lnTo>
                    <a:cubicBezTo>
                      <a:pt x="11892" y="375"/>
                      <a:pt x="11509" y="1"/>
                      <a:pt x="1103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2"/>
              <p:cNvSpPr/>
              <p:nvPr/>
            </p:nvSpPr>
            <p:spPr>
              <a:xfrm>
                <a:off x="4345800" y="2396150"/>
                <a:ext cx="219275" cy="198075"/>
              </a:xfrm>
              <a:custGeom>
                <a:avLst/>
                <a:gdLst/>
                <a:ahLst/>
                <a:cxnLst/>
                <a:rect l="l" t="t" r="r" b="b"/>
                <a:pathLst>
                  <a:path w="8771" h="7923" extrusionOk="0">
                    <a:moveTo>
                      <a:pt x="8485" y="0"/>
                    </a:moveTo>
                    <a:cubicBezTo>
                      <a:pt x="8333" y="0"/>
                      <a:pt x="8208" y="125"/>
                      <a:pt x="8208" y="277"/>
                    </a:cubicBezTo>
                    <a:lnTo>
                      <a:pt x="8208" y="7075"/>
                    </a:lnTo>
                    <a:cubicBezTo>
                      <a:pt x="8208" y="7235"/>
                      <a:pt x="8074" y="7369"/>
                      <a:pt x="7914" y="7369"/>
                    </a:cubicBezTo>
                    <a:lnTo>
                      <a:pt x="277" y="7369"/>
                    </a:lnTo>
                    <a:cubicBezTo>
                      <a:pt x="126" y="7369"/>
                      <a:pt x="1" y="7494"/>
                      <a:pt x="1" y="7646"/>
                    </a:cubicBezTo>
                    <a:cubicBezTo>
                      <a:pt x="1" y="7797"/>
                      <a:pt x="126" y="7922"/>
                      <a:pt x="277" y="7922"/>
                    </a:cubicBezTo>
                    <a:lnTo>
                      <a:pt x="7914" y="7922"/>
                    </a:lnTo>
                    <a:cubicBezTo>
                      <a:pt x="8387" y="7922"/>
                      <a:pt x="8770" y="7548"/>
                      <a:pt x="8770" y="7075"/>
                    </a:cubicBezTo>
                    <a:lnTo>
                      <a:pt x="8770" y="277"/>
                    </a:lnTo>
                    <a:cubicBezTo>
                      <a:pt x="8770" y="125"/>
                      <a:pt x="8645" y="0"/>
                      <a:pt x="84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2"/>
              <p:cNvSpPr/>
              <p:nvPr/>
            </p:nvSpPr>
            <p:spPr>
              <a:xfrm>
                <a:off x="4310575" y="2354900"/>
                <a:ext cx="13850" cy="181550"/>
              </a:xfrm>
              <a:custGeom>
                <a:avLst/>
                <a:gdLst/>
                <a:ahLst/>
                <a:cxnLst/>
                <a:rect l="l" t="t" r="r" b="b"/>
                <a:pathLst>
                  <a:path w="554" h="7262" extrusionOk="0">
                    <a:moveTo>
                      <a:pt x="277" y="0"/>
                    </a:moveTo>
                    <a:cubicBezTo>
                      <a:pt x="125" y="0"/>
                      <a:pt x="0" y="125"/>
                      <a:pt x="0" y="277"/>
                    </a:cubicBezTo>
                    <a:lnTo>
                      <a:pt x="0" y="6985"/>
                    </a:lnTo>
                    <a:cubicBezTo>
                      <a:pt x="0" y="7137"/>
                      <a:pt x="125" y="7262"/>
                      <a:pt x="277" y="7262"/>
                    </a:cubicBezTo>
                    <a:cubicBezTo>
                      <a:pt x="429" y="7262"/>
                      <a:pt x="553" y="7137"/>
                      <a:pt x="553" y="6985"/>
                    </a:cubicBezTo>
                    <a:lnTo>
                      <a:pt x="553" y="277"/>
                    </a:lnTo>
                    <a:cubicBezTo>
                      <a:pt x="553" y="125"/>
                      <a:pt x="429" y="0"/>
                      <a:pt x="2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2"/>
              <p:cNvSpPr/>
              <p:nvPr/>
            </p:nvSpPr>
            <p:spPr>
              <a:xfrm>
                <a:off x="4508175" y="2354900"/>
                <a:ext cx="14075" cy="181550"/>
              </a:xfrm>
              <a:custGeom>
                <a:avLst/>
                <a:gdLst/>
                <a:ahLst/>
                <a:cxnLst/>
                <a:rect l="l" t="t" r="r" b="b"/>
                <a:pathLst>
                  <a:path w="563" h="7262" extrusionOk="0">
                    <a:moveTo>
                      <a:pt x="286" y="0"/>
                    </a:moveTo>
                    <a:cubicBezTo>
                      <a:pt x="125" y="0"/>
                      <a:pt x="0" y="125"/>
                      <a:pt x="0" y="277"/>
                    </a:cubicBezTo>
                    <a:lnTo>
                      <a:pt x="0" y="6985"/>
                    </a:lnTo>
                    <a:cubicBezTo>
                      <a:pt x="0" y="7137"/>
                      <a:pt x="125" y="7262"/>
                      <a:pt x="286" y="7262"/>
                    </a:cubicBezTo>
                    <a:cubicBezTo>
                      <a:pt x="437" y="7262"/>
                      <a:pt x="562" y="7137"/>
                      <a:pt x="562" y="6985"/>
                    </a:cubicBezTo>
                    <a:lnTo>
                      <a:pt x="562" y="277"/>
                    </a:lnTo>
                    <a:cubicBezTo>
                      <a:pt x="562" y="125"/>
                      <a:pt x="437" y="0"/>
                      <a:pt x="2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2"/>
              <p:cNvSpPr/>
              <p:nvPr/>
            </p:nvSpPr>
            <p:spPr>
              <a:xfrm>
                <a:off x="4325525" y="2339725"/>
                <a:ext cx="181550" cy="14075"/>
              </a:xfrm>
              <a:custGeom>
                <a:avLst/>
                <a:gdLst/>
                <a:ahLst/>
                <a:cxnLst/>
                <a:rect l="l" t="t" r="r" b="b"/>
                <a:pathLst>
                  <a:path w="7262" h="563" extrusionOk="0">
                    <a:moveTo>
                      <a:pt x="277" y="0"/>
                    </a:moveTo>
                    <a:cubicBezTo>
                      <a:pt x="125" y="0"/>
                      <a:pt x="0" y="125"/>
                      <a:pt x="0" y="286"/>
                    </a:cubicBezTo>
                    <a:cubicBezTo>
                      <a:pt x="0" y="438"/>
                      <a:pt x="125" y="562"/>
                      <a:pt x="277" y="562"/>
                    </a:cubicBezTo>
                    <a:lnTo>
                      <a:pt x="6985" y="562"/>
                    </a:lnTo>
                    <a:cubicBezTo>
                      <a:pt x="7137" y="562"/>
                      <a:pt x="7262" y="438"/>
                      <a:pt x="7262" y="286"/>
                    </a:cubicBezTo>
                    <a:cubicBezTo>
                      <a:pt x="7262" y="125"/>
                      <a:pt x="7137" y="0"/>
                      <a:pt x="69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2"/>
              <p:cNvSpPr/>
              <p:nvPr/>
            </p:nvSpPr>
            <p:spPr>
              <a:xfrm>
                <a:off x="4325525" y="2537550"/>
                <a:ext cx="181550" cy="14075"/>
              </a:xfrm>
              <a:custGeom>
                <a:avLst/>
                <a:gdLst/>
                <a:ahLst/>
                <a:cxnLst/>
                <a:rect l="l" t="t" r="r" b="b"/>
                <a:pathLst>
                  <a:path w="7262" h="563" extrusionOk="0">
                    <a:moveTo>
                      <a:pt x="277" y="0"/>
                    </a:moveTo>
                    <a:cubicBezTo>
                      <a:pt x="125" y="0"/>
                      <a:pt x="0" y="125"/>
                      <a:pt x="0" y="277"/>
                    </a:cubicBezTo>
                    <a:cubicBezTo>
                      <a:pt x="0" y="437"/>
                      <a:pt x="125" y="562"/>
                      <a:pt x="277" y="562"/>
                    </a:cubicBezTo>
                    <a:lnTo>
                      <a:pt x="6985" y="562"/>
                    </a:lnTo>
                    <a:cubicBezTo>
                      <a:pt x="7137" y="562"/>
                      <a:pt x="7262" y="437"/>
                      <a:pt x="7262" y="277"/>
                    </a:cubicBezTo>
                    <a:cubicBezTo>
                      <a:pt x="7262" y="125"/>
                      <a:pt x="7137" y="0"/>
                      <a:pt x="69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2"/>
              <p:cNvSpPr/>
              <p:nvPr/>
            </p:nvSpPr>
            <p:spPr>
              <a:xfrm>
                <a:off x="4417625" y="2366275"/>
                <a:ext cx="78750" cy="78750"/>
              </a:xfrm>
              <a:custGeom>
                <a:avLst/>
                <a:gdLst/>
                <a:ahLst/>
                <a:cxnLst/>
                <a:rect l="l" t="t" r="r" b="b"/>
                <a:pathLst>
                  <a:path w="3150" h="3150" extrusionOk="0">
                    <a:moveTo>
                      <a:pt x="277" y="0"/>
                    </a:moveTo>
                    <a:cubicBezTo>
                      <a:pt x="125" y="0"/>
                      <a:pt x="0" y="125"/>
                      <a:pt x="0" y="277"/>
                    </a:cubicBezTo>
                    <a:cubicBezTo>
                      <a:pt x="0" y="437"/>
                      <a:pt x="125" y="562"/>
                      <a:pt x="277" y="562"/>
                    </a:cubicBezTo>
                    <a:lnTo>
                      <a:pt x="2587" y="562"/>
                    </a:lnTo>
                    <a:lnTo>
                      <a:pt x="2587" y="2873"/>
                    </a:lnTo>
                    <a:cubicBezTo>
                      <a:pt x="2587" y="3024"/>
                      <a:pt x="2712" y="3149"/>
                      <a:pt x="2873" y="3149"/>
                    </a:cubicBezTo>
                    <a:cubicBezTo>
                      <a:pt x="3025" y="3149"/>
                      <a:pt x="3150" y="3024"/>
                      <a:pt x="3150" y="2873"/>
                    </a:cubicBezTo>
                    <a:lnTo>
                      <a:pt x="3150" y="277"/>
                    </a:lnTo>
                    <a:cubicBezTo>
                      <a:pt x="3150" y="125"/>
                      <a:pt x="3025" y="0"/>
                      <a:pt x="287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2"/>
              <p:cNvSpPr/>
              <p:nvPr/>
            </p:nvSpPr>
            <p:spPr>
              <a:xfrm>
                <a:off x="4336450" y="2465950"/>
                <a:ext cx="59125" cy="59125"/>
              </a:xfrm>
              <a:custGeom>
                <a:avLst/>
                <a:gdLst/>
                <a:ahLst/>
                <a:cxnLst/>
                <a:rect l="l" t="t" r="r" b="b"/>
                <a:pathLst>
                  <a:path w="2365" h="2365" extrusionOk="0">
                    <a:moveTo>
                      <a:pt x="1758" y="554"/>
                    </a:moveTo>
                    <a:cubicBezTo>
                      <a:pt x="1784" y="554"/>
                      <a:pt x="1802" y="581"/>
                      <a:pt x="1802" y="607"/>
                    </a:cubicBezTo>
                    <a:lnTo>
                      <a:pt x="1802" y="1758"/>
                    </a:lnTo>
                    <a:cubicBezTo>
                      <a:pt x="1802" y="1785"/>
                      <a:pt x="1784" y="1803"/>
                      <a:pt x="1758" y="1803"/>
                    </a:cubicBezTo>
                    <a:lnTo>
                      <a:pt x="607" y="1803"/>
                    </a:lnTo>
                    <a:cubicBezTo>
                      <a:pt x="580" y="1803"/>
                      <a:pt x="553" y="1785"/>
                      <a:pt x="553" y="1758"/>
                    </a:cubicBezTo>
                    <a:lnTo>
                      <a:pt x="553" y="607"/>
                    </a:lnTo>
                    <a:cubicBezTo>
                      <a:pt x="553" y="581"/>
                      <a:pt x="580" y="554"/>
                      <a:pt x="607" y="554"/>
                    </a:cubicBezTo>
                    <a:close/>
                    <a:moveTo>
                      <a:pt x="607" y="1"/>
                    </a:moveTo>
                    <a:cubicBezTo>
                      <a:pt x="268" y="1"/>
                      <a:pt x="0" y="268"/>
                      <a:pt x="0" y="607"/>
                    </a:cubicBezTo>
                    <a:lnTo>
                      <a:pt x="0" y="1758"/>
                    </a:lnTo>
                    <a:cubicBezTo>
                      <a:pt x="0" y="2088"/>
                      <a:pt x="268" y="2365"/>
                      <a:pt x="607" y="2365"/>
                    </a:cubicBezTo>
                    <a:lnTo>
                      <a:pt x="1758" y="2365"/>
                    </a:lnTo>
                    <a:cubicBezTo>
                      <a:pt x="2088" y="2365"/>
                      <a:pt x="2364" y="2088"/>
                      <a:pt x="2364" y="1758"/>
                    </a:cubicBezTo>
                    <a:lnTo>
                      <a:pt x="2364" y="607"/>
                    </a:lnTo>
                    <a:cubicBezTo>
                      <a:pt x="2364" y="268"/>
                      <a:pt x="2088" y="1"/>
                      <a:pt x="175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332" name="Google Shape;332;p42"/>
          <p:cNvCxnSpPr/>
          <p:nvPr/>
        </p:nvCxnSpPr>
        <p:spPr>
          <a:xfrm rot="10800000">
            <a:off x="4326926" y="1667331"/>
            <a:ext cx="1606200" cy="0"/>
          </a:xfrm>
          <a:prstGeom prst="straightConnector1">
            <a:avLst/>
          </a:prstGeom>
          <a:solidFill>
            <a:schemeClr val="lt2"/>
          </a:solidFill>
          <a:ln w="76200" cap="flat" cmpd="sng">
            <a:solidFill>
              <a:srgbClr val="6178F6"/>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4"/>
          <p:cNvSpPr/>
          <p:nvPr/>
        </p:nvSpPr>
        <p:spPr>
          <a:xfrm>
            <a:off x="2854425" y="998250"/>
            <a:ext cx="2143392"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364" name="Google Shape;364;p44"/>
          <p:cNvSpPr txBox="1">
            <a:spLocks noGrp="1"/>
          </p:cNvSpPr>
          <p:nvPr>
            <p:ph type="title" idx="15"/>
          </p:nvPr>
        </p:nvSpPr>
        <p:spPr>
          <a:xfrm>
            <a:off x="1732325" y="539500"/>
            <a:ext cx="6698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Sommaire</a:t>
            </a:r>
            <a:endParaRPr dirty="0"/>
          </a:p>
        </p:txBody>
      </p:sp>
      <p:sp>
        <p:nvSpPr>
          <p:cNvPr id="365" name="Google Shape;365;p44"/>
          <p:cNvSpPr txBox="1">
            <a:spLocks noGrp="1"/>
          </p:cNvSpPr>
          <p:nvPr>
            <p:ph type="title"/>
          </p:nvPr>
        </p:nvSpPr>
        <p:spPr>
          <a:xfrm flipH="1">
            <a:off x="2644250" y="1722725"/>
            <a:ext cx="1676100" cy="85110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66" name="Google Shape;366;p44"/>
          <p:cNvSpPr txBox="1">
            <a:spLocks noGrp="1"/>
          </p:cNvSpPr>
          <p:nvPr>
            <p:ph type="subTitle" idx="1"/>
          </p:nvPr>
        </p:nvSpPr>
        <p:spPr>
          <a:xfrm flipH="1">
            <a:off x="188380" y="2177854"/>
            <a:ext cx="2610102" cy="371400"/>
          </a:xfrm>
          <a:prstGeom prst="rect">
            <a:avLst/>
          </a:prstGeom>
          <a:ln>
            <a:noFill/>
          </a:ln>
        </p:spPr>
        <p:txBody>
          <a:bodyPr spcFirstLastPara="1" wrap="square" lIns="91425" tIns="91425" rIns="91425" bIns="91425" anchor="b" anchorCtr="0">
            <a:noAutofit/>
          </a:bodyPr>
          <a:lstStyle/>
          <a:p>
            <a:pPr marL="0" lvl="0" indent="0"/>
            <a:r>
              <a:rPr lang="fr-FR" dirty="0"/>
              <a:t>Problématique &amp; état de l'art</a:t>
            </a:r>
            <a:endParaRPr dirty="0"/>
          </a:p>
        </p:txBody>
      </p:sp>
      <p:sp>
        <p:nvSpPr>
          <p:cNvPr id="368" name="Google Shape;368;p44"/>
          <p:cNvSpPr txBox="1">
            <a:spLocks noGrp="1"/>
          </p:cNvSpPr>
          <p:nvPr>
            <p:ph type="title" idx="3"/>
          </p:nvPr>
        </p:nvSpPr>
        <p:spPr>
          <a:xfrm flipH="1">
            <a:off x="2644275" y="3249525"/>
            <a:ext cx="1676100" cy="851100"/>
          </a:xfrm>
          <a:prstGeom prst="rect">
            <a:avLst/>
          </a:prstGeom>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369" name="Google Shape;369;p44"/>
          <p:cNvSpPr txBox="1">
            <a:spLocks noGrp="1"/>
          </p:cNvSpPr>
          <p:nvPr>
            <p:ph type="subTitle" idx="4"/>
          </p:nvPr>
        </p:nvSpPr>
        <p:spPr>
          <a:xfrm flipH="1">
            <a:off x="66908" y="3897187"/>
            <a:ext cx="2731574" cy="371400"/>
          </a:xfrm>
          <a:prstGeom prst="rect">
            <a:avLst/>
          </a:prstGeom>
          <a:ln>
            <a:noFill/>
          </a:ln>
        </p:spPr>
        <p:txBody>
          <a:bodyPr spcFirstLastPara="1" wrap="square" lIns="91425" tIns="91425" rIns="91425" bIns="91425" anchor="b" anchorCtr="0">
            <a:noAutofit/>
          </a:bodyPr>
          <a:lstStyle/>
          <a:p>
            <a:pPr marL="0" lvl="0" indent="0"/>
            <a:r>
              <a:rPr lang="fr-FR" dirty="0"/>
              <a:t>Architecture &amp; moteur de perception locale</a:t>
            </a:r>
            <a:endParaRPr dirty="0"/>
          </a:p>
        </p:txBody>
      </p:sp>
      <p:sp>
        <p:nvSpPr>
          <p:cNvPr id="371" name="Google Shape;371;p44"/>
          <p:cNvSpPr txBox="1">
            <a:spLocks noGrp="1"/>
          </p:cNvSpPr>
          <p:nvPr>
            <p:ph type="title" idx="6"/>
          </p:nvPr>
        </p:nvSpPr>
        <p:spPr>
          <a:xfrm>
            <a:off x="4823650" y="1722725"/>
            <a:ext cx="1676100" cy="851100"/>
          </a:xfrm>
          <a:prstGeom prst="rect">
            <a:avLst/>
          </a:prstGeom>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372" name="Google Shape;372;p44"/>
          <p:cNvSpPr txBox="1">
            <a:spLocks noGrp="1"/>
          </p:cNvSpPr>
          <p:nvPr>
            <p:ph type="subTitle" idx="7"/>
          </p:nvPr>
        </p:nvSpPr>
        <p:spPr>
          <a:xfrm>
            <a:off x="6417572" y="2416172"/>
            <a:ext cx="2731761" cy="371400"/>
          </a:xfrm>
          <a:prstGeom prst="rect">
            <a:avLst/>
          </a:prstGeom>
          <a:ln>
            <a:noFill/>
          </a:ln>
        </p:spPr>
        <p:txBody>
          <a:bodyPr spcFirstLastPara="1" wrap="square" lIns="91425" tIns="91425" rIns="91425" bIns="91425" anchor="b" anchorCtr="0">
            <a:noAutofit/>
          </a:bodyPr>
          <a:lstStyle/>
          <a:p>
            <a:pPr marL="0" lvl="0" indent="0"/>
            <a:r>
              <a:rPr lang="fr-FR" dirty="0"/>
              <a:t>Politiques d'intersection &amp; comportements</a:t>
            </a:r>
            <a:endParaRPr dirty="0"/>
          </a:p>
        </p:txBody>
      </p:sp>
      <p:sp>
        <p:nvSpPr>
          <p:cNvPr id="374" name="Google Shape;374;p44"/>
          <p:cNvSpPr txBox="1">
            <a:spLocks noGrp="1"/>
          </p:cNvSpPr>
          <p:nvPr>
            <p:ph type="title" idx="9"/>
          </p:nvPr>
        </p:nvSpPr>
        <p:spPr>
          <a:xfrm>
            <a:off x="4823625" y="3249525"/>
            <a:ext cx="1676100" cy="851100"/>
          </a:xfrm>
          <a:prstGeom prst="rect">
            <a:avLst/>
          </a:prstGeom>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t>04</a:t>
            </a:r>
            <a:endParaRPr/>
          </a:p>
        </p:txBody>
      </p:sp>
      <p:sp>
        <p:nvSpPr>
          <p:cNvPr id="375" name="Google Shape;375;p44"/>
          <p:cNvSpPr txBox="1">
            <a:spLocks noGrp="1"/>
          </p:cNvSpPr>
          <p:nvPr>
            <p:ph type="subTitle" idx="13"/>
          </p:nvPr>
        </p:nvSpPr>
        <p:spPr>
          <a:xfrm>
            <a:off x="6417572" y="3897187"/>
            <a:ext cx="2402400" cy="371400"/>
          </a:xfrm>
          <a:prstGeom prst="rect">
            <a:avLst/>
          </a:prstGeom>
          <a:ln>
            <a:noFill/>
          </a:ln>
        </p:spPr>
        <p:txBody>
          <a:bodyPr spcFirstLastPara="1" wrap="square" lIns="91425" tIns="91425" rIns="91425" bIns="91425" anchor="b" anchorCtr="0">
            <a:noAutofit/>
          </a:bodyPr>
          <a:lstStyle/>
          <a:p>
            <a:pPr marL="0" lvl="0" indent="0"/>
            <a:r>
              <a:rPr lang="fr-FR" dirty="0"/>
              <a:t>Métriques, expérimentation &amp; limites</a:t>
            </a:r>
            <a:endParaRPr dirty="0"/>
          </a:p>
        </p:txBody>
      </p:sp>
      <p:cxnSp>
        <p:nvCxnSpPr>
          <p:cNvPr id="377" name="Google Shape;377;p44"/>
          <p:cNvCxnSpPr/>
          <p:nvPr/>
        </p:nvCxnSpPr>
        <p:spPr>
          <a:xfrm rot="10800000">
            <a:off x="820750" y="948675"/>
            <a:ext cx="791400" cy="0"/>
          </a:xfrm>
          <a:prstGeom prst="straightConnector1">
            <a:avLst/>
          </a:prstGeom>
          <a:noFill/>
          <a:ln w="38100" cap="flat" cmpd="sng">
            <a:solidFill>
              <a:srgbClr val="6178F6"/>
            </a:solidFill>
            <a:prstDash val="solid"/>
            <a:round/>
            <a:headEnd type="none" w="med" len="med"/>
            <a:tailEnd type="none" w="med" len="med"/>
          </a:ln>
        </p:spPr>
      </p:cxnSp>
      <p:sp>
        <p:nvSpPr>
          <p:cNvPr id="378" name="Google Shape;378;p44"/>
          <p:cNvSpPr/>
          <p:nvPr/>
        </p:nvSpPr>
        <p:spPr>
          <a:xfrm>
            <a:off x="6842050" y="329531"/>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9" name="Google Shape;379;p44"/>
          <p:cNvGrpSpPr/>
          <p:nvPr/>
        </p:nvGrpSpPr>
        <p:grpSpPr>
          <a:xfrm rot="1189201">
            <a:off x="7018406" y="563527"/>
            <a:ext cx="688347" cy="572675"/>
            <a:chOff x="3155625" y="1773900"/>
            <a:chExt cx="496375" cy="412963"/>
          </a:xfrm>
        </p:grpSpPr>
        <p:sp>
          <p:nvSpPr>
            <p:cNvPr id="380" name="Google Shape;380;p44"/>
            <p:cNvSpPr/>
            <p:nvPr/>
          </p:nvSpPr>
          <p:spPr>
            <a:xfrm>
              <a:off x="3163550" y="1773900"/>
              <a:ext cx="488450" cy="394525"/>
            </a:xfrm>
            <a:custGeom>
              <a:avLst/>
              <a:gdLst/>
              <a:ahLst/>
              <a:cxnLst/>
              <a:rect l="l" t="t" r="r" b="b"/>
              <a:pathLst>
                <a:path w="19538" h="15781" extrusionOk="0">
                  <a:moveTo>
                    <a:pt x="10384" y="1"/>
                  </a:moveTo>
                  <a:cubicBezTo>
                    <a:pt x="7280" y="1"/>
                    <a:pt x="4702" y="2186"/>
                    <a:pt x="4077" y="5095"/>
                  </a:cubicBezTo>
                  <a:cubicBezTo>
                    <a:pt x="3765" y="4997"/>
                    <a:pt x="3435" y="4952"/>
                    <a:pt x="3087" y="4952"/>
                  </a:cubicBezTo>
                  <a:cubicBezTo>
                    <a:pt x="1392" y="4988"/>
                    <a:pt x="9" y="6379"/>
                    <a:pt x="0" y="8074"/>
                  </a:cubicBezTo>
                  <a:cubicBezTo>
                    <a:pt x="0" y="8217"/>
                    <a:pt x="0" y="8360"/>
                    <a:pt x="18" y="8494"/>
                  </a:cubicBezTo>
                  <a:cubicBezTo>
                    <a:pt x="107" y="9145"/>
                    <a:pt x="661" y="9636"/>
                    <a:pt x="1321" y="9636"/>
                  </a:cubicBezTo>
                  <a:lnTo>
                    <a:pt x="8627" y="9636"/>
                  </a:lnTo>
                  <a:lnTo>
                    <a:pt x="8627" y="14783"/>
                  </a:lnTo>
                  <a:cubicBezTo>
                    <a:pt x="8627" y="15015"/>
                    <a:pt x="8734" y="15229"/>
                    <a:pt x="8912" y="15363"/>
                  </a:cubicBezTo>
                  <a:lnTo>
                    <a:pt x="9430" y="15746"/>
                  </a:lnTo>
                  <a:cubicBezTo>
                    <a:pt x="9459" y="15770"/>
                    <a:pt x="9491" y="15780"/>
                    <a:pt x="9523" y="15780"/>
                  </a:cubicBezTo>
                  <a:cubicBezTo>
                    <a:pt x="9599" y="15780"/>
                    <a:pt x="9671" y="15719"/>
                    <a:pt x="9671" y="15630"/>
                  </a:cubicBezTo>
                  <a:lnTo>
                    <a:pt x="9671" y="9636"/>
                  </a:lnTo>
                  <a:lnTo>
                    <a:pt x="11062" y="9636"/>
                  </a:lnTo>
                  <a:lnTo>
                    <a:pt x="11080" y="15497"/>
                  </a:lnTo>
                  <a:cubicBezTo>
                    <a:pt x="11080" y="15665"/>
                    <a:pt x="11218" y="15777"/>
                    <a:pt x="11363" y="15777"/>
                  </a:cubicBezTo>
                  <a:cubicBezTo>
                    <a:pt x="11433" y="15777"/>
                    <a:pt x="11504" y="15751"/>
                    <a:pt x="11562" y="15693"/>
                  </a:cubicBezTo>
                  <a:lnTo>
                    <a:pt x="13578" y="13668"/>
                  </a:lnTo>
                  <a:cubicBezTo>
                    <a:pt x="13748" y="13498"/>
                    <a:pt x="13623" y="13204"/>
                    <a:pt x="13382" y="13204"/>
                  </a:cubicBezTo>
                  <a:lnTo>
                    <a:pt x="12124" y="13213"/>
                  </a:lnTo>
                  <a:lnTo>
                    <a:pt x="12106" y="9636"/>
                  </a:lnTo>
                  <a:lnTo>
                    <a:pt x="18181" y="9636"/>
                  </a:lnTo>
                  <a:cubicBezTo>
                    <a:pt x="18940" y="9636"/>
                    <a:pt x="19537" y="8993"/>
                    <a:pt x="19484" y="8235"/>
                  </a:cubicBezTo>
                  <a:cubicBezTo>
                    <a:pt x="19484" y="8226"/>
                    <a:pt x="19484" y="8217"/>
                    <a:pt x="19484" y="8208"/>
                  </a:cubicBezTo>
                  <a:cubicBezTo>
                    <a:pt x="19395" y="7227"/>
                    <a:pt x="18494" y="6344"/>
                    <a:pt x="17512" y="6272"/>
                  </a:cubicBezTo>
                  <a:cubicBezTo>
                    <a:pt x="17462" y="6269"/>
                    <a:pt x="17412" y="6267"/>
                    <a:pt x="17363" y="6267"/>
                  </a:cubicBezTo>
                  <a:cubicBezTo>
                    <a:pt x="17175" y="6267"/>
                    <a:pt x="16995" y="6292"/>
                    <a:pt x="16825" y="6335"/>
                  </a:cubicBezTo>
                  <a:cubicBezTo>
                    <a:pt x="16772" y="2829"/>
                    <a:pt x="13908" y="1"/>
                    <a:pt x="103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 name="Google Shape;381;p44"/>
            <p:cNvGrpSpPr/>
            <p:nvPr/>
          </p:nvGrpSpPr>
          <p:grpSpPr>
            <a:xfrm>
              <a:off x="3155625" y="1798538"/>
              <a:ext cx="477075" cy="388325"/>
              <a:chOff x="2308475" y="1609975"/>
              <a:chExt cx="477075" cy="388325"/>
            </a:xfrm>
          </p:grpSpPr>
          <p:sp>
            <p:nvSpPr>
              <p:cNvPr id="382" name="Google Shape;382;p44"/>
              <p:cNvSpPr/>
              <p:nvPr/>
            </p:nvSpPr>
            <p:spPr>
              <a:xfrm>
                <a:off x="2308475" y="1660025"/>
                <a:ext cx="392975" cy="338275"/>
              </a:xfrm>
              <a:custGeom>
                <a:avLst/>
                <a:gdLst/>
                <a:ahLst/>
                <a:cxnLst/>
                <a:rect l="l" t="t" r="r" b="b"/>
                <a:pathLst>
                  <a:path w="15719" h="13531" extrusionOk="0">
                    <a:moveTo>
                      <a:pt x="11053" y="3271"/>
                    </a:moveTo>
                    <a:lnTo>
                      <a:pt x="11321" y="3467"/>
                    </a:lnTo>
                    <a:cubicBezTo>
                      <a:pt x="11428" y="3548"/>
                      <a:pt x="11490" y="3673"/>
                      <a:pt x="11490" y="3798"/>
                    </a:cubicBezTo>
                    <a:lnTo>
                      <a:pt x="11490" y="10818"/>
                    </a:lnTo>
                    <a:cubicBezTo>
                      <a:pt x="11490" y="10979"/>
                      <a:pt x="11615" y="11104"/>
                      <a:pt x="11767" y="11104"/>
                    </a:cubicBezTo>
                    <a:lnTo>
                      <a:pt x="12909" y="11104"/>
                    </a:lnTo>
                    <a:lnTo>
                      <a:pt x="11053" y="12951"/>
                    </a:lnTo>
                    <a:lnTo>
                      <a:pt x="11053" y="3271"/>
                    </a:lnTo>
                    <a:close/>
                    <a:moveTo>
                      <a:pt x="5616" y="0"/>
                    </a:moveTo>
                    <a:cubicBezTo>
                      <a:pt x="5540" y="0"/>
                      <a:pt x="5463" y="29"/>
                      <a:pt x="5406" y="86"/>
                    </a:cubicBezTo>
                    <a:cubicBezTo>
                      <a:pt x="4710" y="854"/>
                      <a:pt x="4211" y="1781"/>
                      <a:pt x="3952" y="2781"/>
                    </a:cubicBezTo>
                    <a:cubicBezTo>
                      <a:pt x="3742" y="2734"/>
                      <a:pt x="3525" y="2708"/>
                      <a:pt x="3307" y="2708"/>
                    </a:cubicBezTo>
                    <a:cubicBezTo>
                      <a:pt x="3275" y="2708"/>
                      <a:pt x="3243" y="2708"/>
                      <a:pt x="3212" y="2709"/>
                    </a:cubicBezTo>
                    <a:cubicBezTo>
                      <a:pt x="2355" y="2718"/>
                      <a:pt x="1552" y="3066"/>
                      <a:pt x="955" y="3673"/>
                    </a:cubicBezTo>
                    <a:cubicBezTo>
                      <a:pt x="348" y="4279"/>
                      <a:pt x="9" y="5091"/>
                      <a:pt x="0" y="5939"/>
                    </a:cubicBezTo>
                    <a:cubicBezTo>
                      <a:pt x="0" y="6081"/>
                      <a:pt x="9" y="6233"/>
                      <a:pt x="27" y="6376"/>
                    </a:cubicBezTo>
                    <a:cubicBezTo>
                      <a:pt x="125" y="7134"/>
                      <a:pt x="767" y="7705"/>
                      <a:pt x="1534" y="7705"/>
                    </a:cubicBezTo>
                    <a:lnTo>
                      <a:pt x="8190" y="7705"/>
                    </a:lnTo>
                    <a:lnTo>
                      <a:pt x="8190" y="8410"/>
                    </a:lnTo>
                    <a:cubicBezTo>
                      <a:pt x="8190" y="8561"/>
                      <a:pt x="8314" y="8686"/>
                      <a:pt x="8466" y="8686"/>
                    </a:cubicBezTo>
                    <a:cubicBezTo>
                      <a:pt x="8618" y="8686"/>
                      <a:pt x="8743" y="8561"/>
                      <a:pt x="8743" y="8410"/>
                    </a:cubicBezTo>
                    <a:lnTo>
                      <a:pt x="8743" y="5287"/>
                    </a:lnTo>
                    <a:cubicBezTo>
                      <a:pt x="8743" y="5127"/>
                      <a:pt x="8618" y="5002"/>
                      <a:pt x="8466" y="5002"/>
                    </a:cubicBezTo>
                    <a:lnTo>
                      <a:pt x="7324" y="5002"/>
                    </a:lnTo>
                    <a:lnTo>
                      <a:pt x="9180" y="3155"/>
                    </a:lnTo>
                    <a:lnTo>
                      <a:pt x="9180" y="12835"/>
                    </a:lnTo>
                    <a:lnTo>
                      <a:pt x="8912" y="12638"/>
                    </a:lnTo>
                    <a:cubicBezTo>
                      <a:pt x="8805" y="12558"/>
                      <a:pt x="8743" y="12433"/>
                      <a:pt x="8743" y="12308"/>
                    </a:cubicBezTo>
                    <a:lnTo>
                      <a:pt x="8743" y="9552"/>
                    </a:lnTo>
                    <a:cubicBezTo>
                      <a:pt x="8743" y="9391"/>
                      <a:pt x="8618" y="9266"/>
                      <a:pt x="8466" y="9266"/>
                    </a:cubicBezTo>
                    <a:cubicBezTo>
                      <a:pt x="8314" y="9266"/>
                      <a:pt x="8190" y="9391"/>
                      <a:pt x="8190" y="9552"/>
                    </a:cubicBezTo>
                    <a:lnTo>
                      <a:pt x="8190" y="12308"/>
                    </a:lnTo>
                    <a:cubicBezTo>
                      <a:pt x="8190" y="12612"/>
                      <a:pt x="8332" y="12897"/>
                      <a:pt x="8573" y="13084"/>
                    </a:cubicBezTo>
                    <a:lnTo>
                      <a:pt x="9055" y="13450"/>
                    </a:lnTo>
                    <a:cubicBezTo>
                      <a:pt x="9135" y="13504"/>
                      <a:pt x="9224" y="13530"/>
                      <a:pt x="9314" y="13530"/>
                    </a:cubicBezTo>
                    <a:cubicBezTo>
                      <a:pt x="9376" y="13530"/>
                      <a:pt x="9439" y="13521"/>
                      <a:pt x="9501" y="13486"/>
                    </a:cubicBezTo>
                    <a:cubicBezTo>
                      <a:pt x="9644" y="13414"/>
                      <a:pt x="9733" y="13272"/>
                      <a:pt x="9733" y="13111"/>
                    </a:cubicBezTo>
                    <a:lnTo>
                      <a:pt x="9733" y="7705"/>
                    </a:lnTo>
                    <a:lnTo>
                      <a:pt x="10500" y="7705"/>
                    </a:lnTo>
                    <a:lnTo>
                      <a:pt x="10500" y="12986"/>
                    </a:lnTo>
                    <a:cubicBezTo>
                      <a:pt x="10500" y="13209"/>
                      <a:pt x="10634" y="13405"/>
                      <a:pt x="10830" y="13495"/>
                    </a:cubicBezTo>
                    <a:cubicBezTo>
                      <a:pt x="10902" y="13521"/>
                      <a:pt x="10973" y="13530"/>
                      <a:pt x="11044" y="13530"/>
                    </a:cubicBezTo>
                    <a:cubicBezTo>
                      <a:pt x="11187" y="13530"/>
                      <a:pt x="11321" y="13477"/>
                      <a:pt x="11428" y="13370"/>
                    </a:cubicBezTo>
                    <a:lnTo>
                      <a:pt x="13346" y="11452"/>
                    </a:lnTo>
                    <a:cubicBezTo>
                      <a:pt x="13498" y="11300"/>
                      <a:pt x="13542" y="11077"/>
                      <a:pt x="13462" y="10872"/>
                    </a:cubicBezTo>
                    <a:cubicBezTo>
                      <a:pt x="13373" y="10676"/>
                      <a:pt x="13185" y="10542"/>
                      <a:pt x="12962" y="10542"/>
                    </a:cubicBezTo>
                    <a:lnTo>
                      <a:pt x="12043" y="10542"/>
                    </a:lnTo>
                    <a:lnTo>
                      <a:pt x="12043" y="7705"/>
                    </a:lnTo>
                    <a:lnTo>
                      <a:pt x="15442" y="7705"/>
                    </a:lnTo>
                    <a:cubicBezTo>
                      <a:pt x="15594" y="7705"/>
                      <a:pt x="15719" y="7580"/>
                      <a:pt x="15719" y="7419"/>
                    </a:cubicBezTo>
                    <a:cubicBezTo>
                      <a:pt x="15719" y="7268"/>
                      <a:pt x="15594" y="7143"/>
                      <a:pt x="15442" y="7143"/>
                    </a:cubicBezTo>
                    <a:lnTo>
                      <a:pt x="12043" y="7143"/>
                    </a:lnTo>
                    <a:lnTo>
                      <a:pt x="12043" y="3798"/>
                    </a:lnTo>
                    <a:cubicBezTo>
                      <a:pt x="12043" y="3494"/>
                      <a:pt x="11901" y="3209"/>
                      <a:pt x="11660" y="3021"/>
                    </a:cubicBezTo>
                    <a:lnTo>
                      <a:pt x="11178" y="2656"/>
                    </a:lnTo>
                    <a:cubicBezTo>
                      <a:pt x="11102" y="2600"/>
                      <a:pt x="11015" y="2573"/>
                      <a:pt x="10928" y="2573"/>
                    </a:cubicBezTo>
                    <a:cubicBezTo>
                      <a:pt x="10861" y="2573"/>
                      <a:pt x="10794" y="2589"/>
                      <a:pt x="10732" y="2620"/>
                    </a:cubicBezTo>
                    <a:cubicBezTo>
                      <a:pt x="10589" y="2691"/>
                      <a:pt x="10500" y="2834"/>
                      <a:pt x="10500" y="2995"/>
                    </a:cubicBezTo>
                    <a:lnTo>
                      <a:pt x="10500" y="7143"/>
                    </a:lnTo>
                    <a:lnTo>
                      <a:pt x="9733" y="7143"/>
                    </a:lnTo>
                    <a:lnTo>
                      <a:pt x="9733" y="3120"/>
                    </a:lnTo>
                    <a:cubicBezTo>
                      <a:pt x="9733" y="2897"/>
                      <a:pt x="9599" y="2700"/>
                      <a:pt x="9403" y="2611"/>
                    </a:cubicBezTo>
                    <a:cubicBezTo>
                      <a:pt x="9336" y="2585"/>
                      <a:pt x="9267" y="2572"/>
                      <a:pt x="9198" y="2572"/>
                    </a:cubicBezTo>
                    <a:cubicBezTo>
                      <a:pt x="9054" y="2572"/>
                      <a:pt x="8913" y="2628"/>
                      <a:pt x="8805" y="2736"/>
                    </a:cubicBezTo>
                    <a:lnTo>
                      <a:pt x="6887" y="4654"/>
                    </a:lnTo>
                    <a:cubicBezTo>
                      <a:pt x="6735" y="4806"/>
                      <a:pt x="6691" y="5029"/>
                      <a:pt x="6771" y="5234"/>
                    </a:cubicBezTo>
                    <a:cubicBezTo>
                      <a:pt x="6860" y="5430"/>
                      <a:pt x="7048" y="5564"/>
                      <a:pt x="7271" y="5564"/>
                    </a:cubicBezTo>
                    <a:lnTo>
                      <a:pt x="8190" y="5564"/>
                    </a:lnTo>
                    <a:lnTo>
                      <a:pt x="8190" y="7143"/>
                    </a:lnTo>
                    <a:lnTo>
                      <a:pt x="1534" y="7143"/>
                    </a:lnTo>
                    <a:cubicBezTo>
                      <a:pt x="1053" y="7143"/>
                      <a:pt x="642" y="6786"/>
                      <a:pt x="580" y="6304"/>
                    </a:cubicBezTo>
                    <a:cubicBezTo>
                      <a:pt x="571" y="6188"/>
                      <a:pt x="562" y="6063"/>
                      <a:pt x="562" y="5948"/>
                    </a:cubicBezTo>
                    <a:cubicBezTo>
                      <a:pt x="571" y="4493"/>
                      <a:pt x="1766" y="3289"/>
                      <a:pt x="3221" y="3262"/>
                    </a:cubicBezTo>
                    <a:cubicBezTo>
                      <a:pt x="3506" y="3262"/>
                      <a:pt x="3800" y="3298"/>
                      <a:pt x="4068" y="3387"/>
                    </a:cubicBezTo>
                    <a:cubicBezTo>
                      <a:pt x="4095" y="3393"/>
                      <a:pt x="4122" y="3396"/>
                      <a:pt x="4148" y="3396"/>
                    </a:cubicBezTo>
                    <a:cubicBezTo>
                      <a:pt x="4201" y="3396"/>
                      <a:pt x="4252" y="3384"/>
                      <a:pt x="4300" y="3360"/>
                    </a:cubicBezTo>
                    <a:cubicBezTo>
                      <a:pt x="4362" y="3316"/>
                      <a:pt x="4416" y="3253"/>
                      <a:pt x="4425" y="3173"/>
                    </a:cubicBezTo>
                    <a:cubicBezTo>
                      <a:pt x="4639" y="2165"/>
                      <a:pt x="5121" y="1228"/>
                      <a:pt x="5817" y="470"/>
                    </a:cubicBezTo>
                    <a:cubicBezTo>
                      <a:pt x="5924" y="354"/>
                      <a:pt x="5915" y="176"/>
                      <a:pt x="5799" y="69"/>
                    </a:cubicBezTo>
                    <a:cubicBezTo>
                      <a:pt x="5749" y="23"/>
                      <a:pt x="5683" y="0"/>
                      <a:pt x="56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4"/>
              <p:cNvSpPr/>
              <p:nvPr/>
            </p:nvSpPr>
            <p:spPr>
              <a:xfrm>
                <a:off x="2461900" y="1609975"/>
                <a:ext cx="323650" cy="242675"/>
              </a:xfrm>
              <a:custGeom>
                <a:avLst/>
                <a:gdLst/>
                <a:ahLst/>
                <a:cxnLst/>
                <a:rect l="l" t="t" r="r" b="b"/>
                <a:pathLst>
                  <a:path w="12946" h="9707" extrusionOk="0">
                    <a:moveTo>
                      <a:pt x="3997" y="1"/>
                    </a:moveTo>
                    <a:cubicBezTo>
                      <a:pt x="2597" y="1"/>
                      <a:pt x="1268" y="447"/>
                      <a:pt x="152" y="1286"/>
                    </a:cubicBezTo>
                    <a:cubicBezTo>
                      <a:pt x="28" y="1384"/>
                      <a:pt x="1" y="1553"/>
                      <a:pt x="99" y="1678"/>
                    </a:cubicBezTo>
                    <a:cubicBezTo>
                      <a:pt x="151" y="1752"/>
                      <a:pt x="235" y="1791"/>
                      <a:pt x="320" y="1791"/>
                    </a:cubicBezTo>
                    <a:cubicBezTo>
                      <a:pt x="380" y="1791"/>
                      <a:pt x="440" y="1772"/>
                      <a:pt x="491" y="1732"/>
                    </a:cubicBezTo>
                    <a:cubicBezTo>
                      <a:pt x="1508" y="964"/>
                      <a:pt x="2722" y="563"/>
                      <a:pt x="3997" y="563"/>
                    </a:cubicBezTo>
                    <a:cubicBezTo>
                      <a:pt x="7164" y="563"/>
                      <a:pt x="9778" y="3132"/>
                      <a:pt x="9823" y="6299"/>
                    </a:cubicBezTo>
                    <a:cubicBezTo>
                      <a:pt x="9823" y="6388"/>
                      <a:pt x="9867" y="6469"/>
                      <a:pt x="9939" y="6522"/>
                    </a:cubicBezTo>
                    <a:cubicBezTo>
                      <a:pt x="9982" y="6559"/>
                      <a:pt x="10039" y="6575"/>
                      <a:pt x="10099" y="6575"/>
                    </a:cubicBezTo>
                    <a:cubicBezTo>
                      <a:pt x="10126" y="6575"/>
                      <a:pt x="10153" y="6572"/>
                      <a:pt x="10180" y="6567"/>
                    </a:cubicBezTo>
                    <a:cubicBezTo>
                      <a:pt x="10328" y="6530"/>
                      <a:pt x="10483" y="6511"/>
                      <a:pt x="10644" y="6511"/>
                    </a:cubicBezTo>
                    <a:cubicBezTo>
                      <a:pt x="10677" y="6511"/>
                      <a:pt x="10709" y="6512"/>
                      <a:pt x="10742" y="6513"/>
                    </a:cubicBezTo>
                    <a:cubicBezTo>
                      <a:pt x="11545" y="6567"/>
                      <a:pt x="12285" y="7289"/>
                      <a:pt x="12347" y="8092"/>
                    </a:cubicBezTo>
                    <a:lnTo>
                      <a:pt x="12356" y="8119"/>
                    </a:lnTo>
                    <a:cubicBezTo>
                      <a:pt x="12374" y="8387"/>
                      <a:pt x="12285" y="8636"/>
                      <a:pt x="12098" y="8842"/>
                    </a:cubicBezTo>
                    <a:cubicBezTo>
                      <a:pt x="11919" y="9038"/>
                      <a:pt x="11661" y="9145"/>
                      <a:pt x="11393" y="9145"/>
                    </a:cubicBezTo>
                    <a:lnTo>
                      <a:pt x="10447" y="9145"/>
                    </a:lnTo>
                    <a:cubicBezTo>
                      <a:pt x="10296" y="9145"/>
                      <a:pt x="10171" y="9270"/>
                      <a:pt x="10171" y="9421"/>
                    </a:cubicBezTo>
                    <a:cubicBezTo>
                      <a:pt x="10171" y="9582"/>
                      <a:pt x="10296" y="9707"/>
                      <a:pt x="10447" y="9707"/>
                    </a:cubicBezTo>
                    <a:lnTo>
                      <a:pt x="11393" y="9707"/>
                    </a:lnTo>
                    <a:cubicBezTo>
                      <a:pt x="11812" y="9707"/>
                      <a:pt x="12223" y="9529"/>
                      <a:pt x="12508" y="9216"/>
                    </a:cubicBezTo>
                    <a:cubicBezTo>
                      <a:pt x="12794" y="8913"/>
                      <a:pt x="12945" y="8494"/>
                      <a:pt x="12909" y="8074"/>
                    </a:cubicBezTo>
                    <a:lnTo>
                      <a:pt x="12909" y="8048"/>
                    </a:lnTo>
                    <a:cubicBezTo>
                      <a:pt x="12865" y="7530"/>
                      <a:pt x="12615" y="7022"/>
                      <a:pt x="12205" y="6629"/>
                    </a:cubicBezTo>
                    <a:cubicBezTo>
                      <a:pt x="11803" y="6228"/>
                      <a:pt x="11295" y="5996"/>
                      <a:pt x="10777" y="5960"/>
                    </a:cubicBezTo>
                    <a:cubicBezTo>
                      <a:pt x="10722" y="5956"/>
                      <a:pt x="10667" y="5954"/>
                      <a:pt x="10610" y="5954"/>
                    </a:cubicBezTo>
                    <a:cubicBezTo>
                      <a:pt x="10531" y="5954"/>
                      <a:pt x="10451" y="5959"/>
                      <a:pt x="10367" y="5969"/>
                    </a:cubicBezTo>
                    <a:cubicBezTo>
                      <a:pt x="10269" y="4399"/>
                      <a:pt x="9600" y="2954"/>
                      <a:pt x="8485" y="1839"/>
                    </a:cubicBezTo>
                    <a:cubicBezTo>
                      <a:pt x="7280" y="652"/>
                      <a:pt x="5683" y="1"/>
                      <a:pt x="39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4"/>
              <p:cNvSpPr/>
              <p:nvPr/>
            </p:nvSpPr>
            <p:spPr>
              <a:xfrm>
                <a:off x="2621375" y="1763200"/>
                <a:ext cx="14075" cy="49975"/>
              </a:xfrm>
              <a:custGeom>
                <a:avLst/>
                <a:gdLst/>
                <a:ahLst/>
                <a:cxnLst/>
                <a:rect l="l" t="t" r="r" b="b"/>
                <a:pathLst>
                  <a:path w="563" h="1999" extrusionOk="0">
                    <a:moveTo>
                      <a:pt x="286" y="1"/>
                    </a:moveTo>
                    <a:cubicBezTo>
                      <a:pt x="125" y="1"/>
                      <a:pt x="0" y="126"/>
                      <a:pt x="0" y="277"/>
                    </a:cubicBezTo>
                    <a:lnTo>
                      <a:pt x="0" y="1722"/>
                    </a:lnTo>
                    <a:cubicBezTo>
                      <a:pt x="0" y="1874"/>
                      <a:pt x="125" y="1999"/>
                      <a:pt x="286" y="1999"/>
                    </a:cubicBezTo>
                    <a:cubicBezTo>
                      <a:pt x="437" y="1999"/>
                      <a:pt x="562" y="1874"/>
                      <a:pt x="562" y="1722"/>
                    </a:cubicBezTo>
                    <a:lnTo>
                      <a:pt x="562" y="277"/>
                    </a:lnTo>
                    <a:cubicBezTo>
                      <a:pt x="562" y="126"/>
                      <a:pt x="437" y="1"/>
                      <a:pt x="2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4"/>
              <p:cNvSpPr/>
              <p:nvPr/>
            </p:nvSpPr>
            <p:spPr>
              <a:xfrm>
                <a:off x="2487325" y="1909500"/>
                <a:ext cx="14075" cy="50000"/>
              </a:xfrm>
              <a:custGeom>
                <a:avLst/>
                <a:gdLst/>
                <a:ahLst/>
                <a:cxnLst/>
                <a:rect l="l" t="t" r="r" b="b"/>
                <a:pathLst>
                  <a:path w="563" h="2000" extrusionOk="0">
                    <a:moveTo>
                      <a:pt x="286" y="1"/>
                    </a:moveTo>
                    <a:cubicBezTo>
                      <a:pt x="126" y="1"/>
                      <a:pt x="1" y="126"/>
                      <a:pt x="1" y="277"/>
                    </a:cubicBezTo>
                    <a:lnTo>
                      <a:pt x="1" y="1723"/>
                    </a:lnTo>
                    <a:cubicBezTo>
                      <a:pt x="1" y="1874"/>
                      <a:pt x="126" y="1999"/>
                      <a:pt x="286" y="1999"/>
                    </a:cubicBezTo>
                    <a:cubicBezTo>
                      <a:pt x="438" y="1999"/>
                      <a:pt x="563" y="1874"/>
                      <a:pt x="563" y="1723"/>
                    </a:cubicBezTo>
                    <a:lnTo>
                      <a:pt x="563" y="277"/>
                    </a:lnTo>
                    <a:cubicBezTo>
                      <a:pt x="563" y="126"/>
                      <a:pt x="438" y="1"/>
                      <a:pt x="2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4"/>
              <p:cNvSpPr/>
              <p:nvPr/>
            </p:nvSpPr>
            <p:spPr>
              <a:xfrm>
                <a:off x="2554900" y="1643225"/>
                <a:ext cx="128950" cy="127150"/>
              </a:xfrm>
              <a:custGeom>
                <a:avLst/>
                <a:gdLst/>
                <a:ahLst/>
                <a:cxnLst/>
                <a:rect l="l" t="t" r="r" b="b"/>
                <a:pathLst>
                  <a:path w="5158" h="5086" extrusionOk="0">
                    <a:moveTo>
                      <a:pt x="277" y="0"/>
                    </a:moveTo>
                    <a:cubicBezTo>
                      <a:pt x="126" y="0"/>
                      <a:pt x="1" y="125"/>
                      <a:pt x="1" y="277"/>
                    </a:cubicBezTo>
                    <a:cubicBezTo>
                      <a:pt x="1" y="428"/>
                      <a:pt x="126" y="553"/>
                      <a:pt x="277" y="553"/>
                    </a:cubicBezTo>
                    <a:cubicBezTo>
                      <a:pt x="2624" y="553"/>
                      <a:pt x="4559" y="2462"/>
                      <a:pt x="4595" y="4809"/>
                    </a:cubicBezTo>
                    <a:cubicBezTo>
                      <a:pt x="4595" y="4960"/>
                      <a:pt x="4720" y="5085"/>
                      <a:pt x="4872" y="5085"/>
                    </a:cubicBezTo>
                    <a:lnTo>
                      <a:pt x="4881" y="5085"/>
                    </a:lnTo>
                    <a:cubicBezTo>
                      <a:pt x="5032" y="5085"/>
                      <a:pt x="5157" y="4951"/>
                      <a:pt x="5157" y="4800"/>
                    </a:cubicBezTo>
                    <a:cubicBezTo>
                      <a:pt x="5130" y="3515"/>
                      <a:pt x="4622" y="2311"/>
                      <a:pt x="3703" y="1401"/>
                    </a:cubicBezTo>
                    <a:cubicBezTo>
                      <a:pt x="2784" y="500"/>
                      <a:pt x="1562" y="0"/>
                      <a:pt x="2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ZoneTexte 1">
            <a:extLst>
              <a:ext uri="{FF2B5EF4-FFF2-40B4-BE49-F238E27FC236}">
                <a16:creationId xmlns:a16="http://schemas.microsoft.com/office/drawing/2014/main" id="{0234BA20-271A-71EC-E077-26F5CF2A6DE3}"/>
              </a:ext>
            </a:extLst>
          </p:cNvPr>
          <p:cNvSpPr txBox="1"/>
          <p:nvPr/>
        </p:nvSpPr>
        <p:spPr>
          <a:xfrm>
            <a:off x="8819972" y="4835723"/>
            <a:ext cx="266420"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5"/>
          <p:cNvSpPr/>
          <p:nvPr/>
        </p:nvSpPr>
        <p:spPr>
          <a:xfrm>
            <a:off x="1058950" y="3333906"/>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5"/>
          <p:cNvSpPr/>
          <p:nvPr/>
        </p:nvSpPr>
        <p:spPr>
          <a:xfrm>
            <a:off x="867421" y="853986"/>
            <a:ext cx="2862282"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394" name="Google Shape;394;p45"/>
          <p:cNvSpPr txBox="1">
            <a:spLocks noGrp="1"/>
          </p:cNvSpPr>
          <p:nvPr>
            <p:ph type="title"/>
          </p:nvPr>
        </p:nvSpPr>
        <p:spPr>
          <a:xfrm>
            <a:off x="734812" y="358860"/>
            <a:ext cx="4045200" cy="7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95" name="Google Shape;395;p45"/>
          <p:cNvSpPr txBox="1">
            <a:spLocks noGrp="1"/>
          </p:cNvSpPr>
          <p:nvPr>
            <p:ph type="subTitle" idx="1"/>
          </p:nvPr>
        </p:nvSpPr>
        <p:spPr>
          <a:xfrm>
            <a:off x="786656" y="825396"/>
            <a:ext cx="6353253" cy="1235100"/>
          </a:xfrm>
          <a:prstGeom prst="rect">
            <a:avLst/>
          </a:prstGeom>
        </p:spPr>
        <p:txBody>
          <a:bodyPr spcFirstLastPara="1" wrap="square" lIns="91425" tIns="91425" rIns="91425" bIns="91425" anchor="b" anchorCtr="0">
            <a:noAutofit/>
          </a:bodyPr>
          <a:lstStyle/>
          <a:p>
            <a:pPr marL="0" lvl="0" indent="0"/>
            <a:r>
              <a:rPr lang="fr-FR" dirty="0">
                <a:latin typeface="Abhaya Libre" panose="020B0604020202020204" charset="0"/>
                <a:cs typeface="Abhaya Libre" panose="020B0604020202020204" charset="0"/>
              </a:rPr>
              <a:t>Deux stratégies de gestion de conflits, priorité fixe et négociation locale, produisent-elles des différences mesurables sur un carrefour simplifié lorsque les véhicules disposent uniquement d’une perception locale?</a:t>
            </a:r>
            <a:endParaRPr dirty="0">
              <a:latin typeface="Abhaya Libre" panose="020B0604020202020204" charset="0"/>
              <a:cs typeface="Abhaya Libre" panose="020B0604020202020204" charset="0"/>
            </a:endParaRPr>
          </a:p>
        </p:txBody>
      </p:sp>
      <p:cxnSp>
        <p:nvCxnSpPr>
          <p:cNvPr id="396" name="Google Shape;396;p45"/>
          <p:cNvCxnSpPr/>
          <p:nvPr/>
        </p:nvCxnSpPr>
        <p:spPr>
          <a:xfrm>
            <a:off x="830137" y="347510"/>
            <a:ext cx="852000" cy="0"/>
          </a:xfrm>
          <a:prstGeom prst="straightConnector1">
            <a:avLst/>
          </a:prstGeom>
          <a:noFill/>
          <a:ln w="38100" cap="flat" cmpd="sng">
            <a:solidFill>
              <a:schemeClr val="accent1"/>
            </a:solidFill>
            <a:prstDash val="solid"/>
            <a:round/>
            <a:headEnd type="none" w="med" len="med"/>
            <a:tailEnd type="none" w="med" len="med"/>
          </a:ln>
        </p:spPr>
      </p:cxnSp>
      <p:grpSp>
        <p:nvGrpSpPr>
          <p:cNvPr id="397" name="Google Shape;397;p45"/>
          <p:cNvGrpSpPr/>
          <p:nvPr/>
        </p:nvGrpSpPr>
        <p:grpSpPr>
          <a:xfrm rot="900245">
            <a:off x="1279924" y="3602427"/>
            <a:ext cx="599271" cy="543125"/>
            <a:chOff x="487903" y="3023794"/>
            <a:chExt cx="1092563" cy="990202"/>
          </a:xfrm>
        </p:grpSpPr>
        <p:sp>
          <p:nvSpPr>
            <p:cNvPr id="398" name="Google Shape;398;p45"/>
            <p:cNvSpPr/>
            <p:nvPr/>
          </p:nvSpPr>
          <p:spPr>
            <a:xfrm>
              <a:off x="524720" y="3023794"/>
              <a:ext cx="1055746" cy="950366"/>
            </a:xfrm>
            <a:custGeom>
              <a:avLst/>
              <a:gdLst/>
              <a:ahLst/>
              <a:cxnLst/>
              <a:rect l="l" t="t" r="r" b="b"/>
              <a:pathLst>
                <a:path w="19494" h="17549" extrusionOk="0">
                  <a:moveTo>
                    <a:pt x="1446" y="1"/>
                  </a:moveTo>
                  <a:cubicBezTo>
                    <a:pt x="643" y="1"/>
                    <a:pt x="1" y="643"/>
                    <a:pt x="1" y="1437"/>
                  </a:cubicBezTo>
                  <a:lnTo>
                    <a:pt x="1" y="11125"/>
                  </a:lnTo>
                  <a:lnTo>
                    <a:pt x="1" y="11732"/>
                  </a:lnTo>
                  <a:lnTo>
                    <a:pt x="1" y="11991"/>
                  </a:lnTo>
                  <a:lnTo>
                    <a:pt x="1" y="13793"/>
                  </a:lnTo>
                  <a:cubicBezTo>
                    <a:pt x="1" y="14141"/>
                    <a:pt x="286" y="14426"/>
                    <a:pt x="634" y="14426"/>
                  </a:cubicBezTo>
                  <a:lnTo>
                    <a:pt x="7468" y="14426"/>
                  </a:lnTo>
                  <a:cubicBezTo>
                    <a:pt x="7459" y="14444"/>
                    <a:pt x="7459" y="14462"/>
                    <a:pt x="7459" y="14480"/>
                  </a:cubicBezTo>
                  <a:cubicBezTo>
                    <a:pt x="7450" y="14498"/>
                    <a:pt x="7450" y="14524"/>
                    <a:pt x="7441" y="14542"/>
                  </a:cubicBezTo>
                  <a:cubicBezTo>
                    <a:pt x="7432" y="14569"/>
                    <a:pt x="7432" y="14596"/>
                    <a:pt x="7423" y="14614"/>
                  </a:cubicBezTo>
                  <a:cubicBezTo>
                    <a:pt x="7414" y="14640"/>
                    <a:pt x="7414" y="14667"/>
                    <a:pt x="7405" y="14685"/>
                  </a:cubicBezTo>
                  <a:cubicBezTo>
                    <a:pt x="7397" y="14712"/>
                    <a:pt x="7388" y="14738"/>
                    <a:pt x="7388" y="14765"/>
                  </a:cubicBezTo>
                  <a:cubicBezTo>
                    <a:pt x="7379" y="14783"/>
                    <a:pt x="7370" y="14810"/>
                    <a:pt x="7361" y="14837"/>
                  </a:cubicBezTo>
                  <a:cubicBezTo>
                    <a:pt x="7352" y="14863"/>
                    <a:pt x="7343" y="14890"/>
                    <a:pt x="7334" y="14917"/>
                  </a:cubicBezTo>
                  <a:cubicBezTo>
                    <a:pt x="7325" y="14953"/>
                    <a:pt x="7307" y="14997"/>
                    <a:pt x="7298" y="15033"/>
                  </a:cubicBezTo>
                  <a:cubicBezTo>
                    <a:pt x="7245" y="15184"/>
                    <a:pt x="7182" y="15345"/>
                    <a:pt x="7111" y="15506"/>
                  </a:cubicBezTo>
                  <a:cubicBezTo>
                    <a:pt x="6861" y="16023"/>
                    <a:pt x="6487" y="16567"/>
                    <a:pt x="5916" y="16995"/>
                  </a:cubicBezTo>
                  <a:cubicBezTo>
                    <a:pt x="5684" y="17174"/>
                    <a:pt x="5809" y="17549"/>
                    <a:pt x="6103" y="17549"/>
                  </a:cubicBezTo>
                  <a:lnTo>
                    <a:pt x="13383" y="17549"/>
                  </a:lnTo>
                  <a:cubicBezTo>
                    <a:pt x="13677" y="17549"/>
                    <a:pt x="13802" y="17174"/>
                    <a:pt x="13570" y="16995"/>
                  </a:cubicBezTo>
                  <a:cubicBezTo>
                    <a:pt x="12999" y="16567"/>
                    <a:pt x="12624" y="16023"/>
                    <a:pt x="12383" y="15506"/>
                  </a:cubicBezTo>
                  <a:cubicBezTo>
                    <a:pt x="12303" y="15345"/>
                    <a:pt x="12241" y="15184"/>
                    <a:pt x="12187" y="15033"/>
                  </a:cubicBezTo>
                  <a:cubicBezTo>
                    <a:pt x="12178" y="14997"/>
                    <a:pt x="12160" y="14953"/>
                    <a:pt x="12151" y="14917"/>
                  </a:cubicBezTo>
                  <a:cubicBezTo>
                    <a:pt x="12143" y="14890"/>
                    <a:pt x="12134" y="14863"/>
                    <a:pt x="12125" y="14837"/>
                  </a:cubicBezTo>
                  <a:cubicBezTo>
                    <a:pt x="12116" y="14810"/>
                    <a:pt x="12116" y="14783"/>
                    <a:pt x="12107" y="14765"/>
                  </a:cubicBezTo>
                  <a:cubicBezTo>
                    <a:pt x="12098" y="14738"/>
                    <a:pt x="12089" y="14712"/>
                    <a:pt x="12080" y="14685"/>
                  </a:cubicBezTo>
                  <a:cubicBezTo>
                    <a:pt x="12080" y="14667"/>
                    <a:pt x="12071" y="14640"/>
                    <a:pt x="12062" y="14614"/>
                  </a:cubicBezTo>
                  <a:cubicBezTo>
                    <a:pt x="12062" y="14596"/>
                    <a:pt x="12053" y="14569"/>
                    <a:pt x="12044" y="14542"/>
                  </a:cubicBezTo>
                  <a:cubicBezTo>
                    <a:pt x="12044" y="14524"/>
                    <a:pt x="12035" y="14498"/>
                    <a:pt x="12035" y="14480"/>
                  </a:cubicBezTo>
                  <a:cubicBezTo>
                    <a:pt x="12027" y="14462"/>
                    <a:pt x="12027" y="14444"/>
                    <a:pt x="12018" y="14426"/>
                  </a:cubicBezTo>
                  <a:lnTo>
                    <a:pt x="18851" y="14426"/>
                  </a:lnTo>
                  <a:cubicBezTo>
                    <a:pt x="19208" y="14426"/>
                    <a:pt x="19493" y="14141"/>
                    <a:pt x="19493" y="13793"/>
                  </a:cubicBezTo>
                  <a:lnTo>
                    <a:pt x="19493" y="11732"/>
                  </a:lnTo>
                  <a:lnTo>
                    <a:pt x="19493" y="11125"/>
                  </a:lnTo>
                  <a:lnTo>
                    <a:pt x="19493" y="1437"/>
                  </a:lnTo>
                  <a:cubicBezTo>
                    <a:pt x="19493" y="643"/>
                    <a:pt x="18842" y="1"/>
                    <a:pt x="18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45"/>
            <p:cNvGrpSpPr/>
            <p:nvPr/>
          </p:nvGrpSpPr>
          <p:grpSpPr>
            <a:xfrm>
              <a:off x="487903" y="3060089"/>
              <a:ext cx="1055728" cy="953907"/>
              <a:chOff x="479650" y="2294000"/>
              <a:chExt cx="476175" cy="430250"/>
            </a:xfrm>
          </p:grpSpPr>
          <p:sp>
            <p:nvSpPr>
              <p:cNvPr id="400" name="Google Shape;400;p45"/>
              <p:cNvSpPr/>
              <p:nvPr/>
            </p:nvSpPr>
            <p:spPr>
              <a:xfrm>
                <a:off x="479650" y="2294000"/>
                <a:ext cx="476175" cy="430250"/>
              </a:xfrm>
              <a:custGeom>
                <a:avLst/>
                <a:gdLst/>
                <a:ahLst/>
                <a:cxnLst/>
                <a:rect l="l" t="t" r="r" b="b"/>
                <a:pathLst>
                  <a:path w="19047" h="17210" extrusionOk="0">
                    <a:moveTo>
                      <a:pt x="11464" y="14247"/>
                    </a:moveTo>
                    <a:cubicBezTo>
                      <a:pt x="11660" y="14979"/>
                      <a:pt x="12080" y="15934"/>
                      <a:pt x="12990" y="16629"/>
                    </a:cubicBezTo>
                    <a:cubicBezTo>
                      <a:pt x="12990" y="16638"/>
                      <a:pt x="12990" y="16647"/>
                      <a:pt x="12990" y="16647"/>
                    </a:cubicBezTo>
                    <a:lnTo>
                      <a:pt x="6067" y="16647"/>
                    </a:lnTo>
                    <a:cubicBezTo>
                      <a:pt x="6067" y="16647"/>
                      <a:pt x="6058" y="16638"/>
                      <a:pt x="6067" y="16629"/>
                    </a:cubicBezTo>
                    <a:cubicBezTo>
                      <a:pt x="6977" y="15942"/>
                      <a:pt x="7396" y="14997"/>
                      <a:pt x="7592" y="14247"/>
                    </a:cubicBezTo>
                    <a:close/>
                    <a:moveTo>
                      <a:pt x="1651" y="1"/>
                    </a:moveTo>
                    <a:cubicBezTo>
                      <a:pt x="741" y="1"/>
                      <a:pt x="0" y="741"/>
                      <a:pt x="0" y="1651"/>
                    </a:cubicBezTo>
                    <a:lnTo>
                      <a:pt x="0" y="13364"/>
                    </a:lnTo>
                    <a:cubicBezTo>
                      <a:pt x="0" y="13855"/>
                      <a:pt x="402" y="14247"/>
                      <a:pt x="893" y="14247"/>
                    </a:cubicBezTo>
                    <a:lnTo>
                      <a:pt x="7012" y="14247"/>
                    </a:lnTo>
                    <a:cubicBezTo>
                      <a:pt x="6825" y="14881"/>
                      <a:pt x="6459" y="15630"/>
                      <a:pt x="5728" y="16183"/>
                    </a:cubicBezTo>
                    <a:cubicBezTo>
                      <a:pt x="5532" y="16335"/>
                      <a:pt x="5460" y="16585"/>
                      <a:pt x="5532" y="16817"/>
                    </a:cubicBezTo>
                    <a:cubicBezTo>
                      <a:pt x="5612" y="17058"/>
                      <a:pt x="5826" y="17209"/>
                      <a:pt x="6076" y="17209"/>
                    </a:cubicBezTo>
                    <a:lnTo>
                      <a:pt x="12981" y="17209"/>
                    </a:lnTo>
                    <a:cubicBezTo>
                      <a:pt x="13230" y="17209"/>
                      <a:pt x="13436" y="17058"/>
                      <a:pt x="13516" y="16817"/>
                    </a:cubicBezTo>
                    <a:cubicBezTo>
                      <a:pt x="13596" y="16585"/>
                      <a:pt x="13525" y="16335"/>
                      <a:pt x="13320" y="16183"/>
                    </a:cubicBezTo>
                    <a:cubicBezTo>
                      <a:pt x="12597" y="15630"/>
                      <a:pt x="12231" y="14872"/>
                      <a:pt x="12044" y="14247"/>
                    </a:cubicBezTo>
                    <a:lnTo>
                      <a:pt x="14328" y="14247"/>
                    </a:lnTo>
                    <a:cubicBezTo>
                      <a:pt x="14479" y="14247"/>
                      <a:pt x="14604" y="14123"/>
                      <a:pt x="14604" y="13971"/>
                    </a:cubicBezTo>
                    <a:cubicBezTo>
                      <a:pt x="14604" y="13819"/>
                      <a:pt x="14479" y="13694"/>
                      <a:pt x="14328" y="13694"/>
                    </a:cubicBezTo>
                    <a:lnTo>
                      <a:pt x="893" y="13694"/>
                    </a:lnTo>
                    <a:cubicBezTo>
                      <a:pt x="705" y="13694"/>
                      <a:pt x="563" y="13543"/>
                      <a:pt x="563" y="13364"/>
                    </a:cubicBezTo>
                    <a:lnTo>
                      <a:pt x="563" y="11687"/>
                    </a:lnTo>
                    <a:lnTo>
                      <a:pt x="18494" y="11687"/>
                    </a:lnTo>
                    <a:lnTo>
                      <a:pt x="18494" y="13364"/>
                    </a:lnTo>
                    <a:cubicBezTo>
                      <a:pt x="18494" y="13543"/>
                      <a:pt x="18342" y="13694"/>
                      <a:pt x="18164" y="13694"/>
                    </a:cubicBezTo>
                    <a:lnTo>
                      <a:pt x="15470" y="13694"/>
                    </a:lnTo>
                    <a:cubicBezTo>
                      <a:pt x="15309" y="13694"/>
                      <a:pt x="15184" y="13819"/>
                      <a:pt x="15184" y="13971"/>
                    </a:cubicBezTo>
                    <a:cubicBezTo>
                      <a:pt x="15184" y="14123"/>
                      <a:pt x="15309" y="14247"/>
                      <a:pt x="15470" y="14247"/>
                    </a:cubicBezTo>
                    <a:lnTo>
                      <a:pt x="18164" y="14247"/>
                    </a:lnTo>
                    <a:cubicBezTo>
                      <a:pt x="18654" y="14247"/>
                      <a:pt x="19047" y="13855"/>
                      <a:pt x="19047" y="13364"/>
                    </a:cubicBezTo>
                    <a:lnTo>
                      <a:pt x="19047" y="5665"/>
                    </a:lnTo>
                    <a:cubicBezTo>
                      <a:pt x="19047" y="5505"/>
                      <a:pt x="18922" y="5380"/>
                      <a:pt x="18770" y="5380"/>
                    </a:cubicBezTo>
                    <a:cubicBezTo>
                      <a:pt x="18619" y="5380"/>
                      <a:pt x="18494" y="5505"/>
                      <a:pt x="18494" y="5665"/>
                    </a:cubicBezTo>
                    <a:lnTo>
                      <a:pt x="18494" y="11125"/>
                    </a:lnTo>
                    <a:lnTo>
                      <a:pt x="563" y="11125"/>
                    </a:lnTo>
                    <a:lnTo>
                      <a:pt x="563" y="1651"/>
                    </a:lnTo>
                    <a:cubicBezTo>
                      <a:pt x="563" y="1044"/>
                      <a:pt x="1053" y="563"/>
                      <a:pt x="1651" y="563"/>
                    </a:cubicBezTo>
                    <a:lnTo>
                      <a:pt x="17405" y="563"/>
                    </a:lnTo>
                    <a:cubicBezTo>
                      <a:pt x="18003" y="563"/>
                      <a:pt x="18494" y="1044"/>
                      <a:pt x="18494" y="1651"/>
                    </a:cubicBezTo>
                    <a:lnTo>
                      <a:pt x="18494" y="4524"/>
                    </a:lnTo>
                    <a:cubicBezTo>
                      <a:pt x="18494" y="4675"/>
                      <a:pt x="18619" y="4800"/>
                      <a:pt x="18770" y="4800"/>
                    </a:cubicBezTo>
                    <a:cubicBezTo>
                      <a:pt x="18922" y="4800"/>
                      <a:pt x="19047" y="4675"/>
                      <a:pt x="19047" y="4524"/>
                    </a:cubicBezTo>
                    <a:lnTo>
                      <a:pt x="19047" y="1651"/>
                    </a:lnTo>
                    <a:cubicBezTo>
                      <a:pt x="19047" y="741"/>
                      <a:pt x="18315" y="1"/>
                      <a:pt x="174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5"/>
              <p:cNvSpPr/>
              <p:nvPr/>
            </p:nvSpPr>
            <p:spPr>
              <a:xfrm>
                <a:off x="700450" y="2593750"/>
                <a:ext cx="34825" cy="34825"/>
              </a:xfrm>
              <a:custGeom>
                <a:avLst/>
                <a:gdLst/>
                <a:ahLst/>
                <a:cxnLst/>
                <a:rect l="l" t="t" r="r" b="b"/>
                <a:pathLst>
                  <a:path w="1393" h="1393" extrusionOk="0">
                    <a:moveTo>
                      <a:pt x="696" y="562"/>
                    </a:moveTo>
                    <a:cubicBezTo>
                      <a:pt x="768" y="562"/>
                      <a:pt x="830" y="625"/>
                      <a:pt x="830" y="696"/>
                    </a:cubicBezTo>
                    <a:cubicBezTo>
                      <a:pt x="830" y="777"/>
                      <a:pt x="768" y="839"/>
                      <a:pt x="696" y="839"/>
                    </a:cubicBezTo>
                    <a:cubicBezTo>
                      <a:pt x="616" y="839"/>
                      <a:pt x="562" y="777"/>
                      <a:pt x="562" y="696"/>
                    </a:cubicBezTo>
                    <a:cubicBezTo>
                      <a:pt x="562" y="625"/>
                      <a:pt x="616" y="562"/>
                      <a:pt x="696" y="562"/>
                    </a:cubicBezTo>
                    <a:close/>
                    <a:moveTo>
                      <a:pt x="696" y="0"/>
                    </a:moveTo>
                    <a:cubicBezTo>
                      <a:pt x="313" y="0"/>
                      <a:pt x="0" y="313"/>
                      <a:pt x="0" y="696"/>
                    </a:cubicBezTo>
                    <a:cubicBezTo>
                      <a:pt x="0" y="1080"/>
                      <a:pt x="313" y="1392"/>
                      <a:pt x="696" y="1392"/>
                    </a:cubicBezTo>
                    <a:cubicBezTo>
                      <a:pt x="1080" y="1392"/>
                      <a:pt x="1392" y="1080"/>
                      <a:pt x="1392" y="696"/>
                    </a:cubicBezTo>
                    <a:cubicBezTo>
                      <a:pt x="1392" y="313"/>
                      <a:pt x="1080" y="0"/>
                      <a:pt x="6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5"/>
              <p:cNvSpPr/>
              <p:nvPr/>
            </p:nvSpPr>
            <p:spPr>
              <a:xfrm>
                <a:off x="628850" y="2366275"/>
                <a:ext cx="178000" cy="144750"/>
              </a:xfrm>
              <a:custGeom>
                <a:avLst/>
                <a:gdLst/>
                <a:ahLst/>
                <a:cxnLst/>
                <a:rect l="l" t="t" r="r" b="b"/>
                <a:pathLst>
                  <a:path w="7120" h="5790" extrusionOk="0">
                    <a:moveTo>
                      <a:pt x="607" y="0"/>
                    </a:moveTo>
                    <a:cubicBezTo>
                      <a:pt x="268" y="0"/>
                      <a:pt x="1" y="268"/>
                      <a:pt x="1" y="607"/>
                    </a:cubicBezTo>
                    <a:lnTo>
                      <a:pt x="1" y="5174"/>
                    </a:lnTo>
                    <a:cubicBezTo>
                      <a:pt x="1" y="5513"/>
                      <a:pt x="268" y="5790"/>
                      <a:pt x="607" y="5790"/>
                    </a:cubicBezTo>
                    <a:lnTo>
                      <a:pt x="1785" y="5790"/>
                    </a:lnTo>
                    <a:cubicBezTo>
                      <a:pt x="1945" y="5790"/>
                      <a:pt x="2061" y="5665"/>
                      <a:pt x="2061" y="5504"/>
                    </a:cubicBezTo>
                    <a:cubicBezTo>
                      <a:pt x="2061" y="5353"/>
                      <a:pt x="1945" y="5228"/>
                      <a:pt x="1785" y="5228"/>
                    </a:cubicBezTo>
                    <a:lnTo>
                      <a:pt x="607" y="5228"/>
                    </a:lnTo>
                    <a:cubicBezTo>
                      <a:pt x="581" y="5228"/>
                      <a:pt x="554" y="5201"/>
                      <a:pt x="554" y="5174"/>
                    </a:cubicBezTo>
                    <a:lnTo>
                      <a:pt x="554" y="607"/>
                    </a:lnTo>
                    <a:cubicBezTo>
                      <a:pt x="554" y="580"/>
                      <a:pt x="581" y="553"/>
                      <a:pt x="607" y="553"/>
                    </a:cubicBezTo>
                    <a:lnTo>
                      <a:pt x="6513" y="553"/>
                    </a:lnTo>
                    <a:cubicBezTo>
                      <a:pt x="6540" y="553"/>
                      <a:pt x="6567" y="580"/>
                      <a:pt x="6567" y="607"/>
                    </a:cubicBezTo>
                    <a:lnTo>
                      <a:pt x="6567" y="5174"/>
                    </a:lnTo>
                    <a:cubicBezTo>
                      <a:pt x="6567" y="5201"/>
                      <a:pt x="6540" y="5228"/>
                      <a:pt x="6513" y="5228"/>
                    </a:cubicBezTo>
                    <a:lnTo>
                      <a:pt x="2927" y="5228"/>
                    </a:lnTo>
                    <a:cubicBezTo>
                      <a:pt x="2775" y="5228"/>
                      <a:pt x="2650" y="5353"/>
                      <a:pt x="2650" y="5504"/>
                    </a:cubicBezTo>
                    <a:cubicBezTo>
                      <a:pt x="2650" y="5665"/>
                      <a:pt x="2775" y="5790"/>
                      <a:pt x="2927" y="5790"/>
                    </a:cubicBezTo>
                    <a:lnTo>
                      <a:pt x="6513" y="5790"/>
                    </a:lnTo>
                    <a:cubicBezTo>
                      <a:pt x="6843" y="5790"/>
                      <a:pt x="7120" y="5513"/>
                      <a:pt x="7120" y="5174"/>
                    </a:cubicBezTo>
                    <a:lnTo>
                      <a:pt x="7120" y="607"/>
                    </a:lnTo>
                    <a:cubicBezTo>
                      <a:pt x="7120" y="268"/>
                      <a:pt x="6843" y="0"/>
                      <a:pt x="65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5"/>
              <p:cNvSpPr/>
              <p:nvPr/>
            </p:nvSpPr>
            <p:spPr>
              <a:xfrm>
                <a:off x="703575" y="2397050"/>
                <a:ext cx="72725" cy="71600"/>
              </a:xfrm>
              <a:custGeom>
                <a:avLst/>
                <a:gdLst/>
                <a:ahLst/>
                <a:cxnLst/>
                <a:rect l="l" t="t" r="r" b="b"/>
                <a:pathLst>
                  <a:path w="2909" h="2864" extrusionOk="0">
                    <a:moveTo>
                      <a:pt x="428" y="0"/>
                    </a:moveTo>
                    <a:cubicBezTo>
                      <a:pt x="268" y="0"/>
                      <a:pt x="143" y="125"/>
                      <a:pt x="143" y="277"/>
                    </a:cubicBezTo>
                    <a:cubicBezTo>
                      <a:pt x="143" y="437"/>
                      <a:pt x="268" y="562"/>
                      <a:pt x="428" y="562"/>
                    </a:cubicBezTo>
                    <a:lnTo>
                      <a:pt x="1936" y="562"/>
                    </a:lnTo>
                    <a:lnTo>
                      <a:pt x="107" y="2382"/>
                    </a:lnTo>
                    <a:cubicBezTo>
                      <a:pt x="0" y="2489"/>
                      <a:pt x="0" y="2667"/>
                      <a:pt x="107" y="2775"/>
                    </a:cubicBezTo>
                    <a:cubicBezTo>
                      <a:pt x="161" y="2837"/>
                      <a:pt x="232" y="2864"/>
                      <a:pt x="304" y="2864"/>
                    </a:cubicBezTo>
                    <a:cubicBezTo>
                      <a:pt x="375" y="2864"/>
                      <a:pt x="446" y="2837"/>
                      <a:pt x="500" y="2775"/>
                    </a:cubicBezTo>
                    <a:lnTo>
                      <a:pt x="2346" y="937"/>
                    </a:lnTo>
                    <a:lnTo>
                      <a:pt x="2346" y="2489"/>
                    </a:lnTo>
                    <a:cubicBezTo>
                      <a:pt x="2346" y="2641"/>
                      <a:pt x="2471" y="2766"/>
                      <a:pt x="2632" y="2766"/>
                    </a:cubicBezTo>
                    <a:cubicBezTo>
                      <a:pt x="2784" y="2766"/>
                      <a:pt x="2908" y="2641"/>
                      <a:pt x="2908" y="2489"/>
                    </a:cubicBezTo>
                    <a:lnTo>
                      <a:pt x="2908" y="277"/>
                    </a:lnTo>
                    <a:cubicBezTo>
                      <a:pt x="2908" y="125"/>
                      <a:pt x="2784" y="0"/>
                      <a:pt x="2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p:cNvSpPr/>
              <p:nvPr/>
            </p:nvSpPr>
            <p:spPr>
              <a:xfrm>
                <a:off x="778500" y="2485575"/>
                <a:ext cx="68500" cy="62700"/>
              </a:xfrm>
              <a:custGeom>
                <a:avLst/>
                <a:gdLst/>
                <a:ahLst/>
                <a:cxnLst/>
                <a:rect l="l" t="t" r="r" b="b"/>
                <a:pathLst>
                  <a:path w="2740" h="2508" extrusionOk="0">
                    <a:moveTo>
                      <a:pt x="2463" y="1"/>
                    </a:moveTo>
                    <a:cubicBezTo>
                      <a:pt x="2311" y="1"/>
                      <a:pt x="2186" y="126"/>
                      <a:pt x="2186" y="277"/>
                    </a:cubicBezTo>
                    <a:lnTo>
                      <a:pt x="2186" y="1946"/>
                    </a:lnTo>
                    <a:lnTo>
                      <a:pt x="286" y="1946"/>
                    </a:lnTo>
                    <a:cubicBezTo>
                      <a:pt x="126" y="1946"/>
                      <a:pt x="1" y="2070"/>
                      <a:pt x="1" y="2231"/>
                    </a:cubicBezTo>
                    <a:cubicBezTo>
                      <a:pt x="1" y="2383"/>
                      <a:pt x="126" y="2508"/>
                      <a:pt x="286" y="2508"/>
                    </a:cubicBezTo>
                    <a:lnTo>
                      <a:pt x="2463" y="2508"/>
                    </a:lnTo>
                    <a:cubicBezTo>
                      <a:pt x="2615" y="2508"/>
                      <a:pt x="2739" y="2383"/>
                      <a:pt x="2739" y="2231"/>
                    </a:cubicBezTo>
                    <a:lnTo>
                      <a:pt x="2739" y="277"/>
                    </a:lnTo>
                    <a:cubicBezTo>
                      <a:pt x="2739" y="126"/>
                      <a:pt x="2615" y="1"/>
                      <a:pt x="24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5"/>
              <p:cNvSpPr/>
              <p:nvPr/>
            </p:nvSpPr>
            <p:spPr>
              <a:xfrm>
                <a:off x="588475" y="2328125"/>
                <a:ext cx="68500" cy="62700"/>
              </a:xfrm>
              <a:custGeom>
                <a:avLst/>
                <a:gdLst/>
                <a:ahLst/>
                <a:cxnLst/>
                <a:rect l="l" t="t" r="r" b="b"/>
                <a:pathLst>
                  <a:path w="2740" h="2508" extrusionOk="0">
                    <a:moveTo>
                      <a:pt x="286" y="1"/>
                    </a:moveTo>
                    <a:cubicBezTo>
                      <a:pt x="126" y="1"/>
                      <a:pt x="1" y="125"/>
                      <a:pt x="1" y="277"/>
                    </a:cubicBezTo>
                    <a:lnTo>
                      <a:pt x="1" y="2231"/>
                    </a:lnTo>
                    <a:cubicBezTo>
                      <a:pt x="1" y="2382"/>
                      <a:pt x="126" y="2507"/>
                      <a:pt x="286" y="2507"/>
                    </a:cubicBezTo>
                    <a:cubicBezTo>
                      <a:pt x="438" y="2507"/>
                      <a:pt x="563" y="2382"/>
                      <a:pt x="563" y="2231"/>
                    </a:cubicBezTo>
                    <a:lnTo>
                      <a:pt x="563" y="554"/>
                    </a:lnTo>
                    <a:lnTo>
                      <a:pt x="2463" y="554"/>
                    </a:lnTo>
                    <a:cubicBezTo>
                      <a:pt x="2615" y="554"/>
                      <a:pt x="2740" y="429"/>
                      <a:pt x="2740" y="277"/>
                    </a:cubicBezTo>
                    <a:cubicBezTo>
                      <a:pt x="2740" y="125"/>
                      <a:pt x="2615" y="1"/>
                      <a:pt x="24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5"/>
              <p:cNvSpPr/>
              <p:nvPr/>
            </p:nvSpPr>
            <p:spPr>
              <a:xfrm>
                <a:off x="834475" y="2370950"/>
                <a:ext cx="13850" cy="15400"/>
              </a:xfrm>
              <a:custGeom>
                <a:avLst/>
                <a:gdLst/>
                <a:ahLst/>
                <a:cxnLst/>
                <a:rect l="l" t="t" r="r" b="b"/>
                <a:pathLst>
                  <a:path w="554" h="616" extrusionOk="0">
                    <a:moveTo>
                      <a:pt x="277" y="0"/>
                    </a:moveTo>
                    <a:cubicBezTo>
                      <a:pt x="126" y="0"/>
                      <a:pt x="1" y="125"/>
                      <a:pt x="1" y="286"/>
                    </a:cubicBezTo>
                    <a:lnTo>
                      <a:pt x="1" y="339"/>
                    </a:lnTo>
                    <a:cubicBezTo>
                      <a:pt x="1" y="491"/>
                      <a:pt x="126" y="616"/>
                      <a:pt x="277" y="616"/>
                    </a:cubicBezTo>
                    <a:cubicBezTo>
                      <a:pt x="429" y="616"/>
                      <a:pt x="554" y="491"/>
                      <a:pt x="554" y="339"/>
                    </a:cubicBezTo>
                    <a:lnTo>
                      <a:pt x="554" y="286"/>
                    </a:lnTo>
                    <a:cubicBezTo>
                      <a:pt x="554" y="125"/>
                      <a:pt x="429" y="0"/>
                      <a:pt x="2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5"/>
              <p:cNvSpPr/>
              <p:nvPr/>
            </p:nvSpPr>
            <p:spPr>
              <a:xfrm>
                <a:off x="856350" y="2370950"/>
                <a:ext cx="14075" cy="15400"/>
              </a:xfrm>
              <a:custGeom>
                <a:avLst/>
                <a:gdLst/>
                <a:ahLst/>
                <a:cxnLst/>
                <a:rect l="l" t="t" r="r" b="b"/>
                <a:pathLst>
                  <a:path w="563" h="616" extrusionOk="0">
                    <a:moveTo>
                      <a:pt x="286" y="0"/>
                    </a:moveTo>
                    <a:cubicBezTo>
                      <a:pt x="125" y="0"/>
                      <a:pt x="0" y="125"/>
                      <a:pt x="0" y="286"/>
                    </a:cubicBezTo>
                    <a:lnTo>
                      <a:pt x="0" y="339"/>
                    </a:lnTo>
                    <a:cubicBezTo>
                      <a:pt x="0" y="491"/>
                      <a:pt x="125" y="616"/>
                      <a:pt x="286" y="616"/>
                    </a:cubicBezTo>
                    <a:cubicBezTo>
                      <a:pt x="437" y="616"/>
                      <a:pt x="562" y="491"/>
                      <a:pt x="562" y="339"/>
                    </a:cubicBezTo>
                    <a:lnTo>
                      <a:pt x="562" y="286"/>
                    </a:lnTo>
                    <a:cubicBezTo>
                      <a:pt x="562" y="125"/>
                      <a:pt x="437" y="0"/>
                      <a:pt x="2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5"/>
              <p:cNvSpPr/>
              <p:nvPr/>
            </p:nvSpPr>
            <p:spPr>
              <a:xfrm>
                <a:off x="828900" y="2398150"/>
                <a:ext cx="47100" cy="14075"/>
              </a:xfrm>
              <a:custGeom>
                <a:avLst/>
                <a:gdLst/>
                <a:ahLst/>
                <a:cxnLst/>
                <a:rect l="l" t="t" r="r" b="b"/>
                <a:pathLst>
                  <a:path w="1884" h="563" extrusionOk="0">
                    <a:moveTo>
                      <a:pt x="277" y="1"/>
                    </a:moveTo>
                    <a:cubicBezTo>
                      <a:pt x="126" y="1"/>
                      <a:pt x="1" y="126"/>
                      <a:pt x="1" y="277"/>
                    </a:cubicBezTo>
                    <a:cubicBezTo>
                      <a:pt x="1" y="438"/>
                      <a:pt x="126" y="563"/>
                      <a:pt x="277" y="563"/>
                    </a:cubicBezTo>
                    <a:lnTo>
                      <a:pt x="1598" y="563"/>
                    </a:lnTo>
                    <a:cubicBezTo>
                      <a:pt x="1758" y="563"/>
                      <a:pt x="1883" y="438"/>
                      <a:pt x="1883" y="277"/>
                    </a:cubicBezTo>
                    <a:cubicBezTo>
                      <a:pt x="1883" y="126"/>
                      <a:pt x="1758" y="1"/>
                      <a:pt x="15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5"/>
              <p:cNvSpPr/>
              <p:nvPr/>
            </p:nvSpPr>
            <p:spPr>
              <a:xfrm>
                <a:off x="828900" y="2419125"/>
                <a:ext cx="47100" cy="13850"/>
              </a:xfrm>
              <a:custGeom>
                <a:avLst/>
                <a:gdLst/>
                <a:ahLst/>
                <a:cxnLst/>
                <a:rect l="l" t="t" r="r" b="b"/>
                <a:pathLst>
                  <a:path w="1884" h="554" extrusionOk="0">
                    <a:moveTo>
                      <a:pt x="277" y="0"/>
                    </a:moveTo>
                    <a:cubicBezTo>
                      <a:pt x="126" y="0"/>
                      <a:pt x="1" y="125"/>
                      <a:pt x="1" y="277"/>
                    </a:cubicBezTo>
                    <a:cubicBezTo>
                      <a:pt x="1" y="428"/>
                      <a:pt x="126" y="553"/>
                      <a:pt x="277" y="553"/>
                    </a:cubicBezTo>
                    <a:lnTo>
                      <a:pt x="1598" y="553"/>
                    </a:lnTo>
                    <a:cubicBezTo>
                      <a:pt x="1758" y="553"/>
                      <a:pt x="1883" y="428"/>
                      <a:pt x="1883" y="277"/>
                    </a:cubicBezTo>
                    <a:cubicBezTo>
                      <a:pt x="1883" y="125"/>
                      <a:pt x="1758" y="0"/>
                      <a:pt x="159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5"/>
              <p:cNvSpPr/>
              <p:nvPr/>
            </p:nvSpPr>
            <p:spPr>
              <a:xfrm>
                <a:off x="828900" y="2439850"/>
                <a:ext cx="47100" cy="13875"/>
              </a:xfrm>
              <a:custGeom>
                <a:avLst/>
                <a:gdLst/>
                <a:ahLst/>
                <a:cxnLst/>
                <a:rect l="l" t="t" r="r" b="b"/>
                <a:pathLst>
                  <a:path w="1884" h="555" extrusionOk="0">
                    <a:moveTo>
                      <a:pt x="277" y="1"/>
                    </a:moveTo>
                    <a:cubicBezTo>
                      <a:pt x="126" y="1"/>
                      <a:pt x="1" y="126"/>
                      <a:pt x="1" y="277"/>
                    </a:cubicBezTo>
                    <a:cubicBezTo>
                      <a:pt x="1" y="429"/>
                      <a:pt x="126" y="554"/>
                      <a:pt x="277" y="554"/>
                    </a:cubicBezTo>
                    <a:lnTo>
                      <a:pt x="1598" y="554"/>
                    </a:lnTo>
                    <a:cubicBezTo>
                      <a:pt x="1758" y="554"/>
                      <a:pt x="1883" y="429"/>
                      <a:pt x="1883" y="277"/>
                    </a:cubicBezTo>
                    <a:cubicBezTo>
                      <a:pt x="1883" y="126"/>
                      <a:pt x="1758" y="1"/>
                      <a:pt x="15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5"/>
              <p:cNvSpPr/>
              <p:nvPr/>
            </p:nvSpPr>
            <p:spPr>
              <a:xfrm>
                <a:off x="565300" y="2426925"/>
                <a:ext cx="14075" cy="15425"/>
              </a:xfrm>
              <a:custGeom>
                <a:avLst/>
                <a:gdLst/>
                <a:ahLst/>
                <a:cxnLst/>
                <a:rect l="l" t="t" r="r" b="b"/>
                <a:pathLst>
                  <a:path w="563" h="617" extrusionOk="0">
                    <a:moveTo>
                      <a:pt x="277" y="1"/>
                    </a:moveTo>
                    <a:cubicBezTo>
                      <a:pt x="125" y="1"/>
                      <a:pt x="0" y="125"/>
                      <a:pt x="0" y="277"/>
                    </a:cubicBezTo>
                    <a:lnTo>
                      <a:pt x="0" y="331"/>
                    </a:lnTo>
                    <a:cubicBezTo>
                      <a:pt x="0" y="491"/>
                      <a:pt x="125" y="616"/>
                      <a:pt x="277" y="616"/>
                    </a:cubicBezTo>
                    <a:cubicBezTo>
                      <a:pt x="437" y="616"/>
                      <a:pt x="562" y="491"/>
                      <a:pt x="562" y="331"/>
                    </a:cubicBezTo>
                    <a:lnTo>
                      <a:pt x="562" y="277"/>
                    </a:lnTo>
                    <a:cubicBezTo>
                      <a:pt x="562" y="125"/>
                      <a:pt x="437"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5"/>
              <p:cNvSpPr/>
              <p:nvPr/>
            </p:nvSpPr>
            <p:spPr>
              <a:xfrm>
                <a:off x="587375" y="2426925"/>
                <a:ext cx="13850" cy="15425"/>
              </a:xfrm>
              <a:custGeom>
                <a:avLst/>
                <a:gdLst/>
                <a:ahLst/>
                <a:cxnLst/>
                <a:rect l="l" t="t" r="r" b="b"/>
                <a:pathLst>
                  <a:path w="554" h="617" extrusionOk="0">
                    <a:moveTo>
                      <a:pt x="277" y="1"/>
                    </a:moveTo>
                    <a:cubicBezTo>
                      <a:pt x="125" y="1"/>
                      <a:pt x="0" y="125"/>
                      <a:pt x="0" y="277"/>
                    </a:cubicBezTo>
                    <a:lnTo>
                      <a:pt x="0" y="331"/>
                    </a:lnTo>
                    <a:cubicBezTo>
                      <a:pt x="0" y="491"/>
                      <a:pt x="125" y="616"/>
                      <a:pt x="277" y="616"/>
                    </a:cubicBezTo>
                    <a:cubicBezTo>
                      <a:pt x="429" y="616"/>
                      <a:pt x="553" y="491"/>
                      <a:pt x="553" y="331"/>
                    </a:cubicBezTo>
                    <a:lnTo>
                      <a:pt x="553" y="277"/>
                    </a:lnTo>
                    <a:cubicBezTo>
                      <a:pt x="553" y="125"/>
                      <a:pt x="429"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5"/>
              <p:cNvSpPr/>
              <p:nvPr/>
            </p:nvSpPr>
            <p:spPr>
              <a:xfrm>
                <a:off x="559725" y="2454125"/>
                <a:ext cx="47075" cy="13850"/>
              </a:xfrm>
              <a:custGeom>
                <a:avLst/>
                <a:gdLst/>
                <a:ahLst/>
                <a:cxnLst/>
                <a:rect l="l" t="t" r="r" b="b"/>
                <a:pathLst>
                  <a:path w="1883" h="554" extrusionOk="0">
                    <a:moveTo>
                      <a:pt x="277" y="1"/>
                    </a:moveTo>
                    <a:cubicBezTo>
                      <a:pt x="125" y="1"/>
                      <a:pt x="0" y="126"/>
                      <a:pt x="0" y="277"/>
                    </a:cubicBezTo>
                    <a:cubicBezTo>
                      <a:pt x="0" y="429"/>
                      <a:pt x="125" y="554"/>
                      <a:pt x="277" y="554"/>
                    </a:cubicBezTo>
                    <a:lnTo>
                      <a:pt x="1606" y="554"/>
                    </a:lnTo>
                    <a:cubicBezTo>
                      <a:pt x="1758" y="554"/>
                      <a:pt x="1882" y="429"/>
                      <a:pt x="1882" y="277"/>
                    </a:cubicBezTo>
                    <a:cubicBezTo>
                      <a:pt x="1882" y="126"/>
                      <a:pt x="1758" y="1"/>
                      <a:pt x="16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5"/>
              <p:cNvSpPr/>
              <p:nvPr/>
            </p:nvSpPr>
            <p:spPr>
              <a:xfrm>
                <a:off x="559725" y="2474875"/>
                <a:ext cx="47075" cy="14075"/>
              </a:xfrm>
              <a:custGeom>
                <a:avLst/>
                <a:gdLst/>
                <a:ahLst/>
                <a:cxnLst/>
                <a:rect l="l" t="t" r="r" b="b"/>
                <a:pathLst>
                  <a:path w="1883" h="563" extrusionOk="0">
                    <a:moveTo>
                      <a:pt x="277" y="1"/>
                    </a:moveTo>
                    <a:cubicBezTo>
                      <a:pt x="125" y="1"/>
                      <a:pt x="0" y="125"/>
                      <a:pt x="0" y="277"/>
                    </a:cubicBezTo>
                    <a:cubicBezTo>
                      <a:pt x="0" y="438"/>
                      <a:pt x="125" y="563"/>
                      <a:pt x="277" y="563"/>
                    </a:cubicBezTo>
                    <a:lnTo>
                      <a:pt x="1606" y="563"/>
                    </a:lnTo>
                    <a:cubicBezTo>
                      <a:pt x="1758" y="563"/>
                      <a:pt x="1882" y="438"/>
                      <a:pt x="1882" y="277"/>
                    </a:cubicBezTo>
                    <a:cubicBezTo>
                      <a:pt x="1882" y="125"/>
                      <a:pt x="1758" y="1"/>
                      <a:pt x="16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5"/>
              <p:cNvSpPr/>
              <p:nvPr/>
            </p:nvSpPr>
            <p:spPr>
              <a:xfrm>
                <a:off x="559725" y="2495625"/>
                <a:ext cx="47075" cy="14075"/>
              </a:xfrm>
              <a:custGeom>
                <a:avLst/>
                <a:gdLst/>
                <a:ahLst/>
                <a:cxnLst/>
                <a:rect l="l" t="t" r="r" b="b"/>
                <a:pathLst>
                  <a:path w="1883" h="563" extrusionOk="0">
                    <a:moveTo>
                      <a:pt x="277" y="0"/>
                    </a:moveTo>
                    <a:cubicBezTo>
                      <a:pt x="125" y="0"/>
                      <a:pt x="0" y="125"/>
                      <a:pt x="0" y="286"/>
                    </a:cubicBezTo>
                    <a:cubicBezTo>
                      <a:pt x="0" y="437"/>
                      <a:pt x="125" y="562"/>
                      <a:pt x="277" y="562"/>
                    </a:cubicBezTo>
                    <a:lnTo>
                      <a:pt x="1606" y="562"/>
                    </a:lnTo>
                    <a:cubicBezTo>
                      <a:pt x="1758" y="562"/>
                      <a:pt x="1882" y="437"/>
                      <a:pt x="1882" y="286"/>
                    </a:cubicBezTo>
                    <a:cubicBezTo>
                      <a:pt x="1882" y="125"/>
                      <a:pt x="1758" y="0"/>
                      <a:pt x="16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Image 2">
            <a:extLst>
              <a:ext uri="{FF2B5EF4-FFF2-40B4-BE49-F238E27FC236}">
                <a16:creationId xmlns:a16="http://schemas.microsoft.com/office/drawing/2014/main" id="{32DEB37D-E5DC-9057-1651-D56811121FC2}"/>
              </a:ext>
            </a:extLst>
          </p:cNvPr>
          <p:cNvPicPr>
            <a:picLocks noChangeAspect="1"/>
          </p:cNvPicPr>
          <p:nvPr/>
        </p:nvPicPr>
        <p:blipFill>
          <a:blip r:embed="rId3"/>
          <a:stretch>
            <a:fillRect/>
          </a:stretch>
        </p:blipFill>
        <p:spPr>
          <a:xfrm>
            <a:off x="3264096" y="2100755"/>
            <a:ext cx="5196468" cy="2667286"/>
          </a:xfrm>
          <a:prstGeom prst="rect">
            <a:avLst/>
          </a:prstGeom>
        </p:spPr>
      </p:pic>
      <p:sp>
        <p:nvSpPr>
          <p:cNvPr id="6" name="ZoneTexte 5">
            <a:extLst>
              <a:ext uri="{FF2B5EF4-FFF2-40B4-BE49-F238E27FC236}">
                <a16:creationId xmlns:a16="http://schemas.microsoft.com/office/drawing/2014/main" id="{CDAECD9E-18B1-54ED-2DB0-0318792D8C05}"/>
              </a:ext>
            </a:extLst>
          </p:cNvPr>
          <p:cNvSpPr txBox="1"/>
          <p:nvPr/>
        </p:nvSpPr>
        <p:spPr>
          <a:xfrm>
            <a:off x="4322485" y="4750222"/>
            <a:ext cx="3079689" cy="276999"/>
          </a:xfrm>
          <a:prstGeom prst="rect">
            <a:avLst/>
          </a:prstGeom>
          <a:noFill/>
        </p:spPr>
        <p:txBody>
          <a:bodyPr wrap="none" rtlCol="0">
            <a:spAutoFit/>
          </a:bodyPr>
          <a:lstStyle/>
          <a:p>
            <a:r>
              <a:rPr lang="fr-FR" sz="1200" dirty="0">
                <a:latin typeface="Abhaya Libre" panose="020B0604020202020204" charset="0"/>
                <a:cs typeface="Abhaya Libre" panose="020B0604020202020204" charset="0"/>
              </a:rPr>
              <a:t>Capture d’écran de l’application de simulation</a:t>
            </a:r>
          </a:p>
        </p:txBody>
      </p:sp>
      <p:sp>
        <p:nvSpPr>
          <p:cNvPr id="2" name="ZoneTexte 1">
            <a:extLst>
              <a:ext uri="{FF2B5EF4-FFF2-40B4-BE49-F238E27FC236}">
                <a16:creationId xmlns:a16="http://schemas.microsoft.com/office/drawing/2014/main" id="{02A904BE-C164-4A30-4686-716C5A4C6DFA}"/>
              </a:ext>
            </a:extLst>
          </p:cNvPr>
          <p:cNvSpPr txBox="1"/>
          <p:nvPr/>
        </p:nvSpPr>
        <p:spPr>
          <a:xfrm>
            <a:off x="8819972" y="4835723"/>
            <a:ext cx="271228"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0">
          <a:extLst>
            <a:ext uri="{FF2B5EF4-FFF2-40B4-BE49-F238E27FC236}">
              <a16:creationId xmlns:a16="http://schemas.microsoft.com/office/drawing/2014/main" id="{C775E107-0A30-1C99-0ED4-FE52FBB51ED3}"/>
            </a:ext>
          </a:extLst>
        </p:cNvPr>
        <p:cNvGrpSpPr/>
        <p:nvPr/>
      </p:nvGrpSpPr>
      <p:grpSpPr>
        <a:xfrm>
          <a:off x="0" y="0"/>
          <a:ext cx="0" cy="0"/>
          <a:chOff x="0" y="0"/>
          <a:chExt cx="0" cy="0"/>
        </a:xfrm>
      </p:grpSpPr>
      <p:sp>
        <p:nvSpPr>
          <p:cNvPr id="391" name="Google Shape;391;p45">
            <a:extLst>
              <a:ext uri="{FF2B5EF4-FFF2-40B4-BE49-F238E27FC236}">
                <a16:creationId xmlns:a16="http://schemas.microsoft.com/office/drawing/2014/main" id="{78D5A60E-86BA-8A9F-D25C-8DC3FBBC9550}"/>
              </a:ext>
            </a:extLst>
          </p:cNvPr>
          <p:cNvSpPr/>
          <p:nvPr/>
        </p:nvSpPr>
        <p:spPr>
          <a:xfrm>
            <a:off x="799263" y="3623837"/>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5">
            <a:extLst>
              <a:ext uri="{FF2B5EF4-FFF2-40B4-BE49-F238E27FC236}">
                <a16:creationId xmlns:a16="http://schemas.microsoft.com/office/drawing/2014/main" id="{64B2070C-8E3D-AF46-B35A-C94D70A180EC}"/>
              </a:ext>
            </a:extLst>
          </p:cNvPr>
          <p:cNvSpPr/>
          <p:nvPr/>
        </p:nvSpPr>
        <p:spPr>
          <a:xfrm>
            <a:off x="867421" y="853986"/>
            <a:ext cx="2862282"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394" name="Google Shape;394;p45">
            <a:extLst>
              <a:ext uri="{FF2B5EF4-FFF2-40B4-BE49-F238E27FC236}">
                <a16:creationId xmlns:a16="http://schemas.microsoft.com/office/drawing/2014/main" id="{371C98E9-8EDB-DE35-4A2C-9BE2AA6AAC75}"/>
              </a:ext>
            </a:extLst>
          </p:cNvPr>
          <p:cNvSpPr txBox="1">
            <a:spLocks noGrp="1"/>
          </p:cNvSpPr>
          <p:nvPr>
            <p:ph type="title"/>
          </p:nvPr>
        </p:nvSpPr>
        <p:spPr>
          <a:xfrm>
            <a:off x="734812" y="358860"/>
            <a:ext cx="4045200" cy="7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Objectif</a:t>
            </a:r>
            <a:endParaRPr dirty="0"/>
          </a:p>
        </p:txBody>
      </p:sp>
      <p:sp>
        <p:nvSpPr>
          <p:cNvPr id="395" name="Google Shape;395;p45">
            <a:extLst>
              <a:ext uri="{FF2B5EF4-FFF2-40B4-BE49-F238E27FC236}">
                <a16:creationId xmlns:a16="http://schemas.microsoft.com/office/drawing/2014/main" id="{DD87ACDD-8AD0-484D-5836-EEB4D988FCE3}"/>
              </a:ext>
            </a:extLst>
          </p:cNvPr>
          <p:cNvSpPr txBox="1">
            <a:spLocks noGrp="1"/>
          </p:cNvSpPr>
          <p:nvPr>
            <p:ph type="subTitle" idx="1"/>
          </p:nvPr>
        </p:nvSpPr>
        <p:spPr>
          <a:xfrm>
            <a:off x="1319913" y="2314370"/>
            <a:ext cx="6504173" cy="1235100"/>
          </a:xfrm>
          <a:prstGeom prst="rect">
            <a:avLst/>
          </a:prstGeom>
        </p:spPr>
        <p:txBody>
          <a:bodyPr spcFirstLastPara="1" wrap="square" lIns="91425" tIns="91425" rIns="91425" bIns="91425" anchor="b" anchorCtr="0">
            <a:noAutofit/>
          </a:bodyPr>
          <a:lstStyle/>
          <a:p>
            <a:r>
              <a:rPr lang="fr-FR" sz="2000" dirty="0">
                <a:latin typeface="Abhaya Libre" panose="020B0604020202020204" charset="0"/>
                <a:cs typeface="Abhaya Libre" panose="020B0604020202020204" charset="0"/>
              </a:rPr>
              <a:t>Construire un prototype capable de :</a:t>
            </a:r>
          </a:p>
          <a:p>
            <a:r>
              <a:rPr lang="fr-FR" sz="2000" dirty="0">
                <a:latin typeface="Abhaya Libre" panose="020B0604020202020204" charset="0"/>
                <a:cs typeface="Abhaya Libre" panose="020B0604020202020204" charset="0"/>
              </a:rPr>
              <a:t>- simuler des véhicules autonomes ;</a:t>
            </a:r>
          </a:p>
          <a:p>
            <a:r>
              <a:rPr lang="fr-FR" sz="2000" dirty="0">
                <a:latin typeface="Abhaya Libre" panose="020B0604020202020204" charset="0"/>
                <a:cs typeface="Abhaya Libre" panose="020B0604020202020204" charset="0"/>
              </a:rPr>
              <a:t>- appliquer plusieurs règles d’intersection ;</a:t>
            </a:r>
          </a:p>
          <a:p>
            <a:r>
              <a:rPr lang="fr-FR" sz="2000" dirty="0">
                <a:latin typeface="Abhaya Libre" panose="020B0604020202020204" charset="0"/>
                <a:cs typeface="Abhaya Libre" panose="020B0604020202020204" charset="0"/>
              </a:rPr>
              <a:t>- observer les effets sur la fluidité, la sécurité et les blocages ;</a:t>
            </a:r>
          </a:p>
          <a:p>
            <a:r>
              <a:rPr lang="fr-FR" sz="2000" dirty="0">
                <a:latin typeface="Abhaya Libre" panose="020B0604020202020204" charset="0"/>
                <a:cs typeface="Abhaya Libre" panose="020B0604020202020204" charset="0"/>
              </a:rPr>
              <a:t>- identifier les limites techniques des approches testées.</a:t>
            </a:r>
          </a:p>
        </p:txBody>
      </p:sp>
      <p:cxnSp>
        <p:nvCxnSpPr>
          <p:cNvPr id="396" name="Google Shape;396;p45">
            <a:extLst>
              <a:ext uri="{FF2B5EF4-FFF2-40B4-BE49-F238E27FC236}">
                <a16:creationId xmlns:a16="http://schemas.microsoft.com/office/drawing/2014/main" id="{ECEF078C-D426-80EE-A84A-2203BBF9631F}"/>
              </a:ext>
            </a:extLst>
          </p:cNvPr>
          <p:cNvCxnSpPr/>
          <p:nvPr/>
        </p:nvCxnSpPr>
        <p:spPr>
          <a:xfrm>
            <a:off x="830137" y="347510"/>
            <a:ext cx="852000" cy="0"/>
          </a:xfrm>
          <a:prstGeom prst="straightConnector1">
            <a:avLst/>
          </a:prstGeom>
          <a:noFill/>
          <a:ln w="38100" cap="flat" cmpd="sng">
            <a:solidFill>
              <a:schemeClr val="accent1"/>
            </a:solidFill>
            <a:prstDash val="solid"/>
            <a:round/>
            <a:headEnd type="none" w="med" len="med"/>
            <a:tailEnd type="none" w="med" len="med"/>
          </a:ln>
        </p:spPr>
      </p:cxnSp>
      <p:grpSp>
        <p:nvGrpSpPr>
          <p:cNvPr id="397" name="Google Shape;397;p45">
            <a:extLst>
              <a:ext uri="{FF2B5EF4-FFF2-40B4-BE49-F238E27FC236}">
                <a16:creationId xmlns:a16="http://schemas.microsoft.com/office/drawing/2014/main" id="{C0AE6359-F42E-7BF1-9B64-F97F465E95EA}"/>
              </a:ext>
            </a:extLst>
          </p:cNvPr>
          <p:cNvGrpSpPr/>
          <p:nvPr/>
        </p:nvGrpSpPr>
        <p:grpSpPr>
          <a:xfrm rot="900245">
            <a:off x="1020237" y="3892358"/>
            <a:ext cx="599271" cy="543125"/>
            <a:chOff x="487903" y="3023794"/>
            <a:chExt cx="1092563" cy="990202"/>
          </a:xfrm>
        </p:grpSpPr>
        <p:sp>
          <p:nvSpPr>
            <p:cNvPr id="398" name="Google Shape;398;p45">
              <a:extLst>
                <a:ext uri="{FF2B5EF4-FFF2-40B4-BE49-F238E27FC236}">
                  <a16:creationId xmlns:a16="http://schemas.microsoft.com/office/drawing/2014/main" id="{378565BC-901F-B02E-EEB7-1BC5C1A3E4C8}"/>
                </a:ext>
              </a:extLst>
            </p:cNvPr>
            <p:cNvSpPr/>
            <p:nvPr/>
          </p:nvSpPr>
          <p:spPr>
            <a:xfrm>
              <a:off x="524720" y="3023794"/>
              <a:ext cx="1055746" cy="950366"/>
            </a:xfrm>
            <a:custGeom>
              <a:avLst/>
              <a:gdLst/>
              <a:ahLst/>
              <a:cxnLst/>
              <a:rect l="l" t="t" r="r" b="b"/>
              <a:pathLst>
                <a:path w="19494" h="17549" extrusionOk="0">
                  <a:moveTo>
                    <a:pt x="1446" y="1"/>
                  </a:moveTo>
                  <a:cubicBezTo>
                    <a:pt x="643" y="1"/>
                    <a:pt x="1" y="643"/>
                    <a:pt x="1" y="1437"/>
                  </a:cubicBezTo>
                  <a:lnTo>
                    <a:pt x="1" y="11125"/>
                  </a:lnTo>
                  <a:lnTo>
                    <a:pt x="1" y="11732"/>
                  </a:lnTo>
                  <a:lnTo>
                    <a:pt x="1" y="11991"/>
                  </a:lnTo>
                  <a:lnTo>
                    <a:pt x="1" y="13793"/>
                  </a:lnTo>
                  <a:cubicBezTo>
                    <a:pt x="1" y="14141"/>
                    <a:pt x="286" y="14426"/>
                    <a:pt x="634" y="14426"/>
                  </a:cubicBezTo>
                  <a:lnTo>
                    <a:pt x="7468" y="14426"/>
                  </a:lnTo>
                  <a:cubicBezTo>
                    <a:pt x="7459" y="14444"/>
                    <a:pt x="7459" y="14462"/>
                    <a:pt x="7459" y="14480"/>
                  </a:cubicBezTo>
                  <a:cubicBezTo>
                    <a:pt x="7450" y="14498"/>
                    <a:pt x="7450" y="14524"/>
                    <a:pt x="7441" y="14542"/>
                  </a:cubicBezTo>
                  <a:cubicBezTo>
                    <a:pt x="7432" y="14569"/>
                    <a:pt x="7432" y="14596"/>
                    <a:pt x="7423" y="14614"/>
                  </a:cubicBezTo>
                  <a:cubicBezTo>
                    <a:pt x="7414" y="14640"/>
                    <a:pt x="7414" y="14667"/>
                    <a:pt x="7405" y="14685"/>
                  </a:cubicBezTo>
                  <a:cubicBezTo>
                    <a:pt x="7397" y="14712"/>
                    <a:pt x="7388" y="14738"/>
                    <a:pt x="7388" y="14765"/>
                  </a:cubicBezTo>
                  <a:cubicBezTo>
                    <a:pt x="7379" y="14783"/>
                    <a:pt x="7370" y="14810"/>
                    <a:pt x="7361" y="14837"/>
                  </a:cubicBezTo>
                  <a:cubicBezTo>
                    <a:pt x="7352" y="14863"/>
                    <a:pt x="7343" y="14890"/>
                    <a:pt x="7334" y="14917"/>
                  </a:cubicBezTo>
                  <a:cubicBezTo>
                    <a:pt x="7325" y="14953"/>
                    <a:pt x="7307" y="14997"/>
                    <a:pt x="7298" y="15033"/>
                  </a:cubicBezTo>
                  <a:cubicBezTo>
                    <a:pt x="7245" y="15184"/>
                    <a:pt x="7182" y="15345"/>
                    <a:pt x="7111" y="15506"/>
                  </a:cubicBezTo>
                  <a:cubicBezTo>
                    <a:pt x="6861" y="16023"/>
                    <a:pt x="6487" y="16567"/>
                    <a:pt x="5916" y="16995"/>
                  </a:cubicBezTo>
                  <a:cubicBezTo>
                    <a:pt x="5684" y="17174"/>
                    <a:pt x="5809" y="17549"/>
                    <a:pt x="6103" y="17549"/>
                  </a:cubicBezTo>
                  <a:lnTo>
                    <a:pt x="13383" y="17549"/>
                  </a:lnTo>
                  <a:cubicBezTo>
                    <a:pt x="13677" y="17549"/>
                    <a:pt x="13802" y="17174"/>
                    <a:pt x="13570" y="16995"/>
                  </a:cubicBezTo>
                  <a:cubicBezTo>
                    <a:pt x="12999" y="16567"/>
                    <a:pt x="12624" y="16023"/>
                    <a:pt x="12383" y="15506"/>
                  </a:cubicBezTo>
                  <a:cubicBezTo>
                    <a:pt x="12303" y="15345"/>
                    <a:pt x="12241" y="15184"/>
                    <a:pt x="12187" y="15033"/>
                  </a:cubicBezTo>
                  <a:cubicBezTo>
                    <a:pt x="12178" y="14997"/>
                    <a:pt x="12160" y="14953"/>
                    <a:pt x="12151" y="14917"/>
                  </a:cubicBezTo>
                  <a:cubicBezTo>
                    <a:pt x="12143" y="14890"/>
                    <a:pt x="12134" y="14863"/>
                    <a:pt x="12125" y="14837"/>
                  </a:cubicBezTo>
                  <a:cubicBezTo>
                    <a:pt x="12116" y="14810"/>
                    <a:pt x="12116" y="14783"/>
                    <a:pt x="12107" y="14765"/>
                  </a:cubicBezTo>
                  <a:cubicBezTo>
                    <a:pt x="12098" y="14738"/>
                    <a:pt x="12089" y="14712"/>
                    <a:pt x="12080" y="14685"/>
                  </a:cubicBezTo>
                  <a:cubicBezTo>
                    <a:pt x="12080" y="14667"/>
                    <a:pt x="12071" y="14640"/>
                    <a:pt x="12062" y="14614"/>
                  </a:cubicBezTo>
                  <a:cubicBezTo>
                    <a:pt x="12062" y="14596"/>
                    <a:pt x="12053" y="14569"/>
                    <a:pt x="12044" y="14542"/>
                  </a:cubicBezTo>
                  <a:cubicBezTo>
                    <a:pt x="12044" y="14524"/>
                    <a:pt x="12035" y="14498"/>
                    <a:pt x="12035" y="14480"/>
                  </a:cubicBezTo>
                  <a:cubicBezTo>
                    <a:pt x="12027" y="14462"/>
                    <a:pt x="12027" y="14444"/>
                    <a:pt x="12018" y="14426"/>
                  </a:cubicBezTo>
                  <a:lnTo>
                    <a:pt x="18851" y="14426"/>
                  </a:lnTo>
                  <a:cubicBezTo>
                    <a:pt x="19208" y="14426"/>
                    <a:pt x="19493" y="14141"/>
                    <a:pt x="19493" y="13793"/>
                  </a:cubicBezTo>
                  <a:lnTo>
                    <a:pt x="19493" y="11732"/>
                  </a:lnTo>
                  <a:lnTo>
                    <a:pt x="19493" y="11125"/>
                  </a:lnTo>
                  <a:lnTo>
                    <a:pt x="19493" y="1437"/>
                  </a:lnTo>
                  <a:cubicBezTo>
                    <a:pt x="19493" y="643"/>
                    <a:pt x="18842" y="1"/>
                    <a:pt x="18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45">
              <a:extLst>
                <a:ext uri="{FF2B5EF4-FFF2-40B4-BE49-F238E27FC236}">
                  <a16:creationId xmlns:a16="http://schemas.microsoft.com/office/drawing/2014/main" id="{DDBB04C9-4336-ED4B-54E1-472F1048767E}"/>
                </a:ext>
              </a:extLst>
            </p:cNvPr>
            <p:cNvGrpSpPr/>
            <p:nvPr/>
          </p:nvGrpSpPr>
          <p:grpSpPr>
            <a:xfrm>
              <a:off x="487903" y="3060089"/>
              <a:ext cx="1055728" cy="953907"/>
              <a:chOff x="479650" y="2294000"/>
              <a:chExt cx="476175" cy="430250"/>
            </a:xfrm>
          </p:grpSpPr>
          <p:sp>
            <p:nvSpPr>
              <p:cNvPr id="400" name="Google Shape;400;p45">
                <a:extLst>
                  <a:ext uri="{FF2B5EF4-FFF2-40B4-BE49-F238E27FC236}">
                    <a16:creationId xmlns:a16="http://schemas.microsoft.com/office/drawing/2014/main" id="{4416E84A-EBCB-9527-D958-4E4821C7E227}"/>
                  </a:ext>
                </a:extLst>
              </p:cNvPr>
              <p:cNvSpPr/>
              <p:nvPr/>
            </p:nvSpPr>
            <p:spPr>
              <a:xfrm>
                <a:off x="479650" y="2294000"/>
                <a:ext cx="476175" cy="430250"/>
              </a:xfrm>
              <a:custGeom>
                <a:avLst/>
                <a:gdLst/>
                <a:ahLst/>
                <a:cxnLst/>
                <a:rect l="l" t="t" r="r" b="b"/>
                <a:pathLst>
                  <a:path w="19047" h="17210" extrusionOk="0">
                    <a:moveTo>
                      <a:pt x="11464" y="14247"/>
                    </a:moveTo>
                    <a:cubicBezTo>
                      <a:pt x="11660" y="14979"/>
                      <a:pt x="12080" y="15934"/>
                      <a:pt x="12990" y="16629"/>
                    </a:cubicBezTo>
                    <a:cubicBezTo>
                      <a:pt x="12990" y="16638"/>
                      <a:pt x="12990" y="16647"/>
                      <a:pt x="12990" y="16647"/>
                    </a:cubicBezTo>
                    <a:lnTo>
                      <a:pt x="6067" y="16647"/>
                    </a:lnTo>
                    <a:cubicBezTo>
                      <a:pt x="6067" y="16647"/>
                      <a:pt x="6058" y="16638"/>
                      <a:pt x="6067" y="16629"/>
                    </a:cubicBezTo>
                    <a:cubicBezTo>
                      <a:pt x="6977" y="15942"/>
                      <a:pt x="7396" y="14997"/>
                      <a:pt x="7592" y="14247"/>
                    </a:cubicBezTo>
                    <a:close/>
                    <a:moveTo>
                      <a:pt x="1651" y="1"/>
                    </a:moveTo>
                    <a:cubicBezTo>
                      <a:pt x="741" y="1"/>
                      <a:pt x="0" y="741"/>
                      <a:pt x="0" y="1651"/>
                    </a:cubicBezTo>
                    <a:lnTo>
                      <a:pt x="0" y="13364"/>
                    </a:lnTo>
                    <a:cubicBezTo>
                      <a:pt x="0" y="13855"/>
                      <a:pt x="402" y="14247"/>
                      <a:pt x="893" y="14247"/>
                    </a:cubicBezTo>
                    <a:lnTo>
                      <a:pt x="7012" y="14247"/>
                    </a:lnTo>
                    <a:cubicBezTo>
                      <a:pt x="6825" y="14881"/>
                      <a:pt x="6459" y="15630"/>
                      <a:pt x="5728" y="16183"/>
                    </a:cubicBezTo>
                    <a:cubicBezTo>
                      <a:pt x="5532" y="16335"/>
                      <a:pt x="5460" y="16585"/>
                      <a:pt x="5532" y="16817"/>
                    </a:cubicBezTo>
                    <a:cubicBezTo>
                      <a:pt x="5612" y="17058"/>
                      <a:pt x="5826" y="17209"/>
                      <a:pt x="6076" y="17209"/>
                    </a:cubicBezTo>
                    <a:lnTo>
                      <a:pt x="12981" y="17209"/>
                    </a:lnTo>
                    <a:cubicBezTo>
                      <a:pt x="13230" y="17209"/>
                      <a:pt x="13436" y="17058"/>
                      <a:pt x="13516" y="16817"/>
                    </a:cubicBezTo>
                    <a:cubicBezTo>
                      <a:pt x="13596" y="16585"/>
                      <a:pt x="13525" y="16335"/>
                      <a:pt x="13320" y="16183"/>
                    </a:cubicBezTo>
                    <a:cubicBezTo>
                      <a:pt x="12597" y="15630"/>
                      <a:pt x="12231" y="14872"/>
                      <a:pt x="12044" y="14247"/>
                    </a:cubicBezTo>
                    <a:lnTo>
                      <a:pt x="14328" y="14247"/>
                    </a:lnTo>
                    <a:cubicBezTo>
                      <a:pt x="14479" y="14247"/>
                      <a:pt x="14604" y="14123"/>
                      <a:pt x="14604" y="13971"/>
                    </a:cubicBezTo>
                    <a:cubicBezTo>
                      <a:pt x="14604" y="13819"/>
                      <a:pt x="14479" y="13694"/>
                      <a:pt x="14328" y="13694"/>
                    </a:cubicBezTo>
                    <a:lnTo>
                      <a:pt x="893" y="13694"/>
                    </a:lnTo>
                    <a:cubicBezTo>
                      <a:pt x="705" y="13694"/>
                      <a:pt x="563" y="13543"/>
                      <a:pt x="563" y="13364"/>
                    </a:cubicBezTo>
                    <a:lnTo>
                      <a:pt x="563" y="11687"/>
                    </a:lnTo>
                    <a:lnTo>
                      <a:pt x="18494" y="11687"/>
                    </a:lnTo>
                    <a:lnTo>
                      <a:pt x="18494" y="13364"/>
                    </a:lnTo>
                    <a:cubicBezTo>
                      <a:pt x="18494" y="13543"/>
                      <a:pt x="18342" y="13694"/>
                      <a:pt x="18164" y="13694"/>
                    </a:cubicBezTo>
                    <a:lnTo>
                      <a:pt x="15470" y="13694"/>
                    </a:lnTo>
                    <a:cubicBezTo>
                      <a:pt x="15309" y="13694"/>
                      <a:pt x="15184" y="13819"/>
                      <a:pt x="15184" y="13971"/>
                    </a:cubicBezTo>
                    <a:cubicBezTo>
                      <a:pt x="15184" y="14123"/>
                      <a:pt x="15309" y="14247"/>
                      <a:pt x="15470" y="14247"/>
                    </a:cubicBezTo>
                    <a:lnTo>
                      <a:pt x="18164" y="14247"/>
                    </a:lnTo>
                    <a:cubicBezTo>
                      <a:pt x="18654" y="14247"/>
                      <a:pt x="19047" y="13855"/>
                      <a:pt x="19047" y="13364"/>
                    </a:cubicBezTo>
                    <a:lnTo>
                      <a:pt x="19047" y="5665"/>
                    </a:lnTo>
                    <a:cubicBezTo>
                      <a:pt x="19047" y="5505"/>
                      <a:pt x="18922" y="5380"/>
                      <a:pt x="18770" y="5380"/>
                    </a:cubicBezTo>
                    <a:cubicBezTo>
                      <a:pt x="18619" y="5380"/>
                      <a:pt x="18494" y="5505"/>
                      <a:pt x="18494" y="5665"/>
                    </a:cubicBezTo>
                    <a:lnTo>
                      <a:pt x="18494" y="11125"/>
                    </a:lnTo>
                    <a:lnTo>
                      <a:pt x="563" y="11125"/>
                    </a:lnTo>
                    <a:lnTo>
                      <a:pt x="563" y="1651"/>
                    </a:lnTo>
                    <a:cubicBezTo>
                      <a:pt x="563" y="1044"/>
                      <a:pt x="1053" y="563"/>
                      <a:pt x="1651" y="563"/>
                    </a:cubicBezTo>
                    <a:lnTo>
                      <a:pt x="17405" y="563"/>
                    </a:lnTo>
                    <a:cubicBezTo>
                      <a:pt x="18003" y="563"/>
                      <a:pt x="18494" y="1044"/>
                      <a:pt x="18494" y="1651"/>
                    </a:cubicBezTo>
                    <a:lnTo>
                      <a:pt x="18494" y="4524"/>
                    </a:lnTo>
                    <a:cubicBezTo>
                      <a:pt x="18494" y="4675"/>
                      <a:pt x="18619" y="4800"/>
                      <a:pt x="18770" y="4800"/>
                    </a:cubicBezTo>
                    <a:cubicBezTo>
                      <a:pt x="18922" y="4800"/>
                      <a:pt x="19047" y="4675"/>
                      <a:pt x="19047" y="4524"/>
                    </a:cubicBezTo>
                    <a:lnTo>
                      <a:pt x="19047" y="1651"/>
                    </a:lnTo>
                    <a:cubicBezTo>
                      <a:pt x="19047" y="741"/>
                      <a:pt x="18315" y="1"/>
                      <a:pt x="174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5">
                <a:extLst>
                  <a:ext uri="{FF2B5EF4-FFF2-40B4-BE49-F238E27FC236}">
                    <a16:creationId xmlns:a16="http://schemas.microsoft.com/office/drawing/2014/main" id="{50CF3AA6-D31A-833B-022F-2D63E4E1C0B8}"/>
                  </a:ext>
                </a:extLst>
              </p:cNvPr>
              <p:cNvSpPr/>
              <p:nvPr/>
            </p:nvSpPr>
            <p:spPr>
              <a:xfrm>
                <a:off x="700450" y="2593750"/>
                <a:ext cx="34825" cy="34825"/>
              </a:xfrm>
              <a:custGeom>
                <a:avLst/>
                <a:gdLst/>
                <a:ahLst/>
                <a:cxnLst/>
                <a:rect l="l" t="t" r="r" b="b"/>
                <a:pathLst>
                  <a:path w="1393" h="1393" extrusionOk="0">
                    <a:moveTo>
                      <a:pt x="696" y="562"/>
                    </a:moveTo>
                    <a:cubicBezTo>
                      <a:pt x="768" y="562"/>
                      <a:pt x="830" y="625"/>
                      <a:pt x="830" y="696"/>
                    </a:cubicBezTo>
                    <a:cubicBezTo>
                      <a:pt x="830" y="777"/>
                      <a:pt x="768" y="839"/>
                      <a:pt x="696" y="839"/>
                    </a:cubicBezTo>
                    <a:cubicBezTo>
                      <a:pt x="616" y="839"/>
                      <a:pt x="562" y="777"/>
                      <a:pt x="562" y="696"/>
                    </a:cubicBezTo>
                    <a:cubicBezTo>
                      <a:pt x="562" y="625"/>
                      <a:pt x="616" y="562"/>
                      <a:pt x="696" y="562"/>
                    </a:cubicBezTo>
                    <a:close/>
                    <a:moveTo>
                      <a:pt x="696" y="0"/>
                    </a:moveTo>
                    <a:cubicBezTo>
                      <a:pt x="313" y="0"/>
                      <a:pt x="0" y="313"/>
                      <a:pt x="0" y="696"/>
                    </a:cubicBezTo>
                    <a:cubicBezTo>
                      <a:pt x="0" y="1080"/>
                      <a:pt x="313" y="1392"/>
                      <a:pt x="696" y="1392"/>
                    </a:cubicBezTo>
                    <a:cubicBezTo>
                      <a:pt x="1080" y="1392"/>
                      <a:pt x="1392" y="1080"/>
                      <a:pt x="1392" y="696"/>
                    </a:cubicBezTo>
                    <a:cubicBezTo>
                      <a:pt x="1392" y="313"/>
                      <a:pt x="1080" y="0"/>
                      <a:pt x="6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5">
                <a:extLst>
                  <a:ext uri="{FF2B5EF4-FFF2-40B4-BE49-F238E27FC236}">
                    <a16:creationId xmlns:a16="http://schemas.microsoft.com/office/drawing/2014/main" id="{3E4BB23E-CCD0-2271-ADE2-3CD2D975EF10}"/>
                  </a:ext>
                </a:extLst>
              </p:cNvPr>
              <p:cNvSpPr/>
              <p:nvPr/>
            </p:nvSpPr>
            <p:spPr>
              <a:xfrm>
                <a:off x="628850" y="2366275"/>
                <a:ext cx="178000" cy="144750"/>
              </a:xfrm>
              <a:custGeom>
                <a:avLst/>
                <a:gdLst/>
                <a:ahLst/>
                <a:cxnLst/>
                <a:rect l="l" t="t" r="r" b="b"/>
                <a:pathLst>
                  <a:path w="7120" h="5790" extrusionOk="0">
                    <a:moveTo>
                      <a:pt x="607" y="0"/>
                    </a:moveTo>
                    <a:cubicBezTo>
                      <a:pt x="268" y="0"/>
                      <a:pt x="1" y="268"/>
                      <a:pt x="1" y="607"/>
                    </a:cubicBezTo>
                    <a:lnTo>
                      <a:pt x="1" y="5174"/>
                    </a:lnTo>
                    <a:cubicBezTo>
                      <a:pt x="1" y="5513"/>
                      <a:pt x="268" y="5790"/>
                      <a:pt x="607" y="5790"/>
                    </a:cubicBezTo>
                    <a:lnTo>
                      <a:pt x="1785" y="5790"/>
                    </a:lnTo>
                    <a:cubicBezTo>
                      <a:pt x="1945" y="5790"/>
                      <a:pt x="2061" y="5665"/>
                      <a:pt x="2061" y="5504"/>
                    </a:cubicBezTo>
                    <a:cubicBezTo>
                      <a:pt x="2061" y="5353"/>
                      <a:pt x="1945" y="5228"/>
                      <a:pt x="1785" y="5228"/>
                    </a:cubicBezTo>
                    <a:lnTo>
                      <a:pt x="607" y="5228"/>
                    </a:lnTo>
                    <a:cubicBezTo>
                      <a:pt x="581" y="5228"/>
                      <a:pt x="554" y="5201"/>
                      <a:pt x="554" y="5174"/>
                    </a:cubicBezTo>
                    <a:lnTo>
                      <a:pt x="554" y="607"/>
                    </a:lnTo>
                    <a:cubicBezTo>
                      <a:pt x="554" y="580"/>
                      <a:pt x="581" y="553"/>
                      <a:pt x="607" y="553"/>
                    </a:cubicBezTo>
                    <a:lnTo>
                      <a:pt x="6513" y="553"/>
                    </a:lnTo>
                    <a:cubicBezTo>
                      <a:pt x="6540" y="553"/>
                      <a:pt x="6567" y="580"/>
                      <a:pt x="6567" y="607"/>
                    </a:cubicBezTo>
                    <a:lnTo>
                      <a:pt x="6567" y="5174"/>
                    </a:lnTo>
                    <a:cubicBezTo>
                      <a:pt x="6567" y="5201"/>
                      <a:pt x="6540" y="5228"/>
                      <a:pt x="6513" y="5228"/>
                    </a:cubicBezTo>
                    <a:lnTo>
                      <a:pt x="2927" y="5228"/>
                    </a:lnTo>
                    <a:cubicBezTo>
                      <a:pt x="2775" y="5228"/>
                      <a:pt x="2650" y="5353"/>
                      <a:pt x="2650" y="5504"/>
                    </a:cubicBezTo>
                    <a:cubicBezTo>
                      <a:pt x="2650" y="5665"/>
                      <a:pt x="2775" y="5790"/>
                      <a:pt x="2927" y="5790"/>
                    </a:cubicBezTo>
                    <a:lnTo>
                      <a:pt x="6513" y="5790"/>
                    </a:lnTo>
                    <a:cubicBezTo>
                      <a:pt x="6843" y="5790"/>
                      <a:pt x="7120" y="5513"/>
                      <a:pt x="7120" y="5174"/>
                    </a:cubicBezTo>
                    <a:lnTo>
                      <a:pt x="7120" y="607"/>
                    </a:lnTo>
                    <a:cubicBezTo>
                      <a:pt x="7120" y="268"/>
                      <a:pt x="6843" y="0"/>
                      <a:pt x="65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5">
                <a:extLst>
                  <a:ext uri="{FF2B5EF4-FFF2-40B4-BE49-F238E27FC236}">
                    <a16:creationId xmlns:a16="http://schemas.microsoft.com/office/drawing/2014/main" id="{D8B61390-1950-8990-B0D1-326D4ADFB891}"/>
                  </a:ext>
                </a:extLst>
              </p:cNvPr>
              <p:cNvSpPr/>
              <p:nvPr/>
            </p:nvSpPr>
            <p:spPr>
              <a:xfrm>
                <a:off x="703575" y="2397050"/>
                <a:ext cx="72725" cy="71600"/>
              </a:xfrm>
              <a:custGeom>
                <a:avLst/>
                <a:gdLst/>
                <a:ahLst/>
                <a:cxnLst/>
                <a:rect l="l" t="t" r="r" b="b"/>
                <a:pathLst>
                  <a:path w="2909" h="2864" extrusionOk="0">
                    <a:moveTo>
                      <a:pt x="428" y="0"/>
                    </a:moveTo>
                    <a:cubicBezTo>
                      <a:pt x="268" y="0"/>
                      <a:pt x="143" y="125"/>
                      <a:pt x="143" y="277"/>
                    </a:cubicBezTo>
                    <a:cubicBezTo>
                      <a:pt x="143" y="437"/>
                      <a:pt x="268" y="562"/>
                      <a:pt x="428" y="562"/>
                    </a:cubicBezTo>
                    <a:lnTo>
                      <a:pt x="1936" y="562"/>
                    </a:lnTo>
                    <a:lnTo>
                      <a:pt x="107" y="2382"/>
                    </a:lnTo>
                    <a:cubicBezTo>
                      <a:pt x="0" y="2489"/>
                      <a:pt x="0" y="2667"/>
                      <a:pt x="107" y="2775"/>
                    </a:cubicBezTo>
                    <a:cubicBezTo>
                      <a:pt x="161" y="2837"/>
                      <a:pt x="232" y="2864"/>
                      <a:pt x="304" y="2864"/>
                    </a:cubicBezTo>
                    <a:cubicBezTo>
                      <a:pt x="375" y="2864"/>
                      <a:pt x="446" y="2837"/>
                      <a:pt x="500" y="2775"/>
                    </a:cubicBezTo>
                    <a:lnTo>
                      <a:pt x="2346" y="937"/>
                    </a:lnTo>
                    <a:lnTo>
                      <a:pt x="2346" y="2489"/>
                    </a:lnTo>
                    <a:cubicBezTo>
                      <a:pt x="2346" y="2641"/>
                      <a:pt x="2471" y="2766"/>
                      <a:pt x="2632" y="2766"/>
                    </a:cubicBezTo>
                    <a:cubicBezTo>
                      <a:pt x="2784" y="2766"/>
                      <a:pt x="2908" y="2641"/>
                      <a:pt x="2908" y="2489"/>
                    </a:cubicBezTo>
                    <a:lnTo>
                      <a:pt x="2908" y="277"/>
                    </a:lnTo>
                    <a:cubicBezTo>
                      <a:pt x="2908" y="125"/>
                      <a:pt x="2784" y="0"/>
                      <a:pt x="2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a:extLst>
                  <a:ext uri="{FF2B5EF4-FFF2-40B4-BE49-F238E27FC236}">
                    <a16:creationId xmlns:a16="http://schemas.microsoft.com/office/drawing/2014/main" id="{72B8C344-D5A5-8BE7-B569-CBC761F61EF5}"/>
                  </a:ext>
                </a:extLst>
              </p:cNvPr>
              <p:cNvSpPr/>
              <p:nvPr/>
            </p:nvSpPr>
            <p:spPr>
              <a:xfrm>
                <a:off x="778500" y="2485575"/>
                <a:ext cx="68500" cy="62700"/>
              </a:xfrm>
              <a:custGeom>
                <a:avLst/>
                <a:gdLst/>
                <a:ahLst/>
                <a:cxnLst/>
                <a:rect l="l" t="t" r="r" b="b"/>
                <a:pathLst>
                  <a:path w="2740" h="2508" extrusionOk="0">
                    <a:moveTo>
                      <a:pt x="2463" y="1"/>
                    </a:moveTo>
                    <a:cubicBezTo>
                      <a:pt x="2311" y="1"/>
                      <a:pt x="2186" y="126"/>
                      <a:pt x="2186" y="277"/>
                    </a:cubicBezTo>
                    <a:lnTo>
                      <a:pt x="2186" y="1946"/>
                    </a:lnTo>
                    <a:lnTo>
                      <a:pt x="286" y="1946"/>
                    </a:lnTo>
                    <a:cubicBezTo>
                      <a:pt x="126" y="1946"/>
                      <a:pt x="1" y="2070"/>
                      <a:pt x="1" y="2231"/>
                    </a:cubicBezTo>
                    <a:cubicBezTo>
                      <a:pt x="1" y="2383"/>
                      <a:pt x="126" y="2508"/>
                      <a:pt x="286" y="2508"/>
                    </a:cubicBezTo>
                    <a:lnTo>
                      <a:pt x="2463" y="2508"/>
                    </a:lnTo>
                    <a:cubicBezTo>
                      <a:pt x="2615" y="2508"/>
                      <a:pt x="2739" y="2383"/>
                      <a:pt x="2739" y="2231"/>
                    </a:cubicBezTo>
                    <a:lnTo>
                      <a:pt x="2739" y="277"/>
                    </a:lnTo>
                    <a:cubicBezTo>
                      <a:pt x="2739" y="126"/>
                      <a:pt x="2615" y="1"/>
                      <a:pt x="24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5">
                <a:extLst>
                  <a:ext uri="{FF2B5EF4-FFF2-40B4-BE49-F238E27FC236}">
                    <a16:creationId xmlns:a16="http://schemas.microsoft.com/office/drawing/2014/main" id="{E137D87D-DBBC-A669-40AF-0D741651EE97}"/>
                  </a:ext>
                </a:extLst>
              </p:cNvPr>
              <p:cNvSpPr/>
              <p:nvPr/>
            </p:nvSpPr>
            <p:spPr>
              <a:xfrm>
                <a:off x="588475" y="2328125"/>
                <a:ext cx="68500" cy="62700"/>
              </a:xfrm>
              <a:custGeom>
                <a:avLst/>
                <a:gdLst/>
                <a:ahLst/>
                <a:cxnLst/>
                <a:rect l="l" t="t" r="r" b="b"/>
                <a:pathLst>
                  <a:path w="2740" h="2508" extrusionOk="0">
                    <a:moveTo>
                      <a:pt x="286" y="1"/>
                    </a:moveTo>
                    <a:cubicBezTo>
                      <a:pt x="126" y="1"/>
                      <a:pt x="1" y="125"/>
                      <a:pt x="1" y="277"/>
                    </a:cubicBezTo>
                    <a:lnTo>
                      <a:pt x="1" y="2231"/>
                    </a:lnTo>
                    <a:cubicBezTo>
                      <a:pt x="1" y="2382"/>
                      <a:pt x="126" y="2507"/>
                      <a:pt x="286" y="2507"/>
                    </a:cubicBezTo>
                    <a:cubicBezTo>
                      <a:pt x="438" y="2507"/>
                      <a:pt x="563" y="2382"/>
                      <a:pt x="563" y="2231"/>
                    </a:cubicBezTo>
                    <a:lnTo>
                      <a:pt x="563" y="554"/>
                    </a:lnTo>
                    <a:lnTo>
                      <a:pt x="2463" y="554"/>
                    </a:lnTo>
                    <a:cubicBezTo>
                      <a:pt x="2615" y="554"/>
                      <a:pt x="2740" y="429"/>
                      <a:pt x="2740" y="277"/>
                    </a:cubicBezTo>
                    <a:cubicBezTo>
                      <a:pt x="2740" y="125"/>
                      <a:pt x="2615" y="1"/>
                      <a:pt x="24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5">
                <a:extLst>
                  <a:ext uri="{FF2B5EF4-FFF2-40B4-BE49-F238E27FC236}">
                    <a16:creationId xmlns:a16="http://schemas.microsoft.com/office/drawing/2014/main" id="{9AFA5FBB-62A2-6BBF-D837-115CFF2BC328}"/>
                  </a:ext>
                </a:extLst>
              </p:cNvPr>
              <p:cNvSpPr/>
              <p:nvPr/>
            </p:nvSpPr>
            <p:spPr>
              <a:xfrm>
                <a:off x="834475" y="2370950"/>
                <a:ext cx="13850" cy="15400"/>
              </a:xfrm>
              <a:custGeom>
                <a:avLst/>
                <a:gdLst/>
                <a:ahLst/>
                <a:cxnLst/>
                <a:rect l="l" t="t" r="r" b="b"/>
                <a:pathLst>
                  <a:path w="554" h="616" extrusionOk="0">
                    <a:moveTo>
                      <a:pt x="277" y="0"/>
                    </a:moveTo>
                    <a:cubicBezTo>
                      <a:pt x="126" y="0"/>
                      <a:pt x="1" y="125"/>
                      <a:pt x="1" y="286"/>
                    </a:cubicBezTo>
                    <a:lnTo>
                      <a:pt x="1" y="339"/>
                    </a:lnTo>
                    <a:cubicBezTo>
                      <a:pt x="1" y="491"/>
                      <a:pt x="126" y="616"/>
                      <a:pt x="277" y="616"/>
                    </a:cubicBezTo>
                    <a:cubicBezTo>
                      <a:pt x="429" y="616"/>
                      <a:pt x="554" y="491"/>
                      <a:pt x="554" y="339"/>
                    </a:cubicBezTo>
                    <a:lnTo>
                      <a:pt x="554" y="286"/>
                    </a:lnTo>
                    <a:cubicBezTo>
                      <a:pt x="554" y="125"/>
                      <a:pt x="429" y="0"/>
                      <a:pt x="2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5">
                <a:extLst>
                  <a:ext uri="{FF2B5EF4-FFF2-40B4-BE49-F238E27FC236}">
                    <a16:creationId xmlns:a16="http://schemas.microsoft.com/office/drawing/2014/main" id="{A39EEAA1-D75B-0697-51A6-47570CF57167}"/>
                  </a:ext>
                </a:extLst>
              </p:cNvPr>
              <p:cNvSpPr/>
              <p:nvPr/>
            </p:nvSpPr>
            <p:spPr>
              <a:xfrm>
                <a:off x="856350" y="2370950"/>
                <a:ext cx="14075" cy="15400"/>
              </a:xfrm>
              <a:custGeom>
                <a:avLst/>
                <a:gdLst/>
                <a:ahLst/>
                <a:cxnLst/>
                <a:rect l="l" t="t" r="r" b="b"/>
                <a:pathLst>
                  <a:path w="563" h="616" extrusionOk="0">
                    <a:moveTo>
                      <a:pt x="286" y="0"/>
                    </a:moveTo>
                    <a:cubicBezTo>
                      <a:pt x="125" y="0"/>
                      <a:pt x="0" y="125"/>
                      <a:pt x="0" y="286"/>
                    </a:cubicBezTo>
                    <a:lnTo>
                      <a:pt x="0" y="339"/>
                    </a:lnTo>
                    <a:cubicBezTo>
                      <a:pt x="0" y="491"/>
                      <a:pt x="125" y="616"/>
                      <a:pt x="286" y="616"/>
                    </a:cubicBezTo>
                    <a:cubicBezTo>
                      <a:pt x="437" y="616"/>
                      <a:pt x="562" y="491"/>
                      <a:pt x="562" y="339"/>
                    </a:cubicBezTo>
                    <a:lnTo>
                      <a:pt x="562" y="286"/>
                    </a:lnTo>
                    <a:cubicBezTo>
                      <a:pt x="562" y="125"/>
                      <a:pt x="437" y="0"/>
                      <a:pt x="2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5">
                <a:extLst>
                  <a:ext uri="{FF2B5EF4-FFF2-40B4-BE49-F238E27FC236}">
                    <a16:creationId xmlns:a16="http://schemas.microsoft.com/office/drawing/2014/main" id="{47021EEC-5226-AE60-BE05-0FCCDAD07261}"/>
                  </a:ext>
                </a:extLst>
              </p:cNvPr>
              <p:cNvSpPr/>
              <p:nvPr/>
            </p:nvSpPr>
            <p:spPr>
              <a:xfrm>
                <a:off x="828900" y="2398150"/>
                <a:ext cx="47100" cy="14075"/>
              </a:xfrm>
              <a:custGeom>
                <a:avLst/>
                <a:gdLst/>
                <a:ahLst/>
                <a:cxnLst/>
                <a:rect l="l" t="t" r="r" b="b"/>
                <a:pathLst>
                  <a:path w="1884" h="563" extrusionOk="0">
                    <a:moveTo>
                      <a:pt x="277" y="1"/>
                    </a:moveTo>
                    <a:cubicBezTo>
                      <a:pt x="126" y="1"/>
                      <a:pt x="1" y="126"/>
                      <a:pt x="1" y="277"/>
                    </a:cubicBezTo>
                    <a:cubicBezTo>
                      <a:pt x="1" y="438"/>
                      <a:pt x="126" y="563"/>
                      <a:pt x="277" y="563"/>
                    </a:cubicBezTo>
                    <a:lnTo>
                      <a:pt x="1598" y="563"/>
                    </a:lnTo>
                    <a:cubicBezTo>
                      <a:pt x="1758" y="563"/>
                      <a:pt x="1883" y="438"/>
                      <a:pt x="1883" y="277"/>
                    </a:cubicBezTo>
                    <a:cubicBezTo>
                      <a:pt x="1883" y="126"/>
                      <a:pt x="1758" y="1"/>
                      <a:pt x="15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5">
                <a:extLst>
                  <a:ext uri="{FF2B5EF4-FFF2-40B4-BE49-F238E27FC236}">
                    <a16:creationId xmlns:a16="http://schemas.microsoft.com/office/drawing/2014/main" id="{B74F1597-6037-8871-C0BE-B1488841B8EE}"/>
                  </a:ext>
                </a:extLst>
              </p:cNvPr>
              <p:cNvSpPr/>
              <p:nvPr/>
            </p:nvSpPr>
            <p:spPr>
              <a:xfrm>
                <a:off x="828900" y="2419125"/>
                <a:ext cx="47100" cy="13850"/>
              </a:xfrm>
              <a:custGeom>
                <a:avLst/>
                <a:gdLst/>
                <a:ahLst/>
                <a:cxnLst/>
                <a:rect l="l" t="t" r="r" b="b"/>
                <a:pathLst>
                  <a:path w="1884" h="554" extrusionOk="0">
                    <a:moveTo>
                      <a:pt x="277" y="0"/>
                    </a:moveTo>
                    <a:cubicBezTo>
                      <a:pt x="126" y="0"/>
                      <a:pt x="1" y="125"/>
                      <a:pt x="1" y="277"/>
                    </a:cubicBezTo>
                    <a:cubicBezTo>
                      <a:pt x="1" y="428"/>
                      <a:pt x="126" y="553"/>
                      <a:pt x="277" y="553"/>
                    </a:cubicBezTo>
                    <a:lnTo>
                      <a:pt x="1598" y="553"/>
                    </a:lnTo>
                    <a:cubicBezTo>
                      <a:pt x="1758" y="553"/>
                      <a:pt x="1883" y="428"/>
                      <a:pt x="1883" y="277"/>
                    </a:cubicBezTo>
                    <a:cubicBezTo>
                      <a:pt x="1883" y="125"/>
                      <a:pt x="1758" y="0"/>
                      <a:pt x="159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5">
                <a:extLst>
                  <a:ext uri="{FF2B5EF4-FFF2-40B4-BE49-F238E27FC236}">
                    <a16:creationId xmlns:a16="http://schemas.microsoft.com/office/drawing/2014/main" id="{56469246-B072-02C1-5DC6-F091093218DB}"/>
                  </a:ext>
                </a:extLst>
              </p:cNvPr>
              <p:cNvSpPr/>
              <p:nvPr/>
            </p:nvSpPr>
            <p:spPr>
              <a:xfrm>
                <a:off x="828900" y="2439850"/>
                <a:ext cx="47100" cy="13875"/>
              </a:xfrm>
              <a:custGeom>
                <a:avLst/>
                <a:gdLst/>
                <a:ahLst/>
                <a:cxnLst/>
                <a:rect l="l" t="t" r="r" b="b"/>
                <a:pathLst>
                  <a:path w="1884" h="555" extrusionOk="0">
                    <a:moveTo>
                      <a:pt x="277" y="1"/>
                    </a:moveTo>
                    <a:cubicBezTo>
                      <a:pt x="126" y="1"/>
                      <a:pt x="1" y="126"/>
                      <a:pt x="1" y="277"/>
                    </a:cubicBezTo>
                    <a:cubicBezTo>
                      <a:pt x="1" y="429"/>
                      <a:pt x="126" y="554"/>
                      <a:pt x="277" y="554"/>
                    </a:cubicBezTo>
                    <a:lnTo>
                      <a:pt x="1598" y="554"/>
                    </a:lnTo>
                    <a:cubicBezTo>
                      <a:pt x="1758" y="554"/>
                      <a:pt x="1883" y="429"/>
                      <a:pt x="1883" y="277"/>
                    </a:cubicBezTo>
                    <a:cubicBezTo>
                      <a:pt x="1883" y="126"/>
                      <a:pt x="1758" y="1"/>
                      <a:pt x="15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5">
                <a:extLst>
                  <a:ext uri="{FF2B5EF4-FFF2-40B4-BE49-F238E27FC236}">
                    <a16:creationId xmlns:a16="http://schemas.microsoft.com/office/drawing/2014/main" id="{75742A04-1B56-7540-A3BF-D55F19400999}"/>
                  </a:ext>
                </a:extLst>
              </p:cNvPr>
              <p:cNvSpPr/>
              <p:nvPr/>
            </p:nvSpPr>
            <p:spPr>
              <a:xfrm>
                <a:off x="565300" y="2426925"/>
                <a:ext cx="14075" cy="15425"/>
              </a:xfrm>
              <a:custGeom>
                <a:avLst/>
                <a:gdLst/>
                <a:ahLst/>
                <a:cxnLst/>
                <a:rect l="l" t="t" r="r" b="b"/>
                <a:pathLst>
                  <a:path w="563" h="617" extrusionOk="0">
                    <a:moveTo>
                      <a:pt x="277" y="1"/>
                    </a:moveTo>
                    <a:cubicBezTo>
                      <a:pt x="125" y="1"/>
                      <a:pt x="0" y="125"/>
                      <a:pt x="0" y="277"/>
                    </a:cubicBezTo>
                    <a:lnTo>
                      <a:pt x="0" y="331"/>
                    </a:lnTo>
                    <a:cubicBezTo>
                      <a:pt x="0" y="491"/>
                      <a:pt x="125" y="616"/>
                      <a:pt x="277" y="616"/>
                    </a:cubicBezTo>
                    <a:cubicBezTo>
                      <a:pt x="437" y="616"/>
                      <a:pt x="562" y="491"/>
                      <a:pt x="562" y="331"/>
                    </a:cubicBezTo>
                    <a:lnTo>
                      <a:pt x="562" y="277"/>
                    </a:lnTo>
                    <a:cubicBezTo>
                      <a:pt x="562" y="125"/>
                      <a:pt x="437"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5">
                <a:extLst>
                  <a:ext uri="{FF2B5EF4-FFF2-40B4-BE49-F238E27FC236}">
                    <a16:creationId xmlns:a16="http://schemas.microsoft.com/office/drawing/2014/main" id="{EE6AD2F4-B64D-3816-D5DD-C033F57CE201}"/>
                  </a:ext>
                </a:extLst>
              </p:cNvPr>
              <p:cNvSpPr/>
              <p:nvPr/>
            </p:nvSpPr>
            <p:spPr>
              <a:xfrm>
                <a:off x="587375" y="2426925"/>
                <a:ext cx="13850" cy="15425"/>
              </a:xfrm>
              <a:custGeom>
                <a:avLst/>
                <a:gdLst/>
                <a:ahLst/>
                <a:cxnLst/>
                <a:rect l="l" t="t" r="r" b="b"/>
                <a:pathLst>
                  <a:path w="554" h="617" extrusionOk="0">
                    <a:moveTo>
                      <a:pt x="277" y="1"/>
                    </a:moveTo>
                    <a:cubicBezTo>
                      <a:pt x="125" y="1"/>
                      <a:pt x="0" y="125"/>
                      <a:pt x="0" y="277"/>
                    </a:cubicBezTo>
                    <a:lnTo>
                      <a:pt x="0" y="331"/>
                    </a:lnTo>
                    <a:cubicBezTo>
                      <a:pt x="0" y="491"/>
                      <a:pt x="125" y="616"/>
                      <a:pt x="277" y="616"/>
                    </a:cubicBezTo>
                    <a:cubicBezTo>
                      <a:pt x="429" y="616"/>
                      <a:pt x="553" y="491"/>
                      <a:pt x="553" y="331"/>
                    </a:cubicBezTo>
                    <a:lnTo>
                      <a:pt x="553" y="277"/>
                    </a:lnTo>
                    <a:cubicBezTo>
                      <a:pt x="553" y="125"/>
                      <a:pt x="429"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5">
                <a:extLst>
                  <a:ext uri="{FF2B5EF4-FFF2-40B4-BE49-F238E27FC236}">
                    <a16:creationId xmlns:a16="http://schemas.microsoft.com/office/drawing/2014/main" id="{2869662A-F33F-B56D-84D2-7A95F5E927A7}"/>
                  </a:ext>
                </a:extLst>
              </p:cNvPr>
              <p:cNvSpPr/>
              <p:nvPr/>
            </p:nvSpPr>
            <p:spPr>
              <a:xfrm>
                <a:off x="559725" y="2454125"/>
                <a:ext cx="47075" cy="13850"/>
              </a:xfrm>
              <a:custGeom>
                <a:avLst/>
                <a:gdLst/>
                <a:ahLst/>
                <a:cxnLst/>
                <a:rect l="l" t="t" r="r" b="b"/>
                <a:pathLst>
                  <a:path w="1883" h="554" extrusionOk="0">
                    <a:moveTo>
                      <a:pt x="277" y="1"/>
                    </a:moveTo>
                    <a:cubicBezTo>
                      <a:pt x="125" y="1"/>
                      <a:pt x="0" y="126"/>
                      <a:pt x="0" y="277"/>
                    </a:cubicBezTo>
                    <a:cubicBezTo>
                      <a:pt x="0" y="429"/>
                      <a:pt x="125" y="554"/>
                      <a:pt x="277" y="554"/>
                    </a:cubicBezTo>
                    <a:lnTo>
                      <a:pt x="1606" y="554"/>
                    </a:lnTo>
                    <a:cubicBezTo>
                      <a:pt x="1758" y="554"/>
                      <a:pt x="1882" y="429"/>
                      <a:pt x="1882" y="277"/>
                    </a:cubicBezTo>
                    <a:cubicBezTo>
                      <a:pt x="1882" y="126"/>
                      <a:pt x="1758" y="1"/>
                      <a:pt x="16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5">
                <a:extLst>
                  <a:ext uri="{FF2B5EF4-FFF2-40B4-BE49-F238E27FC236}">
                    <a16:creationId xmlns:a16="http://schemas.microsoft.com/office/drawing/2014/main" id="{ED173679-55F0-8895-6EF9-6103AC9795B1}"/>
                  </a:ext>
                </a:extLst>
              </p:cNvPr>
              <p:cNvSpPr/>
              <p:nvPr/>
            </p:nvSpPr>
            <p:spPr>
              <a:xfrm>
                <a:off x="559725" y="2474875"/>
                <a:ext cx="47075" cy="14075"/>
              </a:xfrm>
              <a:custGeom>
                <a:avLst/>
                <a:gdLst/>
                <a:ahLst/>
                <a:cxnLst/>
                <a:rect l="l" t="t" r="r" b="b"/>
                <a:pathLst>
                  <a:path w="1883" h="563" extrusionOk="0">
                    <a:moveTo>
                      <a:pt x="277" y="1"/>
                    </a:moveTo>
                    <a:cubicBezTo>
                      <a:pt x="125" y="1"/>
                      <a:pt x="0" y="125"/>
                      <a:pt x="0" y="277"/>
                    </a:cubicBezTo>
                    <a:cubicBezTo>
                      <a:pt x="0" y="438"/>
                      <a:pt x="125" y="563"/>
                      <a:pt x="277" y="563"/>
                    </a:cubicBezTo>
                    <a:lnTo>
                      <a:pt x="1606" y="563"/>
                    </a:lnTo>
                    <a:cubicBezTo>
                      <a:pt x="1758" y="563"/>
                      <a:pt x="1882" y="438"/>
                      <a:pt x="1882" y="277"/>
                    </a:cubicBezTo>
                    <a:cubicBezTo>
                      <a:pt x="1882" y="125"/>
                      <a:pt x="1758" y="1"/>
                      <a:pt x="16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5">
                <a:extLst>
                  <a:ext uri="{FF2B5EF4-FFF2-40B4-BE49-F238E27FC236}">
                    <a16:creationId xmlns:a16="http://schemas.microsoft.com/office/drawing/2014/main" id="{EB028463-7F74-2F6A-D508-F9D1A95CF021}"/>
                  </a:ext>
                </a:extLst>
              </p:cNvPr>
              <p:cNvSpPr/>
              <p:nvPr/>
            </p:nvSpPr>
            <p:spPr>
              <a:xfrm>
                <a:off x="559725" y="2495625"/>
                <a:ext cx="47075" cy="14075"/>
              </a:xfrm>
              <a:custGeom>
                <a:avLst/>
                <a:gdLst/>
                <a:ahLst/>
                <a:cxnLst/>
                <a:rect l="l" t="t" r="r" b="b"/>
                <a:pathLst>
                  <a:path w="1883" h="563" extrusionOk="0">
                    <a:moveTo>
                      <a:pt x="277" y="0"/>
                    </a:moveTo>
                    <a:cubicBezTo>
                      <a:pt x="125" y="0"/>
                      <a:pt x="0" y="125"/>
                      <a:pt x="0" y="286"/>
                    </a:cubicBezTo>
                    <a:cubicBezTo>
                      <a:pt x="0" y="437"/>
                      <a:pt x="125" y="562"/>
                      <a:pt x="277" y="562"/>
                    </a:cubicBezTo>
                    <a:lnTo>
                      <a:pt x="1606" y="562"/>
                    </a:lnTo>
                    <a:cubicBezTo>
                      <a:pt x="1758" y="562"/>
                      <a:pt x="1882" y="437"/>
                      <a:pt x="1882" y="286"/>
                    </a:cubicBezTo>
                    <a:cubicBezTo>
                      <a:pt x="1882" y="125"/>
                      <a:pt x="1758" y="0"/>
                      <a:pt x="16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ZoneTexte 1">
            <a:extLst>
              <a:ext uri="{FF2B5EF4-FFF2-40B4-BE49-F238E27FC236}">
                <a16:creationId xmlns:a16="http://schemas.microsoft.com/office/drawing/2014/main" id="{6D3D3410-2DE1-E211-CA72-4CCBE56324C2}"/>
              </a:ext>
            </a:extLst>
          </p:cNvPr>
          <p:cNvSpPr txBox="1"/>
          <p:nvPr/>
        </p:nvSpPr>
        <p:spPr>
          <a:xfrm>
            <a:off x="8819972" y="4835723"/>
            <a:ext cx="271228"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4</a:t>
            </a:r>
          </a:p>
        </p:txBody>
      </p:sp>
    </p:spTree>
    <p:extLst>
      <p:ext uri="{BB962C8B-B14F-4D97-AF65-F5344CB8AC3E}">
        <p14:creationId xmlns:p14="http://schemas.microsoft.com/office/powerpoint/2010/main" val="303868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0">
          <a:extLst>
            <a:ext uri="{FF2B5EF4-FFF2-40B4-BE49-F238E27FC236}">
              <a16:creationId xmlns:a16="http://schemas.microsoft.com/office/drawing/2014/main" id="{1476105B-9AAF-16C3-C721-3D70E5B5FF60}"/>
            </a:ext>
          </a:extLst>
        </p:cNvPr>
        <p:cNvGrpSpPr/>
        <p:nvPr/>
      </p:nvGrpSpPr>
      <p:grpSpPr>
        <a:xfrm>
          <a:off x="0" y="0"/>
          <a:ext cx="0" cy="0"/>
          <a:chOff x="0" y="0"/>
          <a:chExt cx="0" cy="0"/>
        </a:xfrm>
      </p:grpSpPr>
      <p:sp>
        <p:nvSpPr>
          <p:cNvPr id="391" name="Google Shape;391;p45">
            <a:extLst>
              <a:ext uri="{FF2B5EF4-FFF2-40B4-BE49-F238E27FC236}">
                <a16:creationId xmlns:a16="http://schemas.microsoft.com/office/drawing/2014/main" id="{8985F8FC-4639-17C7-33E3-D64CBD113E1B}"/>
              </a:ext>
            </a:extLst>
          </p:cNvPr>
          <p:cNvSpPr/>
          <p:nvPr/>
        </p:nvSpPr>
        <p:spPr>
          <a:xfrm>
            <a:off x="408798" y="2512342"/>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5">
            <a:extLst>
              <a:ext uri="{FF2B5EF4-FFF2-40B4-BE49-F238E27FC236}">
                <a16:creationId xmlns:a16="http://schemas.microsoft.com/office/drawing/2014/main" id="{80231EB8-571F-CD09-979C-3DBF010B6E99}"/>
              </a:ext>
            </a:extLst>
          </p:cNvPr>
          <p:cNvSpPr/>
          <p:nvPr/>
        </p:nvSpPr>
        <p:spPr>
          <a:xfrm>
            <a:off x="867421" y="853986"/>
            <a:ext cx="2862282"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394" name="Google Shape;394;p45">
            <a:extLst>
              <a:ext uri="{FF2B5EF4-FFF2-40B4-BE49-F238E27FC236}">
                <a16:creationId xmlns:a16="http://schemas.microsoft.com/office/drawing/2014/main" id="{C8377854-642D-AF0D-FE5E-5D670D673A0B}"/>
              </a:ext>
            </a:extLst>
          </p:cNvPr>
          <p:cNvSpPr txBox="1">
            <a:spLocks noGrp="1"/>
          </p:cNvSpPr>
          <p:nvPr>
            <p:ph type="title"/>
          </p:nvPr>
        </p:nvSpPr>
        <p:spPr>
          <a:xfrm>
            <a:off x="734812" y="358860"/>
            <a:ext cx="6595256" cy="749400"/>
          </a:xfrm>
          <a:prstGeom prst="rect">
            <a:avLst/>
          </a:prstGeom>
        </p:spPr>
        <p:txBody>
          <a:bodyPr spcFirstLastPara="1" wrap="square" lIns="91425" tIns="91425" rIns="91425" bIns="91425" anchor="t" anchorCtr="0">
            <a:noAutofit/>
          </a:bodyPr>
          <a:lstStyle/>
          <a:p>
            <a:pPr lvl="0"/>
            <a:r>
              <a:rPr lang="fr-FR" dirty="0"/>
              <a:t>DÉMARCHE SCIENTIFIQUE</a:t>
            </a:r>
            <a:endParaRPr dirty="0"/>
          </a:p>
        </p:txBody>
      </p:sp>
      <p:sp>
        <p:nvSpPr>
          <p:cNvPr id="395" name="Google Shape;395;p45">
            <a:extLst>
              <a:ext uri="{FF2B5EF4-FFF2-40B4-BE49-F238E27FC236}">
                <a16:creationId xmlns:a16="http://schemas.microsoft.com/office/drawing/2014/main" id="{5254CF59-7481-62F6-A0A2-8CF758D1770F}"/>
              </a:ext>
            </a:extLst>
          </p:cNvPr>
          <p:cNvSpPr txBox="1">
            <a:spLocks noGrp="1"/>
          </p:cNvSpPr>
          <p:nvPr>
            <p:ph type="subTitle" idx="1"/>
          </p:nvPr>
        </p:nvSpPr>
        <p:spPr>
          <a:xfrm>
            <a:off x="1535247" y="1832166"/>
            <a:ext cx="6377793" cy="1235100"/>
          </a:xfrm>
          <a:prstGeom prst="rect">
            <a:avLst/>
          </a:prstGeom>
        </p:spPr>
        <p:txBody>
          <a:bodyPr spcFirstLastPara="1" wrap="square" lIns="91425" tIns="91425" rIns="91425" bIns="91425" anchor="b" anchorCtr="0">
            <a:noAutofit/>
          </a:bodyPr>
          <a:lstStyle/>
          <a:p>
            <a:r>
              <a:rPr lang="fr-FR" dirty="0"/>
              <a:t>1. Étudier les approches de l’état de l’art.</a:t>
            </a:r>
          </a:p>
          <a:p>
            <a:r>
              <a:rPr lang="fr-FR" dirty="0"/>
              <a:t>2. Sélectionner les solutions compatibles avec le prototype.</a:t>
            </a:r>
          </a:p>
          <a:p>
            <a:r>
              <a:rPr lang="fr-FR" dirty="0"/>
              <a:t>3. Concevoir une architecture modulaire.</a:t>
            </a:r>
          </a:p>
          <a:p>
            <a:r>
              <a:rPr lang="fr-FR" dirty="0"/>
              <a:t>4. Implémenter plusieurs politiques d’intersection.</a:t>
            </a:r>
          </a:p>
          <a:p>
            <a:r>
              <a:rPr lang="fr-FR" dirty="0"/>
              <a:t>5. Instrumenter des métriques.</a:t>
            </a:r>
          </a:p>
          <a:p>
            <a:r>
              <a:rPr lang="fr-FR" dirty="0"/>
              <a:t>6. Analyser les limites.</a:t>
            </a:r>
          </a:p>
        </p:txBody>
      </p:sp>
      <p:cxnSp>
        <p:nvCxnSpPr>
          <p:cNvPr id="396" name="Google Shape;396;p45">
            <a:extLst>
              <a:ext uri="{FF2B5EF4-FFF2-40B4-BE49-F238E27FC236}">
                <a16:creationId xmlns:a16="http://schemas.microsoft.com/office/drawing/2014/main" id="{65B97A62-63A1-F23B-52DD-55663676D0E2}"/>
              </a:ext>
            </a:extLst>
          </p:cNvPr>
          <p:cNvCxnSpPr/>
          <p:nvPr/>
        </p:nvCxnSpPr>
        <p:spPr>
          <a:xfrm>
            <a:off x="830137" y="347510"/>
            <a:ext cx="852000" cy="0"/>
          </a:xfrm>
          <a:prstGeom prst="straightConnector1">
            <a:avLst/>
          </a:prstGeom>
          <a:noFill/>
          <a:ln w="38100" cap="flat" cmpd="sng">
            <a:solidFill>
              <a:schemeClr val="accent1"/>
            </a:solidFill>
            <a:prstDash val="solid"/>
            <a:round/>
            <a:headEnd type="none" w="med" len="med"/>
            <a:tailEnd type="none" w="med" len="med"/>
          </a:ln>
        </p:spPr>
      </p:cxnSp>
      <p:grpSp>
        <p:nvGrpSpPr>
          <p:cNvPr id="397" name="Google Shape;397;p45">
            <a:extLst>
              <a:ext uri="{FF2B5EF4-FFF2-40B4-BE49-F238E27FC236}">
                <a16:creationId xmlns:a16="http://schemas.microsoft.com/office/drawing/2014/main" id="{190E3FE0-010D-D9C1-79F3-F7838815FA59}"/>
              </a:ext>
            </a:extLst>
          </p:cNvPr>
          <p:cNvGrpSpPr/>
          <p:nvPr/>
        </p:nvGrpSpPr>
        <p:grpSpPr>
          <a:xfrm rot="900245">
            <a:off x="629772" y="2780863"/>
            <a:ext cx="599271" cy="543125"/>
            <a:chOff x="487903" y="3023794"/>
            <a:chExt cx="1092563" cy="990202"/>
          </a:xfrm>
        </p:grpSpPr>
        <p:sp>
          <p:nvSpPr>
            <p:cNvPr id="398" name="Google Shape;398;p45">
              <a:extLst>
                <a:ext uri="{FF2B5EF4-FFF2-40B4-BE49-F238E27FC236}">
                  <a16:creationId xmlns:a16="http://schemas.microsoft.com/office/drawing/2014/main" id="{DA30353C-B4A9-E15B-654E-6F2DF066EFF6}"/>
                </a:ext>
              </a:extLst>
            </p:cNvPr>
            <p:cNvSpPr/>
            <p:nvPr/>
          </p:nvSpPr>
          <p:spPr>
            <a:xfrm>
              <a:off x="524720" y="3023794"/>
              <a:ext cx="1055746" cy="950366"/>
            </a:xfrm>
            <a:custGeom>
              <a:avLst/>
              <a:gdLst/>
              <a:ahLst/>
              <a:cxnLst/>
              <a:rect l="l" t="t" r="r" b="b"/>
              <a:pathLst>
                <a:path w="19494" h="17549" extrusionOk="0">
                  <a:moveTo>
                    <a:pt x="1446" y="1"/>
                  </a:moveTo>
                  <a:cubicBezTo>
                    <a:pt x="643" y="1"/>
                    <a:pt x="1" y="643"/>
                    <a:pt x="1" y="1437"/>
                  </a:cubicBezTo>
                  <a:lnTo>
                    <a:pt x="1" y="11125"/>
                  </a:lnTo>
                  <a:lnTo>
                    <a:pt x="1" y="11732"/>
                  </a:lnTo>
                  <a:lnTo>
                    <a:pt x="1" y="11991"/>
                  </a:lnTo>
                  <a:lnTo>
                    <a:pt x="1" y="13793"/>
                  </a:lnTo>
                  <a:cubicBezTo>
                    <a:pt x="1" y="14141"/>
                    <a:pt x="286" y="14426"/>
                    <a:pt x="634" y="14426"/>
                  </a:cubicBezTo>
                  <a:lnTo>
                    <a:pt x="7468" y="14426"/>
                  </a:lnTo>
                  <a:cubicBezTo>
                    <a:pt x="7459" y="14444"/>
                    <a:pt x="7459" y="14462"/>
                    <a:pt x="7459" y="14480"/>
                  </a:cubicBezTo>
                  <a:cubicBezTo>
                    <a:pt x="7450" y="14498"/>
                    <a:pt x="7450" y="14524"/>
                    <a:pt x="7441" y="14542"/>
                  </a:cubicBezTo>
                  <a:cubicBezTo>
                    <a:pt x="7432" y="14569"/>
                    <a:pt x="7432" y="14596"/>
                    <a:pt x="7423" y="14614"/>
                  </a:cubicBezTo>
                  <a:cubicBezTo>
                    <a:pt x="7414" y="14640"/>
                    <a:pt x="7414" y="14667"/>
                    <a:pt x="7405" y="14685"/>
                  </a:cubicBezTo>
                  <a:cubicBezTo>
                    <a:pt x="7397" y="14712"/>
                    <a:pt x="7388" y="14738"/>
                    <a:pt x="7388" y="14765"/>
                  </a:cubicBezTo>
                  <a:cubicBezTo>
                    <a:pt x="7379" y="14783"/>
                    <a:pt x="7370" y="14810"/>
                    <a:pt x="7361" y="14837"/>
                  </a:cubicBezTo>
                  <a:cubicBezTo>
                    <a:pt x="7352" y="14863"/>
                    <a:pt x="7343" y="14890"/>
                    <a:pt x="7334" y="14917"/>
                  </a:cubicBezTo>
                  <a:cubicBezTo>
                    <a:pt x="7325" y="14953"/>
                    <a:pt x="7307" y="14997"/>
                    <a:pt x="7298" y="15033"/>
                  </a:cubicBezTo>
                  <a:cubicBezTo>
                    <a:pt x="7245" y="15184"/>
                    <a:pt x="7182" y="15345"/>
                    <a:pt x="7111" y="15506"/>
                  </a:cubicBezTo>
                  <a:cubicBezTo>
                    <a:pt x="6861" y="16023"/>
                    <a:pt x="6487" y="16567"/>
                    <a:pt x="5916" y="16995"/>
                  </a:cubicBezTo>
                  <a:cubicBezTo>
                    <a:pt x="5684" y="17174"/>
                    <a:pt x="5809" y="17549"/>
                    <a:pt x="6103" y="17549"/>
                  </a:cubicBezTo>
                  <a:lnTo>
                    <a:pt x="13383" y="17549"/>
                  </a:lnTo>
                  <a:cubicBezTo>
                    <a:pt x="13677" y="17549"/>
                    <a:pt x="13802" y="17174"/>
                    <a:pt x="13570" y="16995"/>
                  </a:cubicBezTo>
                  <a:cubicBezTo>
                    <a:pt x="12999" y="16567"/>
                    <a:pt x="12624" y="16023"/>
                    <a:pt x="12383" y="15506"/>
                  </a:cubicBezTo>
                  <a:cubicBezTo>
                    <a:pt x="12303" y="15345"/>
                    <a:pt x="12241" y="15184"/>
                    <a:pt x="12187" y="15033"/>
                  </a:cubicBezTo>
                  <a:cubicBezTo>
                    <a:pt x="12178" y="14997"/>
                    <a:pt x="12160" y="14953"/>
                    <a:pt x="12151" y="14917"/>
                  </a:cubicBezTo>
                  <a:cubicBezTo>
                    <a:pt x="12143" y="14890"/>
                    <a:pt x="12134" y="14863"/>
                    <a:pt x="12125" y="14837"/>
                  </a:cubicBezTo>
                  <a:cubicBezTo>
                    <a:pt x="12116" y="14810"/>
                    <a:pt x="12116" y="14783"/>
                    <a:pt x="12107" y="14765"/>
                  </a:cubicBezTo>
                  <a:cubicBezTo>
                    <a:pt x="12098" y="14738"/>
                    <a:pt x="12089" y="14712"/>
                    <a:pt x="12080" y="14685"/>
                  </a:cubicBezTo>
                  <a:cubicBezTo>
                    <a:pt x="12080" y="14667"/>
                    <a:pt x="12071" y="14640"/>
                    <a:pt x="12062" y="14614"/>
                  </a:cubicBezTo>
                  <a:cubicBezTo>
                    <a:pt x="12062" y="14596"/>
                    <a:pt x="12053" y="14569"/>
                    <a:pt x="12044" y="14542"/>
                  </a:cubicBezTo>
                  <a:cubicBezTo>
                    <a:pt x="12044" y="14524"/>
                    <a:pt x="12035" y="14498"/>
                    <a:pt x="12035" y="14480"/>
                  </a:cubicBezTo>
                  <a:cubicBezTo>
                    <a:pt x="12027" y="14462"/>
                    <a:pt x="12027" y="14444"/>
                    <a:pt x="12018" y="14426"/>
                  </a:cubicBezTo>
                  <a:lnTo>
                    <a:pt x="18851" y="14426"/>
                  </a:lnTo>
                  <a:cubicBezTo>
                    <a:pt x="19208" y="14426"/>
                    <a:pt x="19493" y="14141"/>
                    <a:pt x="19493" y="13793"/>
                  </a:cubicBezTo>
                  <a:lnTo>
                    <a:pt x="19493" y="11732"/>
                  </a:lnTo>
                  <a:lnTo>
                    <a:pt x="19493" y="11125"/>
                  </a:lnTo>
                  <a:lnTo>
                    <a:pt x="19493" y="1437"/>
                  </a:lnTo>
                  <a:cubicBezTo>
                    <a:pt x="19493" y="643"/>
                    <a:pt x="18842" y="1"/>
                    <a:pt x="18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45">
              <a:extLst>
                <a:ext uri="{FF2B5EF4-FFF2-40B4-BE49-F238E27FC236}">
                  <a16:creationId xmlns:a16="http://schemas.microsoft.com/office/drawing/2014/main" id="{571AB863-F4FF-BD21-D8D6-67E5E9362689}"/>
                </a:ext>
              </a:extLst>
            </p:cNvPr>
            <p:cNvGrpSpPr/>
            <p:nvPr/>
          </p:nvGrpSpPr>
          <p:grpSpPr>
            <a:xfrm>
              <a:off x="487903" y="3060089"/>
              <a:ext cx="1055728" cy="953907"/>
              <a:chOff x="479650" y="2294000"/>
              <a:chExt cx="476175" cy="430250"/>
            </a:xfrm>
          </p:grpSpPr>
          <p:sp>
            <p:nvSpPr>
              <p:cNvPr id="400" name="Google Shape;400;p45">
                <a:extLst>
                  <a:ext uri="{FF2B5EF4-FFF2-40B4-BE49-F238E27FC236}">
                    <a16:creationId xmlns:a16="http://schemas.microsoft.com/office/drawing/2014/main" id="{97A256FD-68F3-34DC-66E4-AFE1FCB43CA3}"/>
                  </a:ext>
                </a:extLst>
              </p:cNvPr>
              <p:cNvSpPr/>
              <p:nvPr/>
            </p:nvSpPr>
            <p:spPr>
              <a:xfrm>
                <a:off x="479650" y="2294000"/>
                <a:ext cx="476175" cy="430250"/>
              </a:xfrm>
              <a:custGeom>
                <a:avLst/>
                <a:gdLst/>
                <a:ahLst/>
                <a:cxnLst/>
                <a:rect l="l" t="t" r="r" b="b"/>
                <a:pathLst>
                  <a:path w="19047" h="17210" extrusionOk="0">
                    <a:moveTo>
                      <a:pt x="11464" y="14247"/>
                    </a:moveTo>
                    <a:cubicBezTo>
                      <a:pt x="11660" y="14979"/>
                      <a:pt x="12080" y="15934"/>
                      <a:pt x="12990" y="16629"/>
                    </a:cubicBezTo>
                    <a:cubicBezTo>
                      <a:pt x="12990" y="16638"/>
                      <a:pt x="12990" y="16647"/>
                      <a:pt x="12990" y="16647"/>
                    </a:cubicBezTo>
                    <a:lnTo>
                      <a:pt x="6067" y="16647"/>
                    </a:lnTo>
                    <a:cubicBezTo>
                      <a:pt x="6067" y="16647"/>
                      <a:pt x="6058" y="16638"/>
                      <a:pt x="6067" y="16629"/>
                    </a:cubicBezTo>
                    <a:cubicBezTo>
                      <a:pt x="6977" y="15942"/>
                      <a:pt x="7396" y="14997"/>
                      <a:pt x="7592" y="14247"/>
                    </a:cubicBezTo>
                    <a:close/>
                    <a:moveTo>
                      <a:pt x="1651" y="1"/>
                    </a:moveTo>
                    <a:cubicBezTo>
                      <a:pt x="741" y="1"/>
                      <a:pt x="0" y="741"/>
                      <a:pt x="0" y="1651"/>
                    </a:cubicBezTo>
                    <a:lnTo>
                      <a:pt x="0" y="13364"/>
                    </a:lnTo>
                    <a:cubicBezTo>
                      <a:pt x="0" y="13855"/>
                      <a:pt x="402" y="14247"/>
                      <a:pt x="893" y="14247"/>
                    </a:cubicBezTo>
                    <a:lnTo>
                      <a:pt x="7012" y="14247"/>
                    </a:lnTo>
                    <a:cubicBezTo>
                      <a:pt x="6825" y="14881"/>
                      <a:pt x="6459" y="15630"/>
                      <a:pt x="5728" y="16183"/>
                    </a:cubicBezTo>
                    <a:cubicBezTo>
                      <a:pt x="5532" y="16335"/>
                      <a:pt x="5460" y="16585"/>
                      <a:pt x="5532" y="16817"/>
                    </a:cubicBezTo>
                    <a:cubicBezTo>
                      <a:pt x="5612" y="17058"/>
                      <a:pt x="5826" y="17209"/>
                      <a:pt x="6076" y="17209"/>
                    </a:cubicBezTo>
                    <a:lnTo>
                      <a:pt x="12981" y="17209"/>
                    </a:lnTo>
                    <a:cubicBezTo>
                      <a:pt x="13230" y="17209"/>
                      <a:pt x="13436" y="17058"/>
                      <a:pt x="13516" y="16817"/>
                    </a:cubicBezTo>
                    <a:cubicBezTo>
                      <a:pt x="13596" y="16585"/>
                      <a:pt x="13525" y="16335"/>
                      <a:pt x="13320" y="16183"/>
                    </a:cubicBezTo>
                    <a:cubicBezTo>
                      <a:pt x="12597" y="15630"/>
                      <a:pt x="12231" y="14872"/>
                      <a:pt x="12044" y="14247"/>
                    </a:cubicBezTo>
                    <a:lnTo>
                      <a:pt x="14328" y="14247"/>
                    </a:lnTo>
                    <a:cubicBezTo>
                      <a:pt x="14479" y="14247"/>
                      <a:pt x="14604" y="14123"/>
                      <a:pt x="14604" y="13971"/>
                    </a:cubicBezTo>
                    <a:cubicBezTo>
                      <a:pt x="14604" y="13819"/>
                      <a:pt x="14479" y="13694"/>
                      <a:pt x="14328" y="13694"/>
                    </a:cubicBezTo>
                    <a:lnTo>
                      <a:pt x="893" y="13694"/>
                    </a:lnTo>
                    <a:cubicBezTo>
                      <a:pt x="705" y="13694"/>
                      <a:pt x="563" y="13543"/>
                      <a:pt x="563" y="13364"/>
                    </a:cubicBezTo>
                    <a:lnTo>
                      <a:pt x="563" y="11687"/>
                    </a:lnTo>
                    <a:lnTo>
                      <a:pt x="18494" y="11687"/>
                    </a:lnTo>
                    <a:lnTo>
                      <a:pt x="18494" y="13364"/>
                    </a:lnTo>
                    <a:cubicBezTo>
                      <a:pt x="18494" y="13543"/>
                      <a:pt x="18342" y="13694"/>
                      <a:pt x="18164" y="13694"/>
                    </a:cubicBezTo>
                    <a:lnTo>
                      <a:pt x="15470" y="13694"/>
                    </a:lnTo>
                    <a:cubicBezTo>
                      <a:pt x="15309" y="13694"/>
                      <a:pt x="15184" y="13819"/>
                      <a:pt x="15184" y="13971"/>
                    </a:cubicBezTo>
                    <a:cubicBezTo>
                      <a:pt x="15184" y="14123"/>
                      <a:pt x="15309" y="14247"/>
                      <a:pt x="15470" y="14247"/>
                    </a:cubicBezTo>
                    <a:lnTo>
                      <a:pt x="18164" y="14247"/>
                    </a:lnTo>
                    <a:cubicBezTo>
                      <a:pt x="18654" y="14247"/>
                      <a:pt x="19047" y="13855"/>
                      <a:pt x="19047" y="13364"/>
                    </a:cubicBezTo>
                    <a:lnTo>
                      <a:pt x="19047" y="5665"/>
                    </a:lnTo>
                    <a:cubicBezTo>
                      <a:pt x="19047" y="5505"/>
                      <a:pt x="18922" y="5380"/>
                      <a:pt x="18770" y="5380"/>
                    </a:cubicBezTo>
                    <a:cubicBezTo>
                      <a:pt x="18619" y="5380"/>
                      <a:pt x="18494" y="5505"/>
                      <a:pt x="18494" y="5665"/>
                    </a:cubicBezTo>
                    <a:lnTo>
                      <a:pt x="18494" y="11125"/>
                    </a:lnTo>
                    <a:lnTo>
                      <a:pt x="563" y="11125"/>
                    </a:lnTo>
                    <a:lnTo>
                      <a:pt x="563" y="1651"/>
                    </a:lnTo>
                    <a:cubicBezTo>
                      <a:pt x="563" y="1044"/>
                      <a:pt x="1053" y="563"/>
                      <a:pt x="1651" y="563"/>
                    </a:cubicBezTo>
                    <a:lnTo>
                      <a:pt x="17405" y="563"/>
                    </a:lnTo>
                    <a:cubicBezTo>
                      <a:pt x="18003" y="563"/>
                      <a:pt x="18494" y="1044"/>
                      <a:pt x="18494" y="1651"/>
                    </a:cubicBezTo>
                    <a:lnTo>
                      <a:pt x="18494" y="4524"/>
                    </a:lnTo>
                    <a:cubicBezTo>
                      <a:pt x="18494" y="4675"/>
                      <a:pt x="18619" y="4800"/>
                      <a:pt x="18770" y="4800"/>
                    </a:cubicBezTo>
                    <a:cubicBezTo>
                      <a:pt x="18922" y="4800"/>
                      <a:pt x="19047" y="4675"/>
                      <a:pt x="19047" y="4524"/>
                    </a:cubicBezTo>
                    <a:lnTo>
                      <a:pt x="19047" y="1651"/>
                    </a:lnTo>
                    <a:cubicBezTo>
                      <a:pt x="19047" y="741"/>
                      <a:pt x="18315" y="1"/>
                      <a:pt x="174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5">
                <a:extLst>
                  <a:ext uri="{FF2B5EF4-FFF2-40B4-BE49-F238E27FC236}">
                    <a16:creationId xmlns:a16="http://schemas.microsoft.com/office/drawing/2014/main" id="{59BE7DE3-5860-137F-B71A-940A35588B57}"/>
                  </a:ext>
                </a:extLst>
              </p:cNvPr>
              <p:cNvSpPr/>
              <p:nvPr/>
            </p:nvSpPr>
            <p:spPr>
              <a:xfrm>
                <a:off x="700450" y="2593750"/>
                <a:ext cx="34825" cy="34825"/>
              </a:xfrm>
              <a:custGeom>
                <a:avLst/>
                <a:gdLst/>
                <a:ahLst/>
                <a:cxnLst/>
                <a:rect l="l" t="t" r="r" b="b"/>
                <a:pathLst>
                  <a:path w="1393" h="1393" extrusionOk="0">
                    <a:moveTo>
                      <a:pt x="696" y="562"/>
                    </a:moveTo>
                    <a:cubicBezTo>
                      <a:pt x="768" y="562"/>
                      <a:pt x="830" y="625"/>
                      <a:pt x="830" y="696"/>
                    </a:cubicBezTo>
                    <a:cubicBezTo>
                      <a:pt x="830" y="777"/>
                      <a:pt x="768" y="839"/>
                      <a:pt x="696" y="839"/>
                    </a:cubicBezTo>
                    <a:cubicBezTo>
                      <a:pt x="616" y="839"/>
                      <a:pt x="562" y="777"/>
                      <a:pt x="562" y="696"/>
                    </a:cubicBezTo>
                    <a:cubicBezTo>
                      <a:pt x="562" y="625"/>
                      <a:pt x="616" y="562"/>
                      <a:pt x="696" y="562"/>
                    </a:cubicBezTo>
                    <a:close/>
                    <a:moveTo>
                      <a:pt x="696" y="0"/>
                    </a:moveTo>
                    <a:cubicBezTo>
                      <a:pt x="313" y="0"/>
                      <a:pt x="0" y="313"/>
                      <a:pt x="0" y="696"/>
                    </a:cubicBezTo>
                    <a:cubicBezTo>
                      <a:pt x="0" y="1080"/>
                      <a:pt x="313" y="1392"/>
                      <a:pt x="696" y="1392"/>
                    </a:cubicBezTo>
                    <a:cubicBezTo>
                      <a:pt x="1080" y="1392"/>
                      <a:pt x="1392" y="1080"/>
                      <a:pt x="1392" y="696"/>
                    </a:cubicBezTo>
                    <a:cubicBezTo>
                      <a:pt x="1392" y="313"/>
                      <a:pt x="1080" y="0"/>
                      <a:pt x="6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5">
                <a:extLst>
                  <a:ext uri="{FF2B5EF4-FFF2-40B4-BE49-F238E27FC236}">
                    <a16:creationId xmlns:a16="http://schemas.microsoft.com/office/drawing/2014/main" id="{E1EC92B1-3529-5D70-0CA1-F336F5570767}"/>
                  </a:ext>
                </a:extLst>
              </p:cNvPr>
              <p:cNvSpPr/>
              <p:nvPr/>
            </p:nvSpPr>
            <p:spPr>
              <a:xfrm>
                <a:off x="628850" y="2366275"/>
                <a:ext cx="178000" cy="144750"/>
              </a:xfrm>
              <a:custGeom>
                <a:avLst/>
                <a:gdLst/>
                <a:ahLst/>
                <a:cxnLst/>
                <a:rect l="l" t="t" r="r" b="b"/>
                <a:pathLst>
                  <a:path w="7120" h="5790" extrusionOk="0">
                    <a:moveTo>
                      <a:pt x="607" y="0"/>
                    </a:moveTo>
                    <a:cubicBezTo>
                      <a:pt x="268" y="0"/>
                      <a:pt x="1" y="268"/>
                      <a:pt x="1" y="607"/>
                    </a:cubicBezTo>
                    <a:lnTo>
                      <a:pt x="1" y="5174"/>
                    </a:lnTo>
                    <a:cubicBezTo>
                      <a:pt x="1" y="5513"/>
                      <a:pt x="268" y="5790"/>
                      <a:pt x="607" y="5790"/>
                    </a:cubicBezTo>
                    <a:lnTo>
                      <a:pt x="1785" y="5790"/>
                    </a:lnTo>
                    <a:cubicBezTo>
                      <a:pt x="1945" y="5790"/>
                      <a:pt x="2061" y="5665"/>
                      <a:pt x="2061" y="5504"/>
                    </a:cubicBezTo>
                    <a:cubicBezTo>
                      <a:pt x="2061" y="5353"/>
                      <a:pt x="1945" y="5228"/>
                      <a:pt x="1785" y="5228"/>
                    </a:cubicBezTo>
                    <a:lnTo>
                      <a:pt x="607" y="5228"/>
                    </a:lnTo>
                    <a:cubicBezTo>
                      <a:pt x="581" y="5228"/>
                      <a:pt x="554" y="5201"/>
                      <a:pt x="554" y="5174"/>
                    </a:cubicBezTo>
                    <a:lnTo>
                      <a:pt x="554" y="607"/>
                    </a:lnTo>
                    <a:cubicBezTo>
                      <a:pt x="554" y="580"/>
                      <a:pt x="581" y="553"/>
                      <a:pt x="607" y="553"/>
                    </a:cubicBezTo>
                    <a:lnTo>
                      <a:pt x="6513" y="553"/>
                    </a:lnTo>
                    <a:cubicBezTo>
                      <a:pt x="6540" y="553"/>
                      <a:pt x="6567" y="580"/>
                      <a:pt x="6567" y="607"/>
                    </a:cubicBezTo>
                    <a:lnTo>
                      <a:pt x="6567" y="5174"/>
                    </a:lnTo>
                    <a:cubicBezTo>
                      <a:pt x="6567" y="5201"/>
                      <a:pt x="6540" y="5228"/>
                      <a:pt x="6513" y="5228"/>
                    </a:cubicBezTo>
                    <a:lnTo>
                      <a:pt x="2927" y="5228"/>
                    </a:lnTo>
                    <a:cubicBezTo>
                      <a:pt x="2775" y="5228"/>
                      <a:pt x="2650" y="5353"/>
                      <a:pt x="2650" y="5504"/>
                    </a:cubicBezTo>
                    <a:cubicBezTo>
                      <a:pt x="2650" y="5665"/>
                      <a:pt x="2775" y="5790"/>
                      <a:pt x="2927" y="5790"/>
                    </a:cubicBezTo>
                    <a:lnTo>
                      <a:pt x="6513" y="5790"/>
                    </a:lnTo>
                    <a:cubicBezTo>
                      <a:pt x="6843" y="5790"/>
                      <a:pt x="7120" y="5513"/>
                      <a:pt x="7120" y="5174"/>
                    </a:cubicBezTo>
                    <a:lnTo>
                      <a:pt x="7120" y="607"/>
                    </a:lnTo>
                    <a:cubicBezTo>
                      <a:pt x="7120" y="268"/>
                      <a:pt x="6843" y="0"/>
                      <a:pt x="65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5">
                <a:extLst>
                  <a:ext uri="{FF2B5EF4-FFF2-40B4-BE49-F238E27FC236}">
                    <a16:creationId xmlns:a16="http://schemas.microsoft.com/office/drawing/2014/main" id="{088B406B-B1F3-3DE6-0296-A0D783211BF4}"/>
                  </a:ext>
                </a:extLst>
              </p:cNvPr>
              <p:cNvSpPr/>
              <p:nvPr/>
            </p:nvSpPr>
            <p:spPr>
              <a:xfrm>
                <a:off x="703575" y="2397050"/>
                <a:ext cx="72725" cy="71600"/>
              </a:xfrm>
              <a:custGeom>
                <a:avLst/>
                <a:gdLst/>
                <a:ahLst/>
                <a:cxnLst/>
                <a:rect l="l" t="t" r="r" b="b"/>
                <a:pathLst>
                  <a:path w="2909" h="2864" extrusionOk="0">
                    <a:moveTo>
                      <a:pt x="428" y="0"/>
                    </a:moveTo>
                    <a:cubicBezTo>
                      <a:pt x="268" y="0"/>
                      <a:pt x="143" y="125"/>
                      <a:pt x="143" y="277"/>
                    </a:cubicBezTo>
                    <a:cubicBezTo>
                      <a:pt x="143" y="437"/>
                      <a:pt x="268" y="562"/>
                      <a:pt x="428" y="562"/>
                    </a:cubicBezTo>
                    <a:lnTo>
                      <a:pt x="1936" y="562"/>
                    </a:lnTo>
                    <a:lnTo>
                      <a:pt x="107" y="2382"/>
                    </a:lnTo>
                    <a:cubicBezTo>
                      <a:pt x="0" y="2489"/>
                      <a:pt x="0" y="2667"/>
                      <a:pt x="107" y="2775"/>
                    </a:cubicBezTo>
                    <a:cubicBezTo>
                      <a:pt x="161" y="2837"/>
                      <a:pt x="232" y="2864"/>
                      <a:pt x="304" y="2864"/>
                    </a:cubicBezTo>
                    <a:cubicBezTo>
                      <a:pt x="375" y="2864"/>
                      <a:pt x="446" y="2837"/>
                      <a:pt x="500" y="2775"/>
                    </a:cubicBezTo>
                    <a:lnTo>
                      <a:pt x="2346" y="937"/>
                    </a:lnTo>
                    <a:lnTo>
                      <a:pt x="2346" y="2489"/>
                    </a:lnTo>
                    <a:cubicBezTo>
                      <a:pt x="2346" y="2641"/>
                      <a:pt x="2471" y="2766"/>
                      <a:pt x="2632" y="2766"/>
                    </a:cubicBezTo>
                    <a:cubicBezTo>
                      <a:pt x="2784" y="2766"/>
                      <a:pt x="2908" y="2641"/>
                      <a:pt x="2908" y="2489"/>
                    </a:cubicBezTo>
                    <a:lnTo>
                      <a:pt x="2908" y="277"/>
                    </a:lnTo>
                    <a:cubicBezTo>
                      <a:pt x="2908" y="125"/>
                      <a:pt x="2784" y="0"/>
                      <a:pt x="2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a:extLst>
                  <a:ext uri="{FF2B5EF4-FFF2-40B4-BE49-F238E27FC236}">
                    <a16:creationId xmlns:a16="http://schemas.microsoft.com/office/drawing/2014/main" id="{85F0DF5B-A54A-274E-3253-C4590177BC96}"/>
                  </a:ext>
                </a:extLst>
              </p:cNvPr>
              <p:cNvSpPr/>
              <p:nvPr/>
            </p:nvSpPr>
            <p:spPr>
              <a:xfrm>
                <a:off x="778500" y="2485575"/>
                <a:ext cx="68500" cy="62700"/>
              </a:xfrm>
              <a:custGeom>
                <a:avLst/>
                <a:gdLst/>
                <a:ahLst/>
                <a:cxnLst/>
                <a:rect l="l" t="t" r="r" b="b"/>
                <a:pathLst>
                  <a:path w="2740" h="2508" extrusionOk="0">
                    <a:moveTo>
                      <a:pt x="2463" y="1"/>
                    </a:moveTo>
                    <a:cubicBezTo>
                      <a:pt x="2311" y="1"/>
                      <a:pt x="2186" y="126"/>
                      <a:pt x="2186" y="277"/>
                    </a:cubicBezTo>
                    <a:lnTo>
                      <a:pt x="2186" y="1946"/>
                    </a:lnTo>
                    <a:lnTo>
                      <a:pt x="286" y="1946"/>
                    </a:lnTo>
                    <a:cubicBezTo>
                      <a:pt x="126" y="1946"/>
                      <a:pt x="1" y="2070"/>
                      <a:pt x="1" y="2231"/>
                    </a:cubicBezTo>
                    <a:cubicBezTo>
                      <a:pt x="1" y="2383"/>
                      <a:pt x="126" y="2508"/>
                      <a:pt x="286" y="2508"/>
                    </a:cubicBezTo>
                    <a:lnTo>
                      <a:pt x="2463" y="2508"/>
                    </a:lnTo>
                    <a:cubicBezTo>
                      <a:pt x="2615" y="2508"/>
                      <a:pt x="2739" y="2383"/>
                      <a:pt x="2739" y="2231"/>
                    </a:cubicBezTo>
                    <a:lnTo>
                      <a:pt x="2739" y="277"/>
                    </a:lnTo>
                    <a:cubicBezTo>
                      <a:pt x="2739" y="126"/>
                      <a:pt x="2615" y="1"/>
                      <a:pt x="24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5">
                <a:extLst>
                  <a:ext uri="{FF2B5EF4-FFF2-40B4-BE49-F238E27FC236}">
                    <a16:creationId xmlns:a16="http://schemas.microsoft.com/office/drawing/2014/main" id="{BFC2243E-E0C2-EC5A-8BAE-5F1C0AB98531}"/>
                  </a:ext>
                </a:extLst>
              </p:cNvPr>
              <p:cNvSpPr/>
              <p:nvPr/>
            </p:nvSpPr>
            <p:spPr>
              <a:xfrm>
                <a:off x="588475" y="2328125"/>
                <a:ext cx="68500" cy="62700"/>
              </a:xfrm>
              <a:custGeom>
                <a:avLst/>
                <a:gdLst/>
                <a:ahLst/>
                <a:cxnLst/>
                <a:rect l="l" t="t" r="r" b="b"/>
                <a:pathLst>
                  <a:path w="2740" h="2508" extrusionOk="0">
                    <a:moveTo>
                      <a:pt x="286" y="1"/>
                    </a:moveTo>
                    <a:cubicBezTo>
                      <a:pt x="126" y="1"/>
                      <a:pt x="1" y="125"/>
                      <a:pt x="1" y="277"/>
                    </a:cubicBezTo>
                    <a:lnTo>
                      <a:pt x="1" y="2231"/>
                    </a:lnTo>
                    <a:cubicBezTo>
                      <a:pt x="1" y="2382"/>
                      <a:pt x="126" y="2507"/>
                      <a:pt x="286" y="2507"/>
                    </a:cubicBezTo>
                    <a:cubicBezTo>
                      <a:pt x="438" y="2507"/>
                      <a:pt x="563" y="2382"/>
                      <a:pt x="563" y="2231"/>
                    </a:cubicBezTo>
                    <a:lnTo>
                      <a:pt x="563" y="554"/>
                    </a:lnTo>
                    <a:lnTo>
                      <a:pt x="2463" y="554"/>
                    </a:lnTo>
                    <a:cubicBezTo>
                      <a:pt x="2615" y="554"/>
                      <a:pt x="2740" y="429"/>
                      <a:pt x="2740" y="277"/>
                    </a:cubicBezTo>
                    <a:cubicBezTo>
                      <a:pt x="2740" y="125"/>
                      <a:pt x="2615" y="1"/>
                      <a:pt x="24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5">
                <a:extLst>
                  <a:ext uri="{FF2B5EF4-FFF2-40B4-BE49-F238E27FC236}">
                    <a16:creationId xmlns:a16="http://schemas.microsoft.com/office/drawing/2014/main" id="{E901BC2D-4D2E-E505-23D8-5A009F63A42A}"/>
                  </a:ext>
                </a:extLst>
              </p:cNvPr>
              <p:cNvSpPr/>
              <p:nvPr/>
            </p:nvSpPr>
            <p:spPr>
              <a:xfrm>
                <a:off x="834475" y="2370950"/>
                <a:ext cx="13850" cy="15400"/>
              </a:xfrm>
              <a:custGeom>
                <a:avLst/>
                <a:gdLst/>
                <a:ahLst/>
                <a:cxnLst/>
                <a:rect l="l" t="t" r="r" b="b"/>
                <a:pathLst>
                  <a:path w="554" h="616" extrusionOk="0">
                    <a:moveTo>
                      <a:pt x="277" y="0"/>
                    </a:moveTo>
                    <a:cubicBezTo>
                      <a:pt x="126" y="0"/>
                      <a:pt x="1" y="125"/>
                      <a:pt x="1" y="286"/>
                    </a:cubicBezTo>
                    <a:lnTo>
                      <a:pt x="1" y="339"/>
                    </a:lnTo>
                    <a:cubicBezTo>
                      <a:pt x="1" y="491"/>
                      <a:pt x="126" y="616"/>
                      <a:pt x="277" y="616"/>
                    </a:cubicBezTo>
                    <a:cubicBezTo>
                      <a:pt x="429" y="616"/>
                      <a:pt x="554" y="491"/>
                      <a:pt x="554" y="339"/>
                    </a:cubicBezTo>
                    <a:lnTo>
                      <a:pt x="554" y="286"/>
                    </a:lnTo>
                    <a:cubicBezTo>
                      <a:pt x="554" y="125"/>
                      <a:pt x="429" y="0"/>
                      <a:pt x="2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5">
                <a:extLst>
                  <a:ext uri="{FF2B5EF4-FFF2-40B4-BE49-F238E27FC236}">
                    <a16:creationId xmlns:a16="http://schemas.microsoft.com/office/drawing/2014/main" id="{0CA49282-2511-B5C3-706B-4B6E0B22D00A}"/>
                  </a:ext>
                </a:extLst>
              </p:cNvPr>
              <p:cNvSpPr/>
              <p:nvPr/>
            </p:nvSpPr>
            <p:spPr>
              <a:xfrm>
                <a:off x="856350" y="2370950"/>
                <a:ext cx="14075" cy="15400"/>
              </a:xfrm>
              <a:custGeom>
                <a:avLst/>
                <a:gdLst/>
                <a:ahLst/>
                <a:cxnLst/>
                <a:rect l="l" t="t" r="r" b="b"/>
                <a:pathLst>
                  <a:path w="563" h="616" extrusionOk="0">
                    <a:moveTo>
                      <a:pt x="286" y="0"/>
                    </a:moveTo>
                    <a:cubicBezTo>
                      <a:pt x="125" y="0"/>
                      <a:pt x="0" y="125"/>
                      <a:pt x="0" y="286"/>
                    </a:cubicBezTo>
                    <a:lnTo>
                      <a:pt x="0" y="339"/>
                    </a:lnTo>
                    <a:cubicBezTo>
                      <a:pt x="0" y="491"/>
                      <a:pt x="125" y="616"/>
                      <a:pt x="286" y="616"/>
                    </a:cubicBezTo>
                    <a:cubicBezTo>
                      <a:pt x="437" y="616"/>
                      <a:pt x="562" y="491"/>
                      <a:pt x="562" y="339"/>
                    </a:cubicBezTo>
                    <a:lnTo>
                      <a:pt x="562" y="286"/>
                    </a:lnTo>
                    <a:cubicBezTo>
                      <a:pt x="562" y="125"/>
                      <a:pt x="437" y="0"/>
                      <a:pt x="2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5">
                <a:extLst>
                  <a:ext uri="{FF2B5EF4-FFF2-40B4-BE49-F238E27FC236}">
                    <a16:creationId xmlns:a16="http://schemas.microsoft.com/office/drawing/2014/main" id="{2AC9CAA7-59FF-DC7A-E65D-F928E6A5508D}"/>
                  </a:ext>
                </a:extLst>
              </p:cNvPr>
              <p:cNvSpPr/>
              <p:nvPr/>
            </p:nvSpPr>
            <p:spPr>
              <a:xfrm>
                <a:off x="828900" y="2398150"/>
                <a:ext cx="47100" cy="14075"/>
              </a:xfrm>
              <a:custGeom>
                <a:avLst/>
                <a:gdLst/>
                <a:ahLst/>
                <a:cxnLst/>
                <a:rect l="l" t="t" r="r" b="b"/>
                <a:pathLst>
                  <a:path w="1884" h="563" extrusionOk="0">
                    <a:moveTo>
                      <a:pt x="277" y="1"/>
                    </a:moveTo>
                    <a:cubicBezTo>
                      <a:pt x="126" y="1"/>
                      <a:pt x="1" y="126"/>
                      <a:pt x="1" y="277"/>
                    </a:cubicBezTo>
                    <a:cubicBezTo>
                      <a:pt x="1" y="438"/>
                      <a:pt x="126" y="563"/>
                      <a:pt x="277" y="563"/>
                    </a:cubicBezTo>
                    <a:lnTo>
                      <a:pt x="1598" y="563"/>
                    </a:lnTo>
                    <a:cubicBezTo>
                      <a:pt x="1758" y="563"/>
                      <a:pt x="1883" y="438"/>
                      <a:pt x="1883" y="277"/>
                    </a:cubicBezTo>
                    <a:cubicBezTo>
                      <a:pt x="1883" y="126"/>
                      <a:pt x="1758" y="1"/>
                      <a:pt x="15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5">
                <a:extLst>
                  <a:ext uri="{FF2B5EF4-FFF2-40B4-BE49-F238E27FC236}">
                    <a16:creationId xmlns:a16="http://schemas.microsoft.com/office/drawing/2014/main" id="{3814042E-28A6-0DEA-BDFE-62C2ACD80CAC}"/>
                  </a:ext>
                </a:extLst>
              </p:cNvPr>
              <p:cNvSpPr/>
              <p:nvPr/>
            </p:nvSpPr>
            <p:spPr>
              <a:xfrm>
                <a:off x="828900" y="2419125"/>
                <a:ext cx="47100" cy="13850"/>
              </a:xfrm>
              <a:custGeom>
                <a:avLst/>
                <a:gdLst/>
                <a:ahLst/>
                <a:cxnLst/>
                <a:rect l="l" t="t" r="r" b="b"/>
                <a:pathLst>
                  <a:path w="1884" h="554" extrusionOk="0">
                    <a:moveTo>
                      <a:pt x="277" y="0"/>
                    </a:moveTo>
                    <a:cubicBezTo>
                      <a:pt x="126" y="0"/>
                      <a:pt x="1" y="125"/>
                      <a:pt x="1" y="277"/>
                    </a:cubicBezTo>
                    <a:cubicBezTo>
                      <a:pt x="1" y="428"/>
                      <a:pt x="126" y="553"/>
                      <a:pt x="277" y="553"/>
                    </a:cubicBezTo>
                    <a:lnTo>
                      <a:pt x="1598" y="553"/>
                    </a:lnTo>
                    <a:cubicBezTo>
                      <a:pt x="1758" y="553"/>
                      <a:pt x="1883" y="428"/>
                      <a:pt x="1883" y="277"/>
                    </a:cubicBezTo>
                    <a:cubicBezTo>
                      <a:pt x="1883" y="125"/>
                      <a:pt x="1758" y="0"/>
                      <a:pt x="159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5">
                <a:extLst>
                  <a:ext uri="{FF2B5EF4-FFF2-40B4-BE49-F238E27FC236}">
                    <a16:creationId xmlns:a16="http://schemas.microsoft.com/office/drawing/2014/main" id="{237978BB-2B76-B0E9-F74E-DFC86F797019}"/>
                  </a:ext>
                </a:extLst>
              </p:cNvPr>
              <p:cNvSpPr/>
              <p:nvPr/>
            </p:nvSpPr>
            <p:spPr>
              <a:xfrm>
                <a:off x="828900" y="2439850"/>
                <a:ext cx="47100" cy="13875"/>
              </a:xfrm>
              <a:custGeom>
                <a:avLst/>
                <a:gdLst/>
                <a:ahLst/>
                <a:cxnLst/>
                <a:rect l="l" t="t" r="r" b="b"/>
                <a:pathLst>
                  <a:path w="1884" h="555" extrusionOk="0">
                    <a:moveTo>
                      <a:pt x="277" y="1"/>
                    </a:moveTo>
                    <a:cubicBezTo>
                      <a:pt x="126" y="1"/>
                      <a:pt x="1" y="126"/>
                      <a:pt x="1" y="277"/>
                    </a:cubicBezTo>
                    <a:cubicBezTo>
                      <a:pt x="1" y="429"/>
                      <a:pt x="126" y="554"/>
                      <a:pt x="277" y="554"/>
                    </a:cubicBezTo>
                    <a:lnTo>
                      <a:pt x="1598" y="554"/>
                    </a:lnTo>
                    <a:cubicBezTo>
                      <a:pt x="1758" y="554"/>
                      <a:pt x="1883" y="429"/>
                      <a:pt x="1883" y="277"/>
                    </a:cubicBezTo>
                    <a:cubicBezTo>
                      <a:pt x="1883" y="126"/>
                      <a:pt x="1758" y="1"/>
                      <a:pt x="15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5">
                <a:extLst>
                  <a:ext uri="{FF2B5EF4-FFF2-40B4-BE49-F238E27FC236}">
                    <a16:creationId xmlns:a16="http://schemas.microsoft.com/office/drawing/2014/main" id="{6A4AAE8E-83B1-8ADD-26F8-E2DFD5F3DDD2}"/>
                  </a:ext>
                </a:extLst>
              </p:cNvPr>
              <p:cNvSpPr/>
              <p:nvPr/>
            </p:nvSpPr>
            <p:spPr>
              <a:xfrm>
                <a:off x="565300" y="2426925"/>
                <a:ext cx="14075" cy="15425"/>
              </a:xfrm>
              <a:custGeom>
                <a:avLst/>
                <a:gdLst/>
                <a:ahLst/>
                <a:cxnLst/>
                <a:rect l="l" t="t" r="r" b="b"/>
                <a:pathLst>
                  <a:path w="563" h="617" extrusionOk="0">
                    <a:moveTo>
                      <a:pt x="277" y="1"/>
                    </a:moveTo>
                    <a:cubicBezTo>
                      <a:pt x="125" y="1"/>
                      <a:pt x="0" y="125"/>
                      <a:pt x="0" y="277"/>
                    </a:cubicBezTo>
                    <a:lnTo>
                      <a:pt x="0" y="331"/>
                    </a:lnTo>
                    <a:cubicBezTo>
                      <a:pt x="0" y="491"/>
                      <a:pt x="125" y="616"/>
                      <a:pt x="277" y="616"/>
                    </a:cubicBezTo>
                    <a:cubicBezTo>
                      <a:pt x="437" y="616"/>
                      <a:pt x="562" y="491"/>
                      <a:pt x="562" y="331"/>
                    </a:cubicBezTo>
                    <a:lnTo>
                      <a:pt x="562" y="277"/>
                    </a:lnTo>
                    <a:cubicBezTo>
                      <a:pt x="562" y="125"/>
                      <a:pt x="437"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5">
                <a:extLst>
                  <a:ext uri="{FF2B5EF4-FFF2-40B4-BE49-F238E27FC236}">
                    <a16:creationId xmlns:a16="http://schemas.microsoft.com/office/drawing/2014/main" id="{76FC6EED-024C-89E5-3821-2132DDD3488A}"/>
                  </a:ext>
                </a:extLst>
              </p:cNvPr>
              <p:cNvSpPr/>
              <p:nvPr/>
            </p:nvSpPr>
            <p:spPr>
              <a:xfrm>
                <a:off x="587375" y="2426925"/>
                <a:ext cx="13850" cy="15425"/>
              </a:xfrm>
              <a:custGeom>
                <a:avLst/>
                <a:gdLst/>
                <a:ahLst/>
                <a:cxnLst/>
                <a:rect l="l" t="t" r="r" b="b"/>
                <a:pathLst>
                  <a:path w="554" h="617" extrusionOk="0">
                    <a:moveTo>
                      <a:pt x="277" y="1"/>
                    </a:moveTo>
                    <a:cubicBezTo>
                      <a:pt x="125" y="1"/>
                      <a:pt x="0" y="125"/>
                      <a:pt x="0" y="277"/>
                    </a:cubicBezTo>
                    <a:lnTo>
                      <a:pt x="0" y="331"/>
                    </a:lnTo>
                    <a:cubicBezTo>
                      <a:pt x="0" y="491"/>
                      <a:pt x="125" y="616"/>
                      <a:pt x="277" y="616"/>
                    </a:cubicBezTo>
                    <a:cubicBezTo>
                      <a:pt x="429" y="616"/>
                      <a:pt x="553" y="491"/>
                      <a:pt x="553" y="331"/>
                    </a:cubicBezTo>
                    <a:lnTo>
                      <a:pt x="553" y="277"/>
                    </a:lnTo>
                    <a:cubicBezTo>
                      <a:pt x="553" y="125"/>
                      <a:pt x="429"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5">
                <a:extLst>
                  <a:ext uri="{FF2B5EF4-FFF2-40B4-BE49-F238E27FC236}">
                    <a16:creationId xmlns:a16="http://schemas.microsoft.com/office/drawing/2014/main" id="{AA81D78B-FDDF-B067-893B-199641EFBF47}"/>
                  </a:ext>
                </a:extLst>
              </p:cNvPr>
              <p:cNvSpPr/>
              <p:nvPr/>
            </p:nvSpPr>
            <p:spPr>
              <a:xfrm>
                <a:off x="559725" y="2454125"/>
                <a:ext cx="47075" cy="13850"/>
              </a:xfrm>
              <a:custGeom>
                <a:avLst/>
                <a:gdLst/>
                <a:ahLst/>
                <a:cxnLst/>
                <a:rect l="l" t="t" r="r" b="b"/>
                <a:pathLst>
                  <a:path w="1883" h="554" extrusionOk="0">
                    <a:moveTo>
                      <a:pt x="277" y="1"/>
                    </a:moveTo>
                    <a:cubicBezTo>
                      <a:pt x="125" y="1"/>
                      <a:pt x="0" y="126"/>
                      <a:pt x="0" y="277"/>
                    </a:cubicBezTo>
                    <a:cubicBezTo>
                      <a:pt x="0" y="429"/>
                      <a:pt x="125" y="554"/>
                      <a:pt x="277" y="554"/>
                    </a:cubicBezTo>
                    <a:lnTo>
                      <a:pt x="1606" y="554"/>
                    </a:lnTo>
                    <a:cubicBezTo>
                      <a:pt x="1758" y="554"/>
                      <a:pt x="1882" y="429"/>
                      <a:pt x="1882" y="277"/>
                    </a:cubicBezTo>
                    <a:cubicBezTo>
                      <a:pt x="1882" y="126"/>
                      <a:pt x="1758" y="1"/>
                      <a:pt x="16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5">
                <a:extLst>
                  <a:ext uri="{FF2B5EF4-FFF2-40B4-BE49-F238E27FC236}">
                    <a16:creationId xmlns:a16="http://schemas.microsoft.com/office/drawing/2014/main" id="{7F84AB5C-40A8-A40E-A83B-4D99C6FD3C58}"/>
                  </a:ext>
                </a:extLst>
              </p:cNvPr>
              <p:cNvSpPr/>
              <p:nvPr/>
            </p:nvSpPr>
            <p:spPr>
              <a:xfrm>
                <a:off x="559725" y="2474875"/>
                <a:ext cx="47075" cy="14075"/>
              </a:xfrm>
              <a:custGeom>
                <a:avLst/>
                <a:gdLst/>
                <a:ahLst/>
                <a:cxnLst/>
                <a:rect l="l" t="t" r="r" b="b"/>
                <a:pathLst>
                  <a:path w="1883" h="563" extrusionOk="0">
                    <a:moveTo>
                      <a:pt x="277" y="1"/>
                    </a:moveTo>
                    <a:cubicBezTo>
                      <a:pt x="125" y="1"/>
                      <a:pt x="0" y="125"/>
                      <a:pt x="0" y="277"/>
                    </a:cubicBezTo>
                    <a:cubicBezTo>
                      <a:pt x="0" y="438"/>
                      <a:pt x="125" y="563"/>
                      <a:pt x="277" y="563"/>
                    </a:cubicBezTo>
                    <a:lnTo>
                      <a:pt x="1606" y="563"/>
                    </a:lnTo>
                    <a:cubicBezTo>
                      <a:pt x="1758" y="563"/>
                      <a:pt x="1882" y="438"/>
                      <a:pt x="1882" y="277"/>
                    </a:cubicBezTo>
                    <a:cubicBezTo>
                      <a:pt x="1882" y="125"/>
                      <a:pt x="1758" y="1"/>
                      <a:pt x="16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5">
                <a:extLst>
                  <a:ext uri="{FF2B5EF4-FFF2-40B4-BE49-F238E27FC236}">
                    <a16:creationId xmlns:a16="http://schemas.microsoft.com/office/drawing/2014/main" id="{C709F639-3D93-8230-869A-470D2E15F1C1}"/>
                  </a:ext>
                </a:extLst>
              </p:cNvPr>
              <p:cNvSpPr/>
              <p:nvPr/>
            </p:nvSpPr>
            <p:spPr>
              <a:xfrm>
                <a:off x="559725" y="2495625"/>
                <a:ext cx="47075" cy="14075"/>
              </a:xfrm>
              <a:custGeom>
                <a:avLst/>
                <a:gdLst/>
                <a:ahLst/>
                <a:cxnLst/>
                <a:rect l="l" t="t" r="r" b="b"/>
                <a:pathLst>
                  <a:path w="1883" h="563" extrusionOk="0">
                    <a:moveTo>
                      <a:pt x="277" y="0"/>
                    </a:moveTo>
                    <a:cubicBezTo>
                      <a:pt x="125" y="0"/>
                      <a:pt x="0" y="125"/>
                      <a:pt x="0" y="286"/>
                    </a:cubicBezTo>
                    <a:cubicBezTo>
                      <a:pt x="0" y="437"/>
                      <a:pt x="125" y="562"/>
                      <a:pt x="277" y="562"/>
                    </a:cubicBezTo>
                    <a:lnTo>
                      <a:pt x="1606" y="562"/>
                    </a:lnTo>
                    <a:cubicBezTo>
                      <a:pt x="1758" y="562"/>
                      <a:pt x="1882" y="437"/>
                      <a:pt x="1882" y="286"/>
                    </a:cubicBezTo>
                    <a:cubicBezTo>
                      <a:pt x="1882" y="125"/>
                      <a:pt x="1758" y="0"/>
                      <a:pt x="16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Ellipse 1">
            <a:extLst>
              <a:ext uri="{FF2B5EF4-FFF2-40B4-BE49-F238E27FC236}">
                <a16:creationId xmlns:a16="http://schemas.microsoft.com/office/drawing/2014/main" id="{568AD1BD-65F9-886A-8191-B5E8568F6952}"/>
              </a:ext>
            </a:extLst>
          </p:cNvPr>
          <p:cNvSpPr/>
          <p:nvPr/>
        </p:nvSpPr>
        <p:spPr>
          <a:xfrm>
            <a:off x="976120" y="3732304"/>
            <a:ext cx="1159727" cy="8215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Etat de l’art</a:t>
            </a:r>
          </a:p>
        </p:txBody>
      </p:sp>
      <p:sp>
        <p:nvSpPr>
          <p:cNvPr id="3" name="Ellipse 2">
            <a:extLst>
              <a:ext uri="{FF2B5EF4-FFF2-40B4-BE49-F238E27FC236}">
                <a16:creationId xmlns:a16="http://schemas.microsoft.com/office/drawing/2014/main" id="{EC308386-C4FF-0F00-9AD1-0CC48EDF7699}"/>
              </a:ext>
            </a:extLst>
          </p:cNvPr>
          <p:cNvSpPr/>
          <p:nvPr/>
        </p:nvSpPr>
        <p:spPr>
          <a:xfrm>
            <a:off x="2455515" y="3732304"/>
            <a:ext cx="1479395" cy="8215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Choix techniques</a:t>
            </a:r>
          </a:p>
        </p:txBody>
      </p:sp>
      <p:sp>
        <p:nvSpPr>
          <p:cNvPr id="4" name="Ellipse 3">
            <a:extLst>
              <a:ext uri="{FF2B5EF4-FFF2-40B4-BE49-F238E27FC236}">
                <a16:creationId xmlns:a16="http://schemas.microsoft.com/office/drawing/2014/main" id="{3505CA7E-6C65-AF0F-4859-6B0541BCECFD}"/>
              </a:ext>
            </a:extLst>
          </p:cNvPr>
          <p:cNvSpPr/>
          <p:nvPr/>
        </p:nvSpPr>
        <p:spPr>
          <a:xfrm>
            <a:off x="4254578" y="3732304"/>
            <a:ext cx="1373070" cy="8215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Prototype</a:t>
            </a:r>
          </a:p>
        </p:txBody>
      </p:sp>
      <p:sp>
        <p:nvSpPr>
          <p:cNvPr id="5" name="Ellipse 4">
            <a:extLst>
              <a:ext uri="{FF2B5EF4-FFF2-40B4-BE49-F238E27FC236}">
                <a16:creationId xmlns:a16="http://schemas.microsoft.com/office/drawing/2014/main" id="{8E60F845-353E-7770-9691-D820E68BBD7B}"/>
              </a:ext>
            </a:extLst>
          </p:cNvPr>
          <p:cNvSpPr/>
          <p:nvPr/>
        </p:nvSpPr>
        <p:spPr>
          <a:xfrm>
            <a:off x="7588016" y="3732304"/>
            <a:ext cx="1159727" cy="8215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Limites</a:t>
            </a:r>
          </a:p>
        </p:txBody>
      </p:sp>
      <p:sp>
        <p:nvSpPr>
          <p:cNvPr id="6" name="Ellipse 5">
            <a:extLst>
              <a:ext uri="{FF2B5EF4-FFF2-40B4-BE49-F238E27FC236}">
                <a16:creationId xmlns:a16="http://schemas.microsoft.com/office/drawing/2014/main" id="{75B79855-FE66-A001-3146-FE966FF0842E}"/>
              </a:ext>
            </a:extLst>
          </p:cNvPr>
          <p:cNvSpPr/>
          <p:nvPr/>
        </p:nvSpPr>
        <p:spPr>
          <a:xfrm>
            <a:off x="5900548" y="3732304"/>
            <a:ext cx="1295706" cy="8215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Mesures</a:t>
            </a:r>
          </a:p>
        </p:txBody>
      </p:sp>
      <p:cxnSp>
        <p:nvCxnSpPr>
          <p:cNvPr id="8" name="Connecteur droit avec flèche 7">
            <a:extLst>
              <a:ext uri="{FF2B5EF4-FFF2-40B4-BE49-F238E27FC236}">
                <a16:creationId xmlns:a16="http://schemas.microsoft.com/office/drawing/2014/main" id="{5753C846-2DF3-C10D-F6A2-1878500F9659}"/>
              </a:ext>
            </a:extLst>
          </p:cNvPr>
          <p:cNvCxnSpPr>
            <a:cxnSpLocks/>
            <a:stCxn id="2" idx="6"/>
            <a:endCxn id="3" idx="2"/>
          </p:cNvCxnSpPr>
          <p:nvPr/>
        </p:nvCxnSpPr>
        <p:spPr>
          <a:xfrm>
            <a:off x="2135847" y="4143086"/>
            <a:ext cx="319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CF2B1208-22EE-AB8C-FD8E-637E08623F56}"/>
              </a:ext>
            </a:extLst>
          </p:cNvPr>
          <p:cNvCxnSpPr>
            <a:cxnSpLocks/>
          </p:cNvCxnSpPr>
          <p:nvPr/>
        </p:nvCxnSpPr>
        <p:spPr>
          <a:xfrm>
            <a:off x="3934910" y="4156504"/>
            <a:ext cx="319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0593B809-5D5F-3937-951A-E44133946A53}"/>
              </a:ext>
            </a:extLst>
          </p:cNvPr>
          <p:cNvCxnSpPr>
            <a:cxnSpLocks/>
          </p:cNvCxnSpPr>
          <p:nvPr/>
        </p:nvCxnSpPr>
        <p:spPr>
          <a:xfrm>
            <a:off x="5580880" y="4156504"/>
            <a:ext cx="319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7124D276-51AE-9D17-5050-3FF5817E3359}"/>
              </a:ext>
            </a:extLst>
          </p:cNvPr>
          <p:cNvCxnSpPr>
            <a:cxnSpLocks/>
            <a:stCxn id="6" idx="6"/>
            <a:endCxn id="5" idx="2"/>
          </p:cNvCxnSpPr>
          <p:nvPr/>
        </p:nvCxnSpPr>
        <p:spPr>
          <a:xfrm>
            <a:off x="7196254" y="4143086"/>
            <a:ext cx="3917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BEDBAE85-BF32-72CE-B6CA-3E140EB2C816}"/>
              </a:ext>
            </a:extLst>
          </p:cNvPr>
          <p:cNvSpPr txBox="1"/>
          <p:nvPr/>
        </p:nvSpPr>
        <p:spPr>
          <a:xfrm>
            <a:off x="8819972" y="4835723"/>
            <a:ext cx="268022"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5</a:t>
            </a:r>
          </a:p>
        </p:txBody>
      </p:sp>
    </p:spTree>
    <p:extLst>
      <p:ext uri="{BB962C8B-B14F-4D97-AF65-F5344CB8AC3E}">
        <p14:creationId xmlns:p14="http://schemas.microsoft.com/office/powerpoint/2010/main" val="3579801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0">
          <a:extLst>
            <a:ext uri="{FF2B5EF4-FFF2-40B4-BE49-F238E27FC236}">
              <a16:creationId xmlns:a16="http://schemas.microsoft.com/office/drawing/2014/main" id="{18DF3CFC-73B0-2F00-BCE8-E23AE58F1AE7}"/>
            </a:ext>
          </a:extLst>
        </p:cNvPr>
        <p:cNvGrpSpPr/>
        <p:nvPr/>
      </p:nvGrpSpPr>
      <p:grpSpPr>
        <a:xfrm>
          <a:off x="0" y="0"/>
          <a:ext cx="0" cy="0"/>
          <a:chOff x="0" y="0"/>
          <a:chExt cx="0" cy="0"/>
        </a:xfrm>
      </p:grpSpPr>
      <p:sp>
        <p:nvSpPr>
          <p:cNvPr id="391" name="Google Shape;391;p45">
            <a:extLst>
              <a:ext uri="{FF2B5EF4-FFF2-40B4-BE49-F238E27FC236}">
                <a16:creationId xmlns:a16="http://schemas.microsoft.com/office/drawing/2014/main" id="{92BD42BB-8395-B431-D3A5-437E7278F371}"/>
              </a:ext>
            </a:extLst>
          </p:cNvPr>
          <p:cNvSpPr/>
          <p:nvPr/>
        </p:nvSpPr>
        <p:spPr>
          <a:xfrm>
            <a:off x="500536" y="3701391"/>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5">
            <a:extLst>
              <a:ext uri="{FF2B5EF4-FFF2-40B4-BE49-F238E27FC236}">
                <a16:creationId xmlns:a16="http://schemas.microsoft.com/office/drawing/2014/main" id="{EF71868B-26DD-0B1A-8314-4BAE321A2257}"/>
              </a:ext>
            </a:extLst>
          </p:cNvPr>
          <p:cNvSpPr/>
          <p:nvPr/>
        </p:nvSpPr>
        <p:spPr>
          <a:xfrm>
            <a:off x="867421" y="853986"/>
            <a:ext cx="2862282"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394" name="Google Shape;394;p45">
            <a:extLst>
              <a:ext uri="{FF2B5EF4-FFF2-40B4-BE49-F238E27FC236}">
                <a16:creationId xmlns:a16="http://schemas.microsoft.com/office/drawing/2014/main" id="{CD1642C9-F267-9F51-14AF-3FFBB9F1886D}"/>
              </a:ext>
            </a:extLst>
          </p:cNvPr>
          <p:cNvSpPr txBox="1">
            <a:spLocks noGrp="1"/>
          </p:cNvSpPr>
          <p:nvPr>
            <p:ph type="title"/>
          </p:nvPr>
        </p:nvSpPr>
        <p:spPr>
          <a:xfrm>
            <a:off x="734812" y="358860"/>
            <a:ext cx="8193598" cy="749400"/>
          </a:xfrm>
          <a:prstGeom prst="rect">
            <a:avLst/>
          </a:prstGeom>
        </p:spPr>
        <p:txBody>
          <a:bodyPr spcFirstLastPara="1" wrap="square" lIns="91425" tIns="91425" rIns="91425" bIns="91425" anchor="t" anchorCtr="0">
            <a:noAutofit/>
          </a:bodyPr>
          <a:lstStyle/>
          <a:p>
            <a:pPr lvl="0"/>
            <a:r>
              <a:rPr lang="fr-FR" sz="2400" dirty="0"/>
              <a:t>ÉTAT DE L’ART : LES GRANDES FAMILLES</a:t>
            </a:r>
            <a:endParaRPr sz="2400" dirty="0"/>
          </a:p>
        </p:txBody>
      </p:sp>
      <p:cxnSp>
        <p:nvCxnSpPr>
          <p:cNvPr id="396" name="Google Shape;396;p45">
            <a:extLst>
              <a:ext uri="{FF2B5EF4-FFF2-40B4-BE49-F238E27FC236}">
                <a16:creationId xmlns:a16="http://schemas.microsoft.com/office/drawing/2014/main" id="{B95D8D03-719E-821A-823A-1AD16495DD5C}"/>
              </a:ext>
            </a:extLst>
          </p:cNvPr>
          <p:cNvCxnSpPr/>
          <p:nvPr/>
        </p:nvCxnSpPr>
        <p:spPr>
          <a:xfrm>
            <a:off x="830137" y="347510"/>
            <a:ext cx="852000" cy="0"/>
          </a:xfrm>
          <a:prstGeom prst="straightConnector1">
            <a:avLst/>
          </a:prstGeom>
          <a:noFill/>
          <a:ln w="38100" cap="flat" cmpd="sng">
            <a:solidFill>
              <a:schemeClr val="accent1"/>
            </a:solidFill>
            <a:prstDash val="solid"/>
            <a:round/>
            <a:headEnd type="none" w="med" len="med"/>
            <a:tailEnd type="none" w="med" len="med"/>
          </a:ln>
        </p:spPr>
      </p:cxnSp>
      <p:grpSp>
        <p:nvGrpSpPr>
          <p:cNvPr id="397" name="Google Shape;397;p45">
            <a:extLst>
              <a:ext uri="{FF2B5EF4-FFF2-40B4-BE49-F238E27FC236}">
                <a16:creationId xmlns:a16="http://schemas.microsoft.com/office/drawing/2014/main" id="{AE982744-A619-3F5B-6DA4-31276ADDF723}"/>
              </a:ext>
            </a:extLst>
          </p:cNvPr>
          <p:cNvGrpSpPr/>
          <p:nvPr/>
        </p:nvGrpSpPr>
        <p:grpSpPr>
          <a:xfrm rot="900245">
            <a:off x="721510" y="3969912"/>
            <a:ext cx="599271" cy="543125"/>
            <a:chOff x="487903" y="3023794"/>
            <a:chExt cx="1092563" cy="990202"/>
          </a:xfrm>
        </p:grpSpPr>
        <p:sp>
          <p:nvSpPr>
            <p:cNvPr id="398" name="Google Shape;398;p45">
              <a:extLst>
                <a:ext uri="{FF2B5EF4-FFF2-40B4-BE49-F238E27FC236}">
                  <a16:creationId xmlns:a16="http://schemas.microsoft.com/office/drawing/2014/main" id="{75A9B0E2-EBBC-1CC3-63C3-A7C89E3FB193}"/>
                </a:ext>
              </a:extLst>
            </p:cNvPr>
            <p:cNvSpPr/>
            <p:nvPr/>
          </p:nvSpPr>
          <p:spPr>
            <a:xfrm>
              <a:off x="524720" y="3023794"/>
              <a:ext cx="1055746" cy="950366"/>
            </a:xfrm>
            <a:custGeom>
              <a:avLst/>
              <a:gdLst/>
              <a:ahLst/>
              <a:cxnLst/>
              <a:rect l="l" t="t" r="r" b="b"/>
              <a:pathLst>
                <a:path w="19494" h="17549" extrusionOk="0">
                  <a:moveTo>
                    <a:pt x="1446" y="1"/>
                  </a:moveTo>
                  <a:cubicBezTo>
                    <a:pt x="643" y="1"/>
                    <a:pt x="1" y="643"/>
                    <a:pt x="1" y="1437"/>
                  </a:cubicBezTo>
                  <a:lnTo>
                    <a:pt x="1" y="11125"/>
                  </a:lnTo>
                  <a:lnTo>
                    <a:pt x="1" y="11732"/>
                  </a:lnTo>
                  <a:lnTo>
                    <a:pt x="1" y="11991"/>
                  </a:lnTo>
                  <a:lnTo>
                    <a:pt x="1" y="13793"/>
                  </a:lnTo>
                  <a:cubicBezTo>
                    <a:pt x="1" y="14141"/>
                    <a:pt x="286" y="14426"/>
                    <a:pt x="634" y="14426"/>
                  </a:cubicBezTo>
                  <a:lnTo>
                    <a:pt x="7468" y="14426"/>
                  </a:lnTo>
                  <a:cubicBezTo>
                    <a:pt x="7459" y="14444"/>
                    <a:pt x="7459" y="14462"/>
                    <a:pt x="7459" y="14480"/>
                  </a:cubicBezTo>
                  <a:cubicBezTo>
                    <a:pt x="7450" y="14498"/>
                    <a:pt x="7450" y="14524"/>
                    <a:pt x="7441" y="14542"/>
                  </a:cubicBezTo>
                  <a:cubicBezTo>
                    <a:pt x="7432" y="14569"/>
                    <a:pt x="7432" y="14596"/>
                    <a:pt x="7423" y="14614"/>
                  </a:cubicBezTo>
                  <a:cubicBezTo>
                    <a:pt x="7414" y="14640"/>
                    <a:pt x="7414" y="14667"/>
                    <a:pt x="7405" y="14685"/>
                  </a:cubicBezTo>
                  <a:cubicBezTo>
                    <a:pt x="7397" y="14712"/>
                    <a:pt x="7388" y="14738"/>
                    <a:pt x="7388" y="14765"/>
                  </a:cubicBezTo>
                  <a:cubicBezTo>
                    <a:pt x="7379" y="14783"/>
                    <a:pt x="7370" y="14810"/>
                    <a:pt x="7361" y="14837"/>
                  </a:cubicBezTo>
                  <a:cubicBezTo>
                    <a:pt x="7352" y="14863"/>
                    <a:pt x="7343" y="14890"/>
                    <a:pt x="7334" y="14917"/>
                  </a:cubicBezTo>
                  <a:cubicBezTo>
                    <a:pt x="7325" y="14953"/>
                    <a:pt x="7307" y="14997"/>
                    <a:pt x="7298" y="15033"/>
                  </a:cubicBezTo>
                  <a:cubicBezTo>
                    <a:pt x="7245" y="15184"/>
                    <a:pt x="7182" y="15345"/>
                    <a:pt x="7111" y="15506"/>
                  </a:cubicBezTo>
                  <a:cubicBezTo>
                    <a:pt x="6861" y="16023"/>
                    <a:pt x="6487" y="16567"/>
                    <a:pt x="5916" y="16995"/>
                  </a:cubicBezTo>
                  <a:cubicBezTo>
                    <a:pt x="5684" y="17174"/>
                    <a:pt x="5809" y="17549"/>
                    <a:pt x="6103" y="17549"/>
                  </a:cubicBezTo>
                  <a:lnTo>
                    <a:pt x="13383" y="17549"/>
                  </a:lnTo>
                  <a:cubicBezTo>
                    <a:pt x="13677" y="17549"/>
                    <a:pt x="13802" y="17174"/>
                    <a:pt x="13570" y="16995"/>
                  </a:cubicBezTo>
                  <a:cubicBezTo>
                    <a:pt x="12999" y="16567"/>
                    <a:pt x="12624" y="16023"/>
                    <a:pt x="12383" y="15506"/>
                  </a:cubicBezTo>
                  <a:cubicBezTo>
                    <a:pt x="12303" y="15345"/>
                    <a:pt x="12241" y="15184"/>
                    <a:pt x="12187" y="15033"/>
                  </a:cubicBezTo>
                  <a:cubicBezTo>
                    <a:pt x="12178" y="14997"/>
                    <a:pt x="12160" y="14953"/>
                    <a:pt x="12151" y="14917"/>
                  </a:cubicBezTo>
                  <a:cubicBezTo>
                    <a:pt x="12143" y="14890"/>
                    <a:pt x="12134" y="14863"/>
                    <a:pt x="12125" y="14837"/>
                  </a:cubicBezTo>
                  <a:cubicBezTo>
                    <a:pt x="12116" y="14810"/>
                    <a:pt x="12116" y="14783"/>
                    <a:pt x="12107" y="14765"/>
                  </a:cubicBezTo>
                  <a:cubicBezTo>
                    <a:pt x="12098" y="14738"/>
                    <a:pt x="12089" y="14712"/>
                    <a:pt x="12080" y="14685"/>
                  </a:cubicBezTo>
                  <a:cubicBezTo>
                    <a:pt x="12080" y="14667"/>
                    <a:pt x="12071" y="14640"/>
                    <a:pt x="12062" y="14614"/>
                  </a:cubicBezTo>
                  <a:cubicBezTo>
                    <a:pt x="12062" y="14596"/>
                    <a:pt x="12053" y="14569"/>
                    <a:pt x="12044" y="14542"/>
                  </a:cubicBezTo>
                  <a:cubicBezTo>
                    <a:pt x="12044" y="14524"/>
                    <a:pt x="12035" y="14498"/>
                    <a:pt x="12035" y="14480"/>
                  </a:cubicBezTo>
                  <a:cubicBezTo>
                    <a:pt x="12027" y="14462"/>
                    <a:pt x="12027" y="14444"/>
                    <a:pt x="12018" y="14426"/>
                  </a:cubicBezTo>
                  <a:lnTo>
                    <a:pt x="18851" y="14426"/>
                  </a:lnTo>
                  <a:cubicBezTo>
                    <a:pt x="19208" y="14426"/>
                    <a:pt x="19493" y="14141"/>
                    <a:pt x="19493" y="13793"/>
                  </a:cubicBezTo>
                  <a:lnTo>
                    <a:pt x="19493" y="11732"/>
                  </a:lnTo>
                  <a:lnTo>
                    <a:pt x="19493" y="11125"/>
                  </a:lnTo>
                  <a:lnTo>
                    <a:pt x="19493" y="1437"/>
                  </a:lnTo>
                  <a:cubicBezTo>
                    <a:pt x="19493" y="643"/>
                    <a:pt x="18842" y="1"/>
                    <a:pt x="18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45">
              <a:extLst>
                <a:ext uri="{FF2B5EF4-FFF2-40B4-BE49-F238E27FC236}">
                  <a16:creationId xmlns:a16="http://schemas.microsoft.com/office/drawing/2014/main" id="{346B7D8A-CC08-CDA9-B0EC-C40DE5666AB8}"/>
                </a:ext>
              </a:extLst>
            </p:cNvPr>
            <p:cNvGrpSpPr/>
            <p:nvPr/>
          </p:nvGrpSpPr>
          <p:grpSpPr>
            <a:xfrm>
              <a:off x="487903" y="3060089"/>
              <a:ext cx="1055728" cy="953907"/>
              <a:chOff x="479650" y="2294000"/>
              <a:chExt cx="476175" cy="430250"/>
            </a:xfrm>
          </p:grpSpPr>
          <p:sp>
            <p:nvSpPr>
              <p:cNvPr id="400" name="Google Shape;400;p45">
                <a:extLst>
                  <a:ext uri="{FF2B5EF4-FFF2-40B4-BE49-F238E27FC236}">
                    <a16:creationId xmlns:a16="http://schemas.microsoft.com/office/drawing/2014/main" id="{E5DD0538-56D2-C43A-1DD4-2E66A7DAEB91}"/>
                  </a:ext>
                </a:extLst>
              </p:cNvPr>
              <p:cNvSpPr/>
              <p:nvPr/>
            </p:nvSpPr>
            <p:spPr>
              <a:xfrm>
                <a:off x="479650" y="2294000"/>
                <a:ext cx="476175" cy="430250"/>
              </a:xfrm>
              <a:custGeom>
                <a:avLst/>
                <a:gdLst/>
                <a:ahLst/>
                <a:cxnLst/>
                <a:rect l="l" t="t" r="r" b="b"/>
                <a:pathLst>
                  <a:path w="19047" h="17210" extrusionOk="0">
                    <a:moveTo>
                      <a:pt x="11464" y="14247"/>
                    </a:moveTo>
                    <a:cubicBezTo>
                      <a:pt x="11660" y="14979"/>
                      <a:pt x="12080" y="15934"/>
                      <a:pt x="12990" y="16629"/>
                    </a:cubicBezTo>
                    <a:cubicBezTo>
                      <a:pt x="12990" y="16638"/>
                      <a:pt x="12990" y="16647"/>
                      <a:pt x="12990" y="16647"/>
                    </a:cubicBezTo>
                    <a:lnTo>
                      <a:pt x="6067" y="16647"/>
                    </a:lnTo>
                    <a:cubicBezTo>
                      <a:pt x="6067" y="16647"/>
                      <a:pt x="6058" y="16638"/>
                      <a:pt x="6067" y="16629"/>
                    </a:cubicBezTo>
                    <a:cubicBezTo>
                      <a:pt x="6977" y="15942"/>
                      <a:pt x="7396" y="14997"/>
                      <a:pt x="7592" y="14247"/>
                    </a:cubicBezTo>
                    <a:close/>
                    <a:moveTo>
                      <a:pt x="1651" y="1"/>
                    </a:moveTo>
                    <a:cubicBezTo>
                      <a:pt x="741" y="1"/>
                      <a:pt x="0" y="741"/>
                      <a:pt x="0" y="1651"/>
                    </a:cubicBezTo>
                    <a:lnTo>
                      <a:pt x="0" y="13364"/>
                    </a:lnTo>
                    <a:cubicBezTo>
                      <a:pt x="0" y="13855"/>
                      <a:pt x="402" y="14247"/>
                      <a:pt x="893" y="14247"/>
                    </a:cubicBezTo>
                    <a:lnTo>
                      <a:pt x="7012" y="14247"/>
                    </a:lnTo>
                    <a:cubicBezTo>
                      <a:pt x="6825" y="14881"/>
                      <a:pt x="6459" y="15630"/>
                      <a:pt x="5728" y="16183"/>
                    </a:cubicBezTo>
                    <a:cubicBezTo>
                      <a:pt x="5532" y="16335"/>
                      <a:pt x="5460" y="16585"/>
                      <a:pt x="5532" y="16817"/>
                    </a:cubicBezTo>
                    <a:cubicBezTo>
                      <a:pt x="5612" y="17058"/>
                      <a:pt x="5826" y="17209"/>
                      <a:pt x="6076" y="17209"/>
                    </a:cubicBezTo>
                    <a:lnTo>
                      <a:pt x="12981" y="17209"/>
                    </a:lnTo>
                    <a:cubicBezTo>
                      <a:pt x="13230" y="17209"/>
                      <a:pt x="13436" y="17058"/>
                      <a:pt x="13516" y="16817"/>
                    </a:cubicBezTo>
                    <a:cubicBezTo>
                      <a:pt x="13596" y="16585"/>
                      <a:pt x="13525" y="16335"/>
                      <a:pt x="13320" y="16183"/>
                    </a:cubicBezTo>
                    <a:cubicBezTo>
                      <a:pt x="12597" y="15630"/>
                      <a:pt x="12231" y="14872"/>
                      <a:pt x="12044" y="14247"/>
                    </a:cubicBezTo>
                    <a:lnTo>
                      <a:pt x="14328" y="14247"/>
                    </a:lnTo>
                    <a:cubicBezTo>
                      <a:pt x="14479" y="14247"/>
                      <a:pt x="14604" y="14123"/>
                      <a:pt x="14604" y="13971"/>
                    </a:cubicBezTo>
                    <a:cubicBezTo>
                      <a:pt x="14604" y="13819"/>
                      <a:pt x="14479" y="13694"/>
                      <a:pt x="14328" y="13694"/>
                    </a:cubicBezTo>
                    <a:lnTo>
                      <a:pt x="893" y="13694"/>
                    </a:lnTo>
                    <a:cubicBezTo>
                      <a:pt x="705" y="13694"/>
                      <a:pt x="563" y="13543"/>
                      <a:pt x="563" y="13364"/>
                    </a:cubicBezTo>
                    <a:lnTo>
                      <a:pt x="563" y="11687"/>
                    </a:lnTo>
                    <a:lnTo>
                      <a:pt x="18494" y="11687"/>
                    </a:lnTo>
                    <a:lnTo>
                      <a:pt x="18494" y="13364"/>
                    </a:lnTo>
                    <a:cubicBezTo>
                      <a:pt x="18494" y="13543"/>
                      <a:pt x="18342" y="13694"/>
                      <a:pt x="18164" y="13694"/>
                    </a:cubicBezTo>
                    <a:lnTo>
                      <a:pt x="15470" y="13694"/>
                    </a:lnTo>
                    <a:cubicBezTo>
                      <a:pt x="15309" y="13694"/>
                      <a:pt x="15184" y="13819"/>
                      <a:pt x="15184" y="13971"/>
                    </a:cubicBezTo>
                    <a:cubicBezTo>
                      <a:pt x="15184" y="14123"/>
                      <a:pt x="15309" y="14247"/>
                      <a:pt x="15470" y="14247"/>
                    </a:cubicBezTo>
                    <a:lnTo>
                      <a:pt x="18164" y="14247"/>
                    </a:lnTo>
                    <a:cubicBezTo>
                      <a:pt x="18654" y="14247"/>
                      <a:pt x="19047" y="13855"/>
                      <a:pt x="19047" y="13364"/>
                    </a:cubicBezTo>
                    <a:lnTo>
                      <a:pt x="19047" y="5665"/>
                    </a:lnTo>
                    <a:cubicBezTo>
                      <a:pt x="19047" y="5505"/>
                      <a:pt x="18922" y="5380"/>
                      <a:pt x="18770" y="5380"/>
                    </a:cubicBezTo>
                    <a:cubicBezTo>
                      <a:pt x="18619" y="5380"/>
                      <a:pt x="18494" y="5505"/>
                      <a:pt x="18494" y="5665"/>
                    </a:cubicBezTo>
                    <a:lnTo>
                      <a:pt x="18494" y="11125"/>
                    </a:lnTo>
                    <a:lnTo>
                      <a:pt x="563" y="11125"/>
                    </a:lnTo>
                    <a:lnTo>
                      <a:pt x="563" y="1651"/>
                    </a:lnTo>
                    <a:cubicBezTo>
                      <a:pt x="563" y="1044"/>
                      <a:pt x="1053" y="563"/>
                      <a:pt x="1651" y="563"/>
                    </a:cubicBezTo>
                    <a:lnTo>
                      <a:pt x="17405" y="563"/>
                    </a:lnTo>
                    <a:cubicBezTo>
                      <a:pt x="18003" y="563"/>
                      <a:pt x="18494" y="1044"/>
                      <a:pt x="18494" y="1651"/>
                    </a:cubicBezTo>
                    <a:lnTo>
                      <a:pt x="18494" y="4524"/>
                    </a:lnTo>
                    <a:cubicBezTo>
                      <a:pt x="18494" y="4675"/>
                      <a:pt x="18619" y="4800"/>
                      <a:pt x="18770" y="4800"/>
                    </a:cubicBezTo>
                    <a:cubicBezTo>
                      <a:pt x="18922" y="4800"/>
                      <a:pt x="19047" y="4675"/>
                      <a:pt x="19047" y="4524"/>
                    </a:cubicBezTo>
                    <a:lnTo>
                      <a:pt x="19047" y="1651"/>
                    </a:lnTo>
                    <a:cubicBezTo>
                      <a:pt x="19047" y="741"/>
                      <a:pt x="18315" y="1"/>
                      <a:pt x="174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5">
                <a:extLst>
                  <a:ext uri="{FF2B5EF4-FFF2-40B4-BE49-F238E27FC236}">
                    <a16:creationId xmlns:a16="http://schemas.microsoft.com/office/drawing/2014/main" id="{72634CCB-342E-EA97-EA49-D71879F4A528}"/>
                  </a:ext>
                </a:extLst>
              </p:cNvPr>
              <p:cNvSpPr/>
              <p:nvPr/>
            </p:nvSpPr>
            <p:spPr>
              <a:xfrm>
                <a:off x="700450" y="2593750"/>
                <a:ext cx="34825" cy="34825"/>
              </a:xfrm>
              <a:custGeom>
                <a:avLst/>
                <a:gdLst/>
                <a:ahLst/>
                <a:cxnLst/>
                <a:rect l="l" t="t" r="r" b="b"/>
                <a:pathLst>
                  <a:path w="1393" h="1393" extrusionOk="0">
                    <a:moveTo>
                      <a:pt x="696" y="562"/>
                    </a:moveTo>
                    <a:cubicBezTo>
                      <a:pt x="768" y="562"/>
                      <a:pt x="830" y="625"/>
                      <a:pt x="830" y="696"/>
                    </a:cubicBezTo>
                    <a:cubicBezTo>
                      <a:pt x="830" y="777"/>
                      <a:pt x="768" y="839"/>
                      <a:pt x="696" y="839"/>
                    </a:cubicBezTo>
                    <a:cubicBezTo>
                      <a:pt x="616" y="839"/>
                      <a:pt x="562" y="777"/>
                      <a:pt x="562" y="696"/>
                    </a:cubicBezTo>
                    <a:cubicBezTo>
                      <a:pt x="562" y="625"/>
                      <a:pt x="616" y="562"/>
                      <a:pt x="696" y="562"/>
                    </a:cubicBezTo>
                    <a:close/>
                    <a:moveTo>
                      <a:pt x="696" y="0"/>
                    </a:moveTo>
                    <a:cubicBezTo>
                      <a:pt x="313" y="0"/>
                      <a:pt x="0" y="313"/>
                      <a:pt x="0" y="696"/>
                    </a:cubicBezTo>
                    <a:cubicBezTo>
                      <a:pt x="0" y="1080"/>
                      <a:pt x="313" y="1392"/>
                      <a:pt x="696" y="1392"/>
                    </a:cubicBezTo>
                    <a:cubicBezTo>
                      <a:pt x="1080" y="1392"/>
                      <a:pt x="1392" y="1080"/>
                      <a:pt x="1392" y="696"/>
                    </a:cubicBezTo>
                    <a:cubicBezTo>
                      <a:pt x="1392" y="313"/>
                      <a:pt x="1080" y="0"/>
                      <a:pt x="69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5">
                <a:extLst>
                  <a:ext uri="{FF2B5EF4-FFF2-40B4-BE49-F238E27FC236}">
                    <a16:creationId xmlns:a16="http://schemas.microsoft.com/office/drawing/2014/main" id="{4683E21A-904B-5097-C29F-36E39E78C9EE}"/>
                  </a:ext>
                </a:extLst>
              </p:cNvPr>
              <p:cNvSpPr/>
              <p:nvPr/>
            </p:nvSpPr>
            <p:spPr>
              <a:xfrm>
                <a:off x="628850" y="2366275"/>
                <a:ext cx="178000" cy="144750"/>
              </a:xfrm>
              <a:custGeom>
                <a:avLst/>
                <a:gdLst/>
                <a:ahLst/>
                <a:cxnLst/>
                <a:rect l="l" t="t" r="r" b="b"/>
                <a:pathLst>
                  <a:path w="7120" h="5790" extrusionOk="0">
                    <a:moveTo>
                      <a:pt x="607" y="0"/>
                    </a:moveTo>
                    <a:cubicBezTo>
                      <a:pt x="268" y="0"/>
                      <a:pt x="1" y="268"/>
                      <a:pt x="1" y="607"/>
                    </a:cubicBezTo>
                    <a:lnTo>
                      <a:pt x="1" y="5174"/>
                    </a:lnTo>
                    <a:cubicBezTo>
                      <a:pt x="1" y="5513"/>
                      <a:pt x="268" y="5790"/>
                      <a:pt x="607" y="5790"/>
                    </a:cubicBezTo>
                    <a:lnTo>
                      <a:pt x="1785" y="5790"/>
                    </a:lnTo>
                    <a:cubicBezTo>
                      <a:pt x="1945" y="5790"/>
                      <a:pt x="2061" y="5665"/>
                      <a:pt x="2061" y="5504"/>
                    </a:cubicBezTo>
                    <a:cubicBezTo>
                      <a:pt x="2061" y="5353"/>
                      <a:pt x="1945" y="5228"/>
                      <a:pt x="1785" y="5228"/>
                    </a:cubicBezTo>
                    <a:lnTo>
                      <a:pt x="607" y="5228"/>
                    </a:lnTo>
                    <a:cubicBezTo>
                      <a:pt x="581" y="5228"/>
                      <a:pt x="554" y="5201"/>
                      <a:pt x="554" y="5174"/>
                    </a:cubicBezTo>
                    <a:lnTo>
                      <a:pt x="554" y="607"/>
                    </a:lnTo>
                    <a:cubicBezTo>
                      <a:pt x="554" y="580"/>
                      <a:pt x="581" y="553"/>
                      <a:pt x="607" y="553"/>
                    </a:cubicBezTo>
                    <a:lnTo>
                      <a:pt x="6513" y="553"/>
                    </a:lnTo>
                    <a:cubicBezTo>
                      <a:pt x="6540" y="553"/>
                      <a:pt x="6567" y="580"/>
                      <a:pt x="6567" y="607"/>
                    </a:cubicBezTo>
                    <a:lnTo>
                      <a:pt x="6567" y="5174"/>
                    </a:lnTo>
                    <a:cubicBezTo>
                      <a:pt x="6567" y="5201"/>
                      <a:pt x="6540" y="5228"/>
                      <a:pt x="6513" y="5228"/>
                    </a:cubicBezTo>
                    <a:lnTo>
                      <a:pt x="2927" y="5228"/>
                    </a:lnTo>
                    <a:cubicBezTo>
                      <a:pt x="2775" y="5228"/>
                      <a:pt x="2650" y="5353"/>
                      <a:pt x="2650" y="5504"/>
                    </a:cubicBezTo>
                    <a:cubicBezTo>
                      <a:pt x="2650" y="5665"/>
                      <a:pt x="2775" y="5790"/>
                      <a:pt x="2927" y="5790"/>
                    </a:cubicBezTo>
                    <a:lnTo>
                      <a:pt x="6513" y="5790"/>
                    </a:lnTo>
                    <a:cubicBezTo>
                      <a:pt x="6843" y="5790"/>
                      <a:pt x="7120" y="5513"/>
                      <a:pt x="7120" y="5174"/>
                    </a:cubicBezTo>
                    <a:lnTo>
                      <a:pt x="7120" y="607"/>
                    </a:lnTo>
                    <a:cubicBezTo>
                      <a:pt x="7120" y="268"/>
                      <a:pt x="6843" y="0"/>
                      <a:pt x="65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5">
                <a:extLst>
                  <a:ext uri="{FF2B5EF4-FFF2-40B4-BE49-F238E27FC236}">
                    <a16:creationId xmlns:a16="http://schemas.microsoft.com/office/drawing/2014/main" id="{2785D8D4-2697-87AE-DC4F-279EACE11E84}"/>
                  </a:ext>
                </a:extLst>
              </p:cNvPr>
              <p:cNvSpPr/>
              <p:nvPr/>
            </p:nvSpPr>
            <p:spPr>
              <a:xfrm>
                <a:off x="703575" y="2397050"/>
                <a:ext cx="72725" cy="71600"/>
              </a:xfrm>
              <a:custGeom>
                <a:avLst/>
                <a:gdLst/>
                <a:ahLst/>
                <a:cxnLst/>
                <a:rect l="l" t="t" r="r" b="b"/>
                <a:pathLst>
                  <a:path w="2909" h="2864" extrusionOk="0">
                    <a:moveTo>
                      <a:pt x="428" y="0"/>
                    </a:moveTo>
                    <a:cubicBezTo>
                      <a:pt x="268" y="0"/>
                      <a:pt x="143" y="125"/>
                      <a:pt x="143" y="277"/>
                    </a:cubicBezTo>
                    <a:cubicBezTo>
                      <a:pt x="143" y="437"/>
                      <a:pt x="268" y="562"/>
                      <a:pt x="428" y="562"/>
                    </a:cubicBezTo>
                    <a:lnTo>
                      <a:pt x="1936" y="562"/>
                    </a:lnTo>
                    <a:lnTo>
                      <a:pt x="107" y="2382"/>
                    </a:lnTo>
                    <a:cubicBezTo>
                      <a:pt x="0" y="2489"/>
                      <a:pt x="0" y="2667"/>
                      <a:pt x="107" y="2775"/>
                    </a:cubicBezTo>
                    <a:cubicBezTo>
                      <a:pt x="161" y="2837"/>
                      <a:pt x="232" y="2864"/>
                      <a:pt x="304" y="2864"/>
                    </a:cubicBezTo>
                    <a:cubicBezTo>
                      <a:pt x="375" y="2864"/>
                      <a:pt x="446" y="2837"/>
                      <a:pt x="500" y="2775"/>
                    </a:cubicBezTo>
                    <a:lnTo>
                      <a:pt x="2346" y="937"/>
                    </a:lnTo>
                    <a:lnTo>
                      <a:pt x="2346" y="2489"/>
                    </a:lnTo>
                    <a:cubicBezTo>
                      <a:pt x="2346" y="2641"/>
                      <a:pt x="2471" y="2766"/>
                      <a:pt x="2632" y="2766"/>
                    </a:cubicBezTo>
                    <a:cubicBezTo>
                      <a:pt x="2784" y="2766"/>
                      <a:pt x="2908" y="2641"/>
                      <a:pt x="2908" y="2489"/>
                    </a:cubicBezTo>
                    <a:lnTo>
                      <a:pt x="2908" y="277"/>
                    </a:lnTo>
                    <a:cubicBezTo>
                      <a:pt x="2908" y="125"/>
                      <a:pt x="2784" y="0"/>
                      <a:pt x="2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a:extLst>
                  <a:ext uri="{FF2B5EF4-FFF2-40B4-BE49-F238E27FC236}">
                    <a16:creationId xmlns:a16="http://schemas.microsoft.com/office/drawing/2014/main" id="{E8919F96-71EB-8D1B-D613-0B3F7695E308}"/>
                  </a:ext>
                </a:extLst>
              </p:cNvPr>
              <p:cNvSpPr/>
              <p:nvPr/>
            </p:nvSpPr>
            <p:spPr>
              <a:xfrm>
                <a:off x="778500" y="2485575"/>
                <a:ext cx="68500" cy="62700"/>
              </a:xfrm>
              <a:custGeom>
                <a:avLst/>
                <a:gdLst/>
                <a:ahLst/>
                <a:cxnLst/>
                <a:rect l="l" t="t" r="r" b="b"/>
                <a:pathLst>
                  <a:path w="2740" h="2508" extrusionOk="0">
                    <a:moveTo>
                      <a:pt x="2463" y="1"/>
                    </a:moveTo>
                    <a:cubicBezTo>
                      <a:pt x="2311" y="1"/>
                      <a:pt x="2186" y="126"/>
                      <a:pt x="2186" y="277"/>
                    </a:cubicBezTo>
                    <a:lnTo>
                      <a:pt x="2186" y="1946"/>
                    </a:lnTo>
                    <a:lnTo>
                      <a:pt x="286" y="1946"/>
                    </a:lnTo>
                    <a:cubicBezTo>
                      <a:pt x="126" y="1946"/>
                      <a:pt x="1" y="2070"/>
                      <a:pt x="1" y="2231"/>
                    </a:cubicBezTo>
                    <a:cubicBezTo>
                      <a:pt x="1" y="2383"/>
                      <a:pt x="126" y="2508"/>
                      <a:pt x="286" y="2508"/>
                    </a:cubicBezTo>
                    <a:lnTo>
                      <a:pt x="2463" y="2508"/>
                    </a:lnTo>
                    <a:cubicBezTo>
                      <a:pt x="2615" y="2508"/>
                      <a:pt x="2739" y="2383"/>
                      <a:pt x="2739" y="2231"/>
                    </a:cubicBezTo>
                    <a:lnTo>
                      <a:pt x="2739" y="277"/>
                    </a:lnTo>
                    <a:cubicBezTo>
                      <a:pt x="2739" y="126"/>
                      <a:pt x="2615" y="1"/>
                      <a:pt x="24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5">
                <a:extLst>
                  <a:ext uri="{FF2B5EF4-FFF2-40B4-BE49-F238E27FC236}">
                    <a16:creationId xmlns:a16="http://schemas.microsoft.com/office/drawing/2014/main" id="{A0B14323-5B18-6211-B19B-9CC09BFDB20E}"/>
                  </a:ext>
                </a:extLst>
              </p:cNvPr>
              <p:cNvSpPr/>
              <p:nvPr/>
            </p:nvSpPr>
            <p:spPr>
              <a:xfrm>
                <a:off x="588475" y="2328125"/>
                <a:ext cx="68500" cy="62700"/>
              </a:xfrm>
              <a:custGeom>
                <a:avLst/>
                <a:gdLst/>
                <a:ahLst/>
                <a:cxnLst/>
                <a:rect l="l" t="t" r="r" b="b"/>
                <a:pathLst>
                  <a:path w="2740" h="2508" extrusionOk="0">
                    <a:moveTo>
                      <a:pt x="286" y="1"/>
                    </a:moveTo>
                    <a:cubicBezTo>
                      <a:pt x="126" y="1"/>
                      <a:pt x="1" y="125"/>
                      <a:pt x="1" y="277"/>
                    </a:cubicBezTo>
                    <a:lnTo>
                      <a:pt x="1" y="2231"/>
                    </a:lnTo>
                    <a:cubicBezTo>
                      <a:pt x="1" y="2382"/>
                      <a:pt x="126" y="2507"/>
                      <a:pt x="286" y="2507"/>
                    </a:cubicBezTo>
                    <a:cubicBezTo>
                      <a:pt x="438" y="2507"/>
                      <a:pt x="563" y="2382"/>
                      <a:pt x="563" y="2231"/>
                    </a:cubicBezTo>
                    <a:lnTo>
                      <a:pt x="563" y="554"/>
                    </a:lnTo>
                    <a:lnTo>
                      <a:pt x="2463" y="554"/>
                    </a:lnTo>
                    <a:cubicBezTo>
                      <a:pt x="2615" y="554"/>
                      <a:pt x="2740" y="429"/>
                      <a:pt x="2740" y="277"/>
                    </a:cubicBezTo>
                    <a:cubicBezTo>
                      <a:pt x="2740" y="125"/>
                      <a:pt x="2615" y="1"/>
                      <a:pt x="246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5">
                <a:extLst>
                  <a:ext uri="{FF2B5EF4-FFF2-40B4-BE49-F238E27FC236}">
                    <a16:creationId xmlns:a16="http://schemas.microsoft.com/office/drawing/2014/main" id="{5CADF9BC-7F59-2246-EC2B-362041FB7DCA}"/>
                  </a:ext>
                </a:extLst>
              </p:cNvPr>
              <p:cNvSpPr/>
              <p:nvPr/>
            </p:nvSpPr>
            <p:spPr>
              <a:xfrm>
                <a:off x="834475" y="2370950"/>
                <a:ext cx="13850" cy="15400"/>
              </a:xfrm>
              <a:custGeom>
                <a:avLst/>
                <a:gdLst/>
                <a:ahLst/>
                <a:cxnLst/>
                <a:rect l="l" t="t" r="r" b="b"/>
                <a:pathLst>
                  <a:path w="554" h="616" extrusionOk="0">
                    <a:moveTo>
                      <a:pt x="277" y="0"/>
                    </a:moveTo>
                    <a:cubicBezTo>
                      <a:pt x="126" y="0"/>
                      <a:pt x="1" y="125"/>
                      <a:pt x="1" y="286"/>
                    </a:cubicBezTo>
                    <a:lnTo>
                      <a:pt x="1" y="339"/>
                    </a:lnTo>
                    <a:cubicBezTo>
                      <a:pt x="1" y="491"/>
                      <a:pt x="126" y="616"/>
                      <a:pt x="277" y="616"/>
                    </a:cubicBezTo>
                    <a:cubicBezTo>
                      <a:pt x="429" y="616"/>
                      <a:pt x="554" y="491"/>
                      <a:pt x="554" y="339"/>
                    </a:cubicBezTo>
                    <a:lnTo>
                      <a:pt x="554" y="286"/>
                    </a:lnTo>
                    <a:cubicBezTo>
                      <a:pt x="554" y="125"/>
                      <a:pt x="429" y="0"/>
                      <a:pt x="2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5">
                <a:extLst>
                  <a:ext uri="{FF2B5EF4-FFF2-40B4-BE49-F238E27FC236}">
                    <a16:creationId xmlns:a16="http://schemas.microsoft.com/office/drawing/2014/main" id="{B15CCA58-D67F-DC7E-2D4A-54551EA76BB3}"/>
                  </a:ext>
                </a:extLst>
              </p:cNvPr>
              <p:cNvSpPr/>
              <p:nvPr/>
            </p:nvSpPr>
            <p:spPr>
              <a:xfrm>
                <a:off x="856350" y="2370950"/>
                <a:ext cx="14075" cy="15400"/>
              </a:xfrm>
              <a:custGeom>
                <a:avLst/>
                <a:gdLst/>
                <a:ahLst/>
                <a:cxnLst/>
                <a:rect l="l" t="t" r="r" b="b"/>
                <a:pathLst>
                  <a:path w="563" h="616" extrusionOk="0">
                    <a:moveTo>
                      <a:pt x="286" y="0"/>
                    </a:moveTo>
                    <a:cubicBezTo>
                      <a:pt x="125" y="0"/>
                      <a:pt x="0" y="125"/>
                      <a:pt x="0" y="286"/>
                    </a:cubicBezTo>
                    <a:lnTo>
                      <a:pt x="0" y="339"/>
                    </a:lnTo>
                    <a:cubicBezTo>
                      <a:pt x="0" y="491"/>
                      <a:pt x="125" y="616"/>
                      <a:pt x="286" y="616"/>
                    </a:cubicBezTo>
                    <a:cubicBezTo>
                      <a:pt x="437" y="616"/>
                      <a:pt x="562" y="491"/>
                      <a:pt x="562" y="339"/>
                    </a:cubicBezTo>
                    <a:lnTo>
                      <a:pt x="562" y="286"/>
                    </a:lnTo>
                    <a:cubicBezTo>
                      <a:pt x="562" y="125"/>
                      <a:pt x="437" y="0"/>
                      <a:pt x="2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5">
                <a:extLst>
                  <a:ext uri="{FF2B5EF4-FFF2-40B4-BE49-F238E27FC236}">
                    <a16:creationId xmlns:a16="http://schemas.microsoft.com/office/drawing/2014/main" id="{CDD3507E-C1FF-DFAF-5955-AF3A418CD08D}"/>
                  </a:ext>
                </a:extLst>
              </p:cNvPr>
              <p:cNvSpPr/>
              <p:nvPr/>
            </p:nvSpPr>
            <p:spPr>
              <a:xfrm>
                <a:off x="828900" y="2398150"/>
                <a:ext cx="47100" cy="14075"/>
              </a:xfrm>
              <a:custGeom>
                <a:avLst/>
                <a:gdLst/>
                <a:ahLst/>
                <a:cxnLst/>
                <a:rect l="l" t="t" r="r" b="b"/>
                <a:pathLst>
                  <a:path w="1884" h="563" extrusionOk="0">
                    <a:moveTo>
                      <a:pt x="277" y="1"/>
                    </a:moveTo>
                    <a:cubicBezTo>
                      <a:pt x="126" y="1"/>
                      <a:pt x="1" y="126"/>
                      <a:pt x="1" y="277"/>
                    </a:cubicBezTo>
                    <a:cubicBezTo>
                      <a:pt x="1" y="438"/>
                      <a:pt x="126" y="563"/>
                      <a:pt x="277" y="563"/>
                    </a:cubicBezTo>
                    <a:lnTo>
                      <a:pt x="1598" y="563"/>
                    </a:lnTo>
                    <a:cubicBezTo>
                      <a:pt x="1758" y="563"/>
                      <a:pt x="1883" y="438"/>
                      <a:pt x="1883" y="277"/>
                    </a:cubicBezTo>
                    <a:cubicBezTo>
                      <a:pt x="1883" y="126"/>
                      <a:pt x="1758" y="1"/>
                      <a:pt x="15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5">
                <a:extLst>
                  <a:ext uri="{FF2B5EF4-FFF2-40B4-BE49-F238E27FC236}">
                    <a16:creationId xmlns:a16="http://schemas.microsoft.com/office/drawing/2014/main" id="{6F3372A3-4764-E0AD-47E1-BB762ACD0DF8}"/>
                  </a:ext>
                </a:extLst>
              </p:cNvPr>
              <p:cNvSpPr/>
              <p:nvPr/>
            </p:nvSpPr>
            <p:spPr>
              <a:xfrm>
                <a:off x="828900" y="2419125"/>
                <a:ext cx="47100" cy="13850"/>
              </a:xfrm>
              <a:custGeom>
                <a:avLst/>
                <a:gdLst/>
                <a:ahLst/>
                <a:cxnLst/>
                <a:rect l="l" t="t" r="r" b="b"/>
                <a:pathLst>
                  <a:path w="1884" h="554" extrusionOk="0">
                    <a:moveTo>
                      <a:pt x="277" y="0"/>
                    </a:moveTo>
                    <a:cubicBezTo>
                      <a:pt x="126" y="0"/>
                      <a:pt x="1" y="125"/>
                      <a:pt x="1" y="277"/>
                    </a:cubicBezTo>
                    <a:cubicBezTo>
                      <a:pt x="1" y="428"/>
                      <a:pt x="126" y="553"/>
                      <a:pt x="277" y="553"/>
                    </a:cubicBezTo>
                    <a:lnTo>
                      <a:pt x="1598" y="553"/>
                    </a:lnTo>
                    <a:cubicBezTo>
                      <a:pt x="1758" y="553"/>
                      <a:pt x="1883" y="428"/>
                      <a:pt x="1883" y="277"/>
                    </a:cubicBezTo>
                    <a:cubicBezTo>
                      <a:pt x="1883" y="125"/>
                      <a:pt x="1758" y="0"/>
                      <a:pt x="159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5">
                <a:extLst>
                  <a:ext uri="{FF2B5EF4-FFF2-40B4-BE49-F238E27FC236}">
                    <a16:creationId xmlns:a16="http://schemas.microsoft.com/office/drawing/2014/main" id="{6D7E3641-CDDE-2D58-D6B2-925C8DFF87CE}"/>
                  </a:ext>
                </a:extLst>
              </p:cNvPr>
              <p:cNvSpPr/>
              <p:nvPr/>
            </p:nvSpPr>
            <p:spPr>
              <a:xfrm>
                <a:off x="828900" y="2439850"/>
                <a:ext cx="47100" cy="13875"/>
              </a:xfrm>
              <a:custGeom>
                <a:avLst/>
                <a:gdLst/>
                <a:ahLst/>
                <a:cxnLst/>
                <a:rect l="l" t="t" r="r" b="b"/>
                <a:pathLst>
                  <a:path w="1884" h="555" extrusionOk="0">
                    <a:moveTo>
                      <a:pt x="277" y="1"/>
                    </a:moveTo>
                    <a:cubicBezTo>
                      <a:pt x="126" y="1"/>
                      <a:pt x="1" y="126"/>
                      <a:pt x="1" y="277"/>
                    </a:cubicBezTo>
                    <a:cubicBezTo>
                      <a:pt x="1" y="429"/>
                      <a:pt x="126" y="554"/>
                      <a:pt x="277" y="554"/>
                    </a:cubicBezTo>
                    <a:lnTo>
                      <a:pt x="1598" y="554"/>
                    </a:lnTo>
                    <a:cubicBezTo>
                      <a:pt x="1758" y="554"/>
                      <a:pt x="1883" y="429"/>
                      <a:pt x="1883" y="277"/>
                    </a:cubicBezTo>
                    <a:cubicBezTo>
                      <a:pt x="1883" y="126"/>
                      <a:pt x="1758" y="1"/>
                      <a:pt x="15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5">
                <a:extLst>
                  <a:ext uri="{FF2B5EF4-FFF2-40B4-BE49-F238E27FC236}">
                    <a16:creationId xmlns:a16="http://schemas.microsoft.com/office/drawing/2014/main" id="{6F5B2B35-1377-D5F1-A688-2E75183DC6D4}"/>
                  </a:ext>
                </a:extLst>
              </p:cNvPr>
              <p:cNvSpPr/>
              <p:nvPr/>
            </p:nvSpPr>
            <p:spPr>
              <a:xfrm>
                <a:off x="565300" y="2426925"/>
                <a:ext cx="14075" cy="15425"/>
              </a:xfrm>
              <a:custGeom>
                <a:avLst/>
                <a:gdLst/>
                <a:ahLst/>
                <a:cxnLst/>
                <a:rect l="l" t="t" r="r" b="b"/>
                <a:pathLst>
                  <a:path w="563" h="617" extrusionOk="0">
                    <a:moveTo>
                      <a:pt x="277" y="1"/>
                    </a:moveTo>
                    <a:cubicBezTo>
                      <a:pt x="125" y="1"/>
                      <a:pt x="0" y="125"/>
                      <a:pt x="0" y="277"/>
                    </a:cubicBezTo>
                    <a:lnTo>
                      <a:pt x="0" y="331"/>
                    </a:lnTo>
                    <a:cubicBezTo>
                      <a:pt x="0" y="491"/>
                      <a:pt x="125" y="616"/>
                      <a:pt x="277" y="616"/>
                    </a:cubicBezTo>
                    <a:cubicBezTo>
                      <a:pt x="437" y="616"/>
                      <a:pt x="562" y="491"/>
                      <a:pt x="562" y="331"/>
                    </a:cubicBezTo>
                    <a:lnTo>
                      <a:pt x="562" y="277"/>
                    </a:lnTo>
                    <a:cubicBezTo>
                      <a:pt x="562" y="125"/>
                      <a:pt x="437"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5">
                <a:extLst>
                  <a:ext uri="{FF2B5EF4-FFF2-40B4-BE49-F238E27FC236}">
                    <a16:creationId xmlns:a16="http://schemas.microsoft.com/office/drawing/2014/main" id="{7B637C6F-C59B-E96E-79C5-4C01370698EA}"/>
                  </a:ext>
                </a:extLst>
              </p:cNvPr>
              <p:cNvSpPr/>
              <p:nvPr/>
            </p:nvSpPr>
            <p:spPr>
              <a:xfrm>
                <a:off x="587375" y="2426925"/>
                <a:ext cx="13850" cy="15425"/>
              </a:xfrm>
              <a:custGeom>
                <a:avLst/>
                <a:gdLst/>
                <a:ahLst/>
                <a:cxnLst/>
                <a:rect l="l" t="t" r="r" b="b"/>
                <a:pathLst>
                  <a:path w="554" h="617" extrusionOk="0">
                    <a:moveTo>
                      <a:pt x="277" y="1"/>
                    </a:moveTo>
                    <a:cubicBezTo>
                      <a:pt x="125" y="1"/>
                      <a:pt x="0" y="125"/>
                      <a:pt x="0" y="277"/>
                    </a:cubicBezTo>
                    <a:lnTo>
                      <a:pt x="0" y="331"/>
                    </a:lnTo>
                    <a:cubicBezTo>
                      <a:pt x="0" y="491"/>
                      <a:pt x="125" y="616"/>
                      <a:pt x="277" y="616"/>
                    </a:cubicBezTo>
                    <a:cubicBezTo>
                      <a:pt x="429" y="616"/>
                      <a:pt x="553" y="491"/>
                      <a:pt x="553" y="331"/>
                    </a:cubicBezTo>
                    <a:lnTo>
                      <a:pt x="553" y="277"/>
                    </a:lnTo>
                    <a:cubicBezTo>
                      <a:pt x="553" y="125"/>
                      <a:pt x="429"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5">
                <a:extLst>
                  <a:ext uri="{FF2B5EF4-FFF2-40B4-BE49-F238E27FC236}">
                    <a16:creationId xmlns:a16="http://schemas.microsoft.com/office/drawing/2014/main" id="{2F5332F0-5056-9614-A76D-97F8EE2990F1}"/>
                  </a:ext>
                </a:extLst>
              </p:cNvPr>
              <p:cNvSpPr/>
              <p:nvPr/>
            </p:nvSpPr>
            <p:spPr>
              <a:xfrm>
                <a:off x="559725" y="2454125"/>
                <a:ext cx="47075" cy="13850"/>
              </a:xfrm>
              <a:custGeom>
                <a:avLst/>
                <a:gdLst/>
                <a:ahLst/>
                <a:cxnLst/>
                <a:rect l="l" t="t" r="r" b="b"/>
                <a:pathLst>
                  <a:path w="1883" h="554" extrusionOk="0">
                    <a:moveTo>
                      <a:pt x="277" y="1"/>
                    </a:moveTo>
                    <a:cubicBezTo>
                      <a:pt x="125" y="1"/>
                      <a:pt x="0" y="126"/>
                      <a:pt x="0" y="277"/>
                    </a:cubicBezTo>
                    <a:cubicBezTo>
                      <a:pt x="0" y="429"/>
                      <a:pt x="125" y="554"/>
                      <a:pt x="277" y="554"/>
                    </a:cubicBezTo>
                    <a:lnTo>
                      <a:pt x="1606" y="554"/>
                    </a:lnTo>
                    <a:cubicBezTo>
                      <a:pt x="1758" y="554"/>
                      <a:pt x="1882" y="429"/>
                      <a:pt x="1882" y="277"/>
                    </a:cubicBezTo>
                    <a:cubicBezTo>
                      <a:pt x="1882" y="126"/>
                      <a:pt x="1758" y="1"/>
                      <a:pt x="16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5">
                <a:extLst>
                  <a:ext uri="{FF2B5EF4-FFF2-40B4-BE49-F238E27FC236}">
                    <a16:creationId xmlns:a16="http://schemas.microsoft.com/office/drawing/2014/main" id="{B4D678DC-E59A-69B5-B688-8EEB00F10F1C}"/>
                  </a:ext>
                </a:extLst>
              </p:cNvPr>
              <p:cNvSpPr/>
              <p:nvPr/>
            </p:nvSpPr>
            <p:spPr>
              <a:xfrm>
                <a:off x="559725" y="2474875"/>
                <a:ext cx="47075" cy="14075"/>
              </a:xfrm>
              <a:custGeom>
                <a:avLst/>
                <a:gdLst/>
                <a:ahLst/>
                <a:cxnLst/>
                <a:rect l="l" t="t" r="r" b="b"/>
                <a:pathLst>
                  <a:path w="1883" h="563" extrusionOk="0">
                    <a:moveTo>
                      <a:pt x="277" y="1"/>
                    </a:moveTo>
                    <a:cubicBezTo>
                      <a:pt x="125" y="1"/>
                      <a:pt x="0" y="125"/>
                      <a:pt x="0" y="277"/>
                    </a:cubicBezTo>
                    <a:cubicBezTo>
                      <a:pt x="0" y="438"/>
                      <a:pt x="125" y="563"/>
                      <a:pt x="277" y="563"/>
                    </a:cubicBezTo>
                    <a:lnTo>
                      <a:pt x="1606" y="563"/>
                    </a:lnTo>
                    <a:cubicBezTo>
                      <a:pt x="1758" y="563"/>
                      <a:pt x="1882" y="438"/>
                      <a:pt x="1882" y="277"/>
                    </a:cubicBezTo>
                    <a:cubicBezTo>
                      <a:pt x="1882" y="125"/>
                      <a:pt x="1758" y="1"/>
                      <a:pt x="16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5">
                <a:extLst>
                  <a:ext uri="{FF2B5EF4-FFF2-40B4-BE49-F238E27FC236}">
                    <a16:creationId xmlns:a16="http://schemas.microsoft.com/office/drawing/2014/main" id="{BC7AC54E-89CC-E977-CD2D-C5AB4812CD14}"/>
                  </a:ext>
                </a:extLst>
              </p:cNvPr>
              <p:cNvSpPr/>
              <p:nvPr/>
            </p:nvSpPr>
            <p:spPr>
              <a:xfrm>
                <a:off x="559725" y="2495625"/>
                <a:ext cx="47075" cy="14075"/>
              </a:xfrm>
              <a:custGeom>
                <a:avLst/>
                <a:gdLst/>
                <a:ahLst/>
                <a:cxnLst/>
                <a:rect l="l" t="t" r="r" b="b"/>
                <a:pathLst>
                  <a:path w="1883" h="563" extrusionOk="0">
                    <a:moveTo>
                      <a:pt x="277" y="0"/>
                    </a:moveTo>
                    <a:cubicBezTo>
                      <a:pt x="125" y="0"/>
                      <a:pt x="0" y="125"/>
                      <a:pt x="0" y="286"/>
                    </a:cubicBezTo>
                    <a:cubicBezTo>
                      <a:pt x="0" y="437"/>
                      <a:pt x="125" y="562"/>
                      <a:pt x="277" y="562"/>
                    </a:cubicBezTo>
                    <a:lnTo>
                      <a:pt x="1606" y="562"/>
                    </a:lnTo>
                    <a:cubicBezTo>
                      <a:pt x="1758" y="562"/>
                      <a:pt x="1882" y="437"/>
                      <a:pt x="1882" y="286"/>
                    </a:cubicBezTo>
                    <a:cubicBezTo>
                      <a:pt x="1882" y="125"/>
                      <a:pt x="1758" y="0"/>
                      <a:pt x="16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 name="Google Shape;765;p54">
            <a:extLst>
              <a:ext uri="{FF2B5EF4-FFF2-40B4-BE49-F238E27FC236}">
                <a16:creationId xmlns:a16="http://schemas.microsoft.com/office/drawing/2014/main" id="{1E05A049-F269-D03D-F05F-10A643F2CD49}"/>
              </a:ext>
            </a:extLst>
          </p:cNvPr>
          <p:cNvSpPr txBox="1">
            <a:spLocks noGrp="1"/>
          </p:cNvSpPr>
          <p:nvPr>
            <p:ph type="subTitle" idx="1"/>
          </p:nvPr>
        </p:nvSpPr>
        <p:spPr>
          <a:xfrm>
            <a:off x="1002771" y="1442109"/>
            <a:ext cx="2258100" cy="37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Abhaya Libre" panose="020B0604020202020204" charset="0"/>
                <a:cs typeface="Abhaya Libre" panose="020B0604020202020204" charset="0"/>
              </a:rPr>
              <a:t>Régulation classique</a:t>
            </a:r>
            <a:endParaRPr dirty="0">
              <a:latin typeface="Abhaya Libre" panose="020B0604020202020204" charset="0"/>
              <a:cs typeface="Abhaya Libre" panose="020B0604020202020204" charset="0"/>
            </a:endParaRPr>
          </a:p>
        </p:txBody>
      </p:sp>
      <p:sp>
        <p:nvSpPr>
          <p:cNvPr id="17" name="Google Shape;766;p54">
            <a:extLst>
              <a:ext uri="{FF2B5EF4-FFF2-40B4-BE49-F238E27FC236}">
                <a16:creationId xmlns:a16="http://schemas.microsoft.com/office/drawing/2014/main" id="{62FA8815-D6A5-3061-F523-01814583FFF5}"/>
              </a:ext>
            </a:extLst>
          </p:cNvPr>
          <p:cNvSpPr txBox="1">
            <a:spLocks/>
          </p:cNvSpPr>
          <p:nvPr/>
        </p:nvSpPr>
        <p:spPr>
          <a:xfrm>
            <a:off x="1002769" y="1813501"/>
            <a:ext cx="2258100" cy="72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100"/>
            </a:pPr>
            <a:r>
              <a:rPr lang="fr-FR" dirty="0">
                <a:latin typeface="Abhaya Libre" panose="020B0604020202020204" charset="0"/>
                <a:cs typeface="Abhaya Libre" panose="020B0604020202020204" charset="0"/>
              </a:rPr>
              <a:t>Stop, cédez-le-passage, feux, priorité à droite.</a:t>
            </a:r>
            <a:br>
              <a:rPr lang="fr-FR" dirty="0">
                <a:latin typeface="Abhaya Libre" panose="020B0604020202020204" charset="0"/>
                <a:cs typeface="Abhaya Libre" panose="020B0604020202020204" charset="0"/>
              </a:rPr>
            </a:br>
            <a:r>
              <a:rPr lang="fr-FR" dirty="0">
                <a:latin typeface="Abhaya Libre" panose="020B0604020202020204" charset="0"/>
                <a:cs typeface="Abhaya Libre" panose="020B0604020202020204" charset="0"/>
              </a:rPr>
              <a:t>Simples, lisibles, mais peu adaptatives.</a:t>
            </a:r>
            <a:endParaRPr lang="en-US" dirty="0">
              <a:latin typeface="Abhaya Libre" panose="020B0604020202020204" charset="0"/>
              <a:cs typeface="Abhaya Libre" panose="020B0604020202020204" charset="0"/>
            </a:endParaRPr>
          </a:p>
        </p:txBody>
      </p:sp>
      <p:sp>
        <p:nvSpPr>
          <p:cNvPr id="18" name="Google Shape;767;p54">
            <a:extLst>
              <a:ext uri="{FF2B5EF4-FFF2-40B4-BE49-F238E27FC236}">
                <a16:creationId xmlns:a16="http://schemas.microsoft.com/office/drawing/2014/main" id="{C5E63584-094D-449B-1084-9D78986CA6ED}"/>
              </a:ext>
            </a:extLst>
          </p:cNvPr>
          <p:cNvSpPr txBox="1">
            <a:spLocks/>
          </p:cNvSpPr>
          <p:nvPr/>
        </p:nvSpPr>
        <p:spPr>
          <a:xfrm>
            <a:off x="3618494" y="1442109"/>
            <a:ext cx="2258100" cy="3714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dirty="0">
                <a:latin typeface="Abhaya Libre" panose="020B0604020202020204" charset="0"/>
                <a:cs typeface="Abhaya Libre" panose="020B0604020202020204" charset="0"/>
              </a:rPr>
              <a:t>Approches centralisées</a:t>
            </a:r>
          </a:p>
        </p:txBody>
      </p:sp>
      <p:sp>
        <p:nvSpPr>
          <p:cNvPr id="19" name="Google Shape;768;p54">
            <a:extLst>
              <a:ext uri="{FF2B5EF4-FFF2-40B4-BE49-F238E27FC236}">
                <a16:creationId xmlns:a16="http://schemas.microsoft.com/office/drawing/2014/main" id="{5D2C98DD-1113-0954-FB6E-A1B89A35F109}"/>
              </a:ext>
            </a:extLst>
          </p:cNvPr>
          <p:cNvSpPr txBox="1">
            <a:spLocks/>
          </p:cNvSpPr>
          <p:nvPr/>
        </p:nvSpPr>
        <p:spPr>
          <a:xfrm>
            <a:off x="3618494" y="1813501"/>
            <a:ext cx="2258100" cy="72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100"/>
            </a:pPr>
            <a:r>
              <a:rPr lang="fr-FR" dirty="0">
                <a:latin typeface="Abhaya Libre" panose="020B0604020202020204" charset="0"/>
                <a:cs typeface="Abhaya Libre" panose="020B0604020202020204" charset="0"/>
              </a:rPr>
              <a:t>AIM (</a:t>
            </a:r>
            <a:r>
              <a:rPr lang="fr-FR" dirty="0" err="1">
                <a:latin typeface="Abhaya Libre" panose="020B0604020202020204" charset="0"/>
                <a:cs typeface="Abhaya Libre" panose="020B0604020202020204" charset="0"/>
              </a:rPr>
              <a:t>Autonomous</a:t>
            </a:r>
            <a:r>
              <a:rPr lang="fr-FR" dirty="0">
                <a:latin typeface="Abhaya Libre" panose="020B0604020202020204" charset="0"/>
                <a:cs typeface="Abhaya Libre" panose="020B0604020202020204" charset="0"/>
              </a:rPr>
              <a:t> Intersection Management) : un gestionnaire attribue les passages.</a:t>
            </a:r>
            <a:br>
              <a:rPr lang="fr-FR" dirty="0">
                <a:latin typeface="Abhaya Libre" panose="020B0604020202020204" charset="0"/>
                <a:cs typeface="Abhaya Libre" panose="020B0604020202020204" charset="0"/>
              </a:rPr>
            </a:br>
            <a:r>
              <a:rPr lang="fr-FR" dirty="0">
                <a:latin typeface="Abhaya Libre" panose="020B0604020202020204" charset="0"/>
                <a:cs typeface="Abhaya Libre" panose="020B0604020202020204" charset="0"/>
              </a:rPr>
              <a:t>Performant, mais dépendant d’une autorité centrale.</a:t>
            </a:r>
            <a:endParaRPr lang="en-US" dirty="0">
              <a:latin typeface="Abhaya Libre" panose="020B0604020202020204" charset="0"/>
              <a:cs typeface="Abhaya Libre" panose="020B0604020202020204" charset="0"/>
            </a:endParaRPr>
          </a:p>
        </p:txBody>
      </p:sp>
      <p:sp>
        <p:nvSpPr>
          <p:cNvPr id="20" name="Google Shape;769;p54">
            <a:extLst>
              <a:ext uri="{FF2B5EF4-FFF2-40B4-BE49-F238E27FC236}">
                <a16:creationId xmlns:a16="http://schemas.microsoft.com/office/drawing/2014/main" id="{42245BBE-4EB6-BB00-C43D-EB4963192B26}"/>
              </a:ext>
            </a:extLst>
          </p:cNvPr>
          <p:cNvSpPr txBox="1">
            <a:spLocks/>
          </p:cNvSpPr>
          <p:nvPr/>
        </p:nvSpPr>
        <p:spPr>
          <a:xfrm>
            <a:off x="6234217" y="1442109"/>
            <a:ext cx="2258100" cy="3714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dirty="0">
                <a:latin typeface="Abhaya Libre" panose="020B0604020202020204" charset="0"/>
                <a:cs typeface="Abhaya Libre" panose="020B0604020202020204" charset="0"/>
              </a:rPr>
              <a:t>Approches décentralisées</a:t>
            </a:r>
          </a:p>
        </p:txBody>
      </p:sp>
      <p:sp>
        <p:nvSpPr>
          <p:cNvPr id="21" name="Google Shape;770;p54">
            <a:extLst>
              <a:ext uri="{FF2B5EF4-FFF2-40B4-BE49-F238E27FC236}">
                <a16:creationId xmlns:a16="http://schemas.microsoft.com/office/drawing/2014/main" id="{D985033F-D90D-49D0-E239-40A5F78A58A0}"/>
              </a:ext>
            </a:extLst>
          </p:cNvPr>
          <p:cNvSpPr txBox="1">
            <a:spLocks/>
          </p:cNvSpPr>
          <p:nvPr/>
        </p:nvSpPr>
        <p:spPr>
          <a:xfrm>
            <a:off x="6234217" y="1813501"/>
            <a:ext cx="2258100" cy="72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100"/>
            </a:pPr>
            <a:r>
              <a:rPr lang="fr-FR" dirty="0">
                <a:latin typeface="Abhaya Libre" panose="020B0604020202020204" charset="0"/>
                <a:cs typeface="Abhaya Libre" panose="020B0604020202020204" charset="0"/>
              </a:rPr>
              <a:t>P2P (Peer to </a:t>
            </a:r>
            <a:r>
              <a:rPr lang="fr-FR" dirty="0" err="1">
                <a:latin typeface="Abhaya Libre" panose="020B0604020202020204" charset="0"/>
                <a:cs typeface="Abhaya Libre" panose="020B0604020202020204" charset="0"/>
              </a:rPr>
              <a:t>peer</a:t>
            </a:r>
            <a:r>
              <a:rPr lang="fr-FR" dirty="0">
                <a:latin typeface="Abhaya Libre" panose="020B0604020202020204" charset="0"/>
                <a:cs typeface="Abhaya Libre" panose="020B0604020202020204" charset="0"/>
              </a:rPr>
              <a:t>)/VANET(</a:t>
            </a:r>
            <a:r>
              <a:rPr lang="fr-FR" dirty="0" err="1">
                <a:latin typeface="Abhaya Libre" panose="020B0604020202020204" charset="0"/>
                <a:cs typeface="Abhaya Libre" panose="020B0604020202020204" charset="0"/>
              </a:rPr>
              <a:t>Vehicular</a:t>
            </a:r>
            <a:r>
              <a:rPr lang="fr-FR" dirty="0">
                <a:latin typeface="Abhaya Libre" panose="020B0604020202020204" charset="0"/>
                <a:cs typeface="Abhaya Libre" panose="020B0604020202020204" charset="0"/>
              </a:rPr>
              <a:t> Ad Hoc Network), ORCA (Optimal </a:t>
            </a:r>
            <a:r>
              <a:rPr lang="fr-FR" dirty="0" err="1">
                <a:latin typeface="Abhaya Libre" panose="020B0604020202020204" charset="0"/>
                <a:cs typeface="Abhaya Libre" panose="020B0604020202020204" charset="0"/>
              </a:rPr>
              <a:t>Reciprocal</a:t>
            </a:r>
            <a:r>
              <a:rPr lang="fr-FR" dirty="0">
                <a:latin typeface="Abhaya Libre" panose="020B0604020202020204" charset="0"/>
                <a:cs typeface="Abhaya Libre" panose="020B0604020202020204" charset="0"/>
              </a:rPr>
              <a:t> Collision </a:t>
            </a:r>
            <a:r>
              <a:rPr lang="fr-FR" dirty="0" err="1">
                <a:latin typeface="Abhaya Libre" panose="020B0604020202020204" charset="0"/>
                <a:cs typeface="Abhaya Libre" panose="020B0604020202020204" charset="0"/>
              </a:rPr>
              <a:t>Avoidance</a:t>
            </a:r>
            <a:r>
              <a:rPr lang="fr-FR" dirty="0">
                <a:latin typeface="Abhaya Libre" panose="020B0604020202020204" charset="0"/>
                <a:cs typeface="Abhaya Libre" panose="020B0604020202020204" charset="0"/>
              </a:rPr>
              <a:t>), Virtual </a:t>
            </a:r>
            <a:r>
              <a:rPr lang="fr-FR" dirty="0" err="1">
                <a:latin typeface="Abhaya Libre" panose="020B0604020202020204" charset="0"/>
                <a:cs typeface="Abhaya Libre" panose="020B0604020202020204" charset="0"/>
              </a:rPr>
              <a:t>Platooning</a:t>
            </a:r>
            <a:r>
              <a:rPr lang="fr-FR" dirty="0">
                <a:latin typeface="Abhaya Libre" panose="020B0604020202020204" charset="0"/>
                <a:cs typeface="Abhaya Libre" panose="020B0604020202020204" charset="0"/>
              </a:rPr>
              <a:t>.</a:t>
            </a:r>
            <a:br>
              <a:rPr lang="fr-FR" dirty="0">
                <a:latin typeface="Abhaya Libre" panose="020B0604020202020204" charset="0"/>
                <a:cs typeface="Abhaya Libre" panose="020B0604020202020204" charset="0"/>
              </a:rPr>
            </a:br>
            <a:r>
              <a:rPr lang="fr-FR" dirty="0">
                <a:latin typeface="Abhaya Libre" panose="020B0604020202020204" charset="0"/>
                <a:cs typeface="Abhaya Libre" panose="020B0604020202020204" charset="0"/>
              </a:rPr>
              <a:t>Plus proches des systèmes multi-agents, mais plus difficiles à stabiliser.</a:t>
            </a:r>
            <a:endParaRPr lang="en-US" dirty="0">
              <a:latin typeface="Abhaya Libre" panose="020B0604020202020204" charset="0"/>
              <a:cs typeface="Abhaya Libre" panose="020B0604020202020204" charset="0"/>
            </a:endParaRPr>
          </a:p>
        </p:txBody>
      </p:sp>
      <p:sp>
        <p:nvSpPr>
          <p:cNvPr id="3" name="ZoneTexte 2">
            <a:extLst>
              <a:ext uri="{FF2B5EF4-FFF2-40B4-BE49-F238E27FC236}">
                <a16:creationId xmlns:a16="http://schemas.microsoft.com/office/drawing/2014/main" id="{00455470-6D55-53AC-543B-6D1A4D29CA1E}"/>
              </a:ext>
            </a:extLst>
          </p:cNvPr>
          <p:cNvSpPr txBox="1"/>
          <p:nvPr/>
        </p:nvSpPr>
        <p:spPr>
          <a:xfrm>
            <a:off x="1749473" y="3750380"/>
            <a:ext cx="4628070" cy="1169551"/>
          </a:xfrm>
          <a:prstGeom prst="rect">
            <a:avLst/>
          </a:prstGeom>
          <a:noFill/>
        </p:spPr>
        <p:txBody>
          <a:bodyPr wrap="square">
            <a:spAutoFit/>
          </a:bodyPr>
          <a:lstStyle/>
          <a:p>
            <a:r>
              <a:rPr lang="fr-FR" b="0" i="0" dirty="0">
                <a:solidFill>
                  <a:schemeClr val="tx1"/>
                </a:solidFill>
                <a:effectLst/>
                <a:latin typeface="Abhaya Libre" panose="020B0604020202020204" charset="0"/>
                <a:cs typeface="Abhaya Libre" panose="020B0604020202020204" charset="0"/>
              </a:rPr>
              <a:t>Classiques : règles humaines, simples, statiques ou semi-statiques.</a:t>
            </a:r>
            <a:br>
              <a:rPr lang="fr-FR" dirty="0">
                <a:solidFill>
                  <a:schemeClr val="tx1"/>
                </a:solidFill>
                <a:latin typeface="Abhaya Libre" panose="020B0604020202020204" charset="0"/>
                <a:cs typeface="Abhaya Libre" panose="020B0604020202020204" charset="0"/>
              </a:rPr>
            </a:br>
            <a:r>
              <a:rPr lang="fr-FR" b="0" i="0" dirty="0">
                <a:solidFill>
                  <a:schemeClr val="tx1"/>
                </a:solidFill>
                <a:effectLst/>
                <a:latin typeface="Abhaya Libre" panose="020B0604020202020204" charset="0"/>
                <a:cs typeface="Abhaya Libre" panose="020B0604020202020204" charset="0"/>
              </a:rPr>
              <a:t>P2P/VANET : véhicules connectés, décision distribuée.</a:t>
            </a:r>
            <a:br>
              <a:rPr lang="fr-FR" dirty="0">
                <a:solidFill>
                  <a:schemeClr val="tx1"/>
                </a:solidFill>
                <a:latin typeface="Abhaya Libre" panose="020B0604020202020204" charset="0"/>
                <a:cs typeface="Abhaya Libre" panose="020B0604020202020204" charset="0"/>
              </a:rPr>
            </a:br>
            <a:r>
              <a:rPr lang="fr-FR" b="0" i="0" dirty="0">
                <a:solidFill>
                  <a:schemeClr val="tx1"/>
                </a:solidFill>
                <a:effectLst/>
                <a:latin typeface="Abhaya Libre" panose="020B0604020202020204" charset="0"/>
                <a:cs typeface="Abhaya Libre" panose="020B0604020202020204" charset="0"/>
              </a:rPr>
              <a:t>AIM : intersection intelligente, décision centralisée.</a:t>
            </a:r>
            <a:br>
              <a:rPr lang="fr-FR" dirty="0">
                <a:solidFill>
                  <a:schemeClr val="tx1"/>
                </a:solidFill>
                <a:latin typeface="Abhaya Libre" panose="020B0604020202020204" charset="0"/>
                <a:cs typeface="Abhaya Libre" panose="020B0604020202020204" charset="0"/>
              </a:rPr>
            </a:br>
            <a:r>
              <a:rPr lang="fr-FR" b="0" i="0" dirty="0">
                <a:solidFill>
                  <a:schemeClr val="tx1"/>
                </a:solidFill>
                <a:effectLst/>
                <a:latin typeface="Abhaya Libre" panose="020B0604020202020204" charset="0"/>
                <a:cs typeface="Abhaya Libre" panose="020B0604020202020204" charset="0"/>
              </a:rPr>
              <a:t>ORCA : évitement robotique continu, pas de priorité.</a:t>
            </a:r>
            <a:endParaRPr lang="fr-FR" dirty="0">
              <a:solidFill>
                <a:schemeClr val="tx1"/>
              </a:solidFill>
              <a:latin typeface="Abhaya Libre" panose="020B0604020202020204" charset="0"/>
              <a:cs typeface="Abhaya Libre" panose="020B0604020202020204" charset="0"/>
            </a:endParaRPr>
          </a:p>
        </p:txBody>
      </p:sp>
      <p:sp>
        <p:nvSpPr>
          <p:cNvPr id="4" name="ZoneTexte 3">
            <a:extLst>
              <a:ext uri="{FF2B5EF4-FFF2-40B4-BE49-F238E27FC236}">
                <a16:creationId xmlns:a16="http://schemas.microsoft.com/office/drawing/2014/main" id="{13E427DE-6E1E-5103-7694-94C828D1B454}"/>
              </a:ext>
            </a:extLst>
          </p:cNvPr>
          <p:cNvSpPr txBox="1"/>
          <p:nvPr/>
        </p:nvSpPr>
        <p:spPr>
          <a:xfrm>
            <a:off x="8819972" y="4835723"/>
            <a:ext cx="272832"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6</a:t>
            </a:r>
          </a:p>
        </p:txBody>
      </p:sp>
    </p:spTree>
    <p:extLst>
      <p:ext uri="{BB962C8B-B14F-4D97-AF65-F5344CB8AC3E}">
        <p14:creationId xmlns:p14="http://schemas.microsoft.com/office/powerpoint/2010/main" val="3492444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0">
          <a:extLst>
            <a:ext uri="{FF2B5EF4-FFF2-40B4-BE49-F238E27FC236}">
              <a16:creationId xmlns:a16="http://schemas.microsoft.com/office/drawing/2014/main" id="{9A047B2F-9325-1FA3-0C83-545D215CF309}"/>
            </a:ext>
          </a:extLst>
        </p:cNvPr>
        <p:cNvGrpSpPr/>
        <p:nvPr/>
      </p:nvGrpSpPr>
      <p:grpSpPr>
        <a:xfrm>
          <a:off x="0" y="0"/>
          <a:ext cx="0" cy="0"/>
          <a:chOff x="0" y="0"/>
          <a:chExt cx="0" cy="0"/>
        </a:xfrm>
      </p:grpSpPr>
      <p:sp>
        <p:nvSpPr>
          <p:cNvPr id="393" name="Google Shape;393;p45">
            <a:extLst>
              <a:ext uri="{FF2B5EF4-FFF2-40B4-BE49-F238E27FC236}">
                <a16:creationId xmlns:a16="http://schemas.microsoft.com/office/drawing/2014/main" id="{4F9E8A92-FD0A-43C3-8DCE-A3E40ECA6B76}"/>
              </a:ext>
            </a:extLst>
          </p:cNvPr>
          <p:cNvSpPr/>
          <p:nvPr/>
        </p:nvSpPr>
        <p:spPr>
          <a:xfrm>
            <a:off x="867421" y="853986"/>
            <a:ext cx="2862282"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394" name="Google Shape;394;p45">
            <a:extLst>
              <a:ext uri="{FF2B5EF4-FFF2-40B4-BE49-F238E27FC236}">
                <a16:creationId xmlns:a16="http://schemas.microsoft.com/office/drawing/2014/main" id="{A8414134-0DAD-CBFE-4F70-40099B2396BC}"/>
              </a:ext>
            </a:extLst>
          </p:cNvPr>
          <p:cNvSpPr txBox="1">
            <a:spLocks noGrp="1"/>
          </p:cNvSpPr>
          <p:nvPr>
            <p:ph type="title"/>
          </p:nvPr>
        </p:nvSpPr>
        <p:spPr>
          <a:xfrm>
            <a:off x="734812" y="358860"/>
            <a:ext cx="6595256" cy="749400"/>
          </a:xfrm>
          <a:prstGeom prst="rect">
            <a:avLst/>
          </a:prstGeom>
        </p:spPr>
        <p:txBody>
          <a:bodyPr spcFirstLastPara="1" wrap="square" lIns="91425" tIns="91425" rIns="91425" bIns="91425" anchor="t" anchorCtr="0">
            <a:noAutofit/>
          </a:bodyPr>
          <a:lstStyle/>
          <a:p>
            <a:pPr lvl="0"/>
            <a:r>
              <a:rPr lang="fr-FR" sz="2400" dirty="0"/>
              <a:t>SOLUTIONS ÉTUDIÉES</a:t>
            </a:r>
            <a:endParaRPr sz="2400" dirty="0"/>
          </a:p>
        </p:txBody>
      </p:sp>
      <p:cxnSp>
        <p:nvCxnSpPr>
          <p:cNvPr id="396" name="Google Shape;396;p45">
            <a:extLst>
              <a:ext uri="{FF2B5EF4-FFF2-40B4-BE49-F238E27FC236}">
                <a16:creationId xmlns:a16="http://schemas.microsoft.com/office/drawing/2014/main" id="{49669DDD-DB28-9C39-EB27-8F88E712622B}"/>
              </a:ext>
            </a:extLst>
          </p:cNvPr>
          <p:cNvCxnSpPr/>
          <p:nvPr/>
        </p:nvCxnSpPr>
        <p:spPr>
          <a:xfrm>
            <a:off x="830137" y="347510"/>
            <a:ext cx="852000" cy="0"/>
          </a:xfrm>
          <a:prstGeom prst="straightConnector1">
            <a:avLst/>
          </a:prstGeom>
          <a:noFill/>
          <a:ln w="38100" cap="flat" cmpd="sng">
            <a:solidFill>
              <a:schemeClr val="accent1"/>
            </a:solidFill>
            <a:prstDash val="solid"/>
            <a:round/>
            <a:headEnd type="none" w="med" len="med"/>
            <a:tailEnd type="none" w="med" len="med"/>
          </a:ln>
        </p:spPr>
      </p:cxnSp>
      <p:graphicFrame>
        <p:nvGraphicFramePr>
          <p:cNvPr id="13" name="Tableau 12">
            <a:extLst>
              <a:ext uri="{FF2B5EF4-FFF2-40B4-BE49-F238E27FC236}">
                <a16:creationId xmlns:a16="http://schemas.microsoft.com/office/drawing/2014/main" id="{8E801958-62B8-0105-2E0B-DCCABDC9FC92}"/>
              </a:ext>
            </a:extLst>
          </p:cNvPr>
          <p:cNvGraphicFramePr>
            <a:graphicFrameLocks noGrp="1"/>
          </p:cNvGraphicFramePr>
          <p:nvPr>
            <p:extLst>
              <p:ext uri="{D42A27DB-BD31-4B8C-83A1-F6EECF244321}">
                <p14:modId xmlns:p14="http://schemas.microsoft.com/office/powerpoint/2010/main" val="1649172717"/>
              </p:ext>
            </p:extLst>
          </p:nvPr>
        </p:nvGraphicFramePr>
        <p:xfrm>
          <a:off x="1515373" y="1431662"/>
          <a:ext cx="6861717" cy="3114040"/>
        </p:xfrm>
        <a:graphic>
          <a:graphicData uri="http://schemas.openxmlformats.org/drawingml/2006/table">
            <a:tbl>
              <a:tblPr firstRow="1" bandRow="1">
                <a:tableStyleId>{66C70FA5-060A-427F-A934-83C82688F7A2}</a:tableStyleId>
              </a:tblPr>
              <a:tblGrid>
                <a:gridCol w="2287239">
                  <a:extLst>
                    <a:ext uri="{9D8B030D-6E8A-4147-A177-3AD203B41FA5}">
                      <a16:colId xmlns:a16="http://schemas.microsoft.com/office/drawing/2014/main" val="3728445622"/>
                    </a:ext>
                  </a:extLst>
                </a:gridCol>
                <a:gridCol w="2287239">
                  <a:extLst>
                    <a:ext uri="{9D8B030D-6E8A-4147-A177-3AD203B41FA5}">
                      <a16:colId xmlns:a16="http://schemas.microsoft.com/office/drawing/2014/main" val="3736382396"/>
                    </a:ext>
                  </a:extLst>
                </a:gridCol>
                <a:gridCol w="2287239">
                  <a:extLst>
                    <a:ext uri="{9D8B030D-6E8A-4147-A177-3AD203B41FA5}">
                      <a16:colId xmlns:a16="http://schemas.microsoft.com/office/drawing/2014/main" val="2071780317"/>
                    </a:ext>
                  </a:extLst>
                </a:gridCol>
              </a:tblGrid>
              <a:tr h="370840">
                <a:tc>
                  <a:txBody>
                    <a:bodyPr/>
                    <a:lstStyle/>
                    <a:p>
                      <a:r>
                        <a:rPr lang="fr-FR" dirty="0"/>
                        <a:t>Solution</a:t>
                      </a:r>
                    </a:p>
                  </a:txBody>
                  <a:tcPr/>
                </a:tc>
                <a:tc>
                  <a:txBody>
                    <a:bodyPr/>
                    <a:lstStyle/>
                    <a:p>
                      <a:r>
                        <a:rPr lang="fr-FR" dirty="0"/>
                        <a:t>Principe</a:t>
                      </a:r>
                    </a:p>
                  </a:txBody>
                  <a:tcPr/>
                </a:tc>
                <a:tc>
                  <a:txBody>
                    <a:bodyPr/>
                    <a:lstStyle/>
                    <a:p>
                      <a:r>
                        <a:rPr lang="fr-FR" dirty="0"/>
                        <a:t>Intérêt</a:t>
                      </a:r>
                    </a:p>
                  </a:txBody>
                  <a:tcPr/>
                </a:tc>
                <a:extLst>
                  <a:ext uri="{0D108BD9-81ED-4DB2-BD59-A6C34878D82A}">
                    <a16:rowId xmlns:a16="http://schemas.microsoft.com/office/drawing/2014/main" val="1300055134"/>
                  </a:ext>
                </a:extLst>
              </a:tr>
              <a:tr h="370840">
                <a:tc>
                  <a:txBody>
                    <a:bodyPr/>
                    <a:lstStyle/>
                    <a:p>
                      <a:r>
                        <a:rPr lang="fr-FR" dirty="0"/>
                        <a:t>Priorité fixe</a:t>
                      </a:r>
                    </a:p>
                  </a:txBody>
                  <a:tcPr/>
                </a:tc>
                <a:tc>
                  <a:txBody>
                    <a:bodyPr/>
                    <a:lstStyle/>
                    <a:p>
                      <a:r>
                        <a:rPr lang="fr-FR" dirty="0"/>
                        <a:t>Axe prioritaire</a:t>
                      </a:r>
                    </a:p>
                  </a:txBody>
                  <a:tcPr/>
                </a:tc>
                <a:tc>
                  <a:txBody>
                    <a:bodyPr/>
                    <a:lstStyle/>
                    <a:p>
                      <a:r>
                        <a:rPr lang="fr-FR" dirty="0"/>
                        <a:t>Baseline claire</a:t>
                      </a:r>
                    </a:p>
                  </a:txBody>
                  <a:tcPr/>
                </a:tc>
                <a:extLst>
                  <a:ext uri="{0D108BD9-81ED-4DB2-BD59-A6C34878D82A}">
                    <a16:rowId xmlns:a16="http://schemas.microsoft.com/office/drawing/2014/main" val="3786851065"/>
                  </a:ext>
                </a:extLst>
              </a:tr>
              <a:tr h="370840">
                <a:tc>
                  <a:txBody>
                    <a:bodyPr/>
                    <a:lstStyle/>
                    <a:p>
                      <a:r>
                        <a:rPr lang="fr-FR" dirty="0"/>
                        <a:t>Stop / Feux</a:t>
                      </a:r>
                    </a:p>
                  </a:txBody>
                  <a:tcPr/>
                </a:tc>
                <a:tc>
                  <a:txBody>
                    <a:bodyPr/>
                    <a:lstStyle/>
                    <a:p>
                      <a:r>
                        <a:rPr lang="fr-FR" dirty="0"/>
                        <a:t>Règles routières</a:t>
                      </a:r>
                    </a:p>
                  </a:txBody>
                  <a:tcPr/>
                </a:tc>
                <a:tc>
                  <a:txBody>
                    <a:bodyPr/>
                    <a:lstStyle/>
                    <a:p>
                      <a:r>
                        <a:rPr lang="fr-FR" dirty="0"/>
                        <a:t>Réalisme</a:t>
                      </a:r>
                    </a:p>
                  </a:txBody>
                  <a:tcPr/>
                </a:tc>
                <a:extLst>
                  <a:ext uri="{0D108BD9-81ED-4DB2-BD59-A6C34878D82A}">
                    <a16:rowId xmlns:a16="http://schemas.microsoft.com/office/drawing/2014/main" val="3457099671"/>
                  </a:ext>
                </a:extLst>
              </a:tr>
              <a:tr h="370840">
                <a:tc>
                  <a:txBody>
                    <a:bodyPr/>
                    <a:lstStyle/>
                    <a:p>
                      <a:r>
                        <a:rPr lang="fr-FR" dirty="0"/>
                        <a:t>Rond-point</a:t>
                      </a:r>
                    </a:p>
                  </a:txBody>
                  <a:tcPr/>
                </a:tc>
                <a:tc>
                  <a:txBody>
                    <a:bodyPr/>
                    <a:lstStyle/>
                    <a:p>
                      <a:r>
                        <a:rPr lang="fr-FR" dirty="0"/>
                        <a:t>Priorité aux véhicules engagés</a:t>
                      </a:r>
                    </a:p>
                  </a:txBody>
                  <a:tcPr/>
                </a:tc>
                <a:tc>
                  <a:txBody>
                    <a:bodyPr/>
                    <a:lstStyle/>
                    <a:p>
                      <a:r>
                        <a:rPr lang="fr-FR" dirty="0"/>
                        <a:t>Cas géométrique spécifique</a:t>
                      </a:r>
                    </a:p>
                  </a:txBody>
                  <a:tcPr/>
                </a:tc>
                <a:extLst>
                  <a:ext uri="{0D108BD9-81ED-4DB2-BD59-A6C34878D82A}">
                    <a16:rowId xmlns:a16="http://schemas.microsoft.com/office/drawing/2014/main" val="1376828727"/>
                  </a:ext>
                </a:extLst>
              </a:tr>
              <a:tr h="370840">
                <a:tc>
                  <a:txBody>
                    <a:bodyPr/>
                    <a:lstStyle/>
                    <a:p>
                      <a:r>
                        <a:rPr lang="fr-FR" dirty="0"/>
                        <a:t>P2P</a:t>
                      </a:r>
                    </a:p>
                  </a:txBody>
                  <a:tcPr/>
                </a:tc>
                <a:tc>
                  <a:txBody>
                    <a:bodyPr/>
                    <a:lstStyle/>
                    <a:p>
                      <a:r>
                        <a:rPr lang="fr-FR" dirty="0"/>
                        <a:t>Négociation locale</a:t>
                      </a:r>
                    </a:p>
                  </a:txBody>
                  <a:tcPr/>
                </a:tc>
                <a:tc>
                  <a:txBody>
                    <a:bodyPr/>
                    <a:lstStyle/>
                    <a:p>
                      <a:r>
                        <a:rPr lang="fr-FR" dirty="0"/>
                        <a:t>Cœur multi-agents</a:t>
                      </a:r>
                    </a:p>
                  </a:txBody>
                  <a:tcPr/>
                </a:tc>
                <a:extLst>
                  <a:ext uri="{0D108BD9-81ED-4DB2-BD59-A6C34878D82A}">
                    <a16:rowId xmlns:a16="http://schemas.microsoft.com/office/drawing/2014/main" val="1259055987"/>
                  </a:ext>
                </a:extLst>
              </a:tr>
              <a:tr h="370840">
                <a:tc>
                  <a:txBody>
                    <a:bodyPr/>
                    <a:lstStyle/>
                    <a:p>
                      <a:r>
                        <a:rPr lang="fr-FR" dirty="0"/>
                        <a:t>AIM</a:t>
                      </a:r>
                    </a:p>
                  </a:txBody>
                  <a:tcPr/>
                </a:tc>
                <a:tc>
                  <a:txBody>
                    <a:bodyPr/>
                    <a:lstStyle/>
                    <a:p>
                      <a:r>
                        <a:rPr lang="fr-FR" dirty="0"/>
                        <a:t>Manager central</a:t>
                      </a:r>
                    </a:p>
                  </a:txBody>
                  <a:tcPr/>
                </a:tc>
                <a:tc>
                  <a:txBody>
                    <a:bodyPr/>
                    <a:lstStyle/>
                    <a:p>
                      <a:r>
                        <a:rPr lang="fr-FR" dirty="0"/>
                        <a:t>Très structuré</a:t>
                      </a:r>
                    </a:p>
                  </a:txBody>
                  <a:tcPr/>
                </a:tc>
                <a:extLst>
                  <a:ext uri="{0D108BD9-81ED-4DB2-BD59-A6C34878D82A}">
                    <a16:rowId xmlns:a16="http://schemas.microsoft.com/office/drawing/2014/main" val="1971529967"/>
                  </a:ext>
                </a:extLst>
              </a:tr>
              <a:tr h="370840">
                <a:tc>
                  <a:txBody>
                    <a:bodyPr/>
                    <a:lstStyle/>
                    <a:p>
                      <a:r>
                        <a:rPr lang="fr-FR" dirty="0"/>
                        <a:t>ORCA</a:t>
                      </a:r>
                    </a:p>
                  </a:txBody>
                  <a:tcPr/>
                </a:tc>
                <a:tc>
                  <a:txBody>
                    <a:bodyPr/>
                    <a:lstStyle/>
                    <a:p>
                      <a:r>
                        <a:rPr lang="fr-FR" dirty="0"/>
                        <a:t>Évitement continu</a:t>
                      </a:r>
                    </a:p>
                  </a:txBody>
                  <a:tcPr/>
                </a:tc>
                <a:tc>
                  <a:txBody>
                    <a:bodyPr/>
                    <a:lstStyle/>
                    <a:p>
                      <a:r>
                        <a:rPr lang="fr-FR" dirty="0"/>
                        <a:t>Avancé</a:t>
                      </a:r>
                    </a:p>
                  </a:txBody>
                  <a:tcPr/>
                </a:tc>
                <a:extLst>
                  <a:ext uri="{0D108BD9-81ED-4DB2-BD59-A6C34878D82A}">
                    <a16:rowId xmlns:a16="http://schemas.microsoft.com/office/drawing/2014/main" val="4119889365"/>
                  </a:ext>
                </a:extLst>
              </a:tr>
              <a:tr h="370840">
                <a:tc>
                  <a:txBody>
                    <a:bodyPr/>
                    <a:lstStyle/>
                    <a:p>
                      <a:r>
                        <a:rPr lang="fr-FR" dirty="0"/>
                        <a:t>Virtual </a:t>
                      </a:r>
                      <a:r>
                        <a:rPr lang="fr-FR" dirty="0" err="1"/>
                        <a:t>Platooning</a:t>
                      </a:r>
                      <a:endParaRPr lang="fr-FR" dirty="0"/>
                    </a:p>
                  </a:txBody>
                  <a:tcPr/>
                </a:tc>
                <a:tc>
                  <a:txBody>
                    <a:bodyPr/>
                    <a:lstStyle/>
                    <a:p>
                      <a:r>
                        <a:rPr lang="fr-FR" dirty="0"/>
                        <a:t>File virtuelle</a:t>
                      </a:r>
                    </a:p>
                  </a:txBody>
                  <a:tcPr/>
                </a:tc>
                <a:tc>
                  <a:txBody>
                    <a:bodyPr/>
                    <a:lstStyle/>
                    <a:p>
                      <a:r>
                        <a:rPr lang="fr-FR" dirty="0"/>
                        <a:t>Très fluide</a:t>
                      </a:r>
                    </a:p>
                  </a:txBody>
                  <a:tcPr/>
                </a:tc>
                <a:extLst>
                  <a:ext uri="{0D108BD9-81ED-4DB2-BD59-A6C34878D82A}">
                    <a16:rowId xmlns:a16="http://schemas.microsoft.com/office/drawing/2014/main" val="4241389942"/>
                  </a:ext>
                </a:extLst>
              </a:tr>
            </a:tbl>
          </a:graphicData>
        </a:graphic>
      </p:graphicFrame>
      <p:sp>
        <p:nvSpPr>
          <p:cNvPr id="2" name="ZoneTexte 1">
            <a:extLst>
              <a:ext uri="{FF2B5EF4-FFF2-40B4-BE49-F238E27FC236}">
                <a16:creationId xmlns:a16="http://schemas.microsoft.com/office/drawing/2014/main" id="{36C13C55-D65F-4AF7-D33A-5E0C8F3CB302}"/>
              </a:ext>
            </a:extLst>
          </p:cNvPr>
          <p:cNvSpPr txBox="1"/>
          <p:nvPr/>
        </p:nvSpPr>
        <p:spPr>
          <a:xfrm>
            <a:off x="8819972" y="4835723"/>
            <a:ext cx="263214"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7</a:t>
            </a:r>
          </a:p>
        </p:txBody>
      </p:sp>
    </p:spTree>
    <p:extLst>
      <p:ext uri="{BB962C8B-B14F-4D97-AF65-F5344CB8AC3E}">
        <p14:creationId xmlns:p14="http://schemas.microsoft.com/office/powerpoint/2010/main" val="3609561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1" name="Google Shape;421;p46"/>
          <p:cNvSpPr/>
          <p:nvPr/>
        </p:nvSpPr>
        <p:spPr>
          <a:xfrm>
            <a:off x="2625825" y="998250"/>
            <a:ext cx="1681023"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422" name="Google Shape;422;p46"/>
          <p:cNvSpPr txBox="1">
            <a:spLocks noGrp="1"/>
          </p:cNvSpPr>
          <p:nvPr>
            <p:ph type="title"/>
          </p:nvPr>
        </p:nvSpPr>
        <p:spPr>
          <a:xfrm>
            <a:off x="1617725" y="679951"/>
            <a:ext cx="6698400" cy="572700"/>
          </a:xfrm>
          <a:prstGeom prst="rect">
            <a:avLst/>
          </a:prstGeom>
        </p:spPr>
        <p:txBody>
          <a:bodyPr spcFirstLastPara="1" wrap="square" lIns="91425" tIns="91425" rIns="91425" bIns="91425" anchor="t" anchorCtr="0">
            <a:noAutofit/>
          </a:bodyPr>
          <a:lstStyle/>
          <a:p>
            <a:pPr lvl="0"/>
            <a:r>
              <a:rPr lang="fr-FR" sz="2000" dirty="0"/>
              <a:t>MODÈLE DE CONDUITE : IDM (Intelligent Driver Model)</a:t>
            </a:r>
            <a:endParaRPr sz="2000" dirty="0"/>
          </a:p>
        </p:txBody>
      </p:sp>
      <p:sp>
        <p:nvSpPr>
          <p:cNvPr id="424" name="Google Shape;424;p46"/>
          <p:cNvSpPr/>
          <p:nvPr/>
        </p:nvSpPr>
        <p:spPr>
          <a:xfrm>
            <a:off x="7347575" y="830631"/>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Image 4">
            <a:extLst>
              <a:ext uri="{FF2B5EF4-FFF2-40B4-BE49-F238E27FC236}">
                <a16:creationId xmlns:a16="http://schemas.microsoft.com/office/drawing/2014/main" id="{D6D57CA9-0613-546D-C911-37EE451DC7F2}"/>
              </a:ext>
            </a:extLst>
          </p:cNvPr>
          <p:cNvPicPr>
            <a:picLocks noChangeAspect="1"/>
          </p:cNvPicPr>
          <p:nvPr/>
        </p:nvPicPr>
        <p:blipFill>
          <a:blip r:embed="rId5"/>
          <a:stretch>
            <a:fillRect/>
          </a:stretch>
        </p:blipFill>
        <p:spPr>
          <a:xfrm>
            <a:off x="599150" y="1394639"/>
            <a:ext cx="2783876" cy="747251"/>
          </a:xfrm>
          <a:prstGeom prst="rect">
            <a:avLst/>
          </a:prstGeom>
        </p:spPr>
      </p:pic>
      <p:sp>
        <p:nvSpPr>
          <p:cNvPr id="6" name="ZoneTexte 5">
            <a:extLst>
              <a:ext uri="{FF2B5EF4-FFF2-40B4-BE49-F238E27FC236}">
                <a16:creationId xmlns:a16="http://schemas.microsoft.com/office/drawing/2014/main" id="{15AAAD2C-EB77-C2DE-3E30-E05D5DD7FB14}"/>
              </a:ext>
            </a:extLst>
          </p:cNvPr>
          <p:cNvSpPr txBox="1"/>
          <p:nvPr/>
        </p:nvSpPr>
        <p:spPr>
          <a:xfrm>
            <a:off x="491002" y="2283879"/>
            <a:ext cx="5950668" cy="2677656"/>
          </a:xfrm>
          <a:prstGeom prst="rect">
            <a:avLst/>
          </a:prstGeom>
          <a:noFill/>
        </p:spPr>
        <p:txBody>
          <a:bodyPr wrap="none" rtlCol="0">
            <a:spAutoFit/>
          </a:bodyPr>
          <a:lstStyle/>
          <a:p>
            <a:r>
              <a:rPr lang="fr-FR" dirty="0"/>
              <a:t>L’IDM calcule l’accélération d’un véhicule selon :</a:t>
            </a:r>
          </a:p>
          <a:p>
            <a:r>
              <a:rPr lang="fr-FR" dirty="0"/>
              <a:t>- sa vitesse actuelle ;</a:t>
            </a:r>
          </a:p>
          <a:p>
            <a:r>
              <a:rPr lang="fr-FR" dirty="0"/>
              <a:t>- sa vitesse cible ;</a:t>
            </a:r>
          </a:p>
          <a:p>
            <a:r>
              <a:rPr lang="fr-FR" dirty="0"/>
              <a:t>- la distance au véhicule devant ;</a:t>
            </a:r>
          </a:p>
          <a:p>
            <a:r>
              <a:rPr lang="fr-FR" dirty="0"/>
              <a:t>- la différence de vitesse.</a:t>
            </a:r>
            <a:endParaRPr lang="fr-FR" b="1" dirty="0"/>
          </a:p>
          <a:p>
            <a:r>
              <a:rPr lang="fr-FR" b="1" dirty="0"/>
              <a:t>Stabilité :</a:t>
            </a:r>
            <a:r>
              <a:rPr lang="fr-FR" dirty="0"/>
              <a:t> Modélisation mathématiquement continue </a:t>
            </a:r>
          </a:p>
          <a:p>
            <a:r>
              <a:rPr lang="fr-FR" dirty="0"/>
              <a:t>de la dynamique de conduite. </a:t>
            </a:r>
          </a:p>
          <a:p>
            <a:r>
              <a:rPr lang="fr-FR" b="1" dirty="0"/>
              <a:t>Avantages pour la simulation </a:t>
            </a:r>
            <a:r>
              <a:rPr lang="fr-FR" dirty="0"/>
              <a:t>: </a:t>
            </a:r>
          </a:p>
          <a:p>
            <a:r>
              <a:rPr lang="fr-FR" dirty="0"/>
              <a:t> - Élimination des à-coups (jerk).  </a:t>
            </a:r>
          </a:p>
          <a:p>
            <a:r>
              <a:rPr lang="fr-FR" dirty="0"/>
              <a:t> - Stabilité en chaîne (string </a:t>
            </a:r>
            <a:r>
              <a:rPr lang="fr-FR" dirty="0" err="1"/>
              <a:t>stability</a:t>
            </a:r>
            <a:r>
              <a:rPr lang="fr-FR" dirty="0"/>
              <a:t>).  </a:t>
            </a:r>
          </a:p>
          <a:p>
            <a:r>
              <a:rPr lang="fr-FR" b="1" dirty="0"/>
              <a:t>Gestion des arrêts </a:t>
            </a:r>
            <a:r>
              <a:rPr lang="fr-FR" dirty="0"/>
              <a:t>: Injection d'un "leader virtuel" à vitesse nulle (v = 0) </a:t>
            </a:r>
          </a:p>
          <a:p>
            <a:r>
              <a:rPr lang="fr-FR" dirty="0"/>
              <a:t>sur la ligne de conflit pour forcer une décélération asymptotique.</a:t>
            </a:r>
          </a:p>
        </p:txBody>
      </p:sp>
      <p:pic>
        <p:nvPicPr>
          <p:cNvPr id="12" name="slowdownstop">
            <a:hlinkClick r:id="" action="ppaction://media"/>
            <a:extLst>
              <a:ext uri="{FF2B5EF4-FFF2-40B4-BE49-F238E27FC236}">
                <a16:creationId xmlns:a16="http://schemas.microsoft.com/office/drawing/2014/main" id="{7B6850CA-C60D-859C-85C0-5E1656F9BD14}"/>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856013" y="1290963"/>
            <a:ext cx="4287987" cy="2411993"/>
          </a:xfrm>
          <a:prstGeom prst="rect">
            <a:avLst/>
          </a:prstGeom>
        </p:spPr>
      </p:pic>
      <p:sp>
        <p:nvSpPr>
          <p:cNvPr id="2" name="ZoneTexte 1">
            <a:extLst>
              <a:ext uri="{FF2B5EF4-FFF2-40B4-BE49-F238E27FC236}">
                <a16:creationId xmlns:a16="http://schemas.microsoft.com/office/drawing/2014/main" id="{5C06F60C-1F71-2273-F26D-5AE13F8AE848}"/>
              </a:ext>
            </a:extLst>
          </p:cNvPr>
          <p:cNvSpPr txBox="1"/>
          <p:nvPr/>
        </p:nvSpPr>
        <p:spPr>
          <a:xfrm>
            <a:off x="8819972" y="4835723"/>
            <a:ext cx="279244"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55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3" name="Google Shape;443;p47"/>
          <p:cNvSpPr/>
          <p:nvPr/>
        </p:nvSpPr>
        <p:spPr>
          <a:xfrm>
            <a:off x="2625825" y="998250"/>
            <a:ext cx="936270"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444" name="Google Shape;444;p47"/>
          <p:cNvSpPr txBox="1">
            <a:spLocks noGrp="1"/>
          </p:cNvSpPr>
          <p:nvPr>
            <p:ph type="title"/>
          </p:nvPr>
        </p:nvSpPr>
        <p:spPr>
          <a:xfrm>
            <a:off x="1732375" y="672142"/>
            <a:ext cx="6698400" cy="572700"/>
          </a:xfrm>
          <a:prstGeom prst="rect">
            <a:avLst/>
          </a:prstGeom>
        </p:spPr>
        <p:txBody>
          <a:bodyPr spcFirstLastPara="1" wrap="square" lIns="91425" tIns="91425" rIns="91425" bIns="91425" anchor="t" anchorCtr="0">
            <a:noAutofit/>
          </a:bodyPr>
          <a:lstStyle/>
          <a:p>
            <a:pPr lvl="0"/>
            <a:r>
              <a:rPr lang="fr-FR" sz="1800" dirty="0"/>
              <a:t>ARCHITECTURE GLOBALE</a:t>
            </a:r>
            <a:endParaRPr sz="1800" dirty="0"/>
          </a:p>
        </p:txBody>
      </p:sp>
      <p:sp>
        <p:nvSpPr>
          <p:cNvPr id="14" name="ZoneTexte 13">
            <a:extLst>
              <a:ext uri="{FF2B5EF4-FFF2-40B4-BE49-F238E27FC236}">
                <a16:creationId xmlns:a16="http://schemas.microsoft.com/office/drawing/2014/main" id="{8B0864C0-55FD-5E7B-1D2B-B1795AC0752C}"/>
              </a:ext>
            </a:extLst>
          </p:cNvPr>
          <p:cNvSpPr txBox="1"/>
          <p:nvPr/>
        </p:nvSpPr>
        <p:spPr>
          <a:xfrm>
            <a:off x="4792266" y="336901"/>
            <a:ext cx="4164923" cy="1815882"/>
          </a:xfrm>
          <a:prstGeom prst="rect">
            <a:avLst/>
          </a:prstGeom>
          <a:noFill/>
        </p:spPr>
        <p:txBody>
          <a:bodyPr wrap="none" rtlCol="0">
            <a:spAutoFit/>
          </a:bodyPr>
          <a:lstStyle/>
          <a:p>
            <a:r>
              <a:rPr lang="fr-FR" dirty="0"/>
              <a:t>Le simulateur est séparé en modules :</a:t>
            </a:r>
          </a:p>
          <a:p>
            <a:r>
              <a:rPr lang="fr-FR" b="1" dirty="0"/>
              <a:t>World</a:t>
            </a:r>
            <a:r>
              <a:rPr lang="fr-FR" dirty="0"/>
              <a:t> : contient routes, véhicules et intersections.</a:t>
            </a:r>
          </a:p>
          <a:p>
            <a:r>
              <a:rPr lang="fr-FR" b="1" dirty="0" err="1"/>
              <a:t>Vehicle</a:t>
            </a:r>
            <a:r>
              <a:rPr lang="fr-FR" dirty="0"/>
              <a:t> : agent autonome.</a:t>
            </a:r>
          </a:p>
          <a:p>
            <a:r>
              <a:rPr lang="fr-FR" b="1" dirty="0"/>
              <a:t>Perception</a:t>
            </a:r>
            <a:r>
              <a:rPr lang="fr-FR" dirty="0"/>
              <a:t> : identifie les véhicules pertinents.</a:t>
            </a:r>
          </a:p>
          <a:p>
            <a:r>
              <a:rPr lang="fr-FR" b="1" dirty="0"/>
              <a:t>IDM</a:t>
            </a:r>
            <a:r>
              <a:rPr lang="fr-FR" dirty="0"/>
              <a:t> : calcule l’accélération.</a:t>
            </a:r>
          </a:p>
          <a:p>
            <a:r>
              <a:rPr lang="fr-FR" b="1" dirty="0"/>
              <a:t>Intersection</a:t>
            </a:r>
            <a:r>
              <a:rPr lang="fr-FR" dirty="0"/>
              <a:t> : répond aux requêtes.</a:t>
            </a:r>
          </a:p>
          <a:p>
            <a:r>
              <a:rPr lang="fr-FR" b="1" dirty="0" err="1"/>
              <a:t>IIntersectionPolicy</a:t>
            </a:r>
            <a:r>
              <a:rPr lang="fr-FR" dirty="0"/>
              <a:t> : stratégie interchangeable.</a:t>
            </a:r>
          </a:p>
          <a:p>
            <a:r>
              <a:rPr lang="fr-FR" b="1" dirty="0" err="1"/>
              <a:t>MetricsCollector</a:t>
            </a:r>
            <a:r>
              <a:rPr lang="fr-FR" dirty="0"/>
              <a:t> : collecte les données.</a:t>
            </a:r>
          </a:p>
        </p:txBody>
      </p:sp>
      <p:sp>
        <p:nvSpPr>
          <p:cNvPr id="2" name="ZoneTexte 1">
            <a:extLst>
              <a:ext uri="{FF2B5EF4-FFF2-40B4-BE49-F238E27FC236}">
                <a16:creationId xmlns:a16="http://schemas.microsoft.com/office/drawing/2014/main" id="{1EC22975-1F53-74D5-0A2E-C4B0621057EA}"/>
              </a:ext>
            </a:extLst>
          </p:cNvPr>
          <p:cNvSpPr txBox="1"/>
          <p:nvPr/>
        </p:nvSpPr>
        <p:spPr>
          <a:xfrm>
            <a:off x="8819972" y="4835723"/>
            <a:ext cx="274434"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9</a:t>
            </a:r>
          </a:p>
        </p:txBody>
      </p:sp>
      <p:pic>
        <p:nvPicPr>
          <p:cNvPr id="7" name="Image 6">
            <a:extLst>
              <a:ext uri="{FF2B5EF4-FFF2-40B4-BE49-F238E27FC236}">
                <a16:creationId xmlns:a16="http://schemas.microsoft.com/office/drawing/2014/main" id="{EC81C48A-A53B-B6FB-C49C-3FCFDDCF878A}"/>
              </a:ext>
            </a:extLst>
          </p:cNvPr>
          <p:cNvPicPr>
            <a:picLocks noChangeAspect="1"/>
          </p:cNvPicPr>
          <p:nvPr/>
        </p:nvPicPr>
        <p:blipFill>
          <a:blip r:embed="rId3"/>
          <a:stretch>
            <a:fillRect/>
          </a:stretch>
        </p:blipFill>
        <p:spPr>
          <a:xfrm>
            <a:off x="1164669" y="2444056"/>
            <a:ext cx="7169977" cy="25455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grpSp>
        <p:nvGrpSpPr>
          <p:cNvPr id="501" name="Google Shape;501;p49"/>
          <p:cNvGrpSpPr/>
          <p:nvPr/>
        </p:nvGrpSpPr>
        <p:grpSpPr>
          <a:xfrm rot="816672">
            <a:off x="5775079" y="926543"/>
            <a:ext cx="515984" cy="525811"/>
            <a:chOff x="-1040000" y="1066475"/>
            <a:chExt cx="478250" cy="487325"/>
          </a:xfrm>
        </p:grpSpPr>
        <p:sp>
          <p:nvSpPr>
            <p:cNvPr id="502" name="Google Shape;502;p49"/>
            <p:cNvSpPr/>
            <p:nvPr/>
          </p:nvSpPr>
          <p:spPr>
            <a:xfrm>
              <a:off x="-997125" y="1066475"/>
              <a:ext cx="435375" cy="487325"/>
            </a:xfrm>
            <a:custGeom>
              <a:avLst/>
              <a:gdLst/>
              <a:ahLst/>
              <a:cxnLst/>
              <a:rect l="l" t="t" r="r" b="b"/>
              <a:pathLst>
                <a:path w="17415" h="19493" extrusionOk="0">
                  <a:moveTo>
                    <a:pt x="8707" y="0"/>
                  </a:moveTo>
                  <a:cubicBezTo>
                    <a:pt x="8620" y="0"/>
                    <a:pt x="8533" y="23"/>
                    <a:pt x="8457" y="67"/>
                  </a:cubicBezTo>
                  <a:lnTo>
                    <a:pt x="321" y="4804"/>
                  </a:lnTo>
                  <a:cubicBezTo>
                    <a:pt x="0" y="5001"/>
                    <a:pt x="0" y="5473"/>
                    <a:pt x="321" y="5661"/>
                  </a:cubicBezTo>
                  <a:lnTo>
                    <a:pt x="3462" y="7490"/>
                  </a:lnTo>
                  <a:lnTo>
                    <a:pt x="2846" y="7846"/>
                  </a:lnTo>
                  <a:lnTo>
                    <a:pt x="321" y="9318"/>
                  </a:lnTo>
                  <a:cubicBezTo>
                    <a:pt x="0" y="9506"/>
                    <a:pt x="0" y="9978"/>
                    <a:pt x="321" y="10175"/>
                  </a:cubicBezTo>
                  <a:lnTo>
                    <a:pt x="3462" y="12004"/>
                  </a:lnTo>
                  <a:lnTo>
                    <a:pt x="2846" y="12360"/>
                  </a:lnTo>
                  <a:lnTo>
                    <a:pt x="321" y="13832"/>
                  </a:lnTo>
                  <a:cubicBezTo>
                    <a:pt x="0" y="14020"/>
                    <a:pt x="0" y="14493"/>
                    <a:pt x="321" y="14680"/>
                  </a:cubicBezTo>
                  <a:lnTo>
                    <a:pt x="8457" y="19426"/>
                  </a:lnTo>
                  <a:cubicBezTo>
                    <a:pt x="8533" y="19470"/>
                    <a:pt x="8620" y="19493"/>
                    <a:pt x="8707" y="19493"/>
                  </a:cubicBezTo>
                  <a:cubicBezTo>
                    <a:pt x="8794" y="19493"/>
                    <a:pt x="8881" y="19470"/>
                    <a:pt x="8957" y="19426"/>
                  </a:cubicBezTo>
                  <a:lnTo>
                    <a:pt x="17093" y="14680"/>
                  </a:lnTo>
                  <a:cubicBezTo>
                    <a:pt x="17414" y="14493"/>
                    <a:pt x="17414" y="14020"/>
                    <a:pt x="17093" y="13832"/>
                  </a:cubicBezTo>
                  <a:lnTo>
                    <a:pt x="14568" y="12360"/>
                  </a:lnTo>
                  <a:lnTo>
                    <a:pt x="13953" y="12004"/>
                  </a:lnTo>
                  <a:lnTo>
                    <a:pt x="17093" y="10175"/>
                  </a:lnTo>
                  <a:cubicBezTo>
                    <a:pt x="17414" y="9978"/>
                    <a:pt x="17414" y="9506"/>
                    <a:pt x="17093" y="9318"/>
                  </a:cubicBezTo>
                  <a:lnTo>
                    <a:pt x="14568" y="7846"/>
                  </a:lnTo>
                  <a:lnTo>
                    <a:pt x="13953" y="7490"/>
                  </a:lnTo>
                  <a:lnTo>
                    <a:pt x="17093" y="5661"/>
                  </a:lnTo>
                  <a:cubicBezTo>
                    <a:pt x="17414" y="5473"/>
                    <a:pt x="17414" y="5001"/>
                    <a:pt x="17093" y="4804"/>
                  </a:cubicBezTo>
                  <a:lnTo>
                    <a:pt x="8957" y="67"/>
                  </a:lnTo>
                  <a:cubicBezTo>
                    <a:pt x="8881" y="23"/>
                    <a:pt x="8794" y="0"/>
                    <a:pt x="87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3" name="Google Shape;503;p49"/>
            <p:cNvGrpSpPr/>
            <p:nvPr/>
          </p:nvGrpSpPr>
          <p:grpSpPr>
            <a:xfrm>
              <a:off x="-1040000" y="1072000"/>
              <a:ext cx="423325" cy="476250"/>
              <a:chOff x="505300" y="1002625"/>
              <a:chExt cx="423325" cy="476250"/>
            </a:xfrm>
          </p:grpSpPr>
          <p:sp>
            <p:nvSpPr>
              <p:cNvPr id="504" name="Google Shape;504;p49"/>
              <p:cNvSpPr/>
              <p:nvPr/>
            </p:nvSpPr>
            <p:spPr>
              <a:xfrm>
                <a:off x="505300" y="1002625"/>
                <a:ext cx="423325" cy="476250"/>
              </a:xfrm>
              <a:custGeom>
                <a:avLst/>
                <a:gdLst/>
                <a:ahLst/>
                <a:cxnLst/>
                <a:rect l="l" t="t" r="r" b="b"/>
                <a:pathLst>
                  <a:path w="16933" h="19050" extrusionOk="0">
                    <a:moveTo>
                      <a:pt x="8466" y="1"/>
                    </a:moveTo>
                    <a:cubicBezTo>
                      <a:pt x="8337" y="1"/>
                      <a:pt x="8208" y="34"/>
                      <a:pt x="8092" y="101"/>
                    </a:cubicBezTo>
                    <a:lnTo>
                      <a:pt x="375" y="4597"/>
                    </a:lnTo>
                    <a:cubicBezTo>
                      <a:pt x="143" y="4731"/>
                      <a:pt x="0" y="4972"/>
                      <a:pt x="0" y="5249"/>
                    </a:cubicBezTo>
                    <a:cubicBezTo>
                      <a:pt x="0" y="5516"/>
                      <a:pt x="143" y="5757"/>
                      <a:pt x="375" y="5891"/>
                    </a:cubicBezTo>
                    <a:lnTo>
                      <a:pt x="2935" y="7381"/>
                    </a:lnTo>
                    <a:lnTo>
                      <a:pt x="375" y="8879"/>
                    </a:lnTo>
                    <a:cubicBezTo>
                      <a:pt x="143" y="9013"/>
                      <a:pt x="0" y="9254"/>
                      <a:pt x="0" y="9522"/>
                    </a:cubicBezTo>
                    <a:cubicBezTo>
                      <a:pt x="0" y="9789"/>
                      <a:pt x="143" y="10030"/>
                      <a:pt x="375" y="10173"/>
                    </a:cubicBezTo>
                    <a:lnTo>
                      <a:pt x="2935" y="11663"/>
                    </a:lnTo>
                    <a:lnTo>
                      <a:pt x="375" y="13162"/>
                    </a:lnTo>
                    <a:cubicBezTo>
                      <a:pt x="143" y="13295"/>
                      <a:pt x="0" y="13536"/>
                      <a:pt x="0" y="13804"/>
                    </a:cubicBezTo>
                    <a:cubicBezTo>
                      <a:pt x="0" y="14071"/>
                      <a:pt x="143" y="14312"/>
                      <a:pt x="375" y="14446"/>
                    </a:cubicBezTo>
                    <a:lnTo>
                      <a:pt x="8092" y="18942"/>
                    </a:lnTo>
                    <a:cubicBezTo>
                      <a:pt x="8208" y="19014"/>
                      <a:pt x="8333" y="19049"/>
                      <a:pt x="8466" y="19049"/>
                    </a:cubicBezTo>
                    <a:cubicBezTo>
                      <a:pt x="8600" y="19049"/>
                      <a:pt x="8725" y="19014"/>
                      <a:pt x="8841" y="18942"/>
                    </a:cubicBezTo>
                    <a:lnTo>
                      <a:pt x="12766" y="16659"/>
                    </a:lnTo>
                    <a:cubicBezTo>
                      <a:pt x="12900" y="16587"/>
                      <a:pt x="12945" y="16409"/>
                      <a:pt x="12865" y="16284"/>
                    </a:cubicBezTo>
                    <a:cubicBezTo>
                      <a:pt x="12810" y="16193"/>
                      <a:pt x="12714" y="16143"/>
                      <a:pt x="12616" y="16143"/>
                    </a:cubicBezTo>
                    <a:cubicBezTo>
                      <a:pt x="12570" y="16143"/>
                      <a:pt x="12524" y="16154"/>
                      <a:pt x="12481" y="16177"/>
                    </a:cubicBezTo>
                    <a:lnTo>
                      <a:pt x="8565" y="18461"/>
                    </a:lnTo>
                    <a:cubicBezTo>
                      <a:pt x="8533" y="18478"/>
                      <a:pt x="8500" y="18487"/>
                      <a:pt x="8466" y="18487"/>
                    </a:cubicBezTo>
                    <a:cubicBezTo>
                      <a:pt x="8433" y="18487"/>
                      <a:pt x="8400" y="18478"/>
                      <a:pt x="8368" y="18461"/>
                    </a:cubicBezTo>
                    <a:lnTo>
                      <a:pt x="652" y="13964"/>
                    </a:lnTo>
                    <a:cubicBezTo>
                      <a:pt x="571" y="13920"/>
                      <a:pt x="562" y="13840"/>
                      <a:pt x="562" y="13804"/>
                    </a:cubicBezTo>
                    <a:cubicBezTo>
                      <a:pt x="562" y="13768"/>
                      <a:pt x="571" y="13688"/>
                      <a:pt x="652" y="13643"/>
                    </a:cubicBezTo>
                    <a:lnTo>
                      <a:pt x="3489" y="11984"/>
                    </a:lnTo>
                    <a:lnTo>
                      <a:pt x="4693" y="12689"/>
                    </a:lnTo>
                    <a:cubicBezTo>
                      <a:pt x="4737" y="12715"/>
                      <a:pt x="4791" y="12724"/>
                      <a:pt x="4836" y="12724"/>
                    </a:cubicBezTo>
                    <a:cubicBezTo>
                      <a:pt x="4934" y="12724"/>
                      <a:pt x="5023" y="12680"/>
                      <a:pt x="5076" y="12591"/>
                    </a:cubicBezTo>
                    <a:cubicBezTo>
                      <a:pt x="5157" y="12457"/>
                      <a:pt x="5112" y="12287"/>
                      <a:pt x="4978" y="12207"/>
                    </a:cubicBezTo>
                    <a:lnTo>
                      <a:pt x="652" y="9691"/>
                    </a:lnTo>
                    <a:cubicBezTo>
                      <a:pt x="571" y="9638"/>
                      <a:pt x="562" y="9557"/>
                      <a:pt x="562" y="9522"/>
                    </a:cubicBezTo>
                    <a:cubicBezTo>
                      <a:pt x="562" y="9495"/>
                      <a:pt x="571" y="9406"/>
                      <a:pt x="652" y="9361"/>
                    </a:cubicBezTo>
                    <a:lnTo>
                      <a:pt x="3489" y="7711"/>
                    </a:lnTo>
                    <a:lnTo>
                      <a:pt x="4613" y="8362"/>
                    </a:lnTo>
                    <a:cubicBezTo>
                      <a:pt x="4655" y="8385"/>
                      <a:pt x="4702" y="8396"/>
                      <a:pt x="4748" y="8396"/>
                    </a:cubicBezTo>
                    <a:cubicBezTo>
                      <a:pt x="4846" y="8396"/>
                      <a:pt x="4942" y="8346"/>
                      <a:pt x="4996" y="8255"/>
                    </a:cubicBezTo>
                    <a:cubicBezTo>
                      <a:pt x="5068" y="8121"/>
                      <a:pt x="5023" y="7952"/>
                      <a:pt x="4889" y="7880"/>
                    </a:cubicBezTo>
                    <a:lnTo>
                      <a:pt x="652" y="5409"/>
                    </a:lnTo>
                    <a:cubicBezTo>
                      <a:pt x="571" y="5356"/>
                      <a:pt x="562" y="5275"/>
                      <a:pt x="562" y="5249"/>
                    </a:cubicBezTo>
                    <a:cubicBezTo>
                      <a:pt x="562" y="5213"/>
                      <a:pt x="571" y="5133"/>
                      <a:pt x="652" y="5079"/>
                    </a:cubicBezTo>
                    <a:lnTo>
                      <a:pt x="8368" y="583"/>
                    </a:lnTo>
                    <a:cubicBezTo>
                      <a:pt x="8400" y="565"/>
                      <a:pt x="8433" y="556"/>
                      <a:pt x="8466" y="556"/>
                    </a:cubicBezTo>
                    <a:cubicBezTo>
                      <a:pt x="8500" y="556"/>
                      <a:pt x="8533" y="565"/>
                      <a:pt x="8565" y="583"/>
                    </a:cubicBezTo>
                    <a:lnTo>
                      <a:pt x="16281" y="5079"/>
                    </a:lnTo>
                    <a:cubicBezTo>
                      <a:pt x="16362" y="5133"/>
                      <a:pt x="16371" y="5213"/>
                      <a:pt x="16371" y="5249"/>
                    </a:cubicBezTo>
                    <a:cubicBezTo>
                      <a:pt x="16371" y="5275"/>
                      <a:pt x="16362" y="5356"/>
                      <a:pt x="16281" y="5409"/>
                    </a:cubicBezTo>
                    <a:lnTo>
                      <a:pt x="8565" y="9905"/>
                    </a:lnTo>
                    <a:cubicBezTo>
                      <a:pt x="8533" y="9923"/>
                      <a:pt x="8500" y="9932"/>
                      <a:pt x="8466" y="9932"/>
                    </a:cubicBezTo>
                    <a:cubicBezTo>
                      <a:pt x="8433" y="9932"/>
                      <a:pt x="8400" y="9923"/>
                      <a:pt x="8368" y="9905"/>
                    </a:cubicBezTo>
                    <a:lnTo>
                      <a:pt x="5906" y="8469"/>
                    </a:lnTo>
                    <a:cubicBezTo>
                      <a:pt x="5863" y="8443"/>
                      <a:pt x="5816" y="8431"/>
                      <a:pt x="5769" y="8431"/>
                    </a:cubicBezTo>
                    <a:cubicBezTo>
                      <a:pt x="5673" y="8431"/>
                      <a:pt x="5580" y="8483"/>
                      <a:pt x="5531" y="8567"/>
                    </a:cubicBezTo>
                    <a:cubicBezTo>
                      <a:pt x="5451" y="8701"/>
                      <a:pt x="5496" y="8871"/>
                      <a:pt x="5630" y="8951"/>
                    </a:cubicBezTo>
                    <a:lnTo>
                      <a:pt x="8092" y="10387"/>
                    </a:lnTo>
                    <a:cubicBezTo>
                      <a:pt x="8208" y="10458"/>
                      <a:pt x="8333" y="10485"/>
                      <a:pt x="8466" y="10485"/>
                    </a:cubicBezTo>
                    <a:cubicBezTo>
                      <a:pt x="8600" y="10485"/>
                      <a:pt x="8725" y="10458"/>
                      <a:pt x="8841" y="10387"/>
                    </a:cubicBezTo>
                    <a:lnTo>
                      <a:pt x="13444" y="7711"/>
                    </a:lnTo>
                    <a:lnTo>
                      <a:pt x="16281" y="9361"/>
                    </a:lnTo>
                    <a:cubicBezTo>
                      <a:pt x="16362" y="9406"/>
                      <a:pt x="16371" y="9495"/>
                      <a:pt x="16371" y="9522"/>
                    </a:cubicBezTo>
                    <a:cubicBezTo>
                      <a:pt x="16371" y="9557"/>
                      <a:pt x="16362" y="9638"/>
                      <a:pt x="16281" y="9691"/>
                    </a:cubicBezTo>
                    <a:lnTo>
                      <a:pt x="8565" y="14187"/>
                    </a:lnTo>
                    <a:cubicBezTo>
                      <a:pt x="8533" y="14205"/>
                      <a:pt x="8500" y="14214"/>
                      <a:pt x="8466" y="14214"/>
                    </a:cubicBezTo>
                    <a:cubicBezTo>
                      <a:pt x="8433" y="14214"/>
                      <a:pt x="8400" y="14205"/>
                      <a:pt x="8368" y="14187"/>
                    </a:cubicBezTo>
                    <a:lnTo>
                      <a:pt x="5995" y="12796"/>
                    </a:lnTo>
                    <a:cubicBezTo>
                      <a:pt x="5953" y="12773"/>
                      <a:pt x="5906" y="12762"/>
                      <a:pt x="5860" y="12762"/>
                    </a:cubicBezTo>
                    <a:cubicBezTo>
                      <a:pt x="5762" y="12762"/>
                      <a:pt x="5666" y="12812"/>
                      <a:pt x="5612" y="12903"/>
                    </a:cubicBezTo>
                    <a:cubicBezTo>
                      <a:pt x="5531" y="13037"/>
                      <a:pt x="5585" y="13206"/>
                      <a:pt x="5710" y="13277"/>
                    </a:cubicBezTo>
                    <a:lnTo>
                      <a:pt x="8092" y="14669"/>
                    </a:lnTo>
                    <a:cubicBezTo>
                      <a:pt x="8208" y="14732"/>
                      <a:pt x="8333" y="14767"/>
                      <a:pt x="8466" y="14767"/>
                    </a:cubicBezTo>
                    <a:cubicBezTo>
                      <a:pt x="8600" y="14767"/>
                      <a:pt x="8725" y="14732"/>
                      <a:pt x="8841" y="14669"/>
                    </a:cubicBezTo>
                    <a:lnTo>
                      <a:pt x="13444" y="11984"/>
                    </a:lnTo>
                    <a:lnTo>
                      <a:pt x="16281" y="13643"/>
                    </a:lnTo>
                    <a:cubicBezTo>
                      <a:pt x="16362" y="13688"/>
                      <a:pt x="16371" y="13768"/>
                      <a:pt x="16371" y="13804"/>
                    </a:cubicBezTo>
                    <a:cubicBezTo>
                      <a:pt x="16371" y="13840"/>
                      <a:pt x="16362" y="13920"/>
                      <a:pt x="16281" y="13964"/>
                    </a:cubicBezTo>
                    <a:lnTo>
                      <a:pt x="13498" y="15588"/>
                    </a:lnTo>
                    <a:cubicBezTo>
                      <a:pt x="13364" y="15668"/>
                      <a:pt x="13320" y="15838"/>
                      <a:pt x="13400" y="15972"/>
                    </a:cubicBezTo>
                    <a:cubicBezTo>
                      <a:pt x="13453" y="16061"/>
                      <a:pt x="13543" y="16105"/>
                      <a:pt x="13641" y="16105"/>
                    </a:cubicBezTo>
                    <a:cubicBezTo>
                      <a:pt x="13685" y="16105"/>
                      <a:pt x="13739" y="16097"/>
                      <a:pt x="13783" y="16070"/>
                    </a:cubicBezTo>
                    <a:lnTo>
                      <a:pt x="16558" y="14446"/>
                    </a:lnTo>
                    <a:cubicBezTo>
                      <a:pt x="16790" y="14312"/>
                      <a:pt x="16933" y="14071"/>
                      <a:pt x="16933" y="13804"/>
                    </a:cubicBezTo>
                    <a:cubicBezTo>
                      <a:pt x="16933" y="13536"/>
                      <a:pt x="16790" y="13295"/>
                      <a:pt x="16558" y="13162"/>
                    </a:cubicBezTo>
                    <a:lnTo>
                      <a:pt x="13998" y="11663"/>
                    </a:lnTo>
                    <a:lnTo>
                      <a:pt x="16558" y="10173"/>
                    </a:lnTo>
                    <a:cubicBezTo>
                      <a:pt x="16790" y="10030"/>
                      <a:pt x="16933" y="9789"/>
                      <a:pt x="16933" y="9522"/>
                    </a:cubicBezTo>
                    <a:cubicBezTo>
                      <a:pt x="16933" y="9254"/>
                      <a:pt x="16790" y="9013"/>
                      <a:pt x="16558" y="8879"/>
                    </a:cubicBezTo>
                    <a:lnTo>
                      <a:pt x="13998" y="7381"/>
                    </a:lnTo>
                    <a:lnTo>
                      <a:pt x="16558" y="5891"/>
                    </a:lnTo>
                    <a:cubicBezTo>
                      <a:pt x="16790" y="5757"/>
                      <a:pt x="16933" y="5516"/>
                      <a:pt x="16933" y="5249"/>
                    </a:cubicBezTo>
                    <a:cubicBezTo>
                      <a:pt x="16933" y="4972"/>
                      <a:pt x="16790" y="4731"/>
                      <a:pt x="16558" y="4597"/>
                    </a:cubicBezTo>
                    <a:lnTo>
                      <a:pt x="8841" y="101"/>
                    </a:lnTo>
                    <a:cubicBezTo>
                      <a:pt x="8725" y="34"/>
                      <a:pt x="8596" y="1"/>
                      <a:pt x="84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9"/>
              <p:cNvSpPr/>
              <p:nvPr/>
            </p:nvSpPr>
            <p:spPr>
              <a:xfrm>
                <a:off x="678800" y="1084750"/>
                <a:ext cx="27475" cy="25900"/>
              </a:xfrm>
              <a:custGeom>
                <a:avLst/>
                <a:gdLst/>
                <a:ahLst/>
                <a:cxnLst/>
                <a:rect l="l" t="t" r="r" b="b"/>
                <a:pathLst>
                  <a:path w="1099" h="1036" extrusionOk="0">
                    <a:moveTo>
                      <a:pt x="313" y="1"/>
                    </a:moveTo>
                    <a:cubicBezTo>
                      <a:pt x="242" y="1"/>
                      <a:pt x="170" y="28"/>
                      <a:pt x="117" y="81"/>
                    </a:cubicBezTo>
                    <a:cubicBezTo>
                      <a:pt x="1" y="188"/>
                      <a:pt x="1" y="367"/>
                      <a:pt x="117" y="474"/>
                    </a:cubicBezTo>
                    <a:lnTo>
                      <a:pt x="590" y="956"/>
                    </a:lnTo>
                    <a:cubicBezTo>
                      <a:pt x="643" y="1009"/>
                      <a:pt x="715" y="1036"/>
                      <a:pt x="786" y="1036"/>
                    </a:cubicBezTo>
                    <a:cubicBezTo>
                      <a:pt x="857" y="1036"/>
                      <a:pt x="929" y="1009"/>
                      <a:pt x="982" y="956"/>
                    </a:cubicBezTo>
                    <a:cubicBezTo>
                      <a:pt x="1098" y="848"/>
                      <a:pt x="1098" y="670"/>
                      <a:pt x="982" y="563"/>
                    </a:cubicBezTo>
                    <a:lnTo>
                      <a:pt x="509" y="81"/>
                    </a:lnTo>
                    <a:cubicBezTo>
                      <a:pt x="456" y="28"/>
                      <a:pt x="385" y="1"/>
                      <a:pt x="31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9"/>
              <p:cNvSpPr/>
              <p:nvPr/>
            </p:nvSpPr>
            <p:spPr>
              <a:xfrm>
                <a:off x="679475" y="1125800"/>
                <a:ext cx="74975" cy="13850"/>
              </a:xfrm>
              <a:custGeom>
                <a:avLst/>
                <a:gdLst/>
                <a:ahLst/>
                <a:cxnLst/>
                <a:rect l="l" t="t" r="r" b="b"/>
                <a:pathLst>
                  <a:path w="2999" h="554" extrusionOk="0">
                    <a:moveTo>
                      <a:pt x="286" y="0"/>
                    </a:moveTo>
                    <a:cubicBezTo>
                      <a:pt x="126" y="0"/>
                      <a:pt x="1" y="125"/>
                      <a:pt x="1" y="277"/>
                    </a:cubicBezTo>
                    <a:cubicBezTo>
                      <a:pt x="1" y="429"/>
                      <a:pt x="126" y="554"/>
                      <a:pt x="286" y="554"/>
                    </a:cubicBezTo>
                    <a:lnTo>
                      <a:pt x="2713" y="554"/>
                    </a:lnTo>
                    <a:cubicBezTo>
                      <a:pt x="2873" y="554"/>
                      <a:pt x="2998" y="429"/>
                      <a:pt x="2998" y="277"/>
                    </a:cubicBezTo>
                    <a:cubicBezTo>
                      <a:pt x="2998" y="125"/>
                      <a:pt x="2873" y="0"/>
                      <a:pt x="27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9"/>
              <p:cNvSpPr/>
              <p:nvPr/>
            </p:nvSpPr>
            <p:spPr>
              <a:xfrm>
                <a:off x="679475" y="1150100"/>
                <a:ext cx="74975" cy="13850"/>
              </a:xfrm>
              <a:custGeom>
                <a:avLst/>
                <a:gdLst/>
                <a:ahLst/>
                <a:cxnLst/>
                <a:rect l="l" t="t" r="r" b="b"/>
                <a:pathLst>
                  <a:path w="2999" h="554" extrusionOk="0">
                    <a:moveTo>
                      <a:pt x="286" y="1"/>
                    </a:moveTo>
                    <a:cubicBezTo>
                      <a:pt x="126" y="1"/>
                      <a:pt x="1" y="126"/>
                      <a:pt x="1" y="277"/>
                    </a:cubicBezTo>
                    <a:cubicBezTo>
                      <a:pt x="1" y="429"/>
                      <a:pt x="126" y="554"/>
                      <a:pt x="286" y="554"/>
                    </a:cubicBezTo>
                    <a:lnTo>
                      <a:pt x="2713" y="554"/>
                    </a:lnTo>
                    <a:cubicBezTo>
                      <a:pt x="2873" y="554"/>
                      <a:pt x="2998" y="429"/>
                      <a:pt x="2998" y="277"/>
                    </a:cubicBezTo>
                    <a:cubicBezTo>
                      <a:pt x="2998" y="126"/>
                      <a:pt x="2873" y="1"/>
                      <a:pt x="271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08" name="Google Shape;508;p49"/>
          <p:cNvSpPr/>
          <p:nvPr/>
        </p:nvSpPr>
        <p:spPr>
          <a:xfrm>
            <a:off x="1106225" y="1957275"/>
            <a:ext cx="1612174"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509" name="Google Shape;509;p49"/>
          <p:cNvSpPr txBox="1">
            <a:spLocks noGrp="1"/>
          </p:cNvSpPr>
          <p:nvPr>
            <p:ph type="title"/>
          </p:nvPr>
        </p:nvSpPr>
        <p:spPr>
          <a:xfrm>
            <a:off x="1036035" y="1559761"/>
            <a:ext cx="5309651" cy="595200"/>
          </a:xfrm>
          <a:prstGeom prst="rect">
            <a:avLst/>
          </a:prstGeom>
        </p:spPr>
        <p:txBody>
          <a:bodyPr spcFirstLastPara="1" wrap="square" lIns="91425" tIns="91425" rIns="91425" bIns="91425" anchor="ctr" anchorCtr="0">
            <a:noAutofit/>
          </a:bodyPr>
          <a:lstStyle/>
          <a:p>
            <a:pPr lvl="0"/>
            <a:r>
              <a:rPr lang="fr-FR" dirty="0"/>
              <a:t>PIPELINE DE SIMULATION</a:t>
            </a:r>
            <a:endParaRPr dirty="0"/>
          </a:p>
        </p:txBody>
      </p:sp>
      <p:sp>
        <p:nvSpPr>
          <p:cNvPr id="510" name="Google Shape;510;p49"/>
          <p:cNvSpPr/>
          <p:nvPr/>
        </p:nvSpPr>
        <p:spPr>
          <a:xfrm rot="-448633">
            <a:off x="6481743" y="2517200"/>
            <a:ext cx="2718012" cy="2717417"/>
          </a:xfrm>
          <a:prstGeom prst="decagon">
            <a:avLst>
              <a:gd name="vf" fmla="val 105146"/>
            </a:avLst>
          </a:prstGeom>
          <a:solidFill>
            <a:srgbClr val="95FFD4">
              <a:alpha val="52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9"/>
          <p:cNvSpPr txBox="1">
            <a:spLocks noGrp="1"/>
          </p:cNvSpPr>
          <p:nvPr>
            <p:ph type="subTitle" idx="1"/>
          </p:nvPr>
        </p:nvSpPr>
        <p:spPr>
          <a:xfrm>
            <a:off x="542692" y="3220351"/>
            <a:ext cx="8601308" cy="1741500"/>
          </a:xfrm>
          <a:prstGeom prst="rect">
            <a:avLst/>
          </a:prstGeom>
        </p:spPr>
        <p:txBody>
          <a:bodyPr spcFirstLastPara="1" wrap="square" lIns="91425" tIns="91425" rIns="91425" bIns="91425" anchor="ctr" anchorCtr="0">
            <a:noAutofit/>
          </a:bodyPr>
          <a:lstStyle/>
          <a:p>
            <a:r>
              <a:rPr lang="fr-FR" dirty="0">
                <a:latin typeface="Abhaya Libre" panose="020B0604020202020204" charset="0"/>
                <a:cs typeface="Abhaya Libre" panose="020B0604020202020204" charset="0"/>
              </a:rPr>
              <a:t>La simulation fonctionne en deux phases.</a:t>
            </a:r>
          </a:p>
          <a:p>
            <a:r>
              <a:rPr lang="fr-FR" b="1" dirty="0">
                <a:latin typeface="Abhaya Libre" panose="020B0604020202020204" charset="0"/>
                <a:cs typeface="Abhaya Libre" panose="020B0604020202020204" charset="0"/>
              </a:rPr>
              <a:t>Phase 1 — Décision</a:t>
            </a:r>
          </a:p>
          <a:p>
            <a:r>
              <a:rPr lang="fr-FR" dirty="0">
                <a:latin typeface="Abhaya Libre" panose="020B0604020202020204" charset="0"/>
                <a:cs typeface="Abhaya Libre" panose="020B0604020202020204" charset="0"/>
              </a:rPr>
              <a:t>Chaque agent lit le monde et calcule sa décision.</a:t>
            </a:r>
            <a:br>
              <a:rPr lang="fr-FR" dirty="0">
                <a:latin typeface="Abhaya Libre" panose="020B0604020202020204" charset="0"/>
                <a:cs typeface="Abhaya Libre" panose="020B0604020202020204" charset="0"/>
              </a:rPr>
            </a:br>
            <a:r>
              <a:rPr lang="fr-FR" dirty="0">
                <a:latin typeface="Abhaya Libre" panose="020B0604020202020204" charset="0"/>
                <a:cs typeface="Abhaya Libre" panose="020B0604020202020204" charset="0"/>
              </a:rPr>
              <a:t>Aucun état global n’est modifié.</a:t>
            </a:r>
          </a:p>
          <a:p>
            <a:r>
              <a:rPr lang="fr-FR" b="1" dirty="0">
                <a:latin typeface="Abhaya Libre" panose="020B0604020202020204" charset="0"/>
                <a:cs typeface="Abhaya Libre" panose="020B0604020202020204" charset="0"/>
              </a:rPr>
              <a:t>Phase 2 — Intégration</a:t>
            </a:r>
          </a:p>
          <a:p>
            <a:r>
              <a:rPr lang="fr-FR" dirty="0">
                <a:latin typeface="Abhaya Libre" panose="020B0604020202020204" charset="0"/>
                <a:cs typeface="Abhaya Libre" panose="020B0604020202020204" charset="0"/>
              </a:rPr>
              <a:t>Chaque agent applique sa décision et met à jour sa position.</a:t>
            </a:r>
          </a:p>
        </p:txBody>
      </p:sp>
      <p:pic>
        <p:nvPicPr>
          <p:cNvPr id="3" name="Image 2">
            <a:extLst>
              <a:ext uri="{FF2B5EF4-FFF2-40B4-BE49-F238E27FC236}">
                <a16:creationId xmlns:a16="http://schemas.microsoft.com/office/drawing/2014/main" id="{066EE780-6DFD-F6C1-4EAE-5E9A71DE1FDA}"/>
              </a:ext>
            </a:extLst>
          </p:cNvPr>
          <p:cNvPicPr>
            <a:picLocks noChangeAspect="1"/>
          </p:cNvPicPr>
          <p:nvPr/>
        </p:nvPicPr>
        <p:blipFill>
          <a:blip r:embed="rId3"/>
          <a:stretch>
            <a:fillRect/>
          </a:stretch>
        </p:blipFill>
        <p:spPr>
          <a:xfrm>
            <a:off x="828136" y="2423844"/>
            <a:ext cx="7487728" cy="564696"/>
          </a:xfrm>
          <a:prstGeom prst="rect">
            <a:avLst/>
          </a:prstGeom>
        </p:spPr>
      </p:pic>
      <p:sp>
        <p:nvSpPr>
          <p:cNvPr id="5" name="ZoneTexte 4">
            <a:extLst>
              <a:ext uri="{FF2B5EF4-FFF2-40B4-BE49-F238E27FC236}">
                <a16:creationId xmlns:a16="http://schemas.microsoft.com/office/drawing/2014/main" id="{7C1CBF01-A1DF-7231-D424-0F059ACEBC80}"/>
              </a:ext>
            </a:extLst>
          </p:cNvPr>
          <p:cNvSpPr txBox="1"/>
          <p:nvPr/>
        </p:nvSpPr>
        <p:spPr>
          <a:xfrm>
            <a:off x="5283679" y="3506325"/>
            <a:ext cx="4597878" cy="1169551"/>
          </a:xfrm>
          <a:prstGeom prst="rect">
            <a:avLst/>
          </a:prstGeom>
          <a:noFill/>
        </p:spPr>
        <p:txBody>
          <a:bodyPr wrap="square">
            <a:spAutoFit/>
          </a:bodyPr>
          <a:lstStyle/>
          <a:p>
            <a:pPr>
              <a:buNone/>
            </a:pPr>
            <a:r>
              <a:rPr lang="fr-FR" b="1" dirty="0">
                <a:latin typeface="Abhaya Libre" panose="020B0604020202020204" charset="0"/>
                <a:cs typeface="Abhaya Libre" panose="020B0604020202020204" charset="0"/>
              </a:rPr>
              <a:t>Bénéfices</a:t>
            </a:r>
          </a:p>
          <a:p>
            <a:pPr>
              <a:buFont typeface="Arial" panose="020B0604020202020204" pitchFamily="34" charset="0"/>
              <a:buChar char="•"/>
            </a:pPr>
            <a:r>
              <a:rPr lang="fr-FR" dirty="0">
                <a:latin typeface="Abhaya Libre" panose="020B0604020202020204" charset="0"/>
                <a:cs typeface="Abhaya Libre" panose="020B0604020202020204" charset="0"/>
              </a:rPr>
              <a:t>Même état du monde pour tous les agents.</a:t>
            </a:r>
          </a:p>
          <a:p>
            <a:pPr>
              <a:buFont typeface="Arial" panose="020B0604020202020204" pitchFamily="34" charset="0"/>
              <a:buChar char="•"/>
            </a:pPr>
            <a:r>
              <a:rPr lang="fr-FR" dirty="0">
                <a:latin typeface="Abhaya Libre" panose="020B0604020202020204" charset="0"/>
                <a:cs typeface="Abhaya Libre" panose="020B0604020202020204" charset="0"/>
              </a:rPr>
              <a:t>Moins de biais liés à l’ordre de calcul.</a:t>
            </a:r>
          </a:p>
          <a:p>
            <a:pPr>
              <a:buFont typeface="Arial" panose="020B0604020202020204" pitchFamily="34" charset="0"/>
              <a:buChar char="•"/>
            </a:pPr>
            <a:r>
              <a:rPr lang="fr-FR" dirty="0">
                <a:latin typeface="Abhaya Libre" panose="020B0604020202020204" charset="0"/>
                <a:cs typeface="Abhaya Libre" panose="020B0604020202020204" charset="0"/>
              </a:rPr>
              <a:t>Meilleure reproductibilité.</a:t>
            </a:r>
          </a:p>
          <a:p>
            <a:pPr>
              <a:buFont typeface="Arial" panose="020B0604020202020204" pitchFamily="34" charset="0"/>
              <a:buChar char="•"/>
            </a:pPr>
            <a:r>
              <a:rPr lang="fr-FR" dirty="0">
                <a:latin typeface="Abhaya Libre" panose="020B0604020202020204" charset="0"/>
                <a:cs typeface="Abhaya Libre" panose="020B0604020202020204" charset="0"/>
              </a:rPr>
              <a:t>Phase décision </a:t>
            </a:r>
            <a:r>
              <a:rPr lang="fr-FR" dirty="0" err="1">
                <a:latin typeface="Abhaya Libre" panose="020B0604020202020204" charset="0"/>
                <a:cs typeface="Abhaya Libre" panose="020B0604020202020204" charset="0"/>
              </a:rPr>
              <a:t>parallélisable</a:t>
            </a:r>
            <a:r>
              <a:rPr lang="fr-FR" dirty="0">
                <a:latin typeface="Abhaya Libre" panose="020B0604020202020204" charset="0"/>
                <a:cs typeface="Abhaya Libre" panose="020B0604020202020204" charset="0"/>
              </a:rPr>
              <a:t>.</a:t>
            </a:r>
          </a:p>
        </p:txBody>
      </p:sp>
      <p:sp>
        <p:nvSpPr>
          <p:cNvPr id="2" name="ZoneTexte 1">
            <a:extLst>
              <a:ext uri="{FF2B5EF4-FFF2-40B4-BE49-F238E27FC236}">
                <a16:creationId xmlns:a16="http://schemas.microsoft.com/office/drawing/2014/main" id="{80911D2D-8C95-5E8B-0280-195A694EEF21}"/>
              </a:ext>
            </a:extLst>
          </p:cNvPr>
          <p:cNvSpPr txBox="1"/>
          <p:nvPr/>
        </p:nvSpPr>
        <p:spPr>
          <a:xfrm>
            <a:off x="8819972" y="4835723"/>
            <a:ext cx="349776"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43" name="Google Shape;543;p50"/>
          <p:cNvSpPr/>
          <p:nvPr/>
        </p:nvSpPr>
        <p:spPr>
          <a:xfrm>
            <a:off x="807738" y="1938825"/>
            <a:ext cx="1004420"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547" name="Google Shape;547;p50"/>
          <p:cNvSpPr txBox="1">
            <a:spLocks noGrp="1"/>
          </p:cNvSpPr>
          <p:nvPr>
            <p:ph type="title"/>
          </p:nvPr>
        </p:nvSpPr>
        <p:spPr>
          <a:xfrm>
            <a:off x="728913" y="1540466"/>
            <a:ext cx="6519380" cy="592200"/>
          </a:xfrm>
          <a:prstGeom prst="rect">
            <a:avLst/>
          </a:prstGeom>
        </p:spPr>
        <p:txBody>
          <a:bodyPr spcFirstLastPara="1" wrap="square" lIns="91425" tIns="91425" rIns="91425" bIns="91425" anchor="ctr" anchorCtr="0">
            <a:noAutofit/>
          </a:bodyPr>
          <a:lstStyle/>
          <a:p>
            <a:pPr lvl="0"/>
            <a:r>
              <a:rPr lang="fr-FR" sz="2400" dirty="0"/>
              <a:t>PERCEPTION LOCALE</a:t>
            </a:r>
            <a:endParaRPr sz="2400" dirty="0"/>
          </a:p>
        </p:txBody>
      </p:sp>
      <p:cxnSp>
        <p:nvCxnSpPr>
          <p:cNvPr id="549" name="Google Shape;549;p50"/>
          <p:cNvCxnSpPr/>
          <p:nvPr/>
        </p:nvCxnSpPr>
        <p:spPr>
          <a:xfrm>
            <a:off x="728913" y="1371500"/>
            <a:ext cx="852000" cy="0"/>
          </a:xfrm>
          <a:prstGeom prst="straightConnector1">
            <a:avLst/>
          </a:prstGeom>
          <a:noFill/>
          <a:ln w="38100" cap="flat" cmpd="sng">
            <a:solidFill>
              <a:schemeClr val="accent1"/>
            </a:solidFill>
            <a:prstDash val="solid"/>
            <a:round/>
            <a:headEnd type="none" w="med" len="med"/>
            <a:tailEnd type="none" w="med" len="med"/>
          </a:ln>
        </p:spPr>
      </p:cxnSp>
      <p:sp>
        <p:nvSpPr>
          <p:cNvPr id="551" name="Google Shape;551;p50"/>
          <p:cNvSpPr/>
          <p:nvPr/>
        </p:nvSpPr>
        <p:spPr>
          <a:xfrm>
            <a:off x="2798863" y="558274"/>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Rectangle 1">
            <a:extLst>
              <a:ext uri="{FF2B5EF4-FFF2-40B4-BE49-F238E27FC236}">
                <a16:creationId xmlns:a16="http://schemas.microsoft.com/office/drawing/2014/main" id="{AEBF3075-316B-CD74-2A3F-BD054FD4B58D}"/>
              </a:ext>
            </a:extLst>
          </p:cNvPr>
          <p:cNvSpPr>
            <a:spLocks noChangeArrowheads="1"/>
          </p:cNvSpPr>
          <p:nvPr/>
        </p:nvSpPr>
        <p:spPr bwMode="auto">
          <a:xfrm>
            <a:off x="631903" y="2571750"/>
            <a:ext cx="8420895" cy="2077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r>
              <a:rPr lang="fr-FR" sz="1200" b="1" dirty="0"/>
              <a:t>Problème : </a:t>
            </a:r>
            <a:r>
              <a:rPr lang="fr-FR" sz="1200" b="1" dirty="0" err="1"/>
              <a:t>ghost-following</a:t>
            </a:r>
            <a:endParaRPr lang="fr-FR" sz="1200" b="1" dirty="0"/>
          </a:p>
          <a:p>
            <a:r>
              <a:rPr lang="fr-FR" sz="1200" dirty="0"/>
              <a:t>Un véhicule peut freiner pour un autre véhicule qui est proche géométriquement, mais qui n’est pas réellement devant lui.</a:t>
            </a:r>
          </a:p>
          <a:p>
            <a:r>
              <a:rPr lang="fr-FR" sz="1200" dirty="0"/>
              <a:t>Exemples :</a:t>
            </a:r>
          </a:p>
          <a:p>
            <a:r>
              <a:rPr lang="fr-FR" sz="1200" dirty="0"/>
              <a:t>- véhicule en sens inverse ;</a:t>
            </a:r>
          </a:p>
          <a:p>
            <a:r>
              <a:rPr lang="fr-FR" sz="1200" dirty="0"/>
              <a:t>- véhicule sur une voie voisine ;</a:t>
            </a:r>
          </a:p>
          <a:p>
            <a:r>
              <a:rPr lang="fr-FR" sz="1200" dirty="0"/>
              <a:t>- véhicule dans un virage ;</a:t>
            </a:r>
          </a:p>
          <a:p>
            <a:r>
              <a:rPr lang="fr-FR" sz="1200" dirty="0"/>
              <a:t>- Trajectoire croisée.</a:t>
            </a:r>
          </a:p>
          <a:p>
            <a:r>
              <a:rPr lang="fr-FR" sz="1200" b="1" dirty="0"/>
              <a:t>Solution : projection de Frenet</a:t>
            </a:r>
          </a:p>
          <a:p>
            <a:r>
              <a:rPr lang="fr-FR" sz="1200" dirty="0"/>
              <a:t>- La route est convertie en axe curviligne.</a:t>
            </a:r>
            <a:br>
              <a:rPr lang="fr-FR" sz="1200" dirty="0"/>
            </a:br>
            <a:r>
              <a:rPr lang="fr-FR" sz="1200" dirty="0"/>
              <a:t>- Les véhicules sont projetés sur cet axe.</a:t>
            </a:r>
            <a:br>
              <a:rPr lang="fr-FR" sz="1200" dirty="0"/>
            </a:br>
            <a:r>
              <a:rPr lang="fr-FR" sz="1200" dirty="0"/>
              <a:t>- On garde uniquement les leaders cohérents avec la trajectoire.</a:t>
            </a:r>
          </a:p>
        </p:txBody>
      </p:sp>
      <p:pic>
        <p:nvPicPr>
          <p:cNvPr id="3" name="Image 2">
            <a:extLst>
              <a:ext uri="{FF2B5EF4-FFF2-40B4-BE49-F238E27FC236}">
                <a16:creationId xmlns:a16="http://schemas.microsoft.com/office/drawing/2014/main" id="{D7DC5286-DF0E-6860-A4BE-55E127264743}"/>
              </a:ext>
            </a:extLst>
          </p:cNvPr>
          <p:cNvPicPr>
            <a:picLocks noChangeAspect="1"/>
          </p:cNvPicPr>
          <p:nvPr/>
        </p:nvPicPr>
        <p:blipFill>
          <a:blip r:embed="rId3"/>
          <a:stretch>
            <a:fillRect/>
          </a:stretch>
        </p:blipFill>
        <p:spPr>
          <a:xfrm>
            <a:off x="5484349" y="268143"/>
            <a:ext cx="2696637" cy="2206714"/>
          </a:xfrm>
          <a:prstGeom prst="rect">
            <a:avLst/>
          </a:prstGeom>
        </p:spPr>
      </p:pic>
      <p:sp>
        <p:nvSpPr>
          <p:cNvPr id="2" name="ZoneTexte 1">
            <a:extLst>
              <a:ext uri="{FF2B5EF4-FFF2-40B4-BE49-F238E27FC236}">
                <a16:creationId xmlns:a16="http://schemas.microsoft.com/office/drawing/2014/main" id="{CC334F5C-8C3F-4E42-5D91-3D77A2218040}"/>
              </a:ext>
            </a:extLst>
          </p:cNvPr>
          <p:cNvSpPr txBox="1"/>
          <p:nvPr/>
        </p:nvSpPr>
        <p:spPr>
          <a:xfrm>
            <a:off x="8819972" y="4835723"/>
            <a:ext cx="332142"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5">
          <a:extLst>
            <a:ext uri="{FF2B5EF4-FFF2-40B4-BE49-F238E27FC236}">
              <a16:creationId xmlns:a16="http://schemas.microsoft.com/office/drawing/2014/main" id="{D89C3578-1B4F-2FAC-7F0F-C5FE230BB9A6}"/>
            </a:ext>
          </a:extLst>
        </p:cNvPr>
        <p:cNvGrpSpPr/>
        <p:nvPr/>
      </p:nvGrpSpPr>
      <p:grpSpPr>
        <a:xfrm>
          <a:off x="0" y="0"/>
          <a:ext cx="0" cy="0"/>
          <a:chOff x="0" y="0"/>
          <a:chExt cx="0" cy="0"/>
        </a:xfrm>
      </p:grpSpPr>
      <p:sp>
        <p:nvSpPr>
          <p:cNvPr id="543" name="Google Shape;543;p50">
            <a:extLst>
              <a:ext uri="{FF2B5EF4-FFF2-40B4-BE49-F238E27FC236}">
                <a16:creationId xmlns:a16="http://schemas.microsoft.com/office/drawing/2014/main" id="{54E1DF2C-ECBB-B928-FDA2-124446033C31}"/>
              </a:ext>
            </a:extLst>
          </p:cNvPr>
          <p:cNvSpPr/>
          <p:nvPr/>
        </p:nvSpPr>
        <p:spPr>
          <a:xfrm>
            <a:off x="807738" y="1938825"/>
            <a:ext cx="1004420"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547" name="Google Shape;547;p50">
            <a:extLst>
              <a:ext uri="{FF2B5EF4-FFF2-40B4-BE49-F238E27FC236}">
                <a16:creationId xmlns:a16="http://schemas.microsoft.com/office/drawing/2014/main" id="{C12E7B10-C30A-109B-DF27-844AF4255917}"/>
              </a:ext>
            </a:extLst>
          </p:cNvPr>
          <p:cNvSpPr txBox="1">
            <a:spLocks noGrp="1"/>
          </p:cNvSpPr>
          <p:nvPr>
            <p:ph type="title"/>
          </p:nvPr>
        </p:nvSpPr>
        <p:spPr>
          <a:xfrm>
            <a:off x="728913" y="1540466"/>
            <a:ext cx="6519380" cy="592200"/>
          </a:xfrm>
          <a:prstGeom prst="rect">
            <a:avLst/>
          </a:prstGeom>
        </p:spPr>
        <p:txBody>
          <a:bodyPr spcFirstLastPara="1" wrap="square" lIns="91425" tIns="91425" rIns="91425" bIns="91425" anchor="ctr" anchorCtr="0">
            <a:noAutofit/>
          </a:bodyPr>
          <a:lstStyle/>
          <a:p>
            <a:pPr lvl="0"/>
            <a:r>
              <a:rPr lang="fr-FR" sz="2400" dirty="0"/>
              <a:t>Intersection classique</a:t>
            </a:r>
            <a:endParaRPr sz="2400" dirty="0"/>
          </a:p>
        </p:txBody>
      </p:sp>
      <p:cxnSp>
        <p:nvCxnSpPr>
          <p:cNvPr id="549" name="Google Shape;549;p50">
            <a:extLst>
              <a:ext uri="{FF2B5EF4-FFF2-40B4-BE49-F238E27FC236}">
                <a16:creationId xmlns:a16="http://schemas.microsoft.com/office/drawing/2014/main" id="{4D10CBB5-7674-2AFC-FCCF-BD31D3FBB52A}"/>
              </a:ext>
            </a:extLst>
          </p:cNvPr>
          <p:cNvCxnSpPr/>
          <p:nvPr/>
        </p:nvCxnSpPr>
        <p:spPr>
          <a:xfrm>
            <a:off x="728913" y="1371500"/>
            <a:ext cx="852000" cy="0"/>
          </a:xfrm>
          <a:prstGeom prst="straightConnector1">
            <a:avLst/>
          </a:prstGeom>
          <a:noFill/>
          <a:ln w="38100" cap="flat" cmpd="sng">
            <a:solidFill>
              <a:schemeClr val="accent1"/>
            </a:solidFill>
            <a:prstDash val="solid"/>
            <a:round/>
            <a:headEnd type="none" w="med" len="med"/>
            <a:tailEnd type="none" w="med" len="med"/>
          </a:ln>
        </p:spPr>
      </p:cxnSp>
      <p:sp>
        <p:nvSpPr>
          <p:cNvPr id="551" name="Google Shape;551;p50">
            <a:extLst>
              <a:ext uri="{FF2B5EF4-FFF2-40B4-BE49-F238E27FC236}">
                <a16:creationId xmlns:a16="http://schemas.microsoft.com/office/drawing/2014/main" id="{6F8056F2-9075-5AB6-DA68-59586FE16813}"/>
              </a:ext>
            </a:extLst>
          </p:cNvPr>
          <p:cNvSpPr/>
          <p:nvPr/>
        </p:nvSpPr>
        <p:spPr>
          <a:xfrm>
            <a:off x="2798863" y="558274"/>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Rectangle 1">
            <a:extLst>
              <a:ext uri="{FF2B5EF4-FFF2-40B4-BE49-F238E27FC236}">
                <a16:creationId xmlns:a16="http://schemas.microsoft.com/office/drawing/2014/main" id="{8217D081-1AE0-2CD9-CB0B-55FE890B230F}"/>
              </a:ext>
            </a:extLst>
          </p:cNvPr>
          <p:cNvSpPr>
            <a:spLocks noChangeArrowheads="1"/>
          </p:cNvSpPr>
          <p:nvPr/>
        </p:nvSpPr>
        <p:spPr bwMode="auto">
          <a:xfrm>
            <a:off x="631903" y="2531025"/>
            <a:ext cx="5072222" cy="1523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r>
              <a:rPr lang="fr-FR" sz="1200" b="1" dirty="0"/>
              <a:t>Priorité à droite</a:t>
            </a:r>
          </a:p>
          <a:p>
            <a:r>
              <a:rPr lang="fr-FR" sz="1200" dirty="0"/>
              <a:t>L’agent cède si un véhicule conflictuel arrive depuis sa droite.</a:t>
            </a:r>
          </a:p>
          <a:p>
            <a:r>
              <a:rPr lang="fr-FR" sz="1200" b="1" dirty="0"/>
              <a:t>Stop</a:t>
            </a:r>
          </a:p>
          <a:p>
            <a:r>
              <a:rPr lang="fr-FR" sz="1200" dirty="0"/>
              <a:t>Arrêt complet obligatoire, puis vérification du créneau.</a:t>
            </a:r>
          </a:p>
          <a:p>
            <a:r>
              <a:rPr lang="fr-FR" sz="1200" b="1" dirty="0"/>
              <a:t>Cédez-le-passage</a:t>
            </a:r>
          </a:p>
          <a:p>
            <a:r>
              <a:rPr lang="fr-FR" sz="1200" dirty="0"/>
              <a:t>Pas d’arrêt obligatoire, mais passage uniquement si le gap est suffisant.</a:t>
            </a:r>
          </a:p>
          <a:p>
            <a:r>
              <a:rPr lang="fr-FR" sz="1200" b="1" dirty="0"/>
              <a:t>Feux tricolores</a:t>
            </a:r>
          </a:p>
          <a:p>
            <a:r>
              <a:rPr lang="fr-FR" sz="1200" dirty="0"/>
              <a:t>Décision selon la phase : vert, orange ou rouge.</a:t>
            </a:r>
          </a:p>
        </p:txBody>
      </p:sp>
      <p:pic>
        <p:nvPicPr>
          <p:cNvPr id="5" name="Image 4">
            <a:extLst>
              <a:ext uri="{FF2B5EF4-FFF2-40B4-BE49-F238E27FC236}">
                <a16:creationId xmlns:a16="http://schemas.microsoft.com/office/drawing/2014/main" id="{D66B8C47-F35C-6AC1-9107-FC1E3AFD2E3F}"/>
              </a:ext>
            </a:extLst>
          </p:cNvPr>
          <p:cNvPicPr>
            <a:picLocks noChangeAspect="1"/>
          </p:cNvPicPr>
          <p:nvPr/>
        </p:nvPicPr>
        <p:blipFill>
          <a:blip r:embed="rId3"/>
          <a:stretch>
            <a:fillRect/>
          </a:stretch>
        </p:blipFill>
        <p:spPr>
          <a:xfrm>
            <a:off x="6542531" y="277773"/>
            <a:ext cx="1706584" cy="1451677"/>
          </a:xfrm>
          <a:prstGeom prst="rect">
            <a:avLst/>
          </a:prstGeom>
        </p:spPr>
      </p:pic>
      <p:pic>
        <p:nvPicPr>
          <p:cNvPr id="8" name="Image 7">
            <a:extLst>
              <a:ext uri="{FF2B5EF4-FFF2-40B4-BE49-F238E27FC236}">
                <a16:creationId xmlns:a16="http://schemas.microsoft.com/office/drawing/2014/main" id="{00426D90-E15F-1B9E-D06A-18BF0F34619D}"/>
              </a:ext>
            </a:extLst>
          </p:cNvPr>
          <p:cNvPicPr>
            <a:picLocks noChangeAspect="1"/>
          </p:cNvPicPr>
          <p:nvPr/>
        </p:nvPicPr>
        <p:blipFill>
          <a:blip r:embed="rId4"/>
          <a:stretch>
            <a:fillRect/>
          </a:stretch>
        </p:blipFill>
        <p:spPr>
          <a:xfrm>
            <a:off x="6508355" y="1938825"/>
            <a:ext cx="1774937" cy="1454166"/>
          </a:xfrm>
          <a:prstGeom prst="rect">
            <a:avLst/>
          </a:prstGeom>
        </p:spPr>
      </p:pic>
      <p:pic>
        <p:nvPicPr>
          <p:cNvPr id="10" name="Image 9">
            <a:extLst>
              <a:ext uri="{FF2B5EF4-FFF2-40B4-BE49-F238E27FC236}">
                <a16:creationId xmlns:a16="http://schemas.microsoft.com/office/drawing/2014/main" id="{1532E9EE-1CA1-8CEF-E168-1A603755C36A}"/>
              </a:ext>
            </a:extLst>
          </p:cNvPr>
          <p:cNvPicPr>
            <a:picLocks noChangeAspect="1"/>
          </p:cNvPicPr>
          <p:nvPr/>
        </p:nvPicPr>
        <p:blipFill>
          <a:blip r:embed="rId5"/>
          <a:stretch>
            <a:fillRect/>
          </a:stretch>
        </p:blipFill>
        <p:spPr>
          <a:xfrm>
            <a:off x="6562078" y="3563580"/>
            <a:ext cx="1667491" cy="1452169"/>
          </a:xfrm>
          <a:prstGeom prst="rect">
            <a:avLst/>
          </a:prstGeom>
        </p:spPr>
      </p:pic>
      <p:sp>
        <p:nvSpPr>
          <p:cNvPr id="2" name="ZoneTexte 1">
            <a:extLst>
              <a:ext uri="{FF2B5EF4-FFF2-40B4-BE49-F238E27FC236}">
                <a16:creationId xmlns:a16="http://schemas.microsoft.com/office/drawing/2014/main" id="{CE58A023-9FF3-B8D9-73DD-A0A458B5D5E5}"/>
              </a:ext>
            </a:extLst>
          </p:cNvPr>
          <p:cNvSpPr txBox="1"/>
          <p:nvPr/>
        </p:nvSpPr>
        <p:spPr>
          <a:xfrm>
            <a:off x="8819972" y="4835723"/>
            <a:ext cx="340158"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12</a:t>
            </a:r>
          </a:p>
        </p:txBody>
      </p:sp>
    </p:spTree>
    <p:extLst>
      <p:ext uri="{BB962C8B-B14F-4D97-AF65-F5344CB8AC3E}">
        <p14:creationId xmlns:p14="http://schemas.microsoft.com/office/powerpoint/2010/main" val="1628772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5">
          <a:extLst>
            <a:ext uri="{FF2B5EF4-FFF2-40B4-BE49-F238E27FC236}">
              <a16:creationId xmlns:a16="http://schemas.microsoft.com/office/drawing/2014/main" id="{52C8F60F-F422-403D-E13B-ABAB9BBFBEFB}"/>
            </a:ext>
          </a:extLst>
        </p:cNvPr>
        <p:cNvGrpSpPr/>
        <p:nvPr/>
      </p:nvGrpSpPr>
      <p:grpSpPr>
        <a:xfrm>
          <a:off x="0" y="0"/>
          <a:ext cx="0" cy="0"/>
          <a:chOff x="0" y="0"/>
          <a:chExt cx="0" cy="0"/>
        </a:xfrm>
      </p:grpSpPr>
      <p:sp>
        <p:nvSpPr>
          <p:cNvPr id="543" name="Google Shape;543;p50">
            <a:extLst>
              <a:ext uri="{FF2B5EF4-FFF2-40B4-BE49-F238E27FC236}">
                <a16:creationId xmlns:a16="http://schemas.microsoft.com/office/drawing/2014/main" id="{E95FF3CA-B1A2-8766-14FD-29956EA5FF42}"/>
              </a:ext>
            </a:extLst>
          </p:cNvPr>
          <p:cNvSpPr/>
          <p:nvPr/>
        </p:nvSpPr>
        <p:spPr>
          <a:xfrm>
            <a:off x="807738" y="1938825"/>
            <a:ext cx="1004420" cy="130230"/>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547" name="Google Shape;547;p50">
            <a:extLst>
              <a:ext uri="{FF2B5EF4-FFF2-40B4-BE49-F238E27FC236}">
                <a16:creationId xmlns:a16="http://schemas.microsoft.com/office/drawing/2014/main" id="{D614C309-3A93-3DC4-B466-776629E00C4B}"/>
              </a:ext>
            </a:extLst>
          </p:cNvPr>
          <p:cNvSpPr txBox="1">
            <a:spLocks noGrp="1"/>
          </p:cNvSpPr>
          <p:nvPr>
            <p:ph type="title"/>
          </p:nvPr>
        </p:nvSpPr>
        <p:spPr>
          <a:xfrm>
            <a:off x="728913" y="1540466"/>
            <a:ext cx="6519380" cy="592200"/>
          </a:xfrm>
          <a:prstGeom prst="rect">
            <a:avLst/>
          </a:prstGeom>
        </p:spPr>
        <p:txBody>
          <a:bodyPr spcFirstLastPara="1" wrap="square" lIns="91425" tIns="91425" rIns="91425" bIns="91425" anchor="ctr" anchorCtr="0">
            <a:noAutofit/>
          </a:bodyPr>
          <a:lstStyle/>
          <a:p>
            <a:pPr lvl="0"/>
            <a:r>
              <a:rPr lang="fr-FR" sz="2400" dirty="0"/>
              <a:t>Intersection avancée</a:t>
            </a:r>
            <a:endParaRPr sz="2400" dirty="0"/>
          </a:p>
        </p:txBody>
      </p:sp>
      <p:cxnSp>
        <p:nvCxnSpPr>
          <p:cNvPr id="549" name="Google Shape;549;p50">
            <a:extLst>
              <a:ext uri="{FF2B5EF4-FFF2-40B4-BE49-F238E27FC236}">
                <a16:creationId xmlns:a16="http://schemas.microsoft.com/office/drawing/2014/main" id="{6F9B3AE6-CD7D-74F3-EAAC-334BF9B57C01}"/>
              </a:ext>
            </a:extLst>
          </p:cNvPr>
          <p:cNvCxnSpPr/>
          <p:nvPr/>
        </p:nvCxnSpPr>
        <p:spPr>
          <a:xfrm>
            <a:off x="728913" y="1371500"/>
            <a:ext cx="852000" cy="0"/>
          </a:xfrm>
          <a:prstGeom prst="straightConnector1">
            <a:avLst/>
          </a:prstGeom>
          <a:noFill/>
          <a:ln w="38100" cap="flat" cmpd="sng">
            <a:solidFill>
              <a:schemeClr val="accent1"/>
            </a:solidFill>
            <a:prstDash val="solid"/>
            <a:round/>
            <a:headEnd type="none" w="med" len="med"/>
            <a:tailEnd type="none" w="med" len="med"/>
          </a:ln>
        </p:spPr>
      </p:cxnSp>
      <p:sp>
        <p:nvSpPr>
          <p:cNvPr id="551" name="Google Shape;551;p50">
            <a:extLst>
              <a:ext uri="{FF2B5EF4-FFF2-40B4-BE49-F238E27FC236}">
                <a16:creationId xmlns:a16="http://schemas.microsoft.com/office/drawing/2014/main" id="{2B0DBB61-126D-3146-9C6C-029473CAEBD8}"/>
              </a:ext>
            </a:extLst>
          </p:cNvPr>
          <p:cNvSpPr/>
          <p:nvPr/>
        </p:nvSpPr>
        <p:spPr>
          <a:xfrm>
            <a:off x="2798863" y="558274"/>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Rectangle 1">
            <a:extLst>
              <a:ext uri="{FF2B5EF4-FFF2-40B4-BE49-F238E27FC236}">
                <a16:creationId xmlns:a16="http://schemas.microsoft.com/office/drawing/2014/main" id="{CA23A776-D9EF-E064-25A4-D3A6BF0143C8}"/>
              </a:ext>
            </a:extLst>
          </p:cNvPr>
          <p:cNvSpPr>
            <a:spLocks noChangeArrowheads="1"/>
          </p:cNvSpPr>
          <p:nvPr/>
        </p:nvSpPr>
        <p:spPr bwMode="auto">
          <a:xfrm>
            <a:off x="720409" y="2353693"/>
            <a:ext cx="4156907"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r>
              <a:rPr lang="fr-FR" sz="1200" b="1" dirty="0"/>
              <a:t>Stratégies issues de la recherche</a:t>
            </a:r>
          </a:p>
          <a:p>
            <a:r>
              <a:rPr lang="fr-FR" sz="1200" b="1" dirty="0"/>
              <a:t>Priorité fixe</a:t>
            </a:r>
          </a:p>
          <a:p>
            <a:r>
              <a:rPr lang="fr-FR" sz="1200" dirty="0"/>
              <a:t>Un axe principal passe, l’axe secondaire cède.</a:t>
            </a:r>
            <a:br>
              <a:rPr lang="fr-FR" sz="1200" dirty="0"/>
            </a:br>
            <a:r>
              <a:rPr lang="fr-FR" sz="1200" dirty="0"/>
              <a:t>Simple, déterministe, mais peu adaptatif.</a:t>
            </a:r>
          </a:p>
          <a:p>
            <a:r>
              <a:rPr lang="fr-FR" sz="1200" b="1" dirty="0"/>
              <a:t>P2P</a:t>
            </a:r>
          </a:p>
          <a:p>
            <a:r>
              <a:rPr lang="fr-FR" sz="1200" dirty="0"/>
              <a:t>Chaque agent évalue localement les conflits.</a:t>
            </a:r>
            <a:br>
              <a:rPr lang="fr-FR" sz="1200" dirty="0"/>
            </a:br>
            <a:r>
              <a:rPr lang="fr-FR" sz="1200" dirty="0"/>
              <a:t>Pas de manager central.</a:t>
            </a:r>
          </a:p>
          <a:p>
            <a:r>
              <a:rPr lang="fr-FR" sz="1200" b="1" dirty="0"/>
              <a:t>AIM</a:t>
            </a:r>
          </a:p>
          <a:p>
            <a:r>
              <a:rPr lang="fr-FR" sz="1200" dirty="0"/>
              <a:t>Un gestionnaire central réserve des créneaux de passage.</a:t>
            </a:r>
            <a:br>
              <a:rPr lang="fr-FR" sz="1200" dirty="0"/>
            </a:br>
            <a:r>
              <a:rPr lang="fr-FR" sz="1200" dirty="0"/>
              <a:t>Très structuré, mais dépendant d’une infrastructure.</a:t>
            </a:r>
          </a:p>
          <a:p>
            <a:r>
              <a:rPr lang="fr-FR" sz="1200" b="1" dirty="0"/>
              <a:t>ORCA / Virtual </a:t>
            </a:r>
            <a:r>
              <a:rPr lang="fr-FR" sz="1200" b="1" dirty="0" err="1"/>
              <a:t>Platooning</a:t>
            </a:r>
            <a:endParaRPr lang="fr-FR" sz="1200" b="1" dirty="0"/>
          </a:p>
          <a:p>
            <a:r>
              <a:rPr lang="fr-FR" sz="1200" dirty="0"/>
              <a:t>Approches avancées pour fluidifier la traversée.</a:t>
            </a:r>
            <a:br>
              <a:rPr lang="fr-FR" sz="1200" dirty="0"/>
            </a:br>
            <a:r>
              <a:rPr lang="fr-FR" sz="1200" dirty="0"/>
              <a:t>Pertinentes, mais plus complexes à stabiliser.</a:t>
            </a:r>
          </a:p>
        </p:txBody>
      </p:sp>
      <p:pic>
        <p:nvPicPr>
          <p:cNvPr id="3" name="Image 2">
            <a:extLst>
              <a:ext uri="{FF2B5EF4-FFF2-40B4-BE49-F238E27FC236}">
                <a16:creationId xmlns:a16="http://schemas.microsoft.com/office/drawing/2014/main" id="{6234AF7A-144F-FDE0-26D0-FBF3D4762D1A}"/>
              </a:ext>
            </a:extLst>
          </p:cNvPr>
          <p:cNvPicPr>
            <a:picLocks noChangeAspect="1"/>
          </p:cNvPicPr>
          <p:nvPr/>
        </p:nvPicPr>
        <p:blipFill>
          <a:blip r:embed="rId3"/>
          <a:stretch>
            <a:fillRect/>
          </a:stretch>
        </p:blipFill>
        <p:spPr>
          <a:xfrm>
            <a:off x="4444018" y="537575"/>
            <a:ext cx="1771424" cy="1816116"/>
          </a:xfrm>
          <a:prstGeom prst="rect">
            <a:avLst/>
          </a:prstGeom>
        </p:spPr>
      </p:pic>
      <p:pic>
        <p:nvPicPr>
          <p:cNvPr id="7" name="Image 6">
            <a:extLst>
              <a:ext uri="{FF2B5EF4-FFF2-40B4-BE49-F238E27FC236}">
                <a16:creationId xmlns:a16="http://schemas.microsoft.com/office/drawing/2014/main" id="{4A9BBB67-A968-A655-3BC8-7E05B4DFDBBF}"/>
              </a:ext>
            </a:extLst>
          </p:cNvPr>
          <p:cNvPicPr>
            <a:picLocks noChangeAspect="1"/>
          </p:cNvPicPr>
          <p:nvPr/>
        </p:nvPicPr>
        <p:blipFill>
          <a:blip r:embed="rId4"/>
          <a:stretch>
            <a:fillRect/>
          </a:stretch>
        </p:blipFill>
        <p:spPr>
          <a:xfrm>
            <a:off x="6908374" y="979934"/>
            <a:ext cx="1897789" cy="1373757"/>
          </a:xfrm>
          <a:prstGeom prst="rect">
            <a:avLst/>
          </a:prstGeom>
        </p:spPr>
      </p:pic>
      <p:pic>
        <p:nvPicPr>
          <p:cNvPr id="11" name="Image 10">
            <a:extLst>
              <a:ext uri="{FF2B5EF4-FFF2-40B4-BE49-F238E27FC236}">
                <a16:creationId xmlns:a16="http://schemas.microsoft.com/office/drawing/2014/main" id="{997D59C5-6616-F797-5EC8-D835161D9C8B}"/>
              </a:ext>
            </a:extLst>
          </p:cNvPr>
          <p:cNvPicPr>
            <a:picLocks noChangeAspect="1"/>
          </p:cNvPicPr>
          <p:nvPr/>
        </p:nvPicPr>
        <p:blipFill>
          <a:blip r:embed="rId5"/>
          <a:stretch>
            <a:fillRect/>
          </a:stretch>
        </p:blipFill>
        <p:spPr>
          <a:xfrm>
            <a:off x="5683211" y="2789810"/>
            <a:ext cx="1753540" cy="2037142"/>
          </a:xfrm>
          <a:prstGeom prst="rect">
            <a:avLst/>
          </a:prstGeom>
        </p:spPr>
      </p:pic>
      <p:sp>
        <p:nvSpPr>
          <p:cNvPr id="2" name="ZoneTexte 1">
            <a:extLst>
              <a:ext uri="{FF2B5EF4-FFF2-40B4-BE49-F238E27FC236}">
                <a16:creationId xmlns:a16="http://schemas.microsoft.com/office/drawing/2014/main" id="{588834D0-0BF2-45DC-A567-2D057ED0079B}"/>
              </a:ext>
            </a:extLst>
          </p:cNvPr>
          <p:cNvSpPr txBox="1"/>
          <p:nvPr/>
        </p:nvSpPr>
        <p:spPr>
          <a:xfrm>
            <a:off x="8819972" y="4835723"/>
            <a:ext cx="344966"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13</a:t>
            </a:r>
          </a:p>
        </p:txBody>
      </p:sp>
    </p:spTree>
    <p:extLst>
      <p:ext uri="{BB962C8B-B14F-4D97-AF65-F5344CB8AC3E}">
        <p14:creationId xmlns:p14="http://schemas.microsoft.com/office/powerpoint/2010/main" val="3227670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52"/>
          <p:cNvSpPr/>
          <p:nvPr/>
        </p:nvSpPr>
        <p:spPr>
          <a:xfrm>
            <a:off x="3083025" y="998250"/>
            <a:ext cx="1492301"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613" name="Google Shape;613;p52"/>
          <p:cNvSpPr txBox="1">
            <a:spLocks noGrp="1"/>
          </p:cNvSpPr>
          <p:nvPr>
            <p:ph type="title"/>
          </p:nvPr>
        </p:nvSpPr>
        <p:spPr>
          <a:xfrm>
            <a:off x="1577050" y="616312"/>
            <a:ext cx="6698400" cy="572700"/>
          </a:xfrm>
          <a:prstGeom prst="rect">
            <a:avLst/>
          </a:prstGeom>
        </p:spPr>
        <p:txBody>
          <a:bodyPr spcFirstLastPara="1" wrap="square" lIns="91425" tIns="91425" rIns="91425" bIns="91425" anchor="t" anchorCtr="0">
            <a:noAutofit/>
          </a:bodyPr>
          <a:lstStyle/>
          <a:p>
            <a:pPr lvl="0"/>
            <a:r>
              <a:rPr lang="fr-FR" sz="2400" dirty="0"/>
              <a:t>Comportement des véhicules</a:t>
            </a:r>
            <a:endParaRPr sz="2400" dirty="0"/>
          </a:p>
        </p:txBody>
      </p:sp>
      <p:sp>
        <p:nvSpPr>
          <p:cNvPr id="614" name="Google Shape;614;p52"/>
          <p:cNvSpPr/>
          <p:nvPr/>
        </p:nvSpPr>
        <p:spPr>
          <a:xfrm>
            <a:off x="5631238" y="305349"/>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5" name="Google Shape;615;p52"/>
          <p:cNvGrpSpPr/>
          <p:nvPr/>
        </p:nvGrpSpPr>
        <p:grpSpPr>
          <a:xfrm rot="550332">
            <a:off x="5899824" y="607903"/>
            <a:ext cx="503843" cy="436244"/>
            <a:chOff x="7147850" y="558075"/>
            <a:chExt cx="503850" cy="436250"/>
          </a:xfrm>
        </p:grpSpPr>
        <p:sp>
          <p:nvSpPr>
            <p:cNvPr id="616" name="Google Shape;616;p52"/>
            <p:cNvSpPr/>
            <p:nvPr/>
          </p:nvSpPr>
          <p:spPr>
            <a:xfrm>
              <a:off x="7164350" y="558075"/>
              <a:ext cx="487350" cy="418625"/>
            </a:xfrm>
            <a:custGeom>
              <a:avLst/>
              <a:gdLst/>
              <a:ahLst/>
              <a:cxnLst/>
              <a:rect l="l" t="t" r="r" b="b"/>
              <a:pathLst>
                <a:path w="19494" h="16745" extrusionOk="0">
                  <a:moveTo>
                    <a:pt x="777" y="0"/>
                  </a:moveTo>
                  <a:cubicBezTo>
                    <a:pt x="349" y="0"/>
                    <a:pt x="1" y="348"/>
                    <a:pt x="1" y="776"/>
                  </a:cubicBezTo>
                  <a:lnTo>
                    <a:pt x="1" y="3560"/>
                  </a:lnTo>
                  <a:lnTo>
                    <a:pt x="1" y="16388"/>
                  </a:lnTo>
                  <a:cubicBezTo>
                    <a:pt x="1" y="16584"/>
                    <a:pt x="153" y="16745"/>
                    <a:pt x="358" y="16745"/>
                  </a:cubicBezTo>
                  <a:lnTo>
                    <a:pt x="19137" y="16745"/>
                  </a:lnTo>
                  <a:cubicBezTo>
                    <a:pt x="19333" y="16745"/>
                    <a:pt x="19493" y="16584"/>
                    <a:pt x="19493" y="16388"/>
                  </a:cubicBezTo>
                  <a:lnTo>
                    <a:pt x="19493" y="3560"/>
                  </a:lnTo>
                  <a:lnTo>
                    <a:pt x="19493" y="776"/>
                  </a:lnTo>
                  <a:cubicBezTo>
                    <a:pt x="19493" y="348"/>
                    <a:pt x="19145" y="0"/>
                    <a:pt x="187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52"/>
            <p:cNvGrpSpPr/>
            <p:nvPr/>
          </p:nvGrpSpPr>
          <p:grpSpPr>
            <a:xfrm>
              <a:off x="7147850" y="583275"/>
              <a:ext cx="476200" cy="411050"/>
              <a:chOff x="1078250" y="1662400"/>
              <a:chExt cx="476200" cy="411050"/>
            </a:xfrm>
          </p:grpSpPr>
          <p:sp>
            <p:nvSpPr>
              <p:cNvPr id="618" name="Google Shape;618;p52"/>
              <p:cNvSpPr/>
              <p:nvPr/>
            </p:nvSpPr>
            <p:spPr>
              <a:xfrm>
                <a:off x="1178175" y="1662400"/>
                <a:ext cx="376275" cy="411050"/>
              </a:xfrm>
              <a:custGeom>
                <a:avLst/>
                <a:gdLst/>
                <a:ahLst/>
                <a:cxnLst/>
                <a:rect l="l" t="t" r="r" b="b"/>
                <a:pathLst>
                  <a:path w="15051" h="16442" extrusionOk="0">
                    <a:moveTo>
                      <a:pt x="11937" y="0"/>
                    </a:moveTo>
                    <a:cubicBezTo>
                      <a:pt x="11785" y="0"/>
                      <a:pt x="11660" y="125"/>
                      <a:pt x="11660" y="277"/>
                    </a:cubicBezTo>
                    <a:cubicBezTo>
                      <a:pt x="11660" y="429"/>
                      <a:pt x="11785" y="553"/>
                      <a:pt x="11937" y="553"/>
                    </a:cubicBezTo>
                    <a:lnTo>
                      <a:pt x="14033" y="553"/>
                    </a:lnTo>
                    <a:cubicBezTo>
                      <a:pt x="14283" y="553"/>
                      <a:pt x="14488" y="759"/>
                      <a:pt x="14488" y="1017"/>
                    </a:cubicBezTo>
                    <a:lnTo>
                      <a:pt x="14488" y="2784"/>
                    </a:lnTo>
                    <a:cubicBezTo>
                      <a:pt x="13748" y="2775"/>
                      <a:pt x="13018" y="2770"/>
                      <a:pt x="12291" y="2770"/>
                    </a:cubicBezTo>
                    <a:cubicBezTo>
                      <a:pt x="11564" y="2770"/>
                      <a:pt x="10839" y="2775"/>
                      <a:pt x="10108" y="2784"/>
                    </a:cubicBezTo>
                    <a:cubicBezTo>
                      <a:pt x="9956" y="2784"/>
                      <a:pt x="9831" y="2909"/>
                      <a:pt x="9831" y="3060"/>
                    </a:cubicBezTo>
                    <a:cubicBezTo>
                      <a:pt x="9840" y="3221"/>
                      <a:pt x="9965" y="3337"/>
                      <a:pt x="10117" y="3337"/>
                    </a:cubicBezTo>
                    <a:cubicBezTo>
                      <a:pt x="10844" y="3332"/>
                      <a:pt x="11566" y="3330"/>
                      <a:pt x="12292" y="3330"/>
                    </a:cubicBezTo>
                    <a:cubicBezTo>
                      <a:pt x="13018" y="3330"/>
                      <a:pt x="13748" y="3332"/>
                      <a:pt x="14488" y="3337"/>
                    </a:cubicBezTo>
                    <a:lnTo>
                      <a:pt x="14488" y="15826"/>
                    </a:lnTo>
                    <a:cubicBezTo>
                      <a:pt x="14488" y="15862"/>
                      <a:pt x="14461" y="15880"/>
                      <a:pt x="14434" y="15880"/>
                    </a:cubicBezTo>
                    <a:lnTo>
                      <a:pt x="277" y="15880"/>
                    </a:lnTo>
                    <a:cubicBezTo>
                      <a:pt x="125" y="15880"/>
                      <a:pt x="0" y="16005"/>
                      <a:pt x="0" y="16165"/>
                    </a:cubicBezTo>
                    <a:cubicBezTo>
                      <a:pt x="0" y="16317"/>
                      <a:pt x="125" y="16442"/>
                      <a:pt x="277" y="16442"/>
                    </a:cubicBezTo>
                    <a:lnTo>
                      <a:pt x="14434" y="16442"/>
                    </a:lnTo>
                    <a:cubicBezTo>
                      <a:pt x="14773" y="16442"/>
                      <a:pt x="15050" y="16165"/>
                      <a:pt x="15050" y="15826"/>
                    </a:cubicBezTo>
                    <a:lnTo>
                      <a:pt x="15050" y="1017"/>
                    </a:lnTo>
                    <a:cubicBezTo>
                      <a:pt x="15050" y="455"/>
                      <a:pt x="14595" y="0"/>
                      <a:pt x="140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52"/>
              <p:cNvSpPr/>
              <p:nvPr/>
            </p:nvSpPr>
            <p:spPr>
              <a:xfrm>
                <a:off x="1078250" y="1662400"/>
                <a:ext cx="376725" cy="411050"/>
              </a:xfrm>
              <a:custGeom>
                <a:avLst/>
                <a:gdLst/>
                <a:ahLst/>
                <a:cxnLst/>
                <a:rect l="l" t="t" r="r" b="b"/>
                <a:pathLst>
                  <a:path w="15069" h="16442" extrusionOk="0">
                    <a:moveTo>
                      <a:pt x="1018" y="0"/>
                    </a:moveTo>
                    <a:cubicBezTo>
                      <a:pt x="456" y="0"/>
                      <a:pt x="1" y="455"/>
                      <a:pt x="1" y="1017"/>
                    </a:cubicBezTo>
                    <a:lnTo>
                      <a:pt x="1" y="15826"/>
                    </a:lnTo>
                    <a:cubicBezTo>
                      <a:pt x="1" y="16165"/>
                      <a:pt x="277" y="16442"/>
                      <a:pt x="616" y="16442"/>
                    </a:cubicBezTo>
                    <a:lnTo>
                      <a:pt x="3132" y="16442"/>
                    </a:lnTo>
                    <a:cubicBezTo>
                      <a:pt x="3292" y="16442"/>
                      <a:pt x="3417" y="16317"/>
                      <a:pt x="3417" y="16165"/>
                    </a:cubicBezTo>
                    <a:cubicBezTo>
                      <a:pt x="3417" y="16005"/>
                      <a:pt x="3292" y="15880"/>
                      <a:pt x="3132" y="15880"/>
                    </a:cubicBezTo>
                    <a:lnTo>
                      <a:pt x="616" y="15880"/>
                    </a:lnTo>
                    <a:cubicBezTo>
                      <a:pt x="580" y="15880"/>
                      <a:pt x="554" y="15862"/>
                      <a:pt x="554" y="15826"/>
                    </a:cubicBezTo>
                    <a:lnTo>
                      <a:pt x="554" y="3337"/>
                    </a:lnTo>
                    <a:cubicBezTo>
                      <a:pt x="2610" y="3332"/>
                      <a:pt x="4675" y="3330"/>
                      <a:pt x="6736" y="3330"/>
                    </a:cubicBezTo>
                    <a:cubicBezTo>
                      <a:pt x="8797" y="3330"/>
                      <a:pt x="10853" y="3332"/>
                      <a:pt x="12891" y="3337"/>
                    </a:cubicBezTo>
                    <a:cubicBezTo>
                      <a:pt x="13043" y="3337"/>
                      <a:pt x="13168" y="3221"/>
                      <a:pt x="13168" y="3060"/>
                    </a:cubicBezTo>
                    <a:cubicBezTo>
                      <a:pt x="13168" y="2909"/>
                      <a:pt x="13043" y="2784"/>
                      <a:pt x="12891" y="2784"/>
                    </a:cubicBezTo>
                    <a:cubicBezTo>
                      <a:pt x="10853" y="2775"/>
                      <a:pt x="8797" y="2770"/>
                      <a:pt x="6736" y="2770"/>
                    </a:cubicBezTo>
                    <a:cubicBezTo>
                      <a:pt x="4675" y="2770"/>
                      <a:pt x="2610" y="2775"/>
                      <a:pt x="554" y="2784"/>
                    </a:cubicBezTo>
                    <a:lnTo>
                      <a:pt x="554" y="1017"/>
                    </a:lnTo>
                    <a:cubicBezTo>
                      <a:pt x="554" y="759"/>
                      <a:pt x="759" y="553"/>
                      <a:pt x="1018" y="553"/>
                    </a:cubicBezTo>
                    <a:lnTo>
                      <a:pt x="14792" y="553"/>
                    </a:lnTo>
                    <a:cubicBezTo>
                      <a:pt x="14943" y="553"/>
                      <a:pt x="15068" y="429"/>
                      <a:pt x="15068" y="277"/>
                    </a:cubicBezTo>
                    <a:cubicBezTo>
                      <a:pt x="15068" y="125"/>
                      <a:pt x="14943" y="0"/>
                      <a:pt x="147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52"/>
              <p:cNvSpPr/>
              <p:nvPr/>
            </p:nvSpPr>
            <p:spPr>
              <a:xfrm>
                <a:off x="1140250" y="1698300"/>
                <a:ext cx="262750" cy="14075"/>
              </a:xfrm>
              <a:custGeom>
                <a:avLst/>
                <a:gdLst/>
                <a:ahLst/>
                <a:cxnLst/>
                <a:rect l="l" t="t" r="r" b="b"/>
                <a:pathLst>
                  <a:path w="10510" h="563" extrusionOk="0">
                    <a:moveTo>
                      <a:pt x="277" y="1"/>
                    </a:moveTo>
                    <a:cubicBezTo>
                      <a:pt x="126" y="1"/>
                      <a:pt x="1" y="126"/>
                      <a:pt x="1" y="286"/>
                    </a:cubicBezTo>
                    <a:cubicBezTo>
                      <a:pt x="1" y="438"/>
                      <a:pt x="126" y="563"/>
                      <a:pt x="277" y="563"/>
                    </a:cubicBezTo>
                    <a:lnTo>
                      <a:pt x="10233" y="563"/>
                    </a:lnTo>
                    <a:cubicBezTo>
                      <a:pt x="10385" y="563"/>
                      <a:pt x="10510" y="438"/>
                      <a:pt x="10510" y="286"/>
                    </a:cubicBezTo>
                    <a:cubicBezTo>
                      <a:pt x="10510" y="126"/>
                      <a:pt x="10385" y="1"/>
                      <a:pt x="102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52"/>
              <p:cNvSpPr/>
              <p:nvPr/>
            </p:nvSpPr>
            <p:spPr>
              <a:xfrm>
                <a:off x="1422825" y="1696525"/>
                <a:ext cx="13850" cy="15175"/>
              </a:xfrm>
              <a:custGeom>
                <a:avLst/>
                <a:gdLst/>
                <a:ahLst/>
                <a:cxnLst/>
                <a:rect l="l" t="t" r="r" b="b"/>
                <a:pathLst>
                  <a:path w="554" h="607" extrusionOk="0">
                    <a:moveTo>
                      <a:pt x="277" y="0"/>
                    </a:moveTo>
                    <a:cubicBezTo>
                      <a:pt x="125" y="0"/>
                      <a:pt x="1" y="125"/>
                      <a:pt x="1" y="277"/>
                    </a:cubicBezTo>
                    <a:lnTo>
                      <a:pt x="1" y="330"/>
                    </a:lnTo>
                    <a:cubicBezTo>
                      <a:pt x="1" y="482"/>
                      <a:pt x="125" y="607"/>
                      <a:pt x="277" y="607"/>
                    </a:cubicBezTo>
                    <a:cubicBezTo>
                      <a:pt x="429" y="607"/>
                      <a:pt x="554" y="482"/>
                      <a:pt x="554" y="330"/>
                    </a:cubicBezTo>
                    <a:lnTo>
                      <a:pt x="554" y="277"/>
                    </a:lnTo>
                    <a:cubicBezTo>
                      <a:pt x="554" y="125"/>
                      <a:pt x="429" y="0"/>
                      <a:pt x="2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52"/>
              <p:cNvSpPr/>
              <p:nvPr/>
            </p:nvSpPr>
            <p:spPr>
              <a:xfrm>
                <a:off x="1450475" y="1696525"/>
                <a:ext cx="14075" cy="15175"/>
              </a:xfrm>
              <a:custGeom>
                <a:avLst/>
                <a:gdLst/>
                <a:ahLst/>
                <a:cxnLst/>
                <a:rect l="l" t="t" r="r" b="b"/>
                <a:pathLst>
                  <a:path w="563" h="607" extrusionOk="0">
                    <a:moveTo>
                      <a:pt x="286" y="0"/>
                    </a:moveTo>
                    <a:cubicBezTo>
                      <a:pt x="126" y="0"/>
                      <a:pt x="1" y="125"/>
                      <a:pt x="1" y="277"/>
                    </a:cubicBezTo>
                    <a:lnTo>
                      <a:pt x="1" y="330"/>
                    </a:lnTo>
                    <a:cubicBezTo>
                      <a:pt x="1" y="482"/>
                      <a:pt x="126" y="607"/>
                      <a:pt x="286" y="607"/>
                    </a:cubicBezTo>
                    <a:cubicBezTo>
                      <a:pt x="438" y="607"/>
                      <a:pt x="563" y="482"/>
                      <a:pt x="563" y="330"/>
                    </a:cubicBezTo>
                    <a:lnTo>
                      <a:pt x="563" y="277"/>
                    </a:lnTo>
                    <a:cubicBezTo>
                      <a:pt x="563" y="125"/>
                      <a:pt x="438" y="0"/>
                      <a:pt x="2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2"/>
              <p:cNvSpPr/>
              <p:nvPr/>
            </p:nvSpPr>
            <p:spPr>
              <a:xfrm>
                <a:off x="1478350" y="1696525"/>
                <a:ext cx="14075" cy="15175"/>
              </a:xfrm>
              <a:custGeom>
                <a:avLst/>
                <a:gdLst/>
                <a:ahLst/>
                <a:cxnLst/>
                <a:rect l="l" t="t" r="r" b="b"/>
                <a:pathLst>
                  <a:path w="563" h="607" extrusionOk="0">
                    <a:moveTo>
                      <a:pt x="286" y="0"/>
                    </a:moveTo>
                    <a:cubicBezTo>
                      <a:pt x="126" y="0"/>
                      <a:pt x="1" y="125"/>
                      <a:pt x="1" y="277"/>
                    </a:cubicBezTo>
                    <a:lnTo>
                      <a:pt x="1" y="330"/>
                    </a:lnTo>
                    <a:cubicBezTo>
                      <a:pt x="1" y="482"/>
                      <a:pt x="126" y="607"/>
                      <a:pt x="286" y="607"/>
                    </a:cubicBezTo>
                    <a:cubicBezTo>
                      <a:pt x="438" y="607"/>
                      <a:pt x="563" y="482"/>
                      <a:pt x="563" y="330"/>
                    </a:cubicBezTo>
                    <a:lnTo>
                      <a:pt x="563" y="277"/>
                    </a:lnTo>
                    <a:cubicBezTo>
                      <a:pt x="563" y="125"/>
                      <a:pt x="438" y="0"/>
                      <a:pt x="28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2"/>
              <p:cNvSpPr/>
              <p:nvPr/>
            </p:nvSpPr>
            <p:spPr>
              <a:xfrm>
                <a:off x="1409225" y="1971725"/>
                <a:ext cx="70500" cy="14075"/>
              </a:xfrm>
              <a:custGeom>
                <a:avLst/>
                <a:gdLst/>
                <a:ahLst/>
                <a:cxnLst/>
                <a:rect l="l" t="t" r="r" b="b"/>
                <a:pathLst>
                  <a:path w="2820" h="563" extrusionOk="0">
                    <a:moveTo>
                      <a:pt x="286" y="1"/>
                    </a:moveTo>
                    <a:cubicBezTo>
                      <a:pt x="125" y="1"/>
                      <a:pt x="0" y="126"/>
                      <a:pt x="0" y="286"/>
                    </a:cubicBezTo>
                    <a:cubicBezTo>
                      <a:pt x="0" y="438"/>
                      <a:pt x="125" y="563"/>
                      <a:pt x="286" y="563"/>
                    </a:cubicBezTo>
                    <a:lnTo>
                      <a:pt x="2543" y="563"/>
                    </a:lnTo>
                    <a:cubicBezTo>
                      <a:pt x="2695" y="563"/>
                      <a:pt x="2819" y="438"/>
                      <a:pt x="2819" y="286"/>
                    </a:cubicBezTo>
                    <a:cubicBezTo>
                      <a:pt x="2819" y="126"/>
                      <a:pt x="2695" y="1"/>
                      <a:pt x="25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2"/>
              <p:cNvSpPr/>
              <p:nvPr/>
            </p:nvSpPr>
            <p:spPr>
              <a:xfrm>
                <a:off x="1445575" y="1994025"/>
                <a:ext cx="34150" cy="14075"/>
              </a:xfrm>
              <a:custGeom>
                <a:avLst/>
                <a:gdLst/>
                <a:ahLst/>
                <a:cxnLst/>
                <a:rect l="l" t="t" r="r" b="b"/>
                <a:pathLst>
                  <a:path w="1366" h="563" extrusionOk="0">
                    <a:moveTo>
                      <a:pt x="286" y="1"/>
                    </a:moveTo>
                    <a:cubicBezTo>
                      <a:pt x="125" y="1"/>
                      <a:pt x="1" y="126"/>
                      <a:pt x="1" y="286"/>
                    </a:cubicBezTo>
                    <a:cubicBezTo>
                      <a:pt x="1" y="438"/>
                      <a:pt x="125" y="563"/>
                      <a:pt x="286" y="563"/>
                    </a:cubicBezTo>
                    <a:lnTo>
                      <a:pt x="1080" y="563"/>
                    </a:lnTo>
                    <a:cubicBezTo>
                      <a:pt x="1241" y="563"/>
                      <a:pt x="1365" y="438"/>
                      <a:pt x="1365" y="286"/>
                    </a:cubicBezTo>
                    <a:cubicBezTo>
                      <a:pt x="1365" y="126"/>
                      <a:pt x="1241" y="1"/>
                      <a:pt x="10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2"/>
              <p:cNvSpPr/>
              <p:nvPr/>
            </p:nvSpPr>
            <p:spPr>
              <a:xfrm>
                <a:off x="1173050" y="1841700"/>
                <a:ext cx="57775" cy="100400"/>
              </a:xfrm>
              <a:custGeom>
                <a:avLst/>
                <a:gdLst/>
                <a:ahLst/>
                <a:cxnLst/>
                <a:rect l="l" t="t" r="r" b="b"/>
                <a:pathLst>
                  <a:path w="2311" h="4016" extrusionOk="0">
                    <a:moveTo>
                      <a:pt x="1998" y="1"/>
                    </a:moveTo>
                    <a:cubicBezTo>
                      <a:pt x="1927" y="1"/>
                      <a:pt x="1856" y="28"/>
                      <a:pt x="1802" y="81"/>
                    </a:cubicBezTo>
                    <a:lnTo>
                      <a:pt x="80" y="1812"/>
                    </a:lnTo>
                    <a:cubicBezTo>
                      <a:pt x="27" y="1865"/>
                      <a:pt x="0" y="1937"/>
                      <a:pt x="0" y="2008"/>
                    </a:cubicBezTo>
                    <a:cubicBezTo>
                      <a:pt x="0" y="2079"/>
                      <a:pt x="27" y="2151"/>
                      <a:pt x="80" y="2204"/>
                    </a:cubicBezTo>
                    <a:lnTo>
                      <a:pt x="1802" y="3935"/>
                    </a:lnTo>
                    <a:cubicBezTo>
                      <a:pt x="1856" y="3989"/>
                      <a:pt x="1927" y="4015"/>
                      <a:pt x="1998" y="4015"/>
                    </a:cubicBezTo>
                    <a:cubicBezTo>
                      <a:pt x="2070" y="4015"/>
                      <a:pt x="2141" y="3989"/>
                      <a:pt x="2195" y="3935"/>
                    </a:cubicBezTo>
                    <a:cubicBezTo>
                      <a:pt x="2311" y="3819"/>
                      <a:pt x="2311" y="3650"/>
                      <a:pt x="2195" y="3534"/>
                    </a:cubicBezTo>
                    <a:lnTo>
                      <a:pt x="669" y="2008"/>
                    </a:lnTo>
                    <a:lnTo>
                      <a:pt x="2195" y="483"/>
                    </a:lnTo>
                    <a:cubicBezTo>
                      <a:pt x="2311" y="367"/>
                      <a:pt x="2311" y="197"/>
                      <a:pt x="2195" y="81"/>
                    </a:cubicBezTo>
                    <a:cubicBezTo>
                      <a:pt x="2141" y="28"/>
                      <a:pt x="2070" y="1"/>
                      <a:pt x="199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2"/>
              <p:cNvSpPr/>
              <p:nvPr/>
            </p:nvSpPr>
            <p:spPr>
              <a:xfrm>
                <a:off x="1401875" y="1841700"/>
                <a:ext cx="57775" cy="100400"/>
              </a:xfrm>
              <a:custGeom>
                <a:avLst/>
                <a:gdLst/>
                <a:ahLst/>
                <a:cxnLst/>
                <a:rect l="l" t="t" r="r" b="b"/>
                <a:pathLst>
                  <a:path w="2311" h="4016" extrusionOk="0">
                    <a:moveTo>
                      <a:pt x="303" y="1"/>
                    </a:moveTo>
                    <a:cubicBezTo>
                      <a:pt x="232" y="1"/>
                      <a:pt x="161" y="28"/>
                      <a:pt x="107" y="81"/>
                    </a:cubicBezTo>
                    <a:cubicBezTo>
                      <a:pt x="0" y="197"/>
                      <a:pt x="0" y="376"/>
                      <a:pt x="107" y="483"/>
                    </a:cubicBezTo>
                    <a:lnTo>
                      <a:pt x="1633" y="2008"/>
                    </a:lnTo>
                    <a:lnTo>
                      <a:pt x="107" y="3534"/>
                    </a:lnTo>
                    <a:cubicBezTo>
                      <a:pt x="0" y="3650"/>
                      <a:pt x="0" y="3819"/>
                      <a:pt x="107" y="3935"/>
                    </a:cubicBezTo>
                    <a:cubicBezTo>
                      <a:pt x="161" y="3989"/>
                      <a:pt x="232" y="4015"/>
                      <a:pt x="303" y="4015"/>
                    </a:cubicBezTo>
                    <a:cubicBezTo>
                      <a:pt x="375" y="4015"/>
                      <a:pt x="446" y="3989"/>
                      <a:pt x="500" y="3935"/>
                    </a:cubicBezTo>
                    <a:lnTo>
                      <a:pt x="2230" y="2204"/>
                    </a:lnTo>
                    <a:cubicBezTo>
                      <a:pt x="2284" y="2151"/>
                      <a:pt x="2311" y="2079"/>
                      <a:pt x="2311" y="2008"/>
                    </a:cubicBezTo>
                    <a:cubicBezTo>
                      <a:pt x="2311" y="1937"/>
                      <a:pt x="2284" y="1865"/>
                      <a:pt x="2230" y="1812"/>
                    </a:cubicBezTo>
                    <a:lnTo>
                      <a:pt x="500" y="81"/>
                    </a:lnTo>
                    <a:cubicBezTo>
                      <a:pt x="446" y="28"/>
                      <a:pt x="375" y="1"/>
                      <a:pt x="3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2"/>
              <p:cNvSpPr/>
              <p:nvPr/>
            </p:nvSpPr>
            <p:spPr>
              <a:xfrm>
                <a:off x="1251775" y="1847550"/>
                <a:ext cx="58900" cy="94550"/>
              </a:xfrm>
              <a:custGeom>
                <a:avLst/>
                <a:gdLst/>
                <a:ahLst/>
                <a:cxnLst/>
                <a:rect l="l" t="t" r="r" b="b"/>
                <a:pathLst>
                  <a:path w="2356" h="3782" extrusionOk="0">
                    <a:moveTo>
                      <a:pt x="2035" y="1"/>
                    </a:moveTo>
                    <a:cubicBezTo>
                      <a:pt x="1937" y="1"/>
                      <a:pt x="1842" y="53"/>
                      <a:pt x="1793" y="150"/>
                    </a:cubicBezTo>
                    <a:lnTo>
                      <a:pt x="72" y="3371"/>
                    </a:lnTo>
                    <a:cubicBezTo>
                      <a:pt x="0" y="3505"/>
                      <a:pt x="45" y="3674"/>
                      <a:pt x="187" y="3746"/>
                    </a:cubicBezTo>
                    <a:cubicBezTo>
                      <a:pt x="223" y="3772"/>
                      <a:pt x="268" y="3781"/>
                      <a:pt x="312" y="3781"/>
                    </a:cubicBezTo>
                    <a:cubicBezTo>
                      <a:pt x="411" y="3781"/>
                      <a:pt x="509" y="3728"/>
                      <a:pt x="562" y="3630"/>
                    </a:cubicBezTo>
                    <a:lnTo>
                      <a:pt x="2284" y="409"/>
                    </a:lnTo>
                    <a:cubicBezTo>
                      <a:pt x="2355" y="275"/>
                      <a:pt x="2302" y="106"/>
                      <a:pt x="2168" y="34"/>
                    </a:cubicBezTo>
                    <a:cubicBezTo>
                      <a:pt x="2126" y="12"/>
                      <a:pt x="2080" y="1"/>
                      <a:pt x="203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2"/>
              <p:cNvSpPr/>
              <p:nvPr/>
            </p:nvSpPr>
            <p:spPr>
              <a:xfrm>
                <a:off x="1306625" y="1926000"/>
                <a:ext cx="13850" cy="14975"/>
              </a:xfrm>
              <a:custGeom>
                <a:avLst/>
                <a:gdLst/>
                <a:ahLst/>
                <a:cxnLst/>
                <a:rect l="l" t="t" r="r" b="b"/>
                <a:pathLst>
                  <a:path w="554" h="599" extrusionOk="0">
                    <a:moveTo>
                      <a:pt x="277" y="1"/>
                    </a:moveTo>
                    <a:cubicBezTo>
                      <a:pt x="126" y="1"/>
                      <a:pt x="1" y="126"/>
                      <a:pt x="1" y="278"/>
                    </a:cubicBezTo>
                    <a:lnTo>
                      <a:pt x="1" y="322"/>
                    </a:lnTo>
                    <a:cubicBezTo>
                      <a:pt x="1" y="474"/>
                      <a:pt x="126" y="599"/>
                      <a:pt x="277" y="599"/>
                    </a:cubicBezTo>
                    <a:cubicBezTo>
                      <a:pt x="429" y="599"/>
                      <a:pt x="554" y="474"/>
                      <a:pt x="554" y="322"/>
                    </a:cubicBezTo>
                    <a:lnTo>
                      <a:pt x="554" y="278"/>
                    </a:lnTo>
                    <a:cubicBezTo>
                      <a:pt x="554" y="126"/>
                      <a:pt x="429"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2"/>
              <p:cNvSpPr/>
              <p:nvPr/>
            </p:nvSpPr>
            <p:spPr>
              <a:xfrm>
                <a:off x="1338075" y="1926000"/>
                <a:ext cx="14075" cy="14975"/>
              </a:xfrm>
              <a:custGeom>
                <a:avLst/>
                <a:gdLst/>
                <a:ahLst/>
                <a:cxnLst/>
                <a:rect l="l" t="t" r="r" b="b"/>
                <a:pathLst>
                  <a:path w="563" h="599" extrusionOk="0">
                    <a:moveTo>
                      <a:pt x="286" y="1"/>
                    </a:moveTo>
                    <a:cubicBezTo>
                      <a:pt x="125" y="1"/>
                      <a:pt x="1" y="126"/>
                      <a:pt x="1" y="278"/>
                    </a:cubicBezTo>
                    <a:lnTo>
                      <a:pt x="1" y="322"/>
                    </a:lnTo>
                    <a:cubicBezTo>
                      <a:pt x="1" y="474"/>
                      <a:pt x="125" y="599"/>
                      <a:pt x="286" y="599"/>
                    </a:cubicBezTo>
                    <a:cubicBezTo>
                      <a:pt x="438" y="599"/>
                      <a:pt x="563" y="474"/>
                      <a:pt x="563" y="322"/>
                    </a:cubicBezTo>
                    <a:lnTo>
                      <a:pt x="563" y="278"/>
                    </a:lnTo>
                    <a:cubicBezTo>
                      <a:pt x="563" y="126"/>
                      <a:pt x="438" y="1"/>
                      <a:pt x="2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2"/>
              <p:cNvSpPr/>
              <p:nvPr/>
            </p:nvSpPr>
            <p:spPr>
              <a:xfrm>
                <a:off x="1369750" y="1926000"/>
                <a:ext cx="14075" cy="14975"/>
              </a:xfrm>
              <a:custGeom>
                <a:avLst/>
                <a:gdLst/>
                <a:ahLst/>
                <a:cxnLst/>
                <a:rect l="l" t="t" r="r" b="b"/>
                <a:pathLst>
                  <a:path w="563" h="599" extrusionOk="0">
                    <a:moveTo>
                      <a:pt x="277" y="1"/>
                    </a:moveTo>
                    <a:cubicBezTo>
                      <a:pt x="125" y="1"/>
                      <a:pt x="0" y="126"/>
                      <a:pt x="0" y="278"/>
                    </a:cubicBezTo>
                    <a:lnTo>
                      <a:pt x="0" y="322"/>
                    </a:lnTo>
                    <a:cubicBezTo>
                      <a:pt x="0" y="474"/>
                      <a:pt x="125" y="599"/>
                      <a:pt x="277" y="599"/>
                    </a:cubicBezTo>
                    <a:cubicBezTo>
                      <a:pt x="438" y="599"/>
                      <a:pt x="562" y="474"/>
                      <a:pt x="562" y="322"/>
                    </a:cubicBezTo>
                    <a:lnTo>
                      <a:pt x="562" y="278"/>
                    </a:lnTo>
                    <a:cubicBezTo>
                      <a:pt x="562" y="126"/>
                      <a:pt x="438"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 name="ZoneTexte 18">
            <a:extLst>
              <a:ext uri="{FF2B5EF4-FFF2-40B4-BE49-F238E27FC236}">
                <a16:creationId xmlns:a16="http://schemas.microsoft.com/office/drawing/2014/main" id="{F6757BA0-1444-6026-6D11-CE9A4CA21CA2}"/>
              </a:ext>
            </a:extLst>
          </p:cNvPr>
          <p:cNvSpPr txBox="1"/>
          <p:nvPr/>
        </p:nvSpPr>
        <p:spPr>
          <a:xfrm>
            <a:off x="464735" y="1232159"/>
            <a:ext cx="5236579" cy="2154436"/>
          </a:xfrm>
          <a:prstGeom prst="rect">
            <a:avLst/>
          </a:prstGeom>
          <a:noFill/>
        </p:spPr>
        <p:txBody>
          <a:bodyPr wrap="square">
            <a:spAutoFit/>
          </a:bodyPr>
          <a:lstStyle/>
          <a:p>
            <a:pPr>
              <a:buNone/>
            </a:pPr>
            <a:r>
              <a:rPr lang="fr-FR" sz="1200" b="1" dirty="0"/>
              <a:t>Comportements gérés</a:t>
            </a:r>
          </a:p>
          <a:p>
            <a:pPr>
              <a:buNone/>
            </a:pPr>
            <a:r>
              <a:rPr lang="fr-FR" sz="1200" b="1" dirty="0"/>
              <a:t>Conduite libre</a:t>
            </a:r>
          </a:p>
          <a:p>
            <a:pPr>
              <a:buNone/>
            </a:pPr>
            <a:r>
              <a:rPr lang="fr-FR" sz="1200" dirty="0" err="1"/>
              <a:t>Cruising</a:t>
            </a:r>
            <a:r>
              <a:rPr lang="fr-FR" sz="1200" dirty="0"/>
              <a:t>, accélération vers la vitesse cible.</a:t>
            </a:r>
          </a:p>
          <a:p>
            <a:pPr>
              <a:buNone/>
            </a:pPr>
            <a:r>
              <a:rPr lang="fr-FR" sz="1200" b="1" dirty="0"/>
              <a:t>Suivi</a:t>
            </a:r>
          </a:p>
          <a:p>
            <a:pPr>
              <a:buNone/>
            </a:pPr>
            <a:r>
              <a:rPr lang="fr-FR" sz="1200" dirty="0"/>
              <a:t>Car-</a:t>
            </a:r>
            <a:r>
              <a:rPr lang="fr-FR" sz="1200" dirty="0" err="1"/>
              <a:t>following</a:t>
            </a:r>
            <a:r>
              <a:rPr lang="fr-FR" sz="1200" dirty="0"/>
              <a:t> via IDM.</a:t>
            </a:r>
          </a:p>
          <a:p>
            <a:pPr>
              <a:buNone/>
            </a:pPr>
            <a:r>
              <a:rPr lang="fr-FR" sz="1200" b="1" dirty="0"/>
              <a:t>Virage</a:t>
            </a:r>
          </a:p>
          <a:p>
            <a:pPr>
              <a:buNone/>
            </a:pPr>
            <a:r>
              <a:rPr lang="fr-FR" sz="1200" dirty="0" err="1"/>
              <a:t>Cornering</a:t>
            </a:r>
            <a:r>
              <a:rPr lang="fr-FR" sz="1200" dirty="0"/>
              <a:t> avec réduction de vitesse.</a:t>
            </a:r>
          </a:p>
          <a:p>
            <a:pPr>
              <a:buNone/>
            </a:pPr>
            <a:r>
              <a:rPr lang="fr-FR" sz="1200" b="1" dirty="0"/>
              <a:t>Intersection</a:t>
            </a:r>
          </a:p>
          <a:p>
            <a:pPr>
              <a:buNone/>
            </a:pPr>
            <a:r>
              <a:rPr lang="fr-FR" sz="1200" dirty="0"/>
              <a:t>Yielding, stop-</a:t>
            </a:r>
            <a:r>
              <a:rPr lang="fr-FR" sz="1200" dirty="0" err="1"/>
              <a:t>hold</a:t>
            </a:r>
            <a:r>
              <a:rPr lang="fr-FR" sz="1200" dirty="0"/>
              <a:t>, feux, </a:t>
            </a:r>
            <a:r>
              <a:rPr lang="fr-FR" sz="1200" dirty="0" err="1"/>
              <a:t>keep-clear</a:t>
            </a:r>
            <a:r>
              <a:rPr lang="fr-FR" sz="1200" dirty="0"/>
              <a:t>.</a:t>
            </a:r>
          </a:p>
          <a:p>
            <a:pPr>
              <a:buNone/>
            </a:pPr>
            <a:r>
              <a:rPr lang="fr-FR" sz="1200" b="1" dirty="0"/>
              <a:t>Situations avancées</a:t>
            </a:r>
          </a:p>
          <a:p>
            <a:pPr>
              <a:buNone/>
            </a:pPr>
            <a:r>
              <a:rPr lang="fr-FR" sz="1200" dirty="0"/>
              <a:t>Dépassement, panne, engagement, </a:t>
            </a:r>
            <a:r>
              <a:rPr lang="fr-FR" sz="1200" dirty="0" err="1"/>
              <a:t>traversal</a:t>
            </a:r>
            <a:r>
              <a:rPr lang="fr-FR" sz="1200" dirty="0"/>
              <a:t>.</a:t>
            </a:r>
          </a:p>
        </p:txBody>
      </p:sp>
      <p:pic>
        <p:nvPicPr>
          <p:cNvPr id="21" name="Image 20">
            <a:extLst>
              <a:ext uri="{FF2B5EF4-FFF2-40B4-BE49-F238E27FC236}">
                <a16:creationId xmlns:a16="http://schemas.microsoft.com/office/drawing/2014/main" id="{8D34C39C-0265-4DE0-5CDA-922D6CA0F47C}"/>
              </a:ext>
            </a:extLst>
          </p:cNvPr>
          <p:cNvPicPr>
            <a:picLocks noChangeAspect="1"/>
          </p:cNvPicPr>
          <p:nvPr/>
        </p:nvPicPr>
        <p:blipFill>
          <a:blip r:embed="rId3"/>
          <a:stretch>
            <a:fillRect/>
          </a:stretch>
        </p:blipFill>
        <p:spPr>
          <a:xfrm>
            <a:off x="6021817" y="4056420"/>
            <a:ext cx="1041301" cy="1035176"/>
          </a:xfrm>
          <a:prstGeom prst="rect">
            <a:avLst/>
          </a:prstGeom>
        </p:spPr>
      </p:pic>
      <p:pic>
        <p:nvPicPr>
          <p:cNvPr id="23" name="Image 22">
            <a:extLst>
              <a:ext uri="{FF2B5EF4-FFF2-40B4-BE49-F238E27FC236}">
                <a16:creationId xmlns:a16="http://schemas.microsoft.com/office/drawing/2014/main" id="{FDC50F00-CC5A-E0BE-B162-D9D956D2EE1B}"/>
              </a:ext>
            </a:extLst>
          </p:cNvPr>
          <p:cNvPicPr>
            <a:picLocks noChangeAspect="1"/>
          </p:cNvPicPr>
          <p:nvPr/>
        </p:nvPicPr>
        <p:blipFill>
          <a:blip r:embed="rId4"/>
          <a:stretch>
            <a:fillRect/>
          </a:stretch>
        </p:blipFill>
        <p:spPr>
          <a:xfrm>
            <a:off x="7264843" y="3994154"/>
            <a:ext cx="1036222" cy="879042"/>
          </a:xfrm>
          <a:prstGeom prst="rect">
            <a:avLst/>
          </a:prstGeom>
        </p:spPr>
      </p:pic>
      <p:pic>
        <p:nvPicPr>
          <p:cNvPr id="25" name="Image 24">
            <a:extLst>
              <a:ext uri="{FF2B5EF4-FFF2-40B4-BE49-F238E27FC236}">
                <a16:creationId xmlns:a16="http://schemas.microsoft.com/office/drawing/2014/main" id="{62FB5CC1-29B7-550A-62E6-08717B7445FC}"/>
              </a:ext>
            </a:extLst>
          </p:cNvPr>
          <p:cNvPicPr>
            <a:picLocks noChangeAspect="1"/>
          </p:cNvPicPr>
          <p:nvPr/>
        </p:nvPicPr>
        <p:blipFill>
          <a:blip r:embed="rId5"/>
          <a:stretch>
            <a:fillRect/>
          </a:stretch>
        </p:blipFill>
        <p:spPr>
          <a:xfrm>
            <a:off x="5338852" y="2498757"/>
            <a:ext cx="1333686" cy="1486107"/>
          </a:xfrm>
          <a:prstGeom prst="rect">
            <a:avLst/>
          </a:prstGeom>
        </p:spPr>
      </p:pic>
      <p:pic>
        <p:nvPicPr>
          <p:cNvPr id="27" name="Image 26">
            <a:extLst>
              <a:ext uri="{FF2B5EF4-FFF2-40B4-BE49-F238E27FC236}">
                <a16:creationId xmlns:a16="http://schemas.microsoft.com/office/drawing/2014/main" id="{FC55A56D-C2FB-4998-488B-05735D6C3A84}"/>
              </a:ext>
            </a:extLst>
          </p:cNvPr>
          <p:cNvPicPr>
            <a:picLocks noChangeAspect="1"/>
          </p:cNvPicPr>
          <p:nvPr/>
        </p:nvPicPr>
        <p:blipFill>
          <a:blip r:embed="rId6"/>
          <a:stretch>
            <a:fillRect/>
          </a:stretch>
        </p:blipFill>
        <p:spPr>
          <a:xfrm>
            <a:off x="6806539" y="2634907"/>
            <a:ext cx="1521720" cy="1228897"/>
          </a:xfrm>
          <a:prstGeom prst="rect">
            <a:avLst/>
          </a:prstGeom>
        </p:spPr>
      </p:pic>
      <p:pic>
        <p:nvPicPr>
          <p:cNvPr id="29" name="Image 28">
            <a:extLst>
              <a:ext uri="{FF2B5EF4-FFF2-40B4-BE49-F238E27FC236}">
                <a16:creationId xmlns:a16="http://schemas.microsoft.com/office/drawing/2014/main" id="{E85B2FB7-8F92-EFF1-4D70-F71954D53F68}"/>
              </a:ext>
            </a:extLst>
          </p:cNvPr>
          <p:cNvPicPr>
            <a:picLocks noChangeAspect="1"/>
          </p:cNvPicPr>
          <p:nvPr/>
        </p:nvPicPr>
        <p:blipFill>
          <a:blip r:embed="rId7"/>
          <a:stretch>
            <a:fillRect/>
          </a:stretch>
        </p:blipFill>
        <p:spPr>
          <a:xfrm>
            <a:off x="5338852" y="1213395"/>
            <a:ext cx="1724266" cy="1228896"/>
          </a:xfrm>
          <a:prstGeom prst="rect">
            <a:avLst/>
          </a:prstGeom>
        </p:spPr>
      </p:pic>
      <p:pic>
        <p:nvPicPr>
          <p:cNvPr id="31" name="Image 30">
            <a:extLst>
              <a:ext uri="{FF2B5EF4-FFF2-40B4-BE49-F238E27FC236}">
                <a16:creationId xmlns:a16="http://schemas.microsoft.com/office/drawing/2014/main" id="{DF2B12F2-196D-BDC1-F567-372CDF5A0D1C}"/>
              </a:ext>
            </a:extLst>
          </p:cNvPr>
          <p:cNvPicPr>
            <a:picLocks noChangeAspect="1"/>
          </p:cNvPicPr>
          <p:nvPr/>
        </p:nvPicPr>
        <p:blipFill>
          <a:blip r:embed="rId8"/>
          <a:stretch>
            <a:fillRect/>
          </a:stretch>
        </p:blipFill>
        <p:spPr>
          <a:xfrm>
            <a:off x="7321839" y="1235994"/>
            <a:ext cx="1009335" cy="1268563"/>
          </a:xfrm>
          <a:prstGeom prst="rect">
            <a:avLst/>
          </a:prstGeom>
        </p:spPr>
      </p:pic>
      <p:sp>
        <p:nvSpPr>
          <p:cNvPr id="33" name="ZoneTexte 32">
            <a:extLst>
              <a:ext uri="{FF2B5EF4-FFF2-40B4-BE49-F238E27FC236}">
                <a16:creationId xmlns:a16="http://schemas.microsoft.com/office/drawing/2014/main" id="{07E6CD57-3A2A-460B-F5DE-0930142EB3C2}"/>
              </a:ext>
            </a:extLst>
          </p:cNvPr>
          <p:cNvSpPr txBox="1"/>
          <p:nvPr/>
        </p:nvSpPr>
        <p:spPr>
          <a:xfrm>
            <a:off x="464735" y="3419332"/>
            <a:ext cx="4826478" cy="1415772"/>
          </a:xfrm>
          <a:prstGeom prst="rect">
            <a:avLst/>
          </a:prstGeom>
          <a:noFill/>
        </p:spPr>
        <p:txBody>
          <a:bodyPr wrap="square">
            <a:spAutoFit/>
          </a:bodyPr>
          <a:lstStyle/>
          <a:p>
            <a:pPr>
              <a:buNone/>
            </a:pPr>
            <a:r>
              <a:rPr lang="fr-FR" sz="1200" b="1" dirty="0"/>
              <a:t>États principaux </a:t>
            </a:r>
            <a:r>
              <a:rPr lang="fr-FR" sz="1200" dirty="0"/>
              <a:t>:</a:t>
            </a:r>
          </a:p>
          <a:p>
            <a:pPr>
              <a:buFont typeface="Arial" panose="020B0604020202020204" pitchFamily="34" charset="0"/>
              <a:buChar char="•"/>
            </a:pPr>
            <a:r>
              <a:rPr lang="fr-FR" sz="1200" b="1" dirty="0" err="1"/>
              <a:t>Routing</a:t>
            </a:r>
            <a:r>
              <a:rPr lang="fr-FR" sz="1200" dirty="0"/>
              <a:t> : chemin disponible ou non.</a:t>
            </a:r>
          </a:p>
          <a:p>
            <a:pPr>
              <a:buFont typeface="Arial" panose="020B0604020202020204" pitchFamily="34" charset="0"/>
              <a:buChar char="•"/>
            </a:pPr>
            <a:r>
              <a:rPr lang="fr-FR" sz="1200" b="1" dirty="0"/>
              <a:t>Driving</a:t>
            </a:r>
            <a:r>
              <a:rPr lang="fr-FR" sz="1200" dirty="0"/>
              <a:t> : conduite normale.</a:t>
            </a:r>
          </a:p>
          <a:p>
            <a:pPr>
              <a:buFont typeface="Arial" panose="020B0604020202020204" pitchFamily="34" charset="0"/>
              <a:buChar char="•"/>
            </a:pPr>
            <a:r>
              <a:rPr lang="fr-FR" sz="1200" b="1" dirty="0" err="1"/>
              <a:t>Negotiating</a:t>
            </a:r>
            <a:r>
              <a:rPr lang="fr-FR" sz="1200" b="1" dirty="0"/>
              <a:t> Intersection</a:t>
            </a:r>
            <a:r>
              <a:rPr lang="fr-FR" sz="1200" dirty="0"/>
              <a:t> : approche d’un carrefour.</a:t>
            </a:r>
          </a:p>
          <a:p>
            <a:pPr>
              <a:buFont typeface="Arial" panose="020B0604020202020204" pitchFamily="34" charset="0"/>
              <a:buChar char="•"/>
            </a:pPr>
            <a:r>
              <a:rPr lang="fr-FR" sz="1200" b="1" dirty="0" err="1"/>
              <a:t>Yield</a:t>
            </a:r>
            <a:r>
              <a:rPr lang="fr-FR" sz="1200" b="1" dirty="0"/>
              <a:t> / Stop / Keep Clear</a:t>
            </a:r>
            <a:r>
              <a:rPr lang="fr-FR" sz="1200" dirty="0"/>
              <a:t> : attente contrôlée.</a:t>
            </a:r>
          </a:p>
          <a:p>
            <a:pPr>
              <a:buFont typeface="Arial" panose="020B0604020202020204" pitchFamily="34" charset="0"/>
              <a:buChar char="•"/>
            </a:pPr>
            <a:r>
              <a:rPr lang="fr-FR" sz="1200" b="1" dirty="0" err="1"/>
              <a:t>Committed</a:t>
            </a:r>
            <a:r>
              <a:rPr lang="fr-FR" sz="1200" b="1" dirty="0"/>
              <a:t> </a:t>
            </a:r>
            <a:r>
              <a:rPr lang="fr-FR" sz="1200" b="1" dirty="0" err="1"/>
              <a:t>Traversal</a:t>
            </a:r>
            <a:r>
              <a:rPr lang="fr-FR" sz="1200" dirty="0"/>
              <a:t> : passage engagé.</a:t>
            </a:r>
          </a:p>
          <a:p>
            <a:pPr>
              <a:buFont typeface="Arial" panose="020B0604020202020204" pitchFamily="34" charset="0"/>
              <a:buChar char="•"/>
            </a:pPr>
            <a:r>
              <a:rPr lang="fr-FR" sz="1200" b="1" dirty="0"/>
              <a:t>At Goal</a:t>
            </a:r>
            <a:r>
              <a:rPr lang="fr-FR" sz="1200" dirty="0"/>
              <a:t> : destination atteinte.</a:t>
            </a:r>
          </a:p>
        </p:txBody>
      </p:sp>
      <p:sp>
        <p:nvSpPr>
          <p:cNvPr id="2" name="ZoneTexte 1">
            <a:extLst>
              <a:ext uri="{FF2B5EF4-FFF2-40B4-BE49-F238E27FC236}">
                <a16:creationId xmlns:a16="http://schemas.microsoft.com/office/drawing/2014/main" id="{7CB4ED12-8A69-A40F-E2E4-382211BB9C73}"/>
              </a:ext>
            </a:extLst>
          </p:cNvPr>
          <p:cNvSpPr txBox="1"/>
          <p:nvPr/>
        </p:nvSpPr>
        <p:spPr>
          <a:xfrm>
            <a:off x="8819972" y="4835723"/>
            <a:ext cx="344966"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3"/>
          <p:cNvSpPr/>
          <p:nvPr/>
        </p:nvSpPr>
        <p:spPr>
          <a:xfrm>
            <a:off x="3311625" y="998250"/>
            <a:ext cx="1732048"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637" name="Google Shape;637;p53"/>
          <p:cNvSpPr txBox="1">
            <a:spLocks noGrp="1"/>
          </p:cNvSpPr>
          <p:nvPr>
            <p:ph type="title"/>
          </p:nvPr>
        </p:nvSpPr>
        <p:spPr>
          <a:xfrm>
            <a:off x="1732325" y="539500"/>
            <a:ext cx="6698400" cy="572700"/>
          </a:xfrm>
          <a:prstGeom prst="rect">
            <a:avLst/>
          </a:prstGeom>
        </p:spPr>
        <p:txBody>
          <a:bodyPr spcFirstLastPara="1" wrap="square" lIns="91425" tIns="91425" rIns="91425" bIns="91425" anchor="t" anchorCtr="0">
            <a:noAutofit/>
          </a:bodyPr>
          <a:lstStyle/>
          <a:p>
            <a:pPr lvl="0"/>
            <a:r>
              <a:rPr lang="fr-FR" dirty="0"/>
              <a:t>MÉTRIQUES D’ÉVALUATION</a:t>
            </a:r>
            <a:endParaRPr dirty="0"/>
          </a:p>
        </p:txBody>
      </p:sp>
      <p:sp>
        <p:nvSpPr>
          <p:cNvPr id="640" name="Google Shape;640;p53"/>
          <p:cNvSpPr txBox="1">
            <a:spLocks noGrp="1"/>
          </p:cNvSpPr>
          <p:nvPr>
            <p:ph type="subTitle" idx="3"/>
          </p:nvPr>
        </p:nvSpPr>
        <p:spPr>
          <a:xfrm>
            <a:off x="3397589" y="1570950"/>
            <a:ext cx="2641500" cy="371400"/>
          </a:xfrm>
          <a:prstGeom prst="rect">
            <a:avLst/>
          </a:prstGeom>
        </p:spPr>
        <p:txBody>
          <a:bodyPr spcFirstLastPara="1" wrap="square" lIns="91425" tIns="91425" rIns="91425" bIns="91425" anchor="b" anchorCtr="0">
            <a:noAutofit/>
          </a:bodyPr>
          <a:lstStyle/>
          <a:p>
            <a:pPr marL="0" lvl="0" indent="0"/>
            <a:r>
              <a:rPr lang="fr-FR" dirty="0"/>
              <a:t>Sécurité</a:t>
            </a:r>
            <a:endParaRPr dirty="0"/>
          </a:p>
        </p:txBody>
      </p:sp>
      <p:sp>
        <p:nvSpPr>
          <p:cNvPr id="641" name="Google Shape;641;p53"/>
          <p:cNvSpPr txBox="1">
            <a:spLocks noGrp="1"/>
          </p:cNvSpPr>
          <p:nvPr>
            <p:ph type="subTitle" idx="4"/>
          </p:nvPr>
        </p:nvSpPr>
        <p:spPr>
          <a:xfrm>
            <a:off x="3251250" y="1902913"/>
            <a:ext cx="2641500" cy="572700"/>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dirty="0"/>
              <a:t>Nombre de collisions. </a:t>
            </a:r>
          </a:p>
          <a:p>
            <a:pPr marL="285750" lvl="0" indent="-285750">
              <a:buFont typeface="Arial" panose="020B0604020202020204" pitchFamily="34" charset="0"/>
              <a:buChar char="•"/>
            </a:pPr>
            <a:r>
              <a:rPr lang="fr-FR" dirty="0"/>
              <a:t>TTC minimum. </a:t>
            </a:r>
          </a:p>
          <a:p>
            <a:pPr marL="285750" lvl="0" indent="-285750">
              <a:buFont typeface="Arial" panose="020B0604020202020204" pitchFamily="34" charset="0"/>
              <a:buChar char="•"/>
            </a:pPr>
            <a:r>
              <a:rPr lang="fr-FR" dirty="0"/>
              <a:t>Situations de </a:t>
            </a:r>
            <a:r>
              <a:rPr lang="fr-FR" dirty="0" err="1"/>
              <a:t>near</a:t>
            </a:r>
            <a:r>
              <a:rPr lang="fr-FR" dirty="0"/>
              <a:t>-miss.</a:t>
            </a:r>
            <a:endParaRPr dirty="0"/>
          </a:p>
        </p:txBody>
      </p:sp>
      <p:sp>
        <p:nvSpPr>
          <p:cNvPr id="644" name="Google Shape;644;p53"/>
          <p:cNvSpPr txBox="1">
            <a:spLocks noGrp="1"/>
          </p:cNvSpPr>
          <p:nvPr>
            <p:ph type="subTitle" idx="7"/>
          </p:nvPr>
        </p:nvSpPr>
        <p:spPr>
          <a:xfrm>
            <a:off x="756089" y="1570950"/>
            <a:ext cx="2641500" cy="371400"/>
          </a:xfrm>
          <a:prstGeom prst="rect">
            <a:avLst/>
          </a:prstGeom>
        </p:spPr>
        <p:txBody>
          <a:bodyPr spcFirstLastPara="1" wrap="square" lIns="91425" tIns="91425" rIns="91425" bIns="91425" anchor="b" anchorCtr="0">
            <a:noAutofit/>
          </a:bodyPr>
          <a:lstStyle/>
          <a:p>
            <a:pPr marL="0" lvl="0" indent="0"/>
            <a:r>
              <a:rPr lang="fr-FR" dirty="0"/>
              <a:t>Fluidité</a:t>
            </a:r>
            <a:endParaRPr dirty="0"/>
          </a:p>
        </p:txBody>
      </p:sp>
      <p:sp>
        <p:nvSpPr>
          <p:cNvPr id="646" name="Google Shape;646;p53"/>
          <p:cNvSpPr txBox="1">
            <a:spLocks noGrp="1"/>
          </p:cNvSpPr>
          <p:nvPr>
            <p:ph type="subTitle" idx="9"/>
          </p:nvPr>
        </p:nvSpPr>
        <p:spPr>
          <a:xfrm>
            <a:off x="6039089" y="1565378"/>
            <a:ext cx="2641500" cy="371400"/>
          </a:xfrm>
          <a:prstGeom prst="rect">
            <a:avLst/>
          </a:prstGeom>
        </p:spPr>
        <p:txBody>
          <a:bodyPr spcFirstLastPara="1" wrap="square" lIns="91425" tIns="91425" rIns="91425" bIns="91425" anchor="b" anchorCtr="0">
            <a:noAutofit/>
          </a:bodyPr>
          <a:lstStyle/>
          <a:p>
            <a:pPr marL="0" lvl="0" indent="0"/>
            <a:r>
              <a:rPr lang="fr-FR" dirty="0"/>
              <a:t>Robustesse</a:t>
            </a:r>
            <a:endParaRPr dirty="0"/>
          </a:p>
        </p:txBody>
      </p:sp>
      <p:sp>
        <p:nvSpPr>
          <p:cNvPr id="647" name="Google Shape;647;p53"/>
          <p:cNvSpPr txBox="1">
            <a:spLocks noGrp="1"/>
          </p:cNvSpPr>
          <p:nvPr>
            <p:ph type="subTitle" idx="13"/>
          </p:nvPr>
        </p:nvSpPr>
        <p:spPr>
          <a:xfrm>
            <a:off x="6039089" y="1880615"/>
            <a:ext cx="2641500" cy="572700"/>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fr-FR" dirty="0"/>
              <a:t>Nombre de blocages.</a:t>
            </a:r>
          </a:p>
          <a:p>
            <a:pPr marL="285750" lvl="0" indent="-285750">
              <a:buFont typeface="Arial" panose="020B0604020202020204" pitchFamily="34" charset="0"/>
              <a:buChar char="•"/>
            </a:pPr>
            <a:r>
              <a:rPr lang="fr-FR" dirty="0"/>
              <a:t>Temps d’attente. </a:t>
            </a:r>
          </a:p>
          <a:p>
            <a:pPr marL="285750" lvl="0" indent="-285750">
              <a:buFont typeface="Arial" panose="020B0604020202020204" pitchFamily="34" charset="0"/>
              <a:buChar char="•"/>
            </a:pPr>
            <a:r>
              <a:rPr lang="fr-FR" dirty="0"/>
              <a:t>Nombre d’arrêts.</a:t>
            </a:r>
            <a:endParaRPr dirty="0"/>
          </a:p>
        </p:txBody>
      </p:sp>
      <p:sp>
        <p:nvSpPr>
          <p:cNvPr id="650" name="Google Shape;650;p53"/>
          <p:cNvSpPr/>
          <p:nvPr/>
        </p:nvSpPr>
        <p:spPr>
          <a:xfrm>
            <a:off x="7427838" y="362424"/>
            <a:ext cx="1041300" cy="1041000"/>
          </a:xfrm>
          <a:prstGeom prst="decagon">
            <a:avLst>
              <a:gd name="vf" fmla="val 105146"/>
            </a:avLst>
          </a:prstGeom>
          <a:solidFill>
            <a:srgbClr val="95F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53"/>
          <p:cNvGrpSpPr/>
          <p:nvPr/>
        </p:nvGrpSpPr>
        <p:grpSpPr>
          <a:xfrm rot="464811">
            <a:off x="7624138" y="639412"/>
            <a:ext cx="648951" cy="487702"/>
            <a:chOff x="6736356" y="463130"/>
            <a:chExt cx="648933" cy="487689"/>
          </a:xfrm>
        </p:grpSpPr>
        <p:grpSp>
          <p:nvGrpSpPr>
            <p:cNvPr id="652" name="Google Shape;652;p53"/>
            <p:cNvGrpSpPr/>
            <p:nvPr/>
          </p:nvGrpSpPr>
          <p:grpSpPr>
            <a:xfrm>
              <a:off x="6760636" y="488826"/>
              <a:ext cx="624653" cy="461993"/>
              <a:chOff x="2505625" y="3873250"/>
              <a:chExt cx="487325" cy="360425"/>
            </a:xfrm>
          </p:grpSpPr>
          <p:sp>
            <p:nvSpPr>
              <p:cNvPr id="653" name="Google Shape;653;p53"/>
              <p:cNvSpPr/>
              <p:nvPr/>
            </p:nvSpPr>
            <p:spPr>
              <a:xfrm>
                <a:off x="2781050" y="3873250"/>
                <a:ext cx="211900" cy="360425"/>
              </a:xfrm>
              <a:custGeom>
                <a:avLst/>
                <a:gdLst/>
                <a:ahLst/>
                <a:cxnLst/>
                <a:rect l="l" t="t" r="r" b="b"/>
                <a:pathLst>
                  <a:path w="8476" h="14417" extrusionOk="0">
                    <a:moveTo>
                      <a:pt x="795" y="0"/>
                    </a:moveTo>
                    <a:cubicBezTo>
                      <a:pt x="358" y="0"/>
                      <a:pt x="1" y="357"/>
                      <a:pt x="1" y="794"/>
                    </a:cubicBezTo>
                    <a:lnTo>
                      <a:pt x="1" y="1900"/>
                    </a:lnTo>
                    <a:lnTo>
                      <a:pt x="1" y="3613"/>
                    </a:lnTo>
                    <a:lnTo>
                      <a:pt x="1" y="12490"/>
                    </a:lnTo>
                    <a:lnTo>
                      <a:pt x="1" y="13623"/>
                    </a:lnTo>
                    <a:cubicBezTo>
                      <a:pt x="1" y="14060"/>
                      <a:pt x="358" y="14417"/>
                      <a:pt x="795" y="14417"/>
                    </a:cubicBezTo>
                    <a:lnTo>
                      <a:pt x="7682" y="14417"/>
                    </a:lnTo>
                    <a:cubicBezTo>
                      <a:pt x="8119" y="14417"/>
                      <a:pt x="8476" y="14060"/>
                      <a:pt x="8476" y="13623"/>
                    </a:cubicBezTo>
                    <a:lnTo>
                      <a:pt x="8476" y="12490"/>
                    </a:lnTo>
                    <a:lnTo>
                      <a:pt x="8476" y="3613"/>
                    </a:lnTo>
                    <a:lnTo>
                      <a:pt x="8476" y="1900"/>
                    </a:lnTo>
                    <a:lnTo>
                      <a:pt x="8476" y="794"/>
                    </a:lnTo>
                    <a:cubicBezTo>
                      <a:pt x="8476" y="357"/>
                      <a:pt x="8119" y="0"/>
                      <a:pt x="76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3"/>
              <p:cNvSpPr/>
              <p:nvPr/>
            </p:nvSpPr>
            <p:spPr>
              <a:xfrm>
                <a:off x="2505625" y="3873250"/>
                <a:ext cx="211675" cy="360425"/>
              </a:xfrm>
              <a:custGeom>
                <a:avLst/>
                <a:gdLst/>
                <a:ahLst/>
                <a:cxnLst/>
                <a:rect l="l" t="t" r="r" b="b"/>
                <a:pathLst>
                  <a:path w="8467" h="14417" extrusionOk="0">
                    <a:moveTo>
                      <a:pt x="785" y="0"/>
                    </a:moveTo>
                    <a:cubicBezTo>
                      <a:pt x="348" y="0"/>
                      <a:pt x="0" y="357"/>
                      <a:pt x="0" y="794"/>
                    </a:cubicBezTo>
                    <a:lnTo>
                      <a:pt x="0" y="1900"/>
                    </a:lnTo>
                    <a:lnTo>
                      <a:pt x="0" y="12490"/>
                    </a:lnTo>
                    <a:lnTo>
                      <a:pt x="0" y="13623"/>
                    </a:lnTo>
                    <a:cubicBezTo>
                      <a:pt x="0" y="14060"/>
                      <a:pt x="348" y="14417"/>
                      <a:pt x="785" y="14417"/>
                    </a:cubicBezTo>
                    <a:lnTo>
                      <a:pt x="7672" y="14417"/>
                    </a:lnTo>
                    <a:cubicBezTo>
                      <a:pt x="8110" y="14417"/>
                      <a:pt x="8466" y="14060"/>
                      <a:pt x="8466" y="13623"/>
                    </a:cubicBezTo>
                    <a:lnTo>
                      <a:pt x="8466" y="12490"/>
                    </a:lnTo>
                    <a:lnTo>
                      <a:pt x="8466" y="1900"/>
                    </a:lnTo>
                    <a:lnTo>
                      <a:pt x="8466" y="794"/>
                    </a:lnTo>
                    <a:cubicBezTo>
                      <a:pt x="8466" y="357"/>
                      <a:pt x="8110" y="0"/>
                      <a:pt x="76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53"/>
              <p:cNvSpPr/>
              <p:nvPr/>
            </p:nvSpPr>
            <p:spPr>
              <a:xfrm>
                <a:off x="2732225" y="4028525"/>
                <a:ext cx="33925" cy="49925"/>
              </a:xfrm>
              <a:custGeom>
                <a:avLst/>
                <a:gdLst/>
                <a:ahLst/>
                <a:cxnLst/>
                <a:rect l="l" t="t" r="r" b="b"/>
                <a:pathLst>
                  <a:path w="1357" h="1997" extrusionOk="0">
                    <a:moveTo>
                      <a:pt x="326" y="0"/>
                    </a:moveTo>
                    <a:cubicBezTo>
                      <a:pt x="250" y="0"/>
                      <a:pt x="174" y="29"/>
                      <a:pt x="116" y="87"/>
                    </a:cubicBezTo>
                    <a:cubicBezTo>
                      <a:pt x="0" y="194"/>
                      <a:pt x="0" y="382"/>
                      <a:pt x="116" y="498"/>
                    </a:cubicBezTo>
                    <a:lnTo>
                      <a:pt x="616" y="997"/>
                    </a:lnTo>
                    <a:lnTo>
                      <a:pt x="116" y="1497"/>
                    </a:lnTo>
                    <a:cubicBezTo>
                      <a:pt x="0" y="1604"/>
                      <a:pt x="0" y="1791"/>
                      <a:pt x="116" y="1907"/>
                    </a:cubicBezTo>
                    <a:cubicBezTo>
                      <a:pt x="178" y="1970"/>
                      <a:pt x="250" y="1996"/>
                      <a:pt x="330" y="1996"/>
                    </a:cubicBezTo>
                    <a:cubicBezTo>
                      <a:pt x="401" y="1996"/>
                      <a:pt x="473" y="1970"/>
                      <a:pt x="535" y="1907"/>
                    </a:cubicBezTo>
                    <a:lnTo>
                      <a:pt x="1240" y="1203"/>
                    </a:lnTo>
                    <a:cubicBezTo>
                      <a:pt x="1356" y="1087"/>
                      <a:pt x="1356" y="899"/>
                      <a:pt x="1240" y="792"/>
                    </a:cubicBezTo>
                    <a:lnTo>
                      <a:pt x="535" y="87"/>
                    </a:lnTo>
                    <a:cubicBezTo>
                      <a:pt x="477" y="29"/>
                      <a:pt x="401"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 name="Google Shape;656;p53"/>
            <p:cNvGrpSpPr/>
            <p:nvPr/>
          </p:nvGrpSpPr>
          <p:grpSpPr>
            <a:xfrm>
              <a:off x="6736356" y="463130"/>
              <a:ext cx="610650" cy="456000"/>
              <a:chOff x="1728600" y="3528000"/>
              <a:chExt cx="476400" cy="355750"/>
            </a:xfrm>
          </p:grpSpPr>
          <p:sp>
            <p:nvSpPr>
              <p:cNvPr id="657" name="Google Shape;657;p53"/>
              <p:cNvSpPr/>
              <p:nvPr/>
            </p:nvSpPr>
            <p:spPr>
              <a:xfrm>
                <a:off x="1989975" y="3528000"/>
                <a:ext cx="215025" cy="355750"/>
              </a:xfrm>
              <a:custGeom>
                <a:avLst/>
                <a:gdLst/>
                <a:ahLst/>
                <a:cxnLst/>
                <a:rect l="l" t="t" r="r" b="b"/>
                <a:pathLst>
                  <a:path w="8601" h="14230" extrusionOk="0">
                    <a:moveTo>
                      <a:pt x="7566" y="563"/>
                    </a:moveTo>
                    <a:cubicBezTo>
                      <a:pt x="7825" y="563"/>
                      <a:pt x="8039" y="768"/>
                      <a:pt x="8039" y="1035"/>
                    </a:cubicBezTo>
                    <a:lnTo>
                      <a:pt x="8039" y="1803"/>
                    </a:lnTo>
                    <a:lnTo>
                      <a:pt x="563" y="1803"/>
                    </a:lnTo>
                    <a:lnTo>
                      <a:pt x="563" y="1035"/>
                    </a:lnTo>
                    <a:cubicBezTo>
                      <a:pt x="563" y="768"/>
                      <a:pt x="777" y="563"/>
                      <a:pt x="1036" y="563"/>
                    </a:cubicBezTo>
                    <a:close/>
                    <a:moveTo>
                      <a:pt x="8039" y="2365"/>
                    </a:moveTo>
                    <a:lnTo>
                      <a:pt x="8039" y="3426"/>
                    </a:lnTo>
                    <a:lnTo>
                      <a:pt x="563" y="3426"/>
                    </a:lnTo>
                    <a:lnTo>
                      <a:pt x="563" y="2365"/>
                    </a:lnTo>
                    <a:close/>
                    <a:moveTo>
                      <a:pt x="8039" y="12410"/>
                    </a:moveTo>
                    <a:lnTo>
                      <a:pt x="8039" y="13204"/>
                    </a:lnTo>
                    <a:cubicBezTo>
                      <a:pt x="8039" y="13462"/>
                      <a:pt x="7825" y="13676"/>
                      <a:pt x="7566" y="13676"/>
                    </a:cubicBezTo>
                    <a:lnTo>
                      <a:pt x="1036" y="13676"/>
                    </a:lnTo>
                    <a:cubicBezTo>
                      <a:pt x="777" y="13676"/>
                      <a:pt x="563" y="13462"/>
                      <a:pt x="563" y="13204"/>
                    </a:cubicBezTo>
                    <a:lnTo>
                      <a:pt x="563" y="12410"/>
                    </a:lnTo>
                    <a:close/>
                    <a:moveTo>
                      <a:pt x="1036" y="0"/>
                    </a:moveTo>
                    <a:cubicBezTo>
                      <a:pt x="465" y="0"/>
                      <a:pt x="1" y="464"/>
                      <a:pt x="1" y="1035"/>
                    </a:cubicBezTo>
                    <a:lnTo>
                      <a:pt x="1" y="10385"/>
                    </a:lnTo>
                    <a:cubicBezTo>
                      <a:pt x="1" y="10536"/>
                      <a:pt x="126" y="10661"/>
                      <a:pt x="286" y="10661"/>
                    </a:cubicBezTo>
                    <a:cubicBezTo>
                      <a:pt x="438" y="10661"/>
                      <a:pt x="563" y="10536"/>
                      <a:pt x="563" y="10385"/>
                    </a:cubicBezTo>
                    <a:lnTo>
                      <a:pt x="563" y="3988"/>
                    </a:lnTo>
                    <a:lnTo>
                      <a:pt x="8039" y="3988"/>
                    </a:lnTo>
                    <a:lnTo>
                      <a:pt x="8039" y="11848"/>
                    </a:lnTo>
                    <a:lnTo>
                      <a:pt x="563" y="11848"/>
                    </a:lnTo>
                    <a:lnTo>
                      <a:pt x="563" y="11517"/>
                    </a:lnTo>
                    <a:cubicBezTo>
                      <a:pt x="563" y="11366"/>
                      <a:pt x="438" y="11241"/>
                      <a:pt x="286" y="11241"/>
                    </a:cubicBezTo>
                    <a:cubicBezTo>
                      <a:pt x="126" y="11241"/>
                      <a:pt x="1" y="11366"/>
                      <a:pt x="1" y="11517"/>
                    </a:cubicBezTo>
                    <a:lnTo>
                      <a:pt x="1" y="13204"/>
                    </a:lnTo>
                    <a:cubicBezTo>
                      <a:pt x="1" y="13774"/>
                      <a:pt x="465" y="14229"/>
                      <a:pt x="1036" y="14229"/>
                    </a:cubicBezTo>
                    <a:lnTo>
                      <a:pt x="7566" y="14229"/>
                    </a:lnTo>
                    <a:cubicBezTo>
                      <a:pt x="8137" y="14229"/>
                      <a:pt x="8601" y="13774"/>
                      <a:pt x="8601" y="13204"/>
                    </a:cubicBezTo>
                    <a:lnTo>
                      <a:pt x="8601" y="1035"/>
                    </a:lnTo>
                    <a:cubicBezTo>
                      <a:pt x="8601" y="464"/>
                      <a:pt x="8137" y="0"/>
                      <a:pt x="75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3"/>
              <p:cNvSpPr/>
              <p:nvPr/>
            </p:nvSpPr>
            <p:spPr>
              <a:xfrm>
                <a:off x="2045750" y="3550525"/>
                <a:ext cx="66025" cy="14075"/>
              </a:xfrm>
              <a:custGeom>
                <a:avLst/>
                <a:gdLst/>
                <a:ahLst/>
                <a:cxnLst/>
                <a:rect l="l" t="t" r="r" b="b"/>
                <a:pathLst>
                  <a:path w="2641" h="563" extrusionOk="0">
                    <a:moveTo>
                      <a:pt x="277" y="1"/>
                    </a:moveTo>
                    <a:cubicBezTo>
                      <a:pt x="125" y="1"/>
                      <a:pt x="0" y="125"/>
                      <a:pt x="0" y="286"/>
                    </a:cubicBezTo>
                    <a:cubicBezTo>
                      <a:pt x="0" y="438"/>
                      <a:pt x="125" y="563"/>
                      <a:pt x="277" y="563"/>
                    </a:cubicBezTo>
                    <a:lnTo>
                      <a:pt x="2364" y="563"/>
                    </a:lnTo>
                    <a:cubicBezTo>
                      <a:pt x="2516" y="563"/>
                      <a:pt x="2641" y="438"/>
                      <a:pt x="2641" y="286"/>
                    </a:cubicBezTo>
                    <a:cubicBezTo>
                      <a:pt x="2641" y="125"/>
                      <a:pt x="2516" y="1"/>
                      <a:pt x="236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3"/>
              <p:cNvSpPr/>
              <p:nvPr/>
            </p:nvSpPr>
            <p:spPr>
              <a:xfrm>
                <a:off x="2139175" y="3550075"/>
                <a:ext cx="13875" cy="14975"/>
              </a:xfrm>
              <a:custGeom>
                <a:avLst/>
                <a:gdLst/>
                <a:ahLst/>
                <a:cxnLst/>
                <a:rect l="l" t="t" r="r" b="b"/>
                <a:pathLst>
                  <a:path w="555" h="599" extrusionOk="0">
                    <a:moveTo>
                      <a:pt x="278" y="1"/>
                    </a:moveTo>
                    <a:cubicBezTo>
                      <a:pt x="126" y="1"/>
                      <a:pt x="1" y="126"/>
                      <a:pt x="1" y="277"/>
                    </a:cubicBezTo>
                    <a:lnTo>
                      <a:pt x="1" y="322"/>
                    </a:lnTo>
                    <a:cubicBezTo>
                      <a:pt x="1" y="473"/>
                      <a:pt x="126" y="598"/>
                      <a:pt x="278" y="598"/>
                    </a:cubicBezTo>
                    <a:cubicBezTo>
                      <a:pt x="429" y="598"/>
                      <a:pt x="554" y="473"/>
                      <a:pt x="554" y="322"/>
                    </a:cubicBezTo>
                    <a:lnTo>
                      <a:pt x="554" y="277"/>
                    </a:lnTo>
                    <a:cubicBezTo>
                      <a:pt x="554" y="126"/>
                      <a:pt x="429" y="1"/>
                      <a:pt x="27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3"/>
              <p:cNvSpPr/>
              <p:nvPr/>
            </p:nvSpPr>
            <p:spPr>
              <a:xfrm>
                <a:off x="2120900" y="3550075"/>
                <a:ext cx="14075" cy="14975"/>
              </a:xfrm>
              <a:custGeom>
                <a:avLst/>
                <a:gdLst/>
                <a:ahLst/>
                <a:cxnLst/>
                <a:rect l="l" t="t" r="r" b="b"/>
                <a:pathLst>
                  <a:path w="563" h="599" extrusionOk="0">
                    <a:moveTo>
                      <a:pt x="277" y="1"/>
                    </a:moveTo>
                    <a:cubicBezTo>
                      <a:pt x="125" y="1"/>
                      <a:pt x="0" y="126"/>
                      <a:pt x="0" y="277"/>
                    </a:cubicBezTo>
                    <a:lnTo>
                      <a:pt x="0" y="322"/>
                    </a:lnTo>
                    <a:cubicBezTo>
                      <a:pt x="0" y="473"/>
                      <a:pt x="125" y="598"/>
                      <a:pt x="277" y="598"/>
                    </a:cubicBezTo>
                    <a:cubicBezTo>
                      <a:pt x="438" y="598"/>
                      <a:pt x="562" y="473"/>
                      <a:pt x="562" y="322"/>
                    </a:cubicBezTo>
                    <a:lnTo>
                      <a:pt x="562" y="277"/>
                    </a:lnTo>
                    <a:cubicBezTo>
                      <a:pt x="562" y="126"/>
                      <a:pt x="438"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3"/>
              <p:cNvSpPr/>
              <p:nvPr/>
            </p:nvSpPr>
            <p:spPr>
              <a:xfrm>
                <a:off x="2075625" y="3847150"/>
                <a:ext cx="43525" cy="13850"/>
              </a:xfrm>
              <a:custGeom>
                <a:avLst/>
                <a:gdLst/>
                <a:ahLst/>
                <a:cxnLst/>
                <a:rect l="l" t="t" r="r" b="b"/>
                <a:pathLst>
                  <a:path w="1741" h="554" extrusionOk="0">
                    <a:moveTo>
                      <a:pt x="286" y="0"/>
                    </a:moveTo>
                    <a:cubicBezTo>
                      <a:pt x="125" y="0"/>
                      <a:pt x="0" y="125"/>
                      <a:pt x="0" y="277"/>
                    </a:cubicBezTo>
                    <a:cubicBezTo>
                      <a:pt x="0" y="429"/>
                      <a:pt x="125" y="554"/>
                      <a:pt x="286" y="554"/>
                    </a:cubicBezTo>
                    <a:lnTo>
                      <a:pt x="1464" y="554"/>
                    </a:lnTo>
                    <a:cubicBezTo>
                      <a:pt x="1615" y="554"/>
                      <a:pt x="1740" y="429"/>
                      <a:pt x="1740" y="277"/>
                    </a:cubicBezTo>
                    <a:cubicBezTo>
                      <a:pt x="1740" y="125"/>
                      <a:pt x="1615" y="0"/>
                      <a:pt x="14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3"/>
              <p:cNvSpPr/>
              <p:nvPr/>
            </p:nvSpPr>
            <p:spPr>
              <a:xfrm>
                <a:off x="1728600" y="3528000"/>
                <a:ext cx="215025" cy="355750"/>
              </a:xfrm>
              <a:custGeom>
                <a:avLst/>
                <a:gdLst/>
                <a:ahLst/>
                <a:cxnLst/>
                <a:rect l="l" t="t" r="r" b="b"/>
                <a:pathLst>
                  <a:path w="8601" h="14230" extrusionOk="0">
                    <a:moveTo>
                      <a:pt x="7565" y="563"/>
                    </a:moveTo>
                    <a:cubicBezTo>
                      <a:pt x="7824" y="563"/>
                      <a:pt x="8038" y="768"/>
                      <a:pt x="8038" y="1035"/>
                    </a:cubicBezTo>
                    <a:lnTo>
                      <a:pt x="8038" y="1803"/>
                    </a:lnTo>
                    <a:lnTo>
                      <a:pt x="562" y="1803"/>
                    </a:lnTo>
                    <a:lnTo>
                      <a:pt x="562" y="1035"/>
                    </a:lnTo>
                    <a:cubicBezTo>
                      <a:pt x="562" y="768"/>
                      <a:pt x="776" y="563"/>
                      <a:pt x="1035" y="563"/>
                    </a:cubicBezTo>
                    <a:close/>
                    <a:moveTo>
                      <a:pt x="8038" y="12410"/>
                    </a:moveTo>
                    <a:lnTo>
                      <a:pt x="8038" y="13204"/>
                    </a:lnTo>
                    <a:cubicBezTo>
                      <a:pt x="8038" y="13462"/>
                      <a:pt x="7824" y="13676"/>
                      <a:pt x="7565" y="13676"/>
                    </a:cubicBezTo>
                    <a:lnTo>
                      <a:pt x="1035" y="13676"/>
                    </a:lnTo>
                    <a:cubicBezTo>
                      <a:pt x="776" y="13676"/>
                      <a:pt x="562" y="13462"/>
                      <a:pt x="562" y="13204"/>
                    </a:cubicBezTo>
                    <a:lnTo>
                      <a:pt x="562" y="12410"/>
                    </a:lnTo>
                    <a:close/>
                    <a:moveTo>
                      <a:pt x="1035" y="0"/>
                    </a:moveTo>
                    <a:cubicBezTo>
                      <a:pt x="464" y="0"/>
                      <a:pt x="0" y="464"/>
                      <a:pt x="0" y="1035"/>
                    </a:cubicBezTo>
                    <a:lnTo>
                      <a:pt x="0" y="6959"/>
                    </a:lnTo>
                    <a:cubicBezTo>
                      <a:pt x="0" y="7111"/>
                      <a:pt x="125" y="7235"/>
                      <a:pt x="286" y="7235"/>
                    </a:cubicBezTo>
                    <a:cubicBezTo>
                      <a:pt x="437" y="7235"/>
                      <a:pt x="562" y="7111"/>
                      <a:pt x="562" y="6959"/>
                    </a:cubicBezTo>
                    <a:lnTo>
                      <a:pt x="562" y="2365"/>
                    </a:lnTo>
                    <a:lnTo>
                      <a:pt x="8038" y="2365"/>
                    </a:lnTo>
                    <a:lnTo>
                      <a:pt x="8038" y="11848"/>
                    </a:lnTo>
                    <a:lnTo>
                      <a:pt x="562" y="11848"/>
                    </a:lnTo>
                    <a:lnTo>
                      <a:pt x="562" y="8101"/>
                    </a:lnTo>
                    <a:cubicBezTo>
                      <a:pt x="562" y="7940"/>
                      <a:pt x="437" y="7815"/>
                      <a:pt x="286" y="7815"/>
                    </a:cubicBezTo>
                    <a:cubicBezTo>
                      <a:pt x="125" y="7815"/>
                      <a:pt x="0" y="7940"/>
                      <a:pt x="0" y="8101"/>
                    </a:cubicBezTo>
                    <a:lnTo>
                      <a:pt x="0" y="13204"/>
                    </a:lnTo>
                    <a:cubicBezTo>
                      <a:pt x="0" y="13774"/>
                      <a:pt x="464" y="14229"/>
                      <a:pt x="1035" y="14229"/>
                    </a:cubicBezTo>
                    <a:lnTo>
                      <a:pt x="7565" y="14229"/>
                    </a:lnTo>
                    <a:cubicBezTo>
                      <a:pt x="8136" y="14229"/>
                      <a:pt x="8600" y="13774"/>
                      <a:pt x="8600" y="13204"/>
                    </a:cubicBezTo>
                    <a:lnTo>
                      <a:pt x="8600" y="1035"/>
                    </a:lnTo>
                    <a:cubicBezTo>
                      <a:pt x="8600" y="464"/>
                      <a:pt x="8136" y="0"/>
                      <a:pt x="75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3"/>
              <p:cNvSpPr/>
              <p:nvPr/>
            </p:nvSpPr>
            <p:spPr>
              <a:xfrm>
                <a:off x="1784350" y="3550525"/>
                <a:ext cx="66275" cy="14075"/>
              </a:xfrm>
              <a:custGeom>
                <a:avLst/>
                <a:gdLst/>
                <a:ahLst/>
                <a:cxnLst/>
                <a:rect l="l" t="t" r="r" b="b"/>
                <a:pathLst>
                  <a:path w="2651" h="563" extrusionOk="0">
                    <a:moveTo>
                      <a:pt x="277" y="1"/>
                    </a:moveTo>
                    <a:cubicBezTo>
                      <a:pt x="126" y="1"/>
                      <a:pt x="1" y="125"/>
                      <a:pt x="1" y="286"/>
                    </a:cubicBezTo>
                    <a:cubicBezTo>
                      <a:pt x="1" y="438"/>
                      <a:pt x="126" y="563"/>
                      <a:pt x="277" y="563"/>
                    </a:cubicBezTo>
                    <a:lnTo>
                      <a:pt x="2365" y="563"/>
                    </a:lnTo>
                    <a:cubicBezTo>
                      <a:pt x="2525" y="563"/>
                      <a:pt x="2650" y="438"/>
                      <a:pt x="2650" y="286"/>
                    </a:cubicBezTo>
                    <a:cubicBezTo>
                      <a:pt x="2650" y="125"/>
                      <a:pt x="2525" y="1"/>
                      <a:pt x="23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3"/>
              <p:cNvSpPr/>
              <p:nvPr/>
            </p:nvSpPr>
            <p:spPr>
              <a:xfrm>
                <a:off x="1877800" y="3550075"/>
                <a:ext cx="13850" cy="14975"/>
              </a:xfrm>
              <a:custGeom>
                <a:avLst/>
                <a:gdLst/>
                <a:ahLst/>
                <a:cxnLst/>
                <a:rect l="l" t="t" r="r" b="b"/>
                <a:pathLst>
                  <a:path w="554" h="599" extrusionOk="0">
                    <a:moveTo>
                      <a:pt x="277" y="1"/>
                    </a:moveTo>
                    <a:cubicBezTo>
                      <a:pt x="125" y="1"/>
                      <a:pt x="1" y="126"/>
                      <a:pt x="1" y="277"/>
                    </a:cubicBezTo>
                    <a:lnTo>
                      <a:pt x="1" y="322"/>
                    </a:lnTo>
                    <a:cubicBezTo>
                      <a:pt x="1" y="473"/>
                      <a:pt x="125" y="598"/>
                      <a:pt x="277" y="598"/>
                    </a:cubicBezTo>
                    <a:cubicBezTo>
                      <a:pt x="429" y="598"/>
                      <a:pt x="554" y="473"/>
                      <a:pt x="554" y="322"/>
                    </a:cubicBezTo>
                    <a:lnTo>
                      <a:pt x="554" y="277"/>
                    </a:lnTo>
                    <a:cubicBezTo>
                      <a:pt x="554" y="126"/>
                      <a:pt x="429"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3"/>
              <p:cNvSpPr/>
              <p:nvPr/>
            </p:nvSpPr>
            <p:spPr>
              <a:xfrm>
                <a:off x="1859525" y="3550075"/>
                <a:ext cx="14075" cy="14975"/>
              </a:xfrm>
              <a:custGeom>
                <a:avLst/>
                <a:gdLst/>
                <a:ahLst/>
                <a:cxnLst/>
                <a:rect l="l" t="t" r="r" b="b"/>
                <a:pathLst>
                  <a:path w="563" h="599" extrusionOk="0">
                    <a:moveTo>
                      <a:pt x="277" y="1"/>
                    </a:moveTo>
                    <a:cubicBezTo>
                      <a:pt x="125" y="1"/>
                      <a:pt x="0" y="126"/>
                      <a:pt x="0" y="277"/>
                    </a:cubicBezTo>
                    <a:lnTo>
                      <a:pt x="0" y="322"/>
                    </a:lnTo>
                    <a:cubicBezTo>
                      <a:pt x="0" y="473"/>
                      <a:pt x="125" y="598"/>
                      <a:pt x="277" y="598"/>
                    </a:cubicBezTo>
                    <a:cubicBezTo>
                      <a:pt x="437" y="598"/>
                      <a:pt x="562" y="473"/>
                      <a:pt x="562" y="322"/>
                    </a:cubicBezTo>
                    <a:lnTo>
                      <a:pt x="562" y="277"/>
                    </a:lnTo>
                    <a:cubicBezTo>
                      <a:pt x="562" y="126"/>
                      <a:pt x="437"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3"/>
              <p:cNvSpPr/>
              <p:nvPr/>
            </p:nvSpPr>
            <p:spPr>
              <a:xfrm>
                <a:off x="1814250" y="3847150"/>
                <a:ext cx="43500" cy="13850"/>
              </a:xfrm>
              <a:custGeom>
                <a:avLst/>
                <a:gdLst/>
                <a:ahLst/>
                <a:cxnLst/>
                <a:rect l="l" t="t" r="r" b="b"/>
                <a:pathLst>
                  <a:path w="1740" h="554" extrusionOk="0">
                    <a:moveTo>
                      <a:pt x="286" y="0"/>
                    </a:moveTo>
                    <a:cubicBezTo>
                      <a:pt x="125" y="0"/>
                      <a:pt x="0" y="125"/>
                      <a:pt x="0" y="277"/>
                    </a:cubicBezTo>
                    <a:cubicBezTo>
                      <a:pt x="0" y="429"/>
                      <a:pt x="125" y="554"/>
                      <a:pt x="286" y="554"/>
                    </a:cubicBezTo>
                    <a:lnTo>
                      <a:pt x="1463" y="554"/>
                    </a:lnTo>
                    <a:cubicBezTo>
                      <a:pt x="1615" y="554"/>
                      <a:pt x="1740" y="429"/>
                      <a:pt x="1740" y="277"/>
                    </a:cubicBezTo>
                    <a:cubicBezTo>
                      <a:pt x="1740" y="125"/>
                      <a:pt x="1615" y="0"/>
                      <a:pt x="146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3"/>
              <p:cNvSpPr/>
              <p:nvPr/>
            </p:nvSpPr>
            <p:spPr>
              <a:xfrm>
                <a:off x="1752900" y="3629025"/>
                <a:ext cx="166400" cy="59575"/>
              </a:xfrm>
              <a:custGeom>
                <a:avLst/>
                <a:gdLst/>
                <a:ahLst/>
                <a:cxnLst/>
                <a:rect l="l" t="t" r="r" b="b"/>
                <a:pathLst>
                  <a:path w="6656" h="2383" extrusionOk="0">
                    <a:moveTo>
                      <a:pt x="277" y="1"/>
                    </a:moveTo>
                    <a:cubicBezTo>
                      <a:pt x="126" y="1"/>
                      <a:pt x="1" y="126"/>
                      <a:pt x="1" y="277"/>
                    </a:cubicBezTo>
                    <a:lnTo>
                      <a:pt x="1" y="2106"/>
                    </a:lnTo>
                    <a:cubicBezTo>
                      <a:pt x="1" y="2258"/>
                      <a:pt x="126" y="2383"/>
                      <a:pt x="277" y="2383"/>
                    </a:cubicBezTo>
                    <a:lnTo>
                      <a:pt x="6379" y="2383"/>
                    </a:lnTo>
                    <a:cubicBezTo>
                      <a:pt x="6531" y="2383"/>
                      <a:pt x="6656" y="2258"/>
                      <a:pt x="6656" y="2106"/>
                    </a:cubicBezTo>
                    <a:lnTo>
                      <a:pt x="6656" y="277"/>
                    </a:lnTo>
                    <a:cubicBezTo>
                      <a:pt x="6656" y="126"/>
                      <a:pt x="6531" y="1"/>
                      <a:pt x="6379" y="1"/>
                    </a:cubicBezTo>
                    <a:lnTo>
                      <a:pt x="5443" y="1"/>
                    </a:lnTo>
                    <a:cubicBezTo>
                      <a:pt x="5291" y="1"/>
                      <a:pt x="5166" y="126"/>
                      <a:pt x="5166" y="277"/>
                    </a:cubicBezTo>
                    <a:cubicBezTo>
                      <a:pt x="5166" y="429"/>
                      <a:pt x="5291" y="554"/>
                      <a:pt x="5443" y="554"/>
                    </a:cubicBezTo>
                    <a:lnTo>
                      <a:pt x="6103" y="554"/>
                    </a:lnTo>
                    <a:lnTo>
                      <a:pt x="6103" y="1829"/>
                    </a:lnTo>
                    <a:lnTo>
                      <a:pt x="554" y="1829"/>
                    </a:lnTo>
                    <a:lnTo>
                      <a:pt x="554" y="554"/>
                    </a:lnTo>
                    <a:lnTo>
                      <a:pt x="4301" y="554"/>
                    </a:lnTo>
                    <a:cubicBezTo>
                      <a:pt x="4461" y="554"/>
                      <a:pt x="4586" y="429"/>
                      <a:pt x="4586" y="277"/>
                    </a:cubicBezTo>
                    <a:cubicBezTo>
                      <a:pt x="4586" y="126"/>
                      <a:pt x="4461" y="1"/>
                      <a:pt x="43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3"/>
              <p:cNvSpPr/>
              <p:nvPr/>
            </p:nvSpPr>
            <p:spPr>
              <a:xfrm>
                <a:off x="1755125" y="3699050"/>
                <a:ext cx="69175" cy="13850"/>
              </a:xfrm>
              <a:custGeom>
                <a:avLst/>
                <a:gdLst/>
                <a:ahLst/>
                <a:cxnLst/>
                <a:rect l="l" t="t" r="r" b="b"/>
                <a:pathLst>
                  <a:path w="2767" h="554" extrusionOk="0">
                    <a:moveTo>
                      <a:pt x="278" y="1"/>
                    </a:moveTo>
                    <a:cubicBezTo>
                      <a:pt x="126" y="1"/>
                      <a:pt x="1" y="126"/>
                      <a:pt x="1" y="277"/>
                    </a:cubicBezTo>
                    <a:cubicBezTo>
                      <a:pt x="1" y="429"/>
                      <a:pt x="126" y="554"/>
                      <a:pt x="278" y="554"/>
                    </a:cubicBezTo>
                    <a:lnTo>
                      <a:pt x="2490" y="554"/>
                    </a:lnTo>
                    <a:cubicBezTo>
                      <a:pt x="2642" y="554"/>
                      <a:pt x="2766" y="429"/>
                      <a:pt x="2766" y="277"/>
                    </a:cubicBezTo>
                    <a:cubicBezTo>
                      <a:pt x="2766" y="126"/>
                      <a:pt x="2642" y="1"/>
                      <a:pt x="24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3"/>
              <p:cNvSpPr/>
              <p:nvPr/>
            </p:nvSpPr>
            <p:spPr>
              <a:xfrm>
                <a:off x="1755125" y="3723150"/>
                <a:ext cx="69175" cy="14075"/>
              </a:xfrm>
              <a:custGeom>
                <a:avLst/>
                <a:gdLst/>
                <a:ahLst/>
                <a:cxnLst/>
                <a:rect l="l" t="t" r="r" b="b"/>
                <a:pathLst>
                  <a:path w="2767" h="563" extrusionOk="0">
                    <a:moveTo>
                      <a:pt x="278" y="0"/>
                    </a:moveTo>
                    <a:cubicBezTo>
                      <a:pt x="126" y="0"/>
                      <a:pt x="1" y="125"/>
                      <a:pt x="1" y="277"/>
                    </a:cubicBezTo>
                    <a:cubicBezTo>
                      <a:pt x="1" y="437"/>
                      <a:pt x="126" y="562"/>
                      <a:pt x="278" y="562"/>
                    </a:cubicBezTo>
                    <a:lnTo>
                      <a:pt x="2490" y="562"/>
                    </a:lnTo>
                    <a:cubicBezTo>
                      <a:pt x="2642" y="562"/>
                      <a:pt x="2766" y="437"/>
                      <a:pt x="2766" y="277"/>
                    </a:cubicBezTo>
                    <a:cubicBezTo>
                      <a:pt x="2766" y="125"/>
                      <a:pt x="2642" y="0"/>
                      <a:pt x="24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3"/>
              <p:cNvSpPr/>
              <p:nvPr/>
            </p:nvSpPr>
            <p:spPr>
              <a:xfrm>
                <a:off x="1755125" y="3747450"/>
                <a:ext cx="69175" cy="13850"/>
              </a:xfrm>
              <a:custGeom>
                <a:avLst/>
                <a:gdLst/>
                <a:ahLst/>
                <a:cxnLst/>
                <a:rect l="l" t="t" r="r" b="b"/>
                <a:pathLst>
                  <a:path w="2767" h="554" extrusionOk="0">
                    <a:moveTo>
                      <a:pt x="278" y="1"/>
                    </a:moveTo>
                    <a:cubicBezTo>
                      <a:pt x="126" y="1"/>
                      <a:pt x="1" y="126"/>
                      <a:pt x="1" y="277"/>
                    </a:cubicBezTo>
                    <a:cubicBezTo>
                      <a:pt x="1" y="429"/>
                      <a:pt x="126" y="554"/>
                      <a:pt x="278" y="554"/>
                    </a:cubicBezTo>
                    <a:lnTo>
                      <a:pt x="2490" y="554"/>
                    </a:lnTo>
                    <a:cubicBezTo>
                      <a:pt x="2642" y="554"/>
                      <a:pt x="2766" y="429"/>
                      <a:pt x="2766" y="277"/>
                    </a:cubicBezTo>
                    <a:cubicBezTo>
                      <a:pt x="2766" y="126"/>
                      <a:pt x="2642" y="1"/>
                      <a:pt x="24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3"/>
              <p:cNvSpPr/>
              <p:nvPr/>
            </p:nvSpPr>
            <p:spPr>
              <a:xfrm>
                <a:off x="1755125" y="3771550"/>
                <a:ext cx="69175" cy="14075"/>
              </a:xfrm>
              <a:custGeom>
                <a:avLst/>
                <a:gdLst/>
                <a:ahLst/>
                <a:cxnLst/>
                <a:rect l="l" t="t" r="r" b="b"/>
                <a:pathLst>
                  <a:path w="2767" h="563" extrusionOk="0">
                    <a:moveTo>
                      <a:pt x="278" y="0"/>
                    </a:moveTo>
                    <a:cubicBezTo>
                      <a:pt x="126" y="0"/>
                      <a:pt x="1" y="125"/>
                      <a:pt x="1" y="286"/>
                    </a:cubicBezTo>
                    <a:cubicBezTo>
                      <a:pt x="1" y="437"/>
                      <a:pt x="126" y="562"/>
                      <a:pt x="278" y="562"/>
                    </a:cubicBezTo>
                    <a:lnTo>
                      <a:pt x="2490" y="562"/>
                    </a:lnTo>
                    <a:cubicBezTo>
                      <a:pt x="2642" y="562"/>
                      <a:pt x="2766" y="437"/>
                      <a:pt x="2766" y="286"/>
                    </a:cubicBezTo>
                    <a:cubicBezTo>
                      <a:pt x="2766" y="125"/>
                      <a:pt x="2642" y="0"/>
                      <a:pt x="24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3"/>
              <p:cNvSpPr/>
              <p:nvPr/>
            </p:nvSpPr>
            <p:spPr>
              <a:xfrm>
                <a:off x="1755125" y="3795850"/>
                <a:ext cx="69175" cy="14075"/>
              </a:xfrm>
              <a:custGeom>
                <a:avLst/>
                <a:gdLst/>
                <a:ahLst/>
                <a:cxnLst/>
                <a:rect l="l" t="t" r="r" b="b"/>
                <a:pathLst>
                  <a:path w="2767" h="563" extrusionOk="0">
                    <a:moveTo>
                      <a:pt x="278" y="1"/>
                    </a:moveTo>
                    <a:cubicBezTo>
                      <a:pt x="126" y="1"/>
                      <a:pt x="1" y="125"/>
                      <a:pt x="1" y="277"/>
                    </a:cubicBezTo>
                    <a:cubicBezTo>
                      <a:pt x="1" y="438"/>
                      <a:pt x="126" y="563"/>
                      <a:pt x="278" y="563"/>
                    </a:cubicBezTo>
                    <a:lnTo>
                      <a:pt x="2490" y="563"/>
                    </a:lnTo>
                    <a:cubicBezTo>
                      <a:pt x="2642" y="563"/>
                      <a:pt x="2766" y="438"/>
                      <a:pt x="2766" y="277"/>
                    </a:cubicBezTo>
                    <a:cubicBezTo>
                      <a:pt x="2766" y="125"/>
                      <a:pt x="2642" y="1"/>
                      <a:pt x="24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3"/>
              <p:cNvSpPr/>
              <p:nvPr/>
            </p:nvSpPr>
            <p:spPr>
              <a:xfrm>
                <a:off x="1755125" y="3602925"/>
                <a:ext cx="69175" cy="14075"/>
              </a:xfrm>
              <a:custGeom>
                <a:avLst/>
                <a:gdLst/>
                <a:ahLst/>
                <a:cxnLst/>
                <a:rect l="l" t="t" r="r" b="b"/>
                <a:pathLst>
                  <a:path w="2767" h="563" extrusionOk="0">
                    <a:moveTo>
                      <a:pt x="278" y="1"/>
                    </a:moveTo>
                    <a:cubicBezTo>
                      <a:pt x="126" y="1"/>
                      <a:pt x="1" y="126"/>
                      <a:pt x="1" y="277"/>
                    </a:cubicBezTo>
                    <a:cubicBezTo>
                      <a:pt x="1" y="438"/>
                      <a:pt x="126" y="563"/>
                      <a:pt x="278" y="563"/>
                    </a:cubicBezTo>
                    <a:lnTo>
                      <a:pt x="2490" y="563"/>
                    </a:lnTo>
                    <a:cubicBezTo>
                      <a:pt x="2642" y="563"/>
                      <a:pt x="2766" y="438"/>
                      <a:pt x="2766" y="277"/>
                    </a:cubicBezTo>
                    <a:cubicBezTo>
                      <a:pt x="2766" y="126"/>
                      <a:pt x="2642" y="1"/>
                      <a:pt x="249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3"/>
              <p:cNvSpPr/>
              <p:nvPr/>
            </p:nvSpPr>
            <p:spPr>
              <a:xfrm>
                <a:off x="1836550" y="3699050"/>
                <a:ext cx="82750" cy="13850"/>
              </a:xfrm>
              <a:custGeom>
                <a:avLst/>
                <a:gdLst/>
                <a:ahLst/>
                <a:cxnLst/>
                <a:rect l="l" t="t" r="r" b="b"/>
                <a:pathLst>
                  <a:path w="3310" h="554" extrusionOk="0">
                    <a:moveTo>
                      <a:pt x="277" y="1"/>
                    </a:moveTo>
                    <a:cubicBezTo>
                      <a:pt x="125" y="1"/>
                      <a:pt x="0" y="126"/>
                      <a:pt x="0" y="277"/>
                    </a:cubicBezTo>
                    <a:cubicBezTo>
                      <a:pt x="0" y="429"/>
                      <a:pt x="125" y="554"/>
                      <a:pt x="277" y="554"/>
                    </a:cubicBezTo>
                    <a:lnTo>
                      <a:pt x="3033" y="554"/>
                    </a:lnTo>
                    <a:cubicBezTo>
                      <a:pt x="3185" y="554"/>
                      <a:pt x="3310" y="429"/>
                      <a:pt x="3310" y="277"/>
                    </a:cubicBezTo>
                    <a:cubicBezTo>
                      <a:pt x="3310" y="126"/>
                      <a:pt x="3185" y="1"/>
                      <a:pt x="30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3"/>
              <p:cNvSpPr/>
              <p:nvPr/>
            </p:nvSpPr>
            <p:spPr>
              <a:xfrm>
                <a:off x="1836550" y="3723150"/>
                <a:ext cx="82750" cy="14075"/>
              </a:xfrm>
              <a:custGeom>
                <a:avLst/>
                <a:gdLst/>
                <a:ahLst/>
                <a:cxnLst/>
                <a:rect l="l" t="t" r="r" b="b"/>
                <a:pathLst>
                  <a:path w="3310" h="563" extrusionOk="0">
                    <a:moveTo>
                      <a:pt x="277" y="0"/>
                    </a:moveTo>
                    <a:cubicBezTo>
                      <a:pt x="125" y="0"/>
                      <a:pt x="0" y="125"/>
                      <a:pt x="0" y="277"/>
                    </a:cubicBezTo>
                    <a:cubicBezTo>
                      <a:pt x="0" y="437"/>
                      <a:pt x="125" y="562"/>
                      <a:pt x="277" y="562"/>
                    </a:cubicBezTo>
                    <a:lnTo>
                      <a:pt x="3033" y="562"/>
                    </a:lnTo>
                    <a:cubicBezTo>
                      <a:pt x="3185" y="562"/>
                      <a:pt x="3310" y="437"/>
                      <a:pt x="3310" y="277"/>
                    </a:cubicBezTo>
                    <a:cubicBezTo>
                      <a:pt x="3310" y="125"/>
                      <a:pt x="3185" y="0"/>
                      <a:pt x="30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3"/>
              <p:cNvSpPr/>
              <p:nvPr/>
            </p:nvSpPr>
            <p:spPr>
              <a:xfrm>
                <a:off x="1836550" y="3747450"/>
                <a:ext cx="82750" cy="13850"/>
              </a:xfrm>
              <a:custGeom>
                <a:avLst/>
                <a:gdLst/>
                <a:ahLst/>
                <a:cxnLst/>
                <a:rect l="l" t="t" r="r" b="b"/>
                <a:pathLst>
                  <a:path w="3310" h="554" extrusionOk="0">
                    <a:moveTo>
                      <a:pt x="277" y="1"/>
                    </a:moveTo>
                    <a:cubicBezTo>
                      <a:pt x="125" y="1"/>
                      <a:pt x="0" y="126"/>
                      <a:pt x="0" y="277"/>
                    </a:cubicBezTo>
                    <a:cubicBezTo>
                      <a:pt x="0" y="429"/>
                      <a:pt x="125" y="554"/>
                      <a:pt x="277" y="554"/>
                    </a:cubicBezTo>
                    <a:lnTo>
                      <a:pt x="3033" y="554"/>
                    </a:lnTo>
                    <a:cubicBezTo>
                      <a:pt x="3185" y="554"/>
                      <a:pt x="3310" y="429"/>
                      <a:pt x="3310" y="277"/>
                    </a:cubicBezTo>
                    <a:cubicBezTo>
                      <a:pt x="3310" y="126"/>
                      <a:pt x="3185" y="1"/>
                      <a:pt x="30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3"/>
              <p:cNvSpPr/>
              <p:nvPr/>
            </p:nvSpPr>
            <p:spPr>
              <a:xfrm>
                <a:off x="1836550" y="3771550"/>
                <a:ext cx="82750" cy="14075"/>
              </a:xfrm>
              <a:custGeom>
                <a:avLst/>
                <a:gdLst/>
                <a:ahLst/>
                <a:cxnLst/>
                <a:rect l="l" t="t" r="r" b="b"/>
                <a:pathLst>
                  <a:path w="3310" h="563" extrusionOk="0">
                    <a:moveTo>
                      <a:pt x="277" y="0"/>
                    </a:moveTo>
                    <a:cubicBezTo>
                      <a:pt x="125" y="0"/>
                      <a:pt x="0" y="125"/>
                      <a:pt x="0" y="286"/>
                    </a:cubicBezTo>
                    <a:cubicBezTo>
                      <a:pt x="0" y="437"/>
                      <a:pt x="125" y="562"/>
                      <a:pt x="277" y="562"/>
                    </a:cubicBezTo>
                    <a:lnTo>
                      <a:pt x="3033" y="562"/>
                    </a:lnTo>
                    <a:cubicBezTo>
                      <a:pt x="3185" y="562"/>
                      <a:pt x="3310" y="437"/>
                      <a:pt x="3310" y="286"/>
                    </a:cubicBezTo>
                    <a:cubicBezTo>
                      <a:pt x="3310" y="125"/>
                      <a:pt x="3185" y="0"/>
                      <a:pt x="303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3"/>
              <p:cNvSpPr/>
              <p:nvPr/>
            </p:nvSpPr>
            <p:spPr>
              <a:xfrm>
                <a:off x="1836550" y="3795850"/>
                <a:ext cx="82750" cy="14075"/>
              </a:xfrm>
              <a:custGeom>
                <a:avLst/>
                <a:gdLst/>
                <a:ahLst/>
                <a:cxnLst/>
                <a:rect l="l" t="t" r="r" b="b"/>
                <a:pathLst>
                  <a:path w="3310" h="563" extrusionOk="0">
                    <a:moveTo>
                      <a:pt x="277" y="1"/>
                    </a:moveTo>
                    <a:cubicBezTo>
                      <a:pt x="125" y="1"/>
                      <a:pt x="0" y="125"/>
                      <a:pt x="0" y="277"/>
                    </a:cubicBezTo>
                    <a:cubicBezTo>
                      <a:pt x="0" y="438"/>
                      <a:pt x="125" y="563"/>
                      <a:pt x="277" y="563"/>
                    </a:cubicBezTo>
                    <a:lnTo>
                      <a:pt x="3033" y="563"/>
                    </a:lnTo>
                    <a:cubicBezTo>
                      <a:pt x="3185" y="563"/>
                      <a:pt x="3310" y="438"/>
                      <a:pt x="3310" y="277"/>
                    </a:cubicBezTo>
                    <a:cubicBezTo>
                      <a:pt x="3310" y="125"/>
                      <a:pt x="3185" y="1"/>
                      <a:pt x="303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3"/>
              <p:cNvSpPr/>
              <p:nvPr/>
            </p:nvSpPr>
            <p:spPr>
              <a:xfrm>
                <a:off x="2014075" y="3593350"/>
                <a:ext cx="120900" cy="14075"/>
              </a:xfrm>
              <a:custGeom>
                <a:avLst/>
                <a:gdLst/>
                <a:ahLst/>
                <a:cxnLst/>
                <a:rect l="l" t="t" r="r" b="b"/>
                <a:pathLst>
                  <a:path w="4836" h="563" extrusionOk="0">
                    <a:moveTo>
                      <a:pt x="277" y="0"/>
                    </a:moveTo>
                    <a:cubicBezTo>
                      <a:pt x="125" y="0"/>
                      <a:pt x="0" y="125"/>
                      <a:pt x="0" y="286"/>
                    </a:cubicBezTo>
                    <a:cubicBezTo>
                      <a:pt x="0" y="437"/>
                      <a:pt x="125" y="562"/>
                      <a:pt x="277" y="562"/>
                    </a:cubicBezTo>
                    <a:lnTo>
                      <a:pt x="4550" y="562"/>
                    </a:lnTo>
                    <a:cubicBezTo>
                      <a:pt x="4711" y="562"/>
                      <a:pt x="4835" y="437"/>
                      <a:pt x="4835" y="286"/>
                    </a:cubicBezTo>
                    <a:cubicBezTo>
                      <a:pt x="4835" y="125"/>
                      <a:pt x="4711" y="0"/>
                      <a:pt x="455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3"/>
              <p:cNvSpPr/>
              <p:nvPr/>
            </p:nvSpPr>
            <p:spPr>
              <a:xfrm>
                <a:off x="2018750" y="3638850"/>
                <a:ext cx="70950" cy="70950"/>
              </a:xfrm>
              <a:custGeom>
                <a:avLst/>
                <a:gdLst/>
                <a:ahLst/>
                <a:cxnLst/>
                <a:rect l="l" t="t" r="r" b="b"/>
                <a:pathLst>
                  <a:path w="2838" h="2838" extrusionOk="0">
                    <a:moveTo>
                      <a:pt x="2275" y="562"/>
                    </a:moveTo>
                    <a:lnTo>
                      <a:pt x="2275" y="2284"/>
                    </a:lnTo>
                    <a:lnTo>
                      <a:pt x="554" y="2284"/>
                    </a:lnTo>
                    <a:lnTo>
                      <a:pt x="554" y="562"/>
                    </a:lnTo>
                    <a:close/>
                    <a:moveTo>
                      <a:pt x="277" y="0"/>
                    </a:moveTo>
                    <a:cubicBezTo>
                      <a:pt x="126" y="0"/>
                      <a:pt x="1" y="125"/>
                      <a:pt x="1" y="277"/>
                    </a:cubicBezTo>
                    <a:lnTo>
                      <a:pt x="1" y="2561"/>
                    </a:lnTo>
                    <a:cubicBezTo>
                      <a:pt x="1" y="2712"/>
                      <a:pt x="126" y="2837"/>
                      <a:pt x="277" y="2837"/>
                    </a:cubicBezTo>
                    <a:lnTo>
                      <a:pt x="2561" y="2837"/>
                    </a:lnTo>
                    <a:cubicBezTo>
                      <a:pt x="2713" y="2837"/>
                      <a:pt x="2838" y="2712"/>
                      <a:pt x="2838" y="2561"/>
                    </a:cubicBezTo>
                    <a:lnTo>
                      <a:pt x="2838" y="277"/>
                    </a:lnTo>
                    <a:cubicBezTo>
                      <a:pt x="2838" y="125"/>
                      <a:pt x="2713" y="0"/>
                      <a:pt x="25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3"/>
              <p:cNvSpPr/>
              <p:nvPr/>
            </p:nvSpPr>
            <p:spPr>
              <a:xfrm>
                <a:off x="2105275" y="3638850"/>
                <a:ext cx="70950" cy="70950"/>
              </a:xfrm>
              <a:custGeom>
                <a:avLst/>
                <a:gdLst/>
                <a:ahLst/>
                <a:cxnLst/>
                <a:rect l="l" t="t" r="r" b="b"/>
                <a:pathLst>
                  <a:path w="2838" h="2838" extrusionOk="0">
                    <a:moveTo>
                      <a:pt x="2285" y="562"/>
                    </a:moveTo>
                    <a:lnTo>
                      <a:pt x="2285" y="2284"/>
                    </a:lnTo>
                    <a:lnTo>
                      <a:pt x="554" y="2284"/>
                    </a:lnTo>
                    <a:lnTo>
                      <a:pt x="554" y="562"/>
                    </a:lnTo>
                    <a:close/>
                    <a:moveTo>
                      <a:pt x="278" y="0"/>
                    </a:moveTo>
                    <a:cubicBezTo>
                      <a:pt x="126" y="0"/>
                      <a:pt x="1" y="125"/>
                      <a:pt x="1" y="277"/>
                    </a:cubicBezTo>
                    <a:lnTo>
                      <a:pt x="1" y="2561"/>
                    </a:lnTo>
                    <a:cubicBezTo>
                      <a:pt x="1" y="2712"/>
                      <a:pt x="126" y="2837"/>
                      <a:pt x="278" y="2837"/>
                    </a:cubicBezTo>
                    <a:lnTo>
                      <a:pt x="2561" y="2837"/>
                    </a:lnTo>
                    <a:cubicBezTo>
                      <a:pt x="2713" y="2837"/>
                      <a:pt x="2838" y="2712"/>
                      <a:pt x="2838" y="2561"/>
                    </a:cubicBezTo>
                    <a:lnTo>
                      <a:pt x="2838" y="277"/>
                    </a:lnTo>
                    <a:cubicBezTo>
                      <a:pt x="2838" y="125"/>
                      <a:pt x="2713" y="0"/>
                      <a:pt x="25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53"/>
              <p:cNvSpPr/>
              <p:nvPr/>
            </p:nvSpPr>
            <p:spPr>
              <a:xfrm>
                <a:off x="2018750" y="3716675"/>
                <a:ext cx="70950" cy="13850"/>
              </a:xfrm>
              <a:custGeom>
                <a:avLst/>
                <a:gdLst/>
                <a:ahLst/>
                <a:cxnLst/>
                <a:rect l="l" t="t" r="r" b="b"/>
                <a:pathLst>
                  <a:path w="2838" h="554" extrusionOk="0">
                    <a:moveTo>
                      <a:pt x="277" y="1"/>
                    </a:moveTo>
                    <a:cubicBezTo>
                      <a:pt x="126" y="1"/>
                      <a:pt x="1" y="126"/>
                      <a:pt x="1" y="277"/>
                    </a:cubicBezTo>
                    <a:cubicBezTo>
                      <a:pt x="1" y="429"/>
                      <a:pt x="126" y="554"/>
                      <a:pt x="277" y="554"/>
                    </a:cubicBezTo>
                    <a:lnTo>
                      <a:pt x="2561" y="554"/>
                    </a:lnTo>
                    <a:cubicBezTo>
                      <a:pt x="2713" y="554"/>
                      <a:pt x="2838" y="429"/>
                      <a:pt x="2838" y="277"/>
                    </a:cubicBezTo>
                    <a:cubicBezTo>
                      <a:pt x="2838" y="126"/>
                      <a:pt x="2713" y="1"/>
                      <a:pt x="25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53"/>
              <p:cNvSpPr/>
              <p:nvPr/>
            </p:nvSpPr>
            <p:spPr>
              <a:xfrm>
                <a:off x="2018750" y="3738975"/>
                <a:ext cx="70950" cy="13850"/>
              </a:xfrm>
              <a:custGeom>
                <a:avLst/>
                <a:gdLst/>
                <a:ahLst/>
                <a:cxnLst/>
                <a:rect l="l" t="t" r="r" b="b"/>
                <a:pathLst>
                  <a:path w="2838" h="554" extrusionOk="0">
                    <a:moveTo>
                      <a:pt x="277" y="1"/>
                    </a:moveTo>
                    <a:cubicBezTo>
                      <a:pt x="126" y="1"/>
                      <a:pt x="1" y="126"/>
                      <a:pt x="1" y="277"/>
                    </a:cubicBezTo>
                    <a:cubicBezTo>
                      <a:pt x="1" y="429"/>
                      <a:pt x="126" y="554"/>
                      <a:pt x="277" y="554"/>
                    </a:cubicBezTo>
                    <a:lnTo>
                      <a:pt x="2561" y="554"/>
                    </a:lnTo>
                    <a:cubicBezTo>
                      <a:pt x="2713" y="554"/>
                      <a:pt x="2838" y="429"/>
                      <a:pt x="2838" y="277"/>
                    </a:cubicBezTo>
                    <a:cubicBezTo>
                      <a:pt x="2838" y="126"/>
                      <a:pt x="2713" y="1"/>
                      <a:pt x="25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3"/>
              <p:cNvSpPr/>
              <p:nvPr/>
            </p:nvSpPr>
            <p:spPr>
              <a:xfrm>
                <a:off x="2018750" y="3761275"/>
                <a:ext cx="70950" cy="13850"/>
              </a:xfrm>
              <a:custGeom>
                <a:avLst/>
                <a:gdLst/>
                <a:ahLst/>
                <a:cxnLst/>
                <a:rect l="l" t="t" r="r" b="b"/>
                <a:pathLst>
                  <a:path w="2838" h="554" extrusionOk="0">
                    <a:moveTo>
                      <a:pt x="277" y="1"/>
                    </a:moveTo>
                    <a:cubicBezTo>
                      <a:pt x="126" y="1"/>
                      <a:pt x="1" y="126"/>
                      <a:pt x="1" y="277"/>
                    </a:cubicBezTo>
                    <a:cubicBezTo>
                      <a:pt x="1" y="429"/>
                      <a:pt x="126" y="554"/>
                      <a:pt x="277" y="554"/>
                    </a:cubicBezTo>
                    <a:lnTo>
                      <a:pt x="2561" y="554"/>
                    </a:lnTo>
                    <a:cubicBezTo>
                      <a:pt x="2713" y="554"/>
                      <a:pt x="2838" y="429"/>
                      <a:pt x="2838" y="277"/>
                    </a:cubicBezTo>
                    <a:cubicBezTo>
                      <a:pt x="2838" y="126"/>
                      <a:pt x="2713" y="1"/>
                      <a:pt x="25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3"/>
              <p:cNvSpPr/>
              <p:nvPr/>
            </p:nvSpPr>
            <p:spPr>
              <a:xfrm>
                <a:off x="2066025" y="3792725"/>
                <a:ext cx="14075" cy="14975"/>
              </a:xfrm>
              <a:custGeom>
                <a:avLst/>
                <a:gdLst/>
                <a:ahLst/>
                <a:cxnLst/>
                <a:rect l="l" t="t" r="r" b="b"/>
                <a:pathLst>
                  <a:path w="563" h="599" extrusionOk="0">
                    <a:moveTo>
                      <a:pt x="277" y="1"/>
                    </a:moveTo>
                    <a:cubicBezTo>
                      <a:pt x="126" y="1"/>
                      <a:pt x="1" y="126"/>
                      <a:pt x="1" y="277"/>
                    </a:cubicBezTo>
                    <a:lnTo>
                      <a:pt x="1" y="322"/>
                    </a:lnTo>
                    <a:cubicBezTo>
                      <a:pt x="1" y="474"/>
                      <a:pt x="126" y="598"/>
                      <a:pt x="277" y="598"/>
                    </a:cubicBezTo>
                    <a:cubicBezTo>
                      <a:pt x="438" y="598"/>
                      <a:pt x="563" y="474"/>
                      <a:pt x="563" y="322"/>
                    </a:cubicBezTo>
                    <a:lnTo>
                      <a:pt x="563" y="277"/>
                    </a:lnTo>
                    <a:cubicBezTo>
                      <a:pt x="563" y="126"/>
                      <a:pt x="438"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3"/>
              <p:cNvSpPr/>
              <p:nvPr/>
            </p:nvSpPr>
            <p:spPr>
              <a:xfrm>
                <a:off x="2090575" y="3792725"/>
                <a:ext cx="13850" cy="14975"/>
              </a:xfrm>
              <a:custGeom>
                <a:avLst/>
                <a:gdLst/>
                <a:ahLst/>
                <a:cxnLst/>
                <a:rect l="l" t="t" r="r" b="b"/>
                <a:pathLst>
                  <a:path w="554" h="599" extrusionOk="0">
                    <a:moveTo>
                      <a:pt x="277" y="1"/>
                    </a:moveTo>
                    <a:cubicBezTo>
                      <a:pt x="125" y="1"/>
                      <a:pt x="0" y="126"/>
                      <a:pt x="0" y="277"/>
                    </a:cubicBezTo>
                    <a:lnTo>
                      <a:pt x="0" y="322"/>
                    </a:lnTo>
                    <a:cubicBezTo>
                      <a:pt x="0" y="474"/>
                      <a:pt x="125" y="598"/>
                      <a:pt x="277" y="598"/>
                    </a:cubicBezTo>
                    <a:cubicBezTo>
                      <a:pt x="428" y="598"/>
                      <a:pt x="553" y="474"/>
                      <a:pt x="553" y="322"/>
                    </a:cubicBezTo>
                    <a:lnTo>
                      <a:pt x="553" y="277"/>
                    </a:lnTo>
                    <a:cubicBezTo>
                      <a:pt x="553" y="126"/>
                      <a:pt x="428" y="1"/>
                      <a:pt x="2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3"/>
              <p:cNvSpPr/>
              <p:nvPr/>
            </p:nvSpPr>
            <p:spPr>
              <a:xfrm>
                <a:off x="2114875" y="3792725"/>
                <a:ext cx="14075" cy="14975"/>
              </a:xfrm>
              <a:custGeom>
                <a:avLst/>
                <a:gdLst/>
                <a:ahLst/>
                <a:cxnLst/>
                <a:rect l="l" t="t" r="r" b="b"/>
                <a:pathLst>
                  <a:path w="563" h="599" extrusionOk="0">
                    <a:moveTo>
                      <a:pt x="286" y="1"/>
                    </a:moveTo>
                    <a:cubicBezTo>
                      <a:pt x="125" y="1"/>
                      <a:pt x="1" y="126"/>
                      <a:pt x="1" y="277"/>
                    </a:cubicBezTo>
                    <a:lnTo>
                      <a:pt x="1" y="322"/>
                    </a:lnTo>
                    <a:cubicBezTo>
                      <a:pt x="1" y="474"/>
                      <a:pt x="125" y="598"/>
                      <a:pt x="286" y="598"/>
                    </a:cubicBezTo>
                    <a:cubicBezTo>
                      <a:pt x="438" y="598"/>
                      <a:pt x="563" y="474"/>
                      <a:pt x="563" y="322"/>
                    </a:cubicBezTo>
                    <a:lnTo>
                      <a:pt x="563" y="277"/>
                    </a:lnTo>
                    <a:cubicBezTo>
                      <a:pt x="563" y="126"/>
                      <a:pt x="438" y="1"/>
                      <a:pt x="2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3"/>
              <p:cNvSpPr/>
              <p:nvPr/>
            </p:nvSpPr>
            <p:spPr>
              <a:xfrm>
                <a:off x="2105275" y="3716675"/>
                <a:ext cx="70950" cy="13850"/>
              </a:xfrm>
              <a:custGeom>
                <a:avLst/>
                <a:gdLst/>
                <a:ahLst/>
                <a:cxnLst/>
                <a:rect l="l" t="t" r="r" b="b"/>
                <a:pathLst>
                  <a:path w="2838" h="554" extrusionOk="0">
                    <a:moveTo>
                      <a:pt x="278" y="1"/>
                    </a:moveTo>
                    <a:cubicBezTo>
                      <a:pt x="126" y="1"/>
                      <a:pt x="1" y="126"/>
                      <a:pt x="1" y="277"/>
                    </a:cubicBezTo>
                    <a:cubicBezTo>
                      <a:pt x="1" y="429"/>
                      <a:pt x="126" y="554"/>
                      <a:pt x="278" y="554"/>
                    </a:cubicBezTo>
                    <a:lnTo>
                      <a:pt x="2561" y="554"/>
                    </a:lnTo>
                    <a:cubicBezTo>
                      <a:pt x="2713" y="554"/>
                      <a:pt x="2838" y="429"/>
                      <a:pt x="2838" y="277"/>
                    </a:cubicBezTo>
                    <a:cubicBezTo>
                      <a:pt x="2838" y="126"/>
                      <a:pt x="2713" y="1"/>
                      <a:pt x="25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3"/>
              <p:cNvSpPr/>
              <p:nvPr/>
            </p:nvSpPr>
            <p:spPr>
              <a:xfrm>
                <a:off x="2105275" y="3738975"/>
                <a:ext cx="70950" cy="13850"/>
              </a:xfrm>
              <a:custGeom>
                <a:avLst/>
                <a:gdLst/>
                <a:ahLst/>
                <a:cxnLst/>
                <a:rect l="l" t="t" r="r" b="b"/>
                <a:pathLst>
                  <a:path w="2838" h="554" extrusionOk="0">
                    <a:moveTo>
                      <a:pt x="278" y="1"/>
                    </a:moveTo>
                    <a:cubicBezTo>
                      <a:pt x="126" y="1"/>
                      <a:pt x="1" y="126"/>
                      <a:pt x="1" y="277"/>
                    </a:cubicBezTo>
                    <a:cubicBezTo>
                      <a:pt x="1" y="429"/>
                      <a:pt x="126" y="554"/>
                      <a:pt x="278" y="554"/>
                    </a:cubicBezTo>
                    <a:lnTo>
                      <a:pt x="2561" y="554"/>
                    </a:lnTo>
                    <a:cubicBezTo>
                      <a:pt x="2713" y="554"/>
                      <a:pt x="2838" y="429"/>
                      <a:pt x="2838" y="277"/>
                    </a:cubicBezTo>
                    <a:cubicBezTo>
                      <a:pt x="2838" y="126"/>
                      <a:pt x="2713" y="1"/>
                      <a:pt x="25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3"/>
              <p:cNvSpPr/>
              <p:nvPr/>
            </p:nvSpPr>
            <p:spPr>
              <a:xfrm>
                <a:off x="2105275" y="3761275"/>
                <a:ext cx="70950" cy="13850"/>
              </a:xfrm>
              <a:custGeom>
                <a:avLst/>
                <a:gdLst/>
                <a:ahLst/>
                <a:cxnLst/>
                <a:rect l="l" t="t" r="r" b="b"/>
                <a:pathLst>
                  <a:path w="2838" h="554" extrusionOk="0">
                    <a:moveTo>
                      <a:pt x="278" y="1"/>
                    </a:moveTo>
                    <a:cubicBezTo>
                      <a:pt x="126" y="1"/>
                      <a:pt x="1" y="126"/>
                      <a:pt x="1" y="277"/>
                    </a:cubicBezTo>
                    <a:cubicBezTo>
                      <a:pt x="1" y="429"/>
                      <a:pt x="126" y="554"/>
                      <a:pt x="278" y="554"/>
                    </a:cubicBezTo>
                    <a:lnTo>
                      <a:pt x="2561" y="554"/>
                    </a:lnTo>
                    <a:cubicBezTo>
                      <a:pt x="2713" y="554"/>
                      <a:pt x="2838" y="429"/>
                      <a:pt x="2838" y="277"/>
                    </a:cubicBezTo>
                    <a:cubicBezTo>
                      <a:pt x="2838" y="126"/>
                      <a:pt x="2713" y="1"/>
                      <a:pt x="256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3"/>
              <p:cNvSpPr/>
              <p:nvPr/>
            </p:nvSpPr>
            <p:spPr>
              <a:xfrm>
                <a:off x="1950725" y="3682325"/>
                <a:ext cx="32150" cy="47325"/>
              </a:xfrm>
              <a:custGeom>
                <a:avLst/>
                <a:gdLst/>
                <a:ahLst/>
                <a:cxnLst/>
                <a:rect l="l" t="t" r="r" b="b"/>
                <a:pathLst>
                  <a:path w="1286" h="1893" extrusionOk="0">
                    <a:moveTo>
                      <a:pt x="308" y="1"/>
                    </a:moveTo>
                    <a:cubicBezTo>
                      <a:pt x="237" y="1"/>
                      <a:pt x="166" y="28"/>
                      <a:pt x="108" y="81"/>
                    </a:cubicBezTo>
                    <a:cubicBezTo>
                      <a:pt x="1" y="188"/>
                      <a:pt x="1" y="367"/>
                      <a:pt x="108" y="474"/>
                    </a:cubicBezTo>
                    <a:lnTo>
                      <a:pt x="581" y="946"/>
                    </a:lnTo>
                    <a:lnTo>
                      <a:pt x="108" y="1419"/>
                    </a:lnTo>
                    <a:cubicBezTo>
                      <a:pt x="1" y="1526"/>
                      <a:pt x="1" y="1705"/>
                      <a:pt x="108" y="1812"/>
                    </a:cubicBezTo>
                    <a:cubicBezTo>
                      <a:pt x="161" y="1865"/>
                      <a:pt x="233" y="1892"/>
                      <a:pt x="304" y="1892"/>
                    </a:cubicBezTo>
                    <a:cubicBezTo>
                      <a:pt x="375" y="1892"/>
                      <a:pt x="447" y="1865"/>
                      <a:pt x="509" y="1812"/>
                    </a:cubicBezTo>
                    <a:lnTo>
                      <a:pt x="1178" y="1143"/>
                    </a:lnTo>
                    <a:cubicBezTo>
                      <a:pt x="1285" y="1036"/>
                      <a:pt x="1285" y="857"/>
                      <a:pt x="1178" y="750"/>
                    </a:cubicBezTo>
                    <a:lnTo>
                      <a:pt x="509" y="81"/>
                    </a:lnTo>
                    <a:cubicBezTo>
                      <a:pt x="451" y="28"/>
                      <a:pt x="380" y="1"/>
                      <a:pt x="30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 name="Sous-titre 15">
            <a:extLst>
              <a:ext uri="{FF2B5EF4-FFF2-40B4-BE49-F238E27FC236}">
                <a16:creationId xmlns:a16="http://schemas.microsoft.com/office/drawing/2014/main" id="{6D6F3DAE-B7A1-4F96-50D8-E53133CD6D02}"/>
              </a:ext>
            </a:extLst>
          </p:cNvPr>
          <p:cNvSpPr>
            <a:spLocks noGrp="1"/>
          </p:cNvSpPr>
          <p:nvPr>
            <p:ph type="subTitle" idx="8"/>
          </p:nvPr>
        </p:nvSpPr>
        <p:spPr>
          <a:xfrm>
            <a:off x="463411" y="1828393"/>
            <a:ext cx="2641500" cy="572700"/>
          </a:xfrm>
        </p:spPr>
        <p:txBody>
          <a:bodyPr/>
          <a:lstStyle/>
          <a:p>
            <a:pPr>
              <a:buFont typeface="Arial" panose="020B0604020202020204" pitchFamily="34" charset="0"/>
              <a:buChar char="•"/>
            </a:pPr>
            <a:r>
              <a:rPr lang="fr-FR" dirty="0"/>
              <a:t>Débit en véhicules par minute. </a:t>
            </a:r>
          </a:p>
          <a:p>
            <a:pPr>
              <a:buFont typeface="Arial" panose="020B0604020202020204" pitchFamily="34" charset="0"/>
              <a:buChar char="•"/>
            </a:pPr>
            <a:r>
              <a:rPr lang="fr-FR" dirty="0"/>
              <a:t>Temps moyen de traversée. </a:t>
            </a:r>
          </a:p>
          <a:p>
            <a:pPr>
              <a:buFont typeface="Arial" panose="020B0604020202020204" pitchFamily="34" charset="0"/>
              <a:buChar char="•"/>
            </a:pPr>
            <a:r>
              <a:rPr lang="fr-FR" dirty="0"/>
              <a:t>Vitesse moyenne.</a:t>
            </a:r>
          </a:p>
        </p:txBody>
      </p:sp>
      <p:pic>
        <p:nvPicPr>
          <p:cNvPr id="23" name="Image 22">
            <a:extLst>
              <a:ext uri="{FF2B5EF4-FFF2-40B4-BE49-F238E27FC236}">
                <a16:creationId xmlns:a16="http://schemas.microsoft.com/office/drawing/2014/main" id="{F10589FD-575E-4997-7631-E1EA6C00A81B}"/>
              </a:ext>
            </a:extLst>
          </p:cNvPr>
          <p:cNvPicPr>
            <a:picLocks noChangeAspect="1"/>
          </p:cNvPicPr>
          <p:nvPr/>
        </p:nvPicPr>
        <p:blipFill>
          <a:blip r:embed="rId3"/>
          <a:stretch>
            <a:fillRect/>
          </a:stretch>
        </p:blipFill>
        <p:spPr>
          <a:xfrm>
            <a:off x="2076839" y="3201151"/>
            <a:ext cx="2486372" cy="1505160"/>
          </a:xfrm>
          <a:prstGeom prst="rect">
            <a:avLst/>
          </a:prstGeom>
        </p:spPr>
      </p:pic>
      <p:pic>
        <p:nvPicPr>
          <p:cNvPr id="25" name="Image 24">
            <a:extLst>
              <a:ext uri="{FF2B5EF4-FFF2-40B4-BE49-F238E27FC236}">
                <a16:creationId xmlns:a16="http://schemas.microsoft.com/office/drawing/2014/main" id="{FDC16DFB-A53E-7D61-89F2-BCDB2DC44433}"/>
              </a:ext>
            </a:extLst>
          </p:cNvPr>
          <p:cNvPicPr>
            <a:picLocks noChangeAspect="1"/>
          </p:cNvPicPr>
          <p:nvPr/>
        </p:nvPicPr>
        <p:blipFill>
          <a:blip r:embed="rId4"/>
          <a:stretch>
            <a:fillRect/>
          </a:stretch>
        </p:blipFill>
        <p:spPr>
          <a:xfrm>
            <a:off x="5191910" y="2785278"/>
            <a:ext cx="2486372" cy="1991003"/>
          </a:xfrm>
          <a:prstGeom prst="rect">
            <a:avLst/>
          </a:prstGeom>
        </p:spPr>
      </p:pic>
      <p:sp>
        <p:nvSpPr>
          <p:cNvPr id="2" name="ZoneTexte 1">
            <a:extLst>
              <a:ext uri="{FF2B5EF4-FFF2-40B4-BE49-F238E27FC236}">
                <a16:creationId xmlns:a16="http://schemas.microsoft.com/office/drawing/2014/main" id="{836B26F1-2F87-504B-8FF6-A7BD9B961267}"/>
              </a:ext>
            </a:extLst>
          </p:cNvPr>
          <p:cNvSpPr txBox="1"/>
          <p:nvPr/>
        </p:nvSpPr>
        <p:spPr>
          <a:xfrm>
            <a:off x="8819972" y="4835723"/>
            <a:ext cx="341760"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764" name="Google Shape;764;p54"/>
          <p:cNvSpPr/>
          <p:nvPr/>
        </p:nvSpPr>
        <p:spPr>
          <a:xfrm>
            <a:off x="1625161" y="692505"/>
            <a:ext cx="1036223"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771" name="Google Shape;771;p54"/>
          <p:cNvSpPr txBox="1">
            <a:spLocks noGrp="1"/>
          </p:cNvSpPr>
          <p:nvPr>
            <p:ph type="title" idx="8"/>
          </p:nvPr>
        </p:nvSpPr>
        <p:spPr>
          <a:xfrm>
            <a:off x="731661" y="233755"/>
            <a:ext cx="6698400" cy="572700"/>
          </a:xfrm>
          <a:prstGeom prst="rect">
            <a:avLst/>
          </a:prstGeom>
        </p:spPr>
        <p:txBody>
          <a:bodyPr spcFirstLastPara="1" wrap="square" lIns="91425" tIns="91425" rIns="91425" bIns="91425" anchor="t" anchorCtr="0">
            <a:noAutofit/>
          </a:bodyPr>
          <a:lstStyle/>
          <a:p>
            <a:pPr lvl="0"/>
            <a:r>
              <a:rPr lang="fr-FR" sz="2800" dirty="0"/>
              <a:t>Le Banc d'Essai de Monte-Carlo</a:t>
            </a:r>
            <a:endParaRPr sz="2800" dirty="0"/>
          </a:p>
        </p:txBody>
      </p:sp>
      <p:sp>
        <p:nvSpPr>
          <p:cNvPr id="21" name="ZoneTexte 20">
            <a:extLst>
              <a:ext uri="{FF2B5EF4-FFF2-40B4-BE49-F238E27FC236}">
                <a16:creationId xmlns:a16="http://schemas.microsoft.com/office/drawing/2014/main" id="{B8788D0E-C176-D330-06DD-D559C84A03BC}"/>
              </a:ext>
            </a:extLst>
          </p:cNvPr>
          <p:cNvSpPr txBox="1"/>
          <p:nvPr/>
        </p:nvSpPr>
        <p:spPr>
          <a:xfrm>
            <a:off x="509525" y="1112200"/>
            <a:ext cx="4572000" cy="2246769"/>
          </a:xfrm>
          <a:prstGeom prst="rect">
            <a:avLst/>
          </a:prstGeom>
          <a:noFill/>
        </p:spPr>
        <p:txBody>
          <a:bodyPr wrap="square">
            <a:spAutoFit/>
          </a:bodyPr>
          <a:lstStyle/>
          <a:p>
            <a:pPr>
              <a:buNone/>
            </a:pPr>
            <a:r>
              <a:rPr lang="fr-FR" b="1" dirty="0"/>
              <a:t>Objectif</a:t>
            </a:r>
          </a:p>
          <a:p>
            <a:pPr>
              <a:buNone/>
            </a:pPr>
            <a:r>
              <a:rPr lang="fr-FR" dirty="0"/>
              <a:t>Passer d’une observation visuelle à une évaluation expérimentale répétable.</a:t>
            </a:r>
          </a:p>
          <a:p>
            <a:pPr>
              <a:buNone/>
            </a:pPr>
            <a:r>
              <a:rPr lang="fr-FR" b="1" dirty="0"/>
              <a:t>Principe</a:t>
            </a:r>
          </a:p>
          <a:p>
            <a:pPr>
              <a:buNone/>
            </a:pPr>
            <a:r>
              <a:rPr lang="fr-FR" dirty="0"/>
              <a:t>Le simulateur peut exécuter plusieurs scénarios avec :</a:t>
            </a:r>
          </a:p>
          <a:p>
            <a:pPr>
              <a:buFont typeface="Arial" panose="020B0604020202020204" pitchFamily="34" charset="0"/>
              <a:buChar char="•"/>
            </a:pPr>
            <a:r>
              <a:rPr lang="fr-FR" dirty="0"/>
              <a:t>des densités de trafic variables ;</a:t>
            </a:r>
          </a:p>
          <a:p>
            <a:pPr>
              <a:buFont typeface="Arial" panose="020B0604020202020204" pitchFamily="34" charset="0"/>
              <a:buChar char="•"/>
            </a:pPr>
            <a:r>
              <a:rPr lang="fr-FR" dirty="0"/>
              <a:t>des </a:t>
            </a:r>
            <a:r>
              <a:rPr lang="fr-FR" dirty="0" err="1"/>
              <a:t>seeds</a:t>
            </a:r>
            <a:r>
              <a:rPr lang="fr-FR" dirty="0"/>
              <a:t> reproductibles ;</a:t>
            </a:r>
          </a:p>
          <a:p>
            <a:pPr>
              <a:buFont typeface="Arial" panose="020B0604020202020204" pitchFamily="34" charset="0"/>
              <a:buChar char="•"/>
            </a:pPr>
            <a:r>
              <a:rPr lang="fr-FR" dirty="0"/>
              <a:t>des stratégies d’intersection différentes ;</a:t>
            </a:r>
          </a:p>
          <a:p>
            <a:pPr>
              <a:buFont typeface="Arial" panose="020B0604020202020204" pitchFamily="34" charset="0"/>
              <a:buChar char="•"/>
            </a:pPr>
            <a:r>
              <a:rPr lang="fr-FR" dirty="0"/>
              <a:t>une collecte automatique des métriques ;</a:t>
            </a:r>
          </a:p>
          <a:p>
            <a:pPr>
              <a:buFont typeface="Arial" panose="020B0604020202020204" pitchFamily="34" charset="0"/>
              <a:buChar char="•"/>
            </a:pPr>
            <a:r>
              <a:rPr lang="fr-FR" dirty="0"/>
              <a:t>une comparaison agrégée des résultats.</a:t>
            </a:r>
          </a:p>
        </p:txBody>
      </p:sp>
      <p:sp>
        <p:nvSpPr>
          <p:cNvPr id="23" name="ZoneTexte 22">
            <a:extLst>
              <a:ext uri="{FF2B5EF4-FFF2-40B4-BE49-F238E27FC236}">
                <a16:creationId xmlns:a16="http://schemas.microsoft.com/office/drawing/2014/main" id="{845AAE41-2FF2-6C71-3215-404137FE2189}"/>
              </a:ext>
            </a:extLst>
          </p:cNvPr>
          <p:cNvSpPr txBox="1"/>
          <p:nvPr/>
        </p:nvSpPr>
        <p:spPr>
          <a:xfrm>
            <a:off x="509525" y="3206859"/>
            <a:ext cx="4572000" cy="1815882"/>
          </a:xfrm>
          <a:prstGeom prst="rect">
            <a:avLst/>
          </a:prstGeom>
          <a:noFill/>
        </p:spPr>
        <p:txBody>
          <a:bodyPr wrap="square">
            <a:spAutoFit/>
          </a:bodyPr>
          <a:lstStyle/>
          <a:p>
            <a:pPr>
              <a:buFont typeface="Arial" panose="020B0604020202020204" pitchFamily="34" charset="0"/>
              <a:buChar char="•"/>
            </a:pPr>
            <a:endParaRPr lang="fr-FR" dirty="0"/>
          </a:p>
          <a:p>
            <a:pPr>
              <a:buNone/>
            </a:pPr>
            <a:r>
              <a:rPr lang="fr-FR" b="1" dirty="0"/>
              <a:t>Ce que Monte-Carlo permet d’évaluer</a:t>
            </a:r>
          </a:p>
          <a:p>
            <a:pPr>
              <a:buFont typeface="Arial" panose="020B0604020202020204" pitchFamily="34" charset="0"/>
              <a:buChar char="•"/>
            </a:pPr>
            <a:r>
              <a:rPr lang="fr-FR" dirty="0"/>
              <a:t>Une stratégie est-elle stable sur plusieurs runs ?</a:t>
            </a:r>
          </a:p>
          <a:p>
            <a:pPr>
              <a:buFont typeface="Arial" panose="020B0604020202020204" pitchFamily="34" charset="0"/>
              <a:buChar char="•"/>
            </a:pPr>
            <a:r>
              <a:rPr lang="fr-FR" dirty="0"/>
              <a:t>Les résultats dépendent-ils d’un cas particulier ?</a:t>
            </a:r>
          </a:p>
          <a:p>
            <a:pPr>
              <a:buFont typeface="Arial" panose="020B0604020202020204" pitchFamily="34" charset="0"/>
              <a:buChar char="•"/>
            </a:pPr>
            <a:r>
              <a:rPr lang="fr-FR" dirty="0"/>
              <a:t>À partir de quelle densité les blocages apparaissent-ils ?</a:t>
            </a:r>
          </a:p>
          <a:p>
            <a:pPr>
              <a:buFont typeface="Arial" panose="020B0604020202020204" pitchFamily="34" charset="0"/>
              <a:buChar char="•"/>
            </a:pPr>
            <a:r>
              <a:rPr lang="fr-FR" dirty="0"/>
              <a:t>Une stratégie améliore-t-elle le débit au prix d’un risque sécurité ?</a:t>
            </a:r>
          </a:p>
        </p:txBody>
      </p:sp>
      <p:pic>
        <p:nvPicPr>
          <p:cNvPr id="25" name="Image 24">
            <a:extLst>
              <a:ext uri="{FF2B5EF4-FFF2-40B4-BE49-F238E27FC236}">
                <a16:creationId xmlns:a16="http://schemas.microsoft.com/office/drawing/2014/main" id="{EDD9F064-6D8D-5D87-7732-A1A8A77B3294}"/>
              </a:ext>
            </a:extLst>
          </p:cNvPr>
          <p:cNvPicPr>
            <a:picLocks noChangeAspect="1"/>
          </p:cNvPicPr>
          <p:nvPr/>
        </p:nvPicPr>
        <p:blipFill>
          <a:blip r:embed="rId3"/>
          <a:stretch>
            <a:fillRect/>
          </a:stretch>
        </p:blipFill>
        <p:spPr>
          <a:xfrm>
            <a:off x="5418657" y="120759"/>
            <a:ext cx="3511952" cy="2450991"/>
          </a:xfrm>
          <a:prstGeom prst="rect">
            <a:avLst/>
          </a:prstGeom>
        </p:spPr>
      </p:pic>
      <p:pic>
        <p:nvPicPr>
          <p:cNvPr id="27" name="Image 26">
            <a:extLst>
              <a:ext uri="{FF2B5EF4-FFF2-40B4-BE49-F238E27FC236}">
                <a16:creationId xmlns:a16="http://schemas.microsoft.com/office/drawing/2014/main" id="{7A547DA8-4741-5E8A-95AE-821B997977F6}"/>
              </a:ext>
            </a:extLst>
          </p:cNvPr>
          <p:cNvPicPr>
            <a:picLocks noChangeAspect="1"/>
          </p:cNvPicPr>
          <p:nvPr/>
        </p:nvPicPr>
        <p:blipFill>
          <a:blip r:embed="rId4"/>
          <a:stretch>
            <a:fillRect/>
          </a:stretch>
        </p:blipFill>
        <p:spPr>
          <a:xfrm>
            <a:off x="5828601" y="2684746"/>
            <a:ext cx="2692064" cy="2437168"/>
          </a:xfrm>
          <a:prstGeom prst="rect">
            <a:avLst/>
          </a:prstGeom>
        </p:spPr>
      </p:pic>
      <p:sp>
        <p:nvSpPr>
          <p:cNvPr id="2" name="ZoneTexte 1">
            <a:extLst>
              <a:ext uri="{FF2B5EF4-FFF2-40B4-BE49-F238E27FC236}">
                <a16:creationId xmlns:a16="http://schemas.microsoft.com/office/drawing/2014/main" id="{4C343399-0EC2-28EF-4B36-70DB802A3512}"/>
              </a:ext>
            </a:extLst>
          </p:cNvPr>
          <p:cNvSpPr txBox="1"/>
          <p:nvPr/>
        </p:nvSpPr>
        <p:spPr>
          <a:xfrm>
            <a:off x="8819972" y="4835723"/>
            <a:ext cx="346570"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5">
          <a:extLst>
            <a:ext uri="{FF2B5EF4-FFF2-40B4-BE49-F238E27FC236}">
              <a16:creationId xmlns:a16="http://schemas.microsoft.com/office/drawing/2014/main" id="{19C3F693-7276-A630-BCCC-1861CB30260A}"/>
            </a:ext>
          </a:extLst>
        </p:cNvPr>
        <p:cNvGrpSpPr/>
        <p:nvPr/>
      </p:nvGrpSpPr>
      <p:grpSpPr>
        <a:xfrm>
          <a:off x="0" y="0"/>
          <a:ext cx="0" cy="0"/>
          <a:chOff x="0" y="0"/>
          <a:chExt cx="0" cy="0"/>
        </a:xfrm>
      </p:grpSpPr>
      <p:sp>
        <p:nvSpPr>
          <p:cNvPr id="764" name="Google Shape;764;p54">
            <a:extLst>
              <a:ext uri="{FF2B5EF4-FFF2-40B4-BE49-F238E27FC236}">
                <a16:creationId xmlns:a16="http://schemas.microsoft.com/office/drawing/2014/main" id="{877204C3-5309-BFE6-53F1-307BF73961F5}"/>
              </a:ext>
            </a:extLst>
          </p:cNvPr>
          <p:cNvSpPr/>
          <p:nvPr/>
        </p:nvSpPr>
        <p:spPr>
          <a:xfrm>
            <a:off x="1625161" y="692505"/>
            <a:ext cx="1036223"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771" name="Google Shape;771;p54">
            <a:extLst>
              <a:ext uri="{FF2B5EF4-FFF2-40B4-BE49-F238E27FC236}">
                <a16:creationId xmlns:a16="http://schemas.microsoft.com/office/drawing/2014/main" id="{ECC2749C-F66B-1EE8-A78A-188BEBEEE345}"/>
              </a:ext>
            </a:extLst>
          </p:cNvPr>
          <p:cNvSpPr txBox="1">
            <a:spLocks noGrp="1"/>
          </p:cNvSpPr>
          <p:nvPr>
            <p:ph type="title" idx="8"/>
          </p:nvPr>
        </p:nvSpPr>
        <p:spPr>
          <a:xfrm>
            <a:off x="731661" y="233755"/>
            <a:ext cx="6698400" cy="572700"/>
          </a:xfrm>
          <a:prstGeom prst="rect">
            <a:avLst/>
          </a:prstGeom>
        </p:spPr>
        <p:txBody>
          <a:bodyPr spcFirstLastPara="1" wrap="square" lIns="91425" tIns="91425" rIns="91425" bIns="91425" anchor="t" anchorCtr="0">
            <a:noAutofit/>
          </a:bodyPr>
          <a:lstStyle/>
          <a:p>
            <a:pPr lvl="0"/>
            <a:r>
              <a:rPr lang="fr-FR" sz="2800" dirty="0"/>
              <a:t>Le Banc d'Essai de Monte-Carlo</a:t>
            </a:r>
            <a:endParaRPr sz="2800" dirty="0"/>
          </a:p>
        </p:txBody>
      </p:sp>
      <p:pic>
        <p:nvPicPr>
          <p:cNvPr id="3" name="Image 2">
            <a:extLst>
              <a:ext uri="{FF2B5EF4-FFF2-40B4-BE49-F238E27FC236}">
                <a16:creationId xmlns:a16="http://schemas.microsoft.com/office/drawing/2014/main" id="{59644C3A-609E-BEE1-51E7-550F45A42B47}"/>
              </a:ext>
            </a:extLst>
          </p:cNvPr>
          <p:cNvPicPr>
            <a:picLocks noChangeAspect="1"/>
          </p:cNvPicPr>
          <p:nvPr/>
        </p:nvPicPr>
        <p:blipFill>
          <a:blip r:embed="rId3"/>
          <a:stretch>
            <a:fillRect/>
          </a:stretch>
        </p:blipFill>
        <p:spPr>
          <a:xfrm>
            <a:off x="387730" y="1377026"/>
            <a:ext cx="3439694" cy="2389448"/>
          </a:xfrm>
          <a:prstGeom prst="rect">
            <a:avLst/>
          </a:prstGeom>
        </p:spPr>
      </p:pic>
      <p:sp>
        <p:nvSpPr>
          <p:cNvPr id="4" name="ZoneTexte 3">
            <a:extLst>
              <a:ext uri="{FF2B5EF4-FFF2-40B4-BE49-F238E27FC236}">
                <a16:creationId xmlns:a16="http://schemas.microsoft.com/office/drawing/2014/main" id="{D0F2EF9B-4275-5C57-9EB6-73F74C76EB7B}"/>
              </a:ext>
            </a:extLst>
          </p:cNvPr>
          <p:cNvSpPr txBox="1"/>
          <p:nvPr/>
        </p:nvSpPr>
        <p:spPr>
          <a:xfrm>
            <a:off x="8819972" y="4835723"/>
            <a:ext cx="336952"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17</a:t>
            </a:r>
          </a:p>
        </p:txBody>
      </p:sp>
      <p:graphicFrame>
        <p:nvGraphicFramePr>
          <p:cNvPr id="5" name="Tableau 4">
            <a:extLst>
              <a:ext uri="{FF2B5EF4-FFF2-40B4-BE49-F238E27FC236}">
                <a16:creationId xmlns:a16="http://schemas.microsoft.com/office/drawing/2014/main" id="{7AB5A522-252F-29B7-4756-A36D44644FF3}"/>
              </a:ext>
            </a:extLst>
          </p:cNvPr>
          <p:cNvGraphicFramePr>
            <a:graphicFrameLocks noGrp="1"/>
          </p:cNvGraphicFramePr>
          <p:nvPr>
            <p:extLst>
              <p:ext uri="{D42A27DB-BD31-4B8C-83A1-F6EECF244321}">
                <p14:modId xmlns:p14="http://schemas.microsoft.com/office/powerpoint/2010/main" val="3786512168"/>
              </p:ext>
            </p:extLst>
          </p:nvPr>
        </p:nvGraphicFramePr>
        <p:xfrm>
          <a:off x="3973394" y="991129"/>
          <a:ext cx="1649372" cy="3417888"/>
        </p:xfrm>
        <a:graphic>
          <a:graphicData uri="http://schemas.openxmlformats.org/drawingml/2006/table">
            <a:tbl>
              <a:tblPr>
                <a:tableStyleId>{616DA210-FB5B-4158-B5E0-FEB733F419BA}</a:tableStyleId>
              </a:tblPr>
              <a:tblGrid>
                <a:gridCol w="647240">
                  <a:extLst>
                    <a:ext uri="{9D8B030D-6E8A-4147-A177-3AD203B41FA5}">
                      <a16:colId xmlns:a16="http://schemas.microsoft.com/office/drawing/2014/main" val="107893208"/>
                    </a:ext>
                  </a:extLst>
                </a:gridCol>
                <a:gridCol w="1002132">
                  <a:extLst>
                    <a:ext uri="{9D8B030D-6E8A-4147-A177-3AD203B41FA5}">
                      <a16:colId xmlns:a16="http://schemas.microsoft.com/office/drawing/2014/main" val="2263766984"/>
                    </a:ext>
                  </a:extLst>
                </a:gridCol>
              </a:tblGrid>
              <a:tr h="203446">
                <a:tc>
                  <a:txBody>
                    <a:bodyPr/>
                    <a:lstStyle/>
                    <a:p>
                      <a:pPr algn="r">
                        <a:buNone/>
                      </a:pPr>
                      <a:r>
                        <a:rPr lang="fr-FR" sz="900"/>
                        <a:t>Rang</a:t>
                      </a:r>
                    </a:p>
                  </a:txBody>
                  <a:tcPr marL="61034" marR="61034" marT="30517" marB="30517" anchor="ctr"/>
                </a:tc>
                <a:tc>
                  <a:txBody>
                    <a:bodyPr/>
                    <a:lstStyle/>
                    <a:p>
                      <a:pPr>
                        <a:buNone/>
                      </a:pPr>
                      <a:r>
                        <a:rPr lang="fr-FR" sz="900"/>
                        <a:t>Stratégie</a:t>
                      </a:r>
                    </a:p>
                  </a:txBody>
                  <a:tcPr marL="61034" marR="61034" marT="30517" marB="30517" anchor="ctr"/>
                </a:tc>
                <a:extLst>
                  <a:ext uri="{0D108BD9-81ED-4DB2-BD59-A6C34878D82A}">
                    <a16:rowId xmlns:a16="http://schemas.microsoft.com/office/drawing/2014/main" val="1937523986"/>
                  </a:ext>
                </a:extLst>
              </a:tr>
              <a:tr h="488270">
                <a:tc>
                  <a:txBody>
                    <a:bodyPr/>
                    <a:lstStyle/>
                    <a:p>
                      <a:pPr algn="r">
                        <a:buNone/>
                      </a:pPr>
                      <a:r>
                        <a:rPr lang="fr-FR" sz="900"/>
                        <a:t>1</a:t>
                      </a:r>
                    </a:p>
                  </a:txBody>
                  <a:tcPr marL="61034" marR="61034" marT="30517" marB="30517" anchor="ctr"/>
                </a:tc>
                <a:tc>
                  <a:txBody>
                    <a:bodyPr/>
                    <a:lstStyle/>
                    <a:p>
                      <a:pPr>
                        <a:buNone/>
                      </a:pPr>
                      <a:r>
                        <a:rPr lang="fr-FR" sz="900" b="1"/>
                        <a:t>P2P</a:t>
                      </a:r>
                      <a:endParaRPr lang="fr-FR" sz="900"/>
                    </a:p>
                  </a:txBody>
                  <a:tcPr marL="61034" marR="61034" marT="30517" marB="30517" anchor="ctr"/>
                </a:tc>
                <a:extLst>
                  <a:ext uri="{0D108BD9-81ED-4DB2-BD59-A6C34878D82A}">
                    <a16:rowId xmlns:a16="http://schemas.microsoft.com/office/drawing/2014/main" val="3209058932"/>
                  </a:ext>
                </a:extLst>
              </a:tr>
              <a:tr h="630681">
                <a:tc>
                  <a:txBody>
                    <a:bodyPr/>
                    <a:lstStyle/>
                    <a:p>
                      <a:pPr algn="r">
                        <a:buNone/>
                      </a:pPr>
                      <a:r>
                        <a:rPr lang="fr-FR" sz="900"/>
                        <a:t>2</a:t>
                      </a:r>
                    </a:p>
                  </a:txBody>
                  <a:tcPr marL="61034" marR="61034" marT="30517" marB="30517" anchor="ctr"/>
                </a:tc>
                <a:tc>
                  <a:txBody>
                    <a:bodyPr/>
                    <a:lstStyle/>
                    <a:p>
                      <a:pPr>
                        <a:buNone/>
                      </a:pPr>
                      <a:r>
                        <a:rPr lang="fr-FR" sz="900" b="1"/>
                        <a:t>VirtualPlatoon</a:t>
                      </a:r>
                      <a:endParaRPr lang="fr-FR" sz="900"/>
                    </a:p>
                  </a:txBody>
                  <a:tcPr marL="61034" marR="61034" marT="30517" marB="30517" anchor="ctr"/>
                </a:tc>
                <a:extLst>
                  <a:ext uri="{0D108BD9-81ED-4DB2-BD59-A6C34878D82A}">
                    <a16:rowId xmlns:a16="http://schemas.microsoft.com/office/drawing/2014/main" val="3212865307"/>
                  </a:ext>
                </a:extLst>
              </a:tr>
              <a:tr h="488270">
                <a:tc>
                  <a:txBody>
                    <a:bodyPr/>
                    <a:lstStyle/>
                    <a:p>
                      <a:pPr algn="r">
                        <a:buNone/>
                      </a:pPr>
                      <a:r>
                        <a:rPr lang="fr-FR" sz="900"/>
                        <a:t>3</a:t>
                      </a:r>
                    </a:p>
                  </a:txBody>
                  <a:tcPr marL="61034" marR="61034" marT="30517" marB="30517" anchor="ctr"/>
                </a:tc>
                <a:tc>
                  <a:txBody>
                    <a:bodyPr/>
                    <a:lstStyle/>
                    <a:p>
                      <a:pPr>
                        <a:buNone/>
                      </a:pPr>
                      <a:r>
                        <a:rPr lang="fr-FR" sz="900" b="1"/>
                        <a:t>ORCA</a:t>
                      </a:r>
                      <a:endParaRPr lang="fr-FR" sz="900"/>
                    </a:p>
                  </a:txBody>
                  <a:tcPr marL="61034" marR="61034" marT="30517" marB="30517" anchor="ctr"/>
                </a:tc>
                <a:extLst>
                  <a:ext uri="{0D108BD9-81ED-4DB2-BD59-A6C34878D82A}">
                    <a16:rowId xmlns:a16="http://schemas.microsoft.com/office/drawing/2014/main" val="2421944056"/>
                  </a:ext>
                </a:extLst>
              </a:tr>
              <a:tr h="488270">
                <a:tc>
                  <a:txBody>
                    <a:bodyPr/>
                    <a:lstStyle/>
                    <a:p>
                      <a:pPr algn="r">
                        <a:buNone/>
                      </a:pPr>
                      <a:r>
                        <a:rPr lang="fr-FR" sz="900"/>
                        <a:t>4</a:t>
                      </a:r>
                    </a:p>
                  </a:txBody>
                  <a:tcPr marL="61034" marR="61034" marT="30517" marB="30517" anchor="ctr"/>
                </a:tc>
                <a:tc>
                  <a:txBody>
                    <a:bodyPr/>
                    <a:lstStyle/>
                    <a:p>
                      <a:pPr>
                        <a:buNone/>
                      </a:pPr>
                      <a:r>
                        <a:rPr lang="fr-FR" sz="900" b="1"/>
                        <a:t>FixedPriority</a:t>
                      </a:r>
                      <a:endParaRPr lang="fr-FR" sz="900"/>
                    </a:p>
                  </a:txBody>
                  <a:tcPr marL="61034" marR="61034" marT="30517" marB="30517" anchor="ctr"/>
                </a:tc>
                <a:extLst>
                  <a:ext uri="{0D108BD9-81ED-4DB2-BD59-A6C34878D82A}">
                    <a16:rowId xmlns:a16="http://schemas.microsoft.com/office/drawing/2014/main" val="1524836471"/>
                  </a:ext>
                </a:extLst>
              </a:tr>
              <a:tr h="488270">
                <a:tc>
                  <a:txBody>
                    <a:bodyPr/>
                    <a:lstStyle/>
                    <a:p>
                      <a:pPr algn="r">
                        <a:buNone/>
                      </a:pPr>
                      <a:r>
                        <a:rPr lang="fr-FR" sz="900"/>
                        <a:t>5</a:t>
                      </a:r>
                    </a:p>
                  </a:txBody>
                  <a:tcPr marL="61034" marR="61034" marT="30517" marB="30517" anchor="ctr"/>
                </a:tc>
                <a:tc>
                  <a:txBody>
                    <a:bodyPr/>
                    <a:lstStyle/>
                    <a:p>
                      <a:pPr>
                        <a:buNone/>
                      </a:pPr>
                      <a:r>
                        <a:rPr lang="fr-FR" sz="900" b="1"/>
                        <a:t>AIM</a:t>
                      </a:r>
                      <a:endParaRPr lang="fr-FR" sz="900"/>
                    </a:p>
                  </a:txBody>
                  <a:tcPr marL="61034" marR="61034" marT="30517" marB="30517" anchor="ctr"/>
                </a:tc>
                <a:extLst>
                  <a:ext uri="{0D108BD9-81ED-4DB2-BD59-A6C34878D82A}">
                    <a16:rowId xmlns:a16="http://schemas.microsoft.com/office/drawing/2014/main" val="1332640569"/>
                  </a:ext>
                </a:extLst>
              </a:tr>
              <a:tr h="630681">
                <a:tc>
                  <a:txBody>
                    <a:bodyPr/>
                    <a:lstStyle/>
                    <a:p>
                      <a:pPr algn="r">
                        <a:buNone/>
                      </a:pPr>
                      <a:r>
                        <a:rPr lang="fr-FR" sz="900"/>
                        <a:t>6</a:t>
                      </a:r>
                    </a:p>
                  </a:txBody>
                  <a:tcPr marL="61034" marR="61034" marT="30517" marB="30517" anchor="ctr"/>
                </a:tc>
                <a:tc>
                  <a:txBody>
                    <a:bodyPr/>
                    <a:lstStyle/>
                    <a:p>
                      <a:pPr>
                        <a:buNone/>
                      </a:pPr>
                      <a:r>
                        <a:rPr lang="fr-FR" sz="900" b="1" dirty="0" err="1"/>
                        <a:t>Roundabout</a:t>
                      </a:r>
                      <a:endParaRPr lang="fr-FR" sz="900" dirty="0"/>
                    </a:p>
                  </a:txBody>
                  <a:tcPr marL="61034" marR="61034" marT="30517" marB="30517" anchor="ctr"/>
                </a:tc>
                <a:extLst>
                  <a:ext uri="{0D108BD9-81ED-4DB2-BD59-A6C34878D82A}">
                    <a16:rowId xmlns:a16="http://schemas.microsoft.com/office/drawing/2014/main" val="2217046977"/>
                  </a:ext>
                </a:extLst>
              </a:tr>
            </a:tbl>
          </a:graphicData>
        </a:graphic>
      </p:graphicFrame>
      <p:pic>
        <p:nvPicPr>
          <p:cNvPr id="7" name="Image 6">
            <a:extLst>
              <a:ext uri="{FF2B5EF4-FFF2-40B4-BE49-F238E27FC236}">
                <a16:creationId xmlns:a16="http://schemas.microsoft.com/office/drawing/2014/main" id="{64B60128-8BED-5379-9DEB-A44EDE6527A3}"/>
              </a:ext>
            </a:extLst>
          </p:cNvPr>
          <p:cNvPicPr>
            <a:picLocks noChangeAspect="1"/>
          </p:cNvPicPr>
          <p:nvPr/>
        </p:nvPicPr>
        <p:blipFill>
          <a:blip r:embed="rId4"/>
          <a:stretch>
            <a:fillRect/>
          </a:stretch>
        </p:blipFill>
        <p:spPr>
          <a:xfrm>
            <a:off x="5747305" y="2750973"/>
            <a:ext cx="3365512" cy="1944518"/>
          </a:xfrm>
          <a:prstGeom prst="rect">
            <a:avLst/>
          </a:prstGeom>
        </p:spPr>
      </p:pic>
      <p:pic>
        <p:nvPicPr>
          <p:cNvPr id="9" name="Image 8">
            <a:extLst>
              <a:ext uri="{FF2B5EF4-FFF2-40B4-BE49-F238E27FC236}">
                <a16:creationId xmlns:a16="http://schemas.microsoft.com/office/drawing/2014/main" id="{F8460A4F-3E39-DBCB-85DF-BA30C1B27376}"/>
              </a:ext>
            </a:extLst>
          </p:cNvPr>
          <p:cNvPicPr>
            <a:picLocks noChangeAspect="1"/>
          </p:cNvPicPr>
          <p:nvPr/>
        </p:nvPicPr>
        <p:blipFill>
          <a:blip r:embed="rId5"/>
          <a:stretch>
            <a:fillRect/>
          </a:stretch>
        </p:blipFill>
        <p:spPr>
          <a:xfrm>
            <a:off x="5747305" y="627232"/>
            <a:ext cx="3365512" cy="1944518"/>
          </a:xfrm>
          <a:prstGeom prst="rect">
            <a:avLst/>
          </a:prstGeom>
        </p:spPr>
      </p:pic>
    </p:spTree>
    <p:extLst>
      <p:ext uri="{BB962C8B-B14F-4D97-AF65-F5344CB8AC3E}">
        <p14:creationId xmlns:p14="http://schemas.microsoft.com/office/powerpoint/2010/main" val="327479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5">
          <a:extLst>
            <a:ext uri="{FF2B5EF4-FFF2-40B4-BE49-F238E27FC236}">
              <a16:creationId xmlns:a16="http://schemas.microsoft.com/office/drawing/2014/main" id="{0B4C0D37-282D-E4A9-36BB-4A2B60B3C832}"/>
            </a:ext>
          </a:extLst>
        </p:cNvPr>
        <p:cNvGrpSpPr/>
        <p:nvPr/>
      </p:nvGrpSpPr>
      <p:grpSpPr>
        <a:xfrm>
          <a:off x="0" y="0"/>
          <a:ext cx="0" cy="0"/>
          <a:chOff x="0" y="0"/>
          <a:chExt cx="0" cy="0"/>
        </a:xfrm>
      </p:grpSpPr>
      <p:sp>
        <p:nvSpPr>
          <p:cNvPr id="764" name="Google Shape;764;p54">
            <a:extLst>
              <a:ext uri="{FF2B5EF4-FFF2-40B4-BE49-F238E27FC236}">
                <a16:creationId xmlns:a16="http://schemas.microsoft.com/office/drawing/2014/main" id="{FC5CCBE6-DA85-1346-6599-B7BF22494DDC}"/>
              </a:ext>
            </a:extLst>
          </p:cNvPr>
          <p:cNvSpPr/>
          <p:nvPr/>
        </p:nvSpPr>
        <p:spPr>
          <a:xfrm>
            <a:off x="2625825" y="998250"/>
            <a:ext cx="1036223"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766" name="Google Shape;766;p54">
            <a:extLst>
              <a:ext uri="{FF2B5EF4-FFF2-40B4-BE49-F238E27FC236}">
                <a16:creationId xmlns:a16="http://schemas.microsoft.com/office/drawing/2014/main" id="{69416A76-ACCC-B1AA-427F-E52B3570AC93}"/>
              </a:ext>
            </a:extLst>
          </p:cNvPr>
          <p:cNvSpPr txBox="1">
            <a:spLocks noGrp="1"/>
          </p:cNvSpPr>
          <p:nvPr>
            <p:ph type="subTitle" idx="3"/>
          </p:nvPr>
        </p:nvSpPr>
        <p:spPr>
          <a:xfrm>
            <a:off x="794604" y="1483106"/>
            <a:ext cx="6117039" cy="720900"/>
          </a:xfrm>
          <a:prstGeom prst="rect">
            <a:avLst/>
          </a:prstGeom>
        </p:spPr>
        <p:txBody>
          <a:bodyPr spcFirstLastPara="1" wrap="square" lIns="91425" tIns="91425" rIns="91425" bIns="91425" anchor="t" anchorCtr="0">
            <a:noAutofit/>
          </a:bodyPr>
          <a:lstStyle/>
          <a:p>
            <a:r>
              <a:rPr lang="fr-FR" b="1" dirty="0"/>
              <a:t>Résultat du projet</a:t>
            </a:r>
          </a:p>
          <a:p>
            <a:endParaRPr lang="fr-FR" dirty="0"/>
          </a:p>
          <a:p>
            <a:r>
              <a:rPr lang="fr-FR" dirty="0"/>
              <a:t>- un prototype de simulation 2D ;</a:t>
            </a:r>
          </a:p>
          <a:p>
            <a:r>
              <a:rPr lang="fr-FR" dirty="0"/>
              <a:t>- des véhicules autonomes ;</a:t>
            </a:r>
          </a:p>
          <a:p>
            <a:r>
              <a:rPr lang="fr-FR" dirty="0"/>
              <a:t>- une architecture modulaire ;</a:t>
            </a:r>
          </a:p>
          <a:p>
            <a:r>
              <a:rPr lang="fr-FR" dirty="0"/>
              <a:t>- plusieurs politiques d’intersection ;</a:t>
            </a:r>
          </a:p>
          <a:p>
            <a:r>
              <a:rPr lang="fr-FR" dirty="0"/>
              <a:t>- un moteur de perception locale ;</a:t>
            </a:r>
          </a:p>
          <a:p>
            <a:r>
              <a:rPr lang="fr-FR" dirty="0"/>
              <a:t>- une logique de décision par états ;</a:t>
            </a:r>
          </a:p>
          <a:p>
            <a:r>
              <a:rPr lang="fr-FR" dirty="0"/>
              <a:t>- une base de métriques ;</a:t>
            </a:r>
          </a:p>
          <a:p>
            <a:r>
              <a:rPr lang="fr-FR" dirty="0"/>
              <a:t>- une analyse des limites ;</a:t>
            </a:r>
          </a:p>
          <a:p>
            <a:r>
              <a:rPr lang="fr-FR" dirty="0"/>
              <a:t>- un banc d’essai </a:t>
            </a:r>
            <a:r>
              <a:rPr lang="fr-FR" dirty="0" err="1"/>
              <a:t>monte-carlo</a:t>
            </a:r>
            <a:r>
              <a:rPr lang="fr-FR" dirty="0"/>
              <a:t> ;</a:t>
            </a:r>
          </a:p>
          <a:p>
            <a:r>
              <a:rPr lang="fr-FR" dirty="0"/>
              <a:t>- du threading ;</a:t>
            </a:r>
          </a:p>
          <a:p>
            <a:r>
              <a:rPr lang="fr-FR" dirty="0"/>
              <a:t>- des tests unitaires ;</a:t>
            </a:r>
          </a:p>
          <a:p>
            <a:r>
              <a:rPr lang="fr-FR" dirty="0"/>
              <a:t>- une pipeline </a:t>
            </a:r>
            <a:r>
              <a:rPr lang="fr-FR" dirty="0" err="1"/>
              <a:t>github</a:t>
            </a:r>
            <a:r>
              <a:rPr lang="fr-FR" dirty="0"/>
              <a:t> ;</a:t>
            </a:r>
          </a:p>
          <a:p>
            <a:r>
              <a:rPr lang="fr-FR" dirty="0"/>
              <a:t>- un exécutable en release.</a:t>
            </a:r>
          </a:p>
        </p:txBody>
      </p:sp>
      <p:sp>
        <p:nvSpPr>
          <p:cNvPr id="771" name="Google Shape;771;p54">
            <a:extLst>
              <a:ext uri="{FF2B5EF4-FFF2-40B4-BE49-F238E27FC236}">
                <a16:creationId xmlns:a16="http://schemas.microsoft.com/office/drawing/2014/main" id="{68540BF1-6951-6E3A-31C8-350F59EEFC57}"/>
              </a:ext>
            </a:extLst>
          </p:cNvPr>
          <p:cNvSpPr txBox="1">
            <a:spLocks noGrp="1"/>
          </p:cNvSpPr>
          <p:nvPr>
            <p:ph type="title" idx="8"/>
          </p:nvPr>
        </p:nvSpPr>
        <p:spPr>
          <a:xfrm>
            <a:off x="1732325" y="539500"/>
            <a:ext cx="6698400" cy="572700"/>
          </a:xfrm>
          <a:prstGeom prst="rect">
            <a:avLst/>
          </a:prstGeom>
        </p:spPr>
        <p:txBody>
          <a:bodyPr spcFirstLastPara="1" wrap="square" lIns="91425" tIns="91425" rIns="91425" bIns="91425" anchor="t" anchorCtr="0">
            <a:noAutofit/>
          </a:bodyPr>
          <a:lstStyle/>
          <a:p>
            <a:pPr lvl="0"/>
            <a:r>
              <a:rPr lang="fr-FR" dirty="0"/>
              <a:t>CE QUI A ÉTÉ PRODUIT</a:t>
            </a:r>
            <a:endParaRPr dirty="0"/>
          </a:p>
        </p:txBody>
      </p:sp>
      <p:pic>
        <p:nvPicPr>
          <p:cNvPr id="19" name="Image 18">
            <a:extLst>
              <a:ext uri="{FF2B5EF4-FFF2-40B4-BE49-F238E27FC236}">
                <a16:creationId xmlns:a16="http://schemas.microsoft.com/office/drawing/2014/main" id="{CE7A2178-0718-C553-A07E-E3A489794816}"/>
              </a:ext>
            </a:extLst>
          </p:cNvPr>
          <p:cNvPicPr>
            <a:picLocks noChangeAspect="1"/>
          </p:cNvPicPr>
          <p:nvPr/>
        </p:nvPicPr>
        <p:blipFill>
          <a:blip r:embed="rId3"/>
          <a:stretch>
            <a:fillRect/>
          </a:stretch>
        </p:blipFill>
        <p:spPr>
          <a:xfrm>
            <a:off x="5539129" y="1696903"/>
            <a:ext cx="2810267" cy="819264"/>
          </a:xfrm>
          <a:prstGeom prst="rect">
            <a:avLst/>
          </a:prstGeom>
        </p:spPr>
      </p:pic>
      <p:pic>
        <p:nvPicPr>
          <p:cNvPr id="21" name="Image 20">
            <a:extLst>
              <a:ext uri="{FF2B5EF4-FFF2-40B4-BE49-F238E27FC236}">
                <a16:creationId xmlns:a16="http://schemas.microsoft.com/office/drawing/2014/main" id="{BF523045-D895-4D9C-A49B-9D270D020460}"/>
              </a:ext>
            </a:extLst>
          </p:cNvPr>
          <p:cNvPicPr>
            <a:picLocks noChangeAspect="1"/>
          </p:cNvPicPr>
          <p:nvPr/>
        </p:nvPicPr>
        <p:blipFill>
          <a:blip r:embed="rId4"/>
          <a:stretch>
            <a:fillRect/>
          </a:stretch>
        </p:blipFill>
        <p:spPr>
          <a:xfrm>
            <a:off x="5015182" y="2660104"/>
            <a:ext cx="3858163" cy="800212"/>
          </a:xfrm>
          <a:prstGeom prst="rect">
            <a:avLst/>
          </a:prstGeom>
        </p:spPr>
      </p:pic>
      <p:pic>
        <p:nvPicPr>
          <p:cNvPr id="23" name="Image 22">
            <a:extLst>
              <a:ext uri="{FF2B5EF4-FFF2-40B4-BE49-F238E27FC236}">
                <a16:creationId xmlns:a16="http://schemas.microsoft.com/office/drawing/2014/main" id="{8C4BE73F-7A11-3615-702D-9FBBF5A1201C}"/>
              </a:ext>
            </a:extLst>
          </p:cNvPr>
          <p:cNvPicPr>
            <a:picLocks noChangeAspect="1"/>
          </p:cNvPicPr>
          <p:nvPr/>
        </p:nvPicPr>
        <p:blipFill>
          <a:blip r:embed="rId5"/>
          <a:stretch>
            <a:fillRect/>
          </a:stretch>
        </p:blipFill>
        <p:spPr>
          <a:xfrm>
            <a:off x="6386766" y="393801"/>
            <a:ext cx="2553301" cy="1157403"/>
          </a:xfrm>
          <a:prstGeom prst="rect">
            <a:avLst/>
          </a:prstGeom>
        </p:spPr>
      </p:pic>
      <p:pic>
        <p:nvPicPr>
          <p:cNvPr id="25" name="Image 24">
            <a:extLst>
              <a:ext uri="{FF2B5EF4-FFF2-40B4-BE49-F238E27FC236}">
                <a16:creationId xmlns:a16="http://schemas.microsoft.com/office/drawing/2014/main" id="{20752E65-A573-D345-AF21-884E6AAF9F49}"/>
              </a:ext>
            </a:extLst>
          </p:cNvPr>
          <p:cNvPicPr>
            <a:picLocks noChangeAspect="1"/>
          </p:cNvPicPr>
          <p:nvPr/>
        </p:nvPicPr>
        <p:blipFill>
          <a:blip r:embed="rId6"/>
          <a:stretch>
            <a:fillRect/>
          </a:stretch>
        </p:blipFill>
        <p:spPr>
          <a:xfrm>
            <a:off x="5129496" y="3605629"/>
            <a:ext cx="3629532" cy="1171739"/>
          </a:xfrm>
          <a:prstGeom prst="rect">
            <a:avLst/>
          </a:prstGeom>
        </p:spPr>
      </p:pic>
      <p:sp>
        <p:nvSpPr>
          <p:cNvPr id="2" name="ZoneTexte 1">
            <a:extLst>
              <a:ext uri="{FF2B5EF4-FFF2-40B4-BE49-F238E27FC236}">
                <a16:creationId xmlns:a16="http://schemas.microsoft.com/office/drawing/2014/main" id="{0B1D393F-C837-97AE-EDCB-93B04E68C80B}"/>
              </a:ext>
            </a:extLst>
          </p:cNvPr>
          <p:cNvSpPr txBox="1"/>
          <p:nvPr/>
        </p:nvSpPr>
        <p:spPr>
          <a:xfrm>
            <a:off x="8819972" y="4835723"/>
            <a:ext cx="352982"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18</a:t>
            </a:r>
          </a:p>
        </p:txBody>
      </p:sp>
    </p:spTree>
    <p:extLst>
      <p:ext uri="{BB962C8B-B14F-4D97-AF65-F5344CB8AC3E}">
        <p14:creationId xmlns:p14="http://schemas.microsoft.com/office/powerpoint/2010/main" val="2774278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5">
          <a:extLst>
            <a:ext uri="{FF2B5EF4-FFF2-40B4-BE49-F238E27FC236}">
              <a16:creationId xmlns:a16="http://schemas.microsoft.com/office/drawing/2014/main" id="{E3C12901-16CD-D32A-E38A-A1FAF088DA80}"/>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019BD006-432D-FD69-5642-A36463288679}"/>
              </a:ext>
            </a:extLst>
          </p:cNvPr>
          <p:cNvPicPr>
            <a:picLocks noChangeAspect="1"/>
          </p:cNvPicPr>
          <p:nvPr/>
        </p:nvPicPr>
        <p:blipFill>
          <a:blip r:embed="rId3"/>
          <a:srcRect b="40091"/>
          <a:stretch>
            <a:fillRect/>
          </a:stretch>
        </p:blipFill>
        <p:spPr>
          <a:xfrm>
            <a:off x="990686" y="3251059"/>
            <a:ext cx="2825565" cy="1456855"/>
          </a:xfrm>
          <a:prstGeom prst="rect">
            <a:avLst/>
          </a:prstGeom>
        </p:spPr>
      </p:pic>
      <p:sp>
        <p:nvSpPr>
          <p:cNvPr id="764" name="Google Shape;764;p54">
            <a:extLst>
              <a:ext uri="{FF2B5EF4-FFF2-40B4-BE49-F238E27FC236}">
                <a16:creationId xmlns:a16="http://schemas.microsoft.com/office/drawing/2014/main" id="{CF221FB9-1025-7E78-A838-E243C6A1F84A}"/>
              </a:ext>
            </a:extLst>
          </p:cNvPr>
          <p:cNvSpPr/>
          <p:nvPr/>
        </p:nvSpPr>
        <p:spPr>
          <a:xfrm>
            <a:off x="2625825" y="998250"/>
            <a:ext cx="1036223" cy="113957"/>
          </a:xfrm>
          <a:custGeom>
            <a:avLst/>
            <a:gdLst/>
            <a:ahLst/>
            <a:cxnLst/>
            <a:rect l="l" t="t" r="r" b="b"/>
            <a:pathLst>
              <a:path w="139794" h="8509" extrusionOk="0">
                <a:moveTo>
                  <a:pt x="304" y="0"/>
                </a:moveTo>
                <a:lnTo>
                  <a:pt x="0" y="8509"/>
                </a:lnTo>
                <a:lnTo>
                  <a:pt x="139490" y="7597"/>
                </a:lnTo>
                <a:lnTo>
                  <a:pt x="139794" y="1216"/>
                </a:lnTo>
                <a:close/>
              </a:path>
            </a:pathLst>
          </a:custGeom>
          <a:solidFill>
            <a:schemeClr val="lt2"/>
          </a:solidFill>
          <a:ln>
            <a:noFill/>
          </a:ln>
        </p:spPr>
        <p:txBody>
          <a:bodyPr/>
          <a:lstStyle/>
          <a:p>
            <a:endParaRPr lang="fr-FR"/>
          </a:p>
        </p:txBody>
      </p:sp>
      <p:sp>
        <p:nvSpPr>
          <p:cNvPr id="766" name="Google Shape;766;p54">
            <a:extLst>
              <a:ext uri="{FF2B5EF4-FFF2-40B4-BE49-F238E27FC236}">
                <a16:creationId xmlns:a16="http://schemas.microsoft.com/office/drawing/2014/main" id="{092A46D6-335D-B082-07ED-72817C97D4BB}"/>
              </a:ext>
            </a:extLst>
          </p:cNvPr>
          <p:cNvSpPr txBox="1">
            <a:spLocks noGrp="1"/>
          </p:cNvSpPr>
          <p:nvPr>
            <p:ph type="subTitle" idx="3"/>
          </p:nvPr>
        </p:nvSpPr>
        <p:spPr>
          <a:xfrm>
            <a:off x="363191" y="1379622"/>
            <a:ext cx="4383130" cy="720900"/>
          </a:xfrm>
          <a:prstGeom prst="rect">
            <a:avLst/>
          </a:prstGeom>
        </p:spPr>
        <p:txBody>
          <a:bodyPr spcFirstLastPara="1" wrap="square" lIns="91425" tIns="91425" rIns="91425" bIns="91425" anchor="t" anchorCtr="0">
            <a:noAutofit/>
          </a:bodyPr>
          <a:lstStyle/>
          <a:p>
            <a:r>
              <a:rPr lang="fr-FR" sz="1100" b="1" dirty="0"/>
              <a:t>Limites assumées</a:t>
            </a:r>
          </a:p>
          <a:p>
            <a:r>
              <a:rPr lang="fr-FR" sz="1100" dirty="0"/>
              <a:t>Toutes les intersections ne sont pas stabilisées.</a:t>
            </a:r>
          </a:p>
          <a:p>
            <a:r>
              <a:rPr lang="fr-FR" sz="1100" dirty="0"/>
              <a:t>Les blocages persistent dans certains scénarios. </a:t>
            </a:r>
          </a:p>
          <a:p>
            <a:r>
              <a:rPr lang="fr-FR" sz="1100" dirty="0"/>
              <a:t>Les approches avancées ne sont pas toutes finalisées.</a:t>
            </a:r>
          </a:p>
        </p:txBody>
      </p:sp>
      <p:sp>
        <p:nvSpPr>
          <p:cNvPr id="771" name="Google Shape;771;p54">
            <a:extLst>
              <a:ext uri="{FF2B5EF4-FFF2-40B4-BE49-F238E27FC236}">
                <a16:creationId xmlns:a16="http://schemas.microsoft.com/office/drawing/2014/main" id="{589ACF97-0DAB-5B29-3CF4-0E479D51AAE0}"/>
              </a:ext>
            </a:extLst>
          </p:cNvPr>
          <p:cNvSpPr txBox="1">
            <a:spLocks noGrp="1"/>
          </p:cNvSpPr>
          <p:nvPr>
            <p:ph type="title" idx="8"/>
          </p:nvPr>
        </p:nvSpPr>
        <p:spPr>
          <a:xfrm>
            <a:off x="1732325" y="539500"/>
            <a:ext cx="6698400" cy="572700"/>
          </a:xfrm>
          <a:prstGeom prst="rect">
            <a:avLst/>
          </a:prstGeom>
        </p:spPr>
        <p:txBody>
          <a:bodyPr spcFirstLastPara="1" wrap="square" lIns="91425" tIns="91425" rIns="91425" bIns="91425" anchor="t" anchorCtr="0">
            <a:noAutofit/>
          </a:bodyPr>
          <a:lstStyle/>
          <a:p>
            <a:pPr lvl="0"/>
            <a:r>
              <a:rPr lang="fr-FR" sz="2800" dirty="0"/>
              <a:t>LIMITES ACTUELLES &amp; PERSPECTIVES</a:t>
            </a:r>
            <a:endParaRPr sz="2800" dirty="0"/>
          </a:p>
        </p:txBody>
      </p:sp>
      <p:sp>
        <p:nvSpPr>
          <p:cNvPr id="3" name="ZoneTexte 2">
            <a:extLst>
              <a:ext uri="{FF2B5EF4-FFF2-40B4-BE49-F238E27FC236}">
                <a16:creationId xmlns:a16="http://schemas.microsoft.com/office/drawing/2014/main" id="{6C455F84-F850-D3BE-96C9-CE93837FB0F8}"/>
              </a:ext>
            </a:extLst>
          </p:cNvPr>
          <p:cNvSpPr txBox="1"/>
          <p:nvPr/>
        </p:nvSpPr>
        <p:spPr>
          <a:xfrm>
            <a:off x="4858464" y="1377151"/>
            <a:ext cx="4572000" cy="1954381"/>
          </a:xfrm>
          <a:prstGeom prst="rect">
            <a:avLst/>
          </a:prstGeom>
          <a:noFill/>
        </p:spPr>
        <p:txBody>
          <a:bodyPr wrap="square">
            <a:spAutoFit/>
          </a:bodyPr>
          <a:lstStyle/>
          <a:p>
            <a:pPr>
              <a:buNone/>
            </a:pPr>
            <a:r>
              <a:rPr lang="fr-FR" sz="1100" b="1" dirty="0">
                <a:latin typeface="Poppins" panose="00000500000000000000" pitchFamily="2" charset="0"/>
                <a:cs typeface="Poppins" panose="00000500000000000000" pitchFamily="2" charset="0"/>
              </a:rPr>
              <a:t>Court terme</a:t>
            </a:r>
          </a:p>
          <a:p>
            <a:pPr>
              <a:buNone/>
            </a:pPr>
            <a:r>
              <a:rPr lang="fr-FR" sz="1100" dirty="0">
                <a:latin typeface="Poppins" panose="00000500000000000000" pitchFamily="2" charset="0"/>
                <a:cs typeface="Poppins" panose="00000500000000000000" pitchFamily="2" charset="0"/>
              </a:rPr>
              <a:t>Stabiliser les intersections et automatiser les tests.</a:t>
            </a:r>
          </a:p>
          <a:p>
            <a:pPr>
              <a:buNone/>
            </a:pPr>
            <a:r>
              <a:rPr lang="fr-FR" sz="1100" b="1" dirty="0">
                <a:latin typeface="Poppins" panose="00000500000000000000" pitchFamily="2" charset="0"/>
                <a:cs typeface="Poppins" panose="00000500000000000000" pitchFamily="2" charset="0"/>
              </a:rPr>
              <a:t>Moyen terme</a:t>
            </a:r>
          </a:p>
          <a:p>
            <a:pPr>
              <a:buNone/>
            </a:pPr>
            <a:r>
              <a:rPr lang="fr-FR" sz="1100" dirty="0">
                <a:latin typeface="Poppins" panose="00000500000000000000" pitchFamily="2" charset="0"/>
                <a:cs typeface="Poppins" panose="00000500000000000000" pitchFamily="2" charset="0"/>
              </a:rPr>
              <a:t>Lancer une vraie campagne Monte-Carlo avec densités variables.</a:t>
            </a:r>
          </a:p>
          <a:p>
            <a:pPr>
              <a:buNone/>
            </a:pPr>
            <a:r>
              <a:rPr lang="fr-FR" sz="1100" b="1" dirty="0">
                <a:latin typeface="Poppins" panose="00000500000000000000" pitchFamily="2" charset="0"/>
                <a:cs typeface="Poppins" panose="00000500000000000000" pitchFamily="2" charset="0"/>
              </a:rPr>
              <a:t>Long terme</a:t>
            </a:r>
          </a:p>
          <a:p>
            <a:pPr>
              <a:buNone/>
            </a:pPr>
            <a:r>
              <a:rPr lang="fr-FR" sz="1100" dirty="0">
                <a:latin typeface="Poppins" panose="00000500000000000000" pitchFamily="2" charset="0"/>
                <a:cs typeface="Poppins" panose="00000500000000000000" pitchFamily="2" charset="0"/>
              </a:rPr>
              <a:t>Explorer AIM complet, ORCA stabilisé, Virtual </a:t>
            </a:r>
            <a:r>
              <a:rPr lang="fr-FR" sz="1100" dirty="0" err="1">
                <a:latin typeface="Poppins" panose="00000500000000000000" pitchFamily="2" charset="0"/>
                <a:cs typeface="Poppins" panose="00000500000000000000" pitchFamily="2" charset="0"/>
              </a:rPr>
              <a:t>Platooning</a:t>
            </a:r>
            <a:r>
              <a:rPr lang="fr-FR" sz="1100" dirty="0">
                <a:latin typeface="Poppins" panose="00000500000000000000" pitchFamily="2" charset="0"/>
                <a:cs typeface="Poppins" panose="00000500000000000000" pitchFamily="2" charset="0"/>
              </a:rPr>
              <a:t> et apprentissage multi-agents.</a:t>
            </a:r>
          </a:p>
          <a:p>
            <a:pPr>
              <a:buNone/>
            </a:pPr>
            <a:r>
              <a:rPr lang="fr-FR" sz="1100" b="1" dirty="0">
                <a:latin typeface="Poppins" panose="00000500000000000000" pitchFamily="2" charset="0"/>
                <a:cs typeface="Poppins" panose="00000500000000000000" pitchFamily="2" charset="0"/>
              </a:rPr>
              <a:t>Vision</a:t>
            </a:r>
          </a:p>
          <a:p>
            <a:pPr>
              <a:buNone/>
            </a:pPr>
            <a:r>
              <a:rPr lang="fr-FR" sz="1100" dirty="0">
                <a:latin typeface="Poppins" panose="00000500000000000000" pitchFamily="2" charset="0"/>
                <a:cs typeface="Poppins" panose="00000500000000000000" pitchFamily="2" charset="0"/>
              </a:rPr>
              <a:t>Passer d’un prototype de simulation à un banc d’essai expérimental.</a:t>
            </a:r>
          </a:p>
        </p:txBody>
      </p:sp>
      <p:sp>
        <p:nvSpPr>
          <p:cNvPr id="5" name="ZoneTexte 4">
            <a:extLst>
              <a:ext uri="{FF2B5EF4-FFF2-40B4-BE49-F238E27FC236}">
                <a16:creationId xmlns:a16="http://schemas.microsoft.com/office/drawing/2014/main" id="{D02FFA7E-4BCC-0374-B1EE-FA8CFC5FE795}"/>
              </a:ext>
            </a:extLst>
          </p:cNvPr>
          <p:cNvSpPr txBox="1"/>
          <p:nvPr/>
        </p:nvSpPr>
        <p:spPr>
          <a:xfrm>
            <a:off x="363191" y="4718649"/>
            <a:ext cx="4071949"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Simulation de 700 agents avec intersections avancées</a:t>
            </a:r>
          </a:p>
        </p:txBody>
      </p:sp>
      <p:pic>
        <p:nvPicPr>
          <p:cNvPr id="7" name="Image 6">
            <a:extLst>
              <a:ext uri="{FF2B5EF4-FFF2-40B4-BE49-F238E27FC236}">
                <a16:creationId xmlns:a16="http://schemas.microsoft.com/office/drawing/2014/main" id="{83E0A905-E6B6-F911-F07B-638CDB9F844A}"/>
              </a:ext>
            </a:extLst>
          </p:cNvPr>
          <p:cNvPicPr>
            <a:picLocks noChangeAspect="1"/>
          </p:cNvPicPr>
          <p:nvPr/>
        </p:nvPicPr>
        <p:blipFill>
          <a:blip r:embed="rId4"/>
          <a:srcRect l="4074" t="8950" r="5806"/>
          <a:stretch>
            <a:fillRect/>
          </a:stretch>
        </p:blipFill>
        <p:spPr>
          <a:xfrm>
            <a:off x="5417391" y="3349795"/>
            <a:ext cx="2735923" cy="1368854"/>
          </a:xfrm>
          <a:prstGeom prst="rect">
            <a:avLst/>
          </a:prstGeom>
        </p:spPr>
      </p:pic>
      <p:sp>
        <p:nvSpPr>
          <p:cNvPr id="8" name="ZoneTexte 7">
            <a:extLst>
              <a:ext uri="{FF2B5EF4-FFF2-40B4-BE49-F238E27FC236}">
                <a16:creationId xmlns:a16="http://schemas.microsoft.com/office/drawing/2014/main" id="{E89D4E69-D036-118E-9633-2D18D3ED96FC}"/>
              </a:ext>
            </a:extLst>
          </p:cNvPr>
          <p:cNvSpPr txBox="1"/>
          <p:nvPr/>
        </p:nvSpPr>
        <p:spPr>
          <a:xfrm>
            <a:off x="4708860" y="4718649"/>
            <a:ext cx="4079963"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Simulation de 850 agents avec intersections avancées</a:t>
            </a:r>
          </a:p>
        </p:txBody>
      </p:sp>
      <p:sp>
        <p:nvSpPr>
          <p:cNvPr id="9" name="ZoneTexte 8">
            <a:extLst>
              <a:ext uri="{FF2B5EF4-FFF2-40B4-BE49-F238E27FC236}">
                <a16:creationId xmlns:a16="http://schemas.microsoft.com/office/drawing/2014/main" id="{622D4415-C7F8-75F0-A8DD-8754AE22869A}"/>
              </a:ext>
            </a:extLst>
          </p:cNvPr>
          <p:cNvSpPr txBox="1"/>
          <p:nvPr/>
        </p:nvSpPr>
        <p:spPr>
          <a:xfrm>
            <a:off x="8819972" y="4835723"/>
            <a:ext cx="348172" cy="307777"/>
          </a:xfrm>
          <a:prstGeom prst="rect">
            <a:avLst/>
          </a:prstGeom>
          <a:noFill/>
        </p:spPr>
        <p:txBody>
          <a:bodyPr wrap="none" rtlCol="0">
            <a:spAutoFit/>
          </a:bodyPr>
          <a:lstStyle/>
          <a:p>
            <a:r>
              <a:rPr lang="fr-FR" dirty="0">
                <a:latin typeface="Abhaya Libre" panose="020B0604020202020204" charset="0"/>
                <a:cs typeface="Abhaya Libre" panose="020B0604020202020204" charset="0"/>
              </a:rPr>
              <a:t>19</a:t>
            </a:r>
          </a:p>
        </p:txBody>
      </p:sp>
    </p:spTree>
    <p:extLst>
      <p:ext uri="{BB962C8B-B14F-4D97-AF65-F5344CB8AC3E}">
        <p14:creationId xmlns:p14="http://schemas.microsoft.com/office/powerpoint/2010/main" val="1239674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C2BE51-5FD7-CD6A-C28B-188C9DC70BF5}"/>
              </a:ext>
            </a:extLst>
          </p:cNvPr>
          <p:cNvSpPr>
            <a:spLocks noGrp="1"/>
          </p:cNvSpPr>
          <p:nvPr>
            <p:ph type="title"/>
          </p:nvPr>
        </p:nvSpPr>
        <p:spPr/>
        <p:txBody>
          <a:bodyPr/>
          <a:lstStyle/>
          <a:p>
            <a:r>
              <a:rPr lang="fr-FR" dirty="0"/>
              <a:t>Merci de votre attention</a:t>
            </a:r>
          </a:p>
        </p:txBody>
      </p:sp>
      <p:sp>
        <p:nvSpPr>
          <p:cNvPr id="3" name="Titre 1">
            <a:extLst>
              <a:ext uri="{FF2B5EF4-FFF2-40B4-BE49-F238E27FC236}">
                <a16:creationId xmlns:a16="http://schemas.microsoft.com/office/drawing/2014/main" id="{B1CFB791-7CAA-5A61-16A3-35D55A582247}"/>
              </a:ext>
            </a:extLst>
          </p:cNvPr>
          <p:cNvSpPr txBox="1">
            <a:spLocks/>
          </p:cNvSpPr>
          <p:nvPr/>
        </p:nvSpPr>
        <p:spPr>
          <a:xfrm>
            <a:off x="2168946" y="2285400"/>
            <a:ext cx="4806107"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1pPr>
            <a:lvl2pPr marR="0" lvl="1"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2pPr>
            <a:lvl3pPr marR="0" lvl="2"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3pPr>
            <a:lvl4pPr marR="0" lvl="3"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4pPr>
            <a:lvl5pPr marR="0" lvl="4"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5pPr>
            <a:lvl6pPr marR="0" lvl="5"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6pPr>
            <a:lvl7pPr marR="0" lvl="6"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7pPr>
            <a:lvl8pPr marR="0" lvl="7"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8pPr>
            <a:lvl9pPr marR="0" lvl="8" algn="l" rtl="0">
              <a:lnSpc>
                <a:spcPct val="100000"/>
              </a:lnSpc>
              <a:spcBef>
                <a:spcPts val="0"/>
              </a:spcBef>
              <a:spcAft>
                <a:spcPts val="0"/>
              </a:spcAft>
              <a:buClr>
                <a:schemeClr val="dk1"/>
              </a:buClr>
              <a:buSzPts val="3500"/>
              <a:buFont typeface="Abhaya Libre"/>
              <a:buNone/>
              <a:defRPr sz="3500" b="0" i="0" u="none" strike="noStrike" cap="none">
                <a:solidFill>
                  <a:schemeClr val="dk1"/>
                </a:solidFill>
                <a:latin typeface="Abhaya Libre"/>
                <a:ea typeface="Abhaya Libre"/>
                <a:cs typeface="Abhaya Libre"/>
                <a:sym typeface="Abhaya Libre"/>
              </a:defRPr>
            </a:lvl9pPr>
          </a:lstStyle>
          <a:p>
            <a:r>
              <a:rPr lang="fr-FR" dirty="0"/>
              <a:t>Avez-vous des questions?</a:t>
            </a:r>
          </a:p>
        </p:txBody>
      </p:sp>
    </p:spTree>
    <p:extLst>
      <p:ext uri="{BB962C8B-B14F-4D97-AF65-F5344CB8AC3E}">
        <p14:creationId xmlns:p14="http://schemas.microsoft.com/office/powerpoint/2010/main" val="3270854921"/>
      </p:ext>
    </p:extLst>
  </p:cSld>
  <p:clrMapOvr>
    <a:masterClrMapping/>
  </p:clrMapOvr>
</p:sld>
</file>

<file path=ppt/theme/theme1.xml><?xml version="1.0" encoding="utf-8"?>
<a:theme xmlns:a="http://schemas.openxmlformats.org/drawingml/2006/main" name="Software Development App Pitch Deck by Slidesgo">
  <a:themeElements>
    <a:clrScheme name="Simple Light">
      <a:dk1>
        <a:srgbClr val="000000"/>
      </a:dk1>
      <a:lt1>
        <a:srgbClr val="FFFFFF"/>
      </a:lt1>
      <a:dk2>
        <a:srgbClr val="F3F3F3"/>
      </a:dk2>
      <a:lt2>
        <a:srgbClr val="95FFD4"/>
      </a:lt2>
      <a:accent1>
        <a:srgbClr val="6178F6"/>
      </a:accent1>
      <a:accent2>
        <a:srgbClr val="F8FFEA"/>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TotalTime>
  <Words>2484</Words>
  <Application>Microsoft Office PowerPoint</Application>
  <PresentationFormat>Affichage à l'écran (16:9)</PresentationFormat>
  <Paragraphs>261</Paragraphs>
  <Slides>20</Slides>
  <Notes>19</Notes>
  <HiddenSlides>0</HiddenSlides>
  <MMClips>1</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Poppins</vt:lpstr>
      <vt:lpstr>Fredoka One</vt:lpstr>
      <vt:lpstr>Chivo</vt:lpstr>
      <vt:lpstr>Abhaya Libre</vt:lpstr>
      <vt:lpstr>Arial</vt:lpstr>
      <vt:lpstr>Palanquin Dark</vt:lpstr>
      <vt:lpstr>Roboto Condensed Light</vt:lpstr>
      <vt:lpstr>Software Development App Pitch Deck by Slidesgo</vt:lpstr>
      <vt:lpstr>Traffic Simulation </vt:lpstr>
      <vt:lpstr>Sommaire</vt:lpstr>
      <vt:lpstr>Introduction</vt:lpstr>
      <vt:lpstr>Objectif</vt:lpstr>
      <vt:lpstr>DÉMARCHE SCIENTIFIQUE</vt:lpstr>
      <vt:lpstr>ÉTAT DE L’ART : LES GRANDES FAMILLES</vt:lpstr>
      <vt:lpstr>SOLUTIONS ÉTUDIÉES</vt:lpstr>
      <vt:lpstr>MODÈLE DE CONDUITE : IDM (Intelligent Driver Model)</vt:lpstr>
      <vt:lpstr>ARCHITECTURE GLOBALE</vt:lpstr>
      <vt:lpstr>PIPELINE DE SIMULATION</vt:lpstr>
      <vt:lpstr>PERCEPTION LOCALE</vt:lpstr>
      <vt:lpstr>Intersection classique</vt:lpstr>
      <vt:lpstr>Intersection avancée</vt:lpstr>
      <vt:lpstr>Comportement des véhicules</vt:lpstr>
      <vt:lpstr>MÉTRIQUES D’ÉVALUATION</vt:lpstr>
      <vt:lpstr>Le Banc d'Essai de Monte-Carlo</vt:lpstr>
      <vt:lpstr>Le Banc d'Essai de Monte-Carlo</vt:lpstr>
      <vt:lpstr>CE QUI A ÉTÉ PRODUIT</vt:lpstr>
      <vt:lpstr>LIMITES ACTUELLES &amp; PERSPECTIVES</vt:lpstr>
      <vt:lpstr>Merci de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François DAVID (M2_BREST_2026)</cp:lastModifiedBy>
  <cp:revision>29</cp:revision>
  <dcterms:modified xsi:type="dcterms:W3CDTF">2026-05-29T09:43:19Z</dcterms:modified>
</cp:coreProperties>
</file>